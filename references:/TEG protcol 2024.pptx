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2"/>
  </p:notesMasterIdLst>
  <p:sldIdLst>
    <p:sldId id="256" r:id="rId2"/>
    <p:sldId id="264" r:id="rId3"/>
    <p:sldId id="411" r:id="rId4"/>
    <p:sldId id="412" r:id="rId5"/>
    <p:sldId id="413" r:id="rId6"/>
    <p:sldId id="322" r:id="rId7"/>
    <p:sldId id="323" r:id="rId8"/>
    <p:sldId id="538" r:id="rId9"/>
    <p:sldId id="534" r:id="rId10"/>
    <p:sldId id="414" r:id="rId11"/>
    <p:sldId id="539" r:id="rId12"/>
    <p:sldId id="540" r:id="rId13"/>
    <p:sldId id="541" r:id="rId14"/>
    <p:sldId id="535" r:id="rId15"/>
    <p:sldId id="536" r:id="rId16"/>
    <p:sldId id="542" r:id="rId17"/>
    <p:sldId id="560" r:id="rId18"/>
    <p:sldId id="258" r:id="rId19"/>
    <p:sldId id="277" r:id="rId20"/>
    <p:sldId id="290" r:id="rId21"/>
    <p:sldId id="278" r:id="rId22"/>
    <p:sldId id="298" r:id="rId23"/>
    <p:sldId id="299" r:id="rId24"/>
    <p:sldId id="281" r:id="rId25"/>
    <p:sldId id="300" r:id="rId26"/>
    <p:sldId id="263" r:id="rId27"/>
    <p:sldId id="301" r:id="rId28"/>
    <p:sldId id="285" r:id="rId29"/>
    <p:sldId id="286" r:id="rId30"/>
    <p:sldId id="302" r:id="rId31"/>
    <p:sldId id="558" r:id="rId32"/>
    <p:sldId id="304" r:id="rId33"/>
    <p:sldId id="303" r:id="rId34"/>
    <p:sldId id="296" r:id="rId35"/>
    <p:sldId id="527" r:id="rId36"/>
    <p:sldId id="545" r:id="rId37"/>
    <p:sldId id="532" r:id="rId38"/>
    <p:sldId id="531" r:id="rId39"/>
    <p:sldId id="553" r:id="rId40"/>
    <p:sldId id="555" r:id="rId41"/>
    <p:sldId id="556" r:id="rId42"/>
    <p:sldId id="520" r:id="rId43"/>
    <p:sldId id="562" r:id="rId44"/>
    <p:sldId id="549" r:id="rId45"/>
    <p:sldId id="548" r:id="rId46"/>
    <p:sldId id="521" r:id="rId47"/>
    <p:sldId id="550" r:id="rId48"/>
    <p:sldId id="551" r:id="rId49"/>
    <p:sldId id="552" r:id="rId50"/>
    <p:sldId id="561" r:id="rId51"/>
    <p:sldId id="559" r:id="rId52"/>
    <p:sldId id="563" r:id="rId53"/>
    <p:sldId id="415" r:id="rId54"/>
    <p:sldId id="528" r:id="rId55"/>
    <p:sldId id="331" r:id="rId56"/>
    <p:sldId id="470" r:id="rId57"/>
    <p:sldId id="321" r:id="rId58"/>
    <p:sldId id="493" r:id="rId59"/>
    <p:sldId id="481" r:id="rId60"/>
    <p:sldId id="525" r:id="rId61"/>
    <p:sldId id="508" r:id="rId62"/>
    <p:sldId id="419" r:id="rId63"/>
    <p:sldId id="464" r:id="rId64"/>
    <p:sldId id="425" r:id="rId65"/>
    <p:sldId id="501" r:id="rId66"/>
    <p:sldId id="526" r:id="rId67"/>
    <p:sldId id="543" r:id="rId68"/>
    <p:sldId id="544" r:id="rId69"/>
    <p:sldId id="537" r:id="rId70"/>
    <p:sldId id="529" r:id="rId7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46BEF"/>
    <a:srgbClr val="FFADEF"/>
    <a:srgbClr val="DDCCF6"/>
    <a:srgbClr val="C04F16"/>
    <a:srgbClr val="FF2600"/>
    <a:srgbClr val="B69D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D971D4-DD52-2549-8960-41C5AF9DE131}" v="3" dt="2024-12-23T22:09:59.586"/>
  </p1510:revLst>
</p1510:revInfo>
</file>

<file path=ppt/tableStyles.xml><?xml version="1.0" encoding="utf-8"?>
<a:tblStyleLst xmlns:a="http://schemas.openxmlformats.org/drawingml/2006/main" def="{5C22544A-7EE6-4342-B048-85BDC9FD1C3A}">
  <a:tblStyle styleId="{C4B1156A-380E-4F78-BDF5-A606A8083BF9}" styleName="中間スタイル 4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E8034E78-7F5D-4C2E-B375-FC64B27BC917}" styleName="スタイル (濃色)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中間スタイル 4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淡色スタイル 3 - アクセント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淡色スタイル 3 - アクセント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806" autoAdjust="0"/>
    <p:restoredTop sz="89726"/>
  </p:normalViewPr>
  <p:slideViewPr>
    <p:cSldViewPr snapToGrid="0">
      <p:cViewPr varScale="1">
        <p:scale>
          <a:sx n="109" d="100"/>
          <a:sy n="109" d="100"/>
        </p:scale>
        <p:origin x="1624" y="184"/>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皓聖 大政" userId="871faf28f77277ca" providerId="LiveId" clId="{154742FB-0CED-0C41-B797-94BA8FFFF8E7}"/>
    <pc:docChg chg="delSld">
      <pc:chgData name="皓聖 大政" userId="871faf28f77277ca" providerId="LiveId" clId="{154742FB-0CED-0C41-B797-94BA8FFFF8E7}" dt="2024-08-20T02:14:37.030" v="1" actId="2696"/>
      <pc:docMkLst>
        <pc:docMk/>
      </pc:docMkLst>
      <pc:sldChg chg="del">
        <pc:chgData name="皓聖 大政" userId="871faf28f77277ca" providerId="LiveId" clId="{154742FB-0CED-0C41-B797-94BA8FFFF8E7}" dt="2024-08-20T02:14:37.030" v="1" actId="2696"/>
        <pc:sldMkLst>
          <pc:docMk/>
          <pc:sldMk cId="2947061362" sldId="533"/>
        </pc:sldMkLst>
      </pc:sldChg>
      <pc:sldChg chg="del">
        <pc:chgData name="皓聖 大政" userId="871faf28f77277ca" providerId="LiveId" clId="{154742FB-0CED-0C41-B797-94BA8FFFF8E7}" dt="2024-08-20T02:14:35.892" v="0" actId="2696"/>
        <pc:sldMkLst>
          <pc:docMk/>
          <pc:sldMk cId="2385777716" sldId="547"/>
        </pc:sldMkLst>
      </pc:sldChg>
    </pc:docChg>
  </pc:docChgLst>
  <pc:docChgLst>
    <pc:chgData name="皓聖 大政" userId="871faf28f77277ca" providerId="LiveId" clId="{5CD971D4-DD52-2549-8960-41C5AF9DE131}"/>
    <pc:docChg chg="addSld modSld">
      <pc:chgData name="皓聖 大政" userId="871faf28f77277ca" providerId="LiveId" clId="{5CD971D4-DD52-2549-8960-41C5AF9DE131}" dt="2024-12-23T22:10:26.683" v="325" actId="1076"/>
      <pc:docMkLst>
        <pc:docMk/>
      </pc:docMkLst>
      <pc:sldChg chg="addSp delSp modSp new mod">
        <pc:chgData name="皓聖 大政" userId="871faf28f77277ca" providerId="LiveId" clId="{5CD971D4-DD52-2549-8960-41C5AF9DE131}" dt="2024-12-23T22:08:36.136" v="294" actId="1076"/>
        <pc:sldMkLst>
          <pc:docMk/>
          <pc:sldMk cId="38485253" sldId="562"/>
        </pc:sldMkLst>
        <pc:spChg chg="mod">
          <ac:chgData name="皓聖 大政" userId="871faf28f77277ca" providerId="LiveId" clId="{5CD971D4-DD52-2549-8960-41C5AF9DE131}" dt="2024-12-23T22:07:05.787" v="58" actId="20577"/>
          <ac:spMkLst>
            <pc:docMk/>
            <pc:sldMk cId="38485253" sldId="562"/>
            <ac:spMk id="2" creationId="{09678B2E-C1FE-2773-1E26-E6CE76B629F0}"/>
          </ac:spMkLst>
        </pc:spChg>
        <pc:spChg chg="del">
          <ac:chgData name="皓聖 大政" userId="871faf28f77277ca" providerId="LiveId" clId="{5CD971D4-DD52-2549-8960-41C5AF9DE131}" dt="2024-12-23T22:06:42.200" v="1"/>
          <ac:spMkLst>
            <pc:docMk/>
            <pc:sldMk cId="38485253" sldId="562"/>
            <ac:spMk id="3" creationId="{0F847D55-695F-D32F-B64C-CB5B52EB1591}"/>
          </ac:spMkLst>
        </pc:spChg>
        <pc:spChg chg="add mod">
          <ac:chgData name="皓聖 大政" userId="871faf28f77277ca" providerId="LiveId" clId="{5CD971D4-DD52-2549-8960-41C5AF9DE131}" dt="2024-12-23T22:07:44.974" v="76" actId="14100"/>
          <ac:spMkLst>
            <pc:docMk/>
            <pc:sldMk cId="38485253" sldId="562"/>
            <ac:spMk id="9" creationId="{6DBF0272-9CD8-5255-305C-ED27E5C6CEE0}"/>
          </ac:spMkLst>
        </pc:spChg>
        <pc:spChg chg="add mod">
          <ac:chgData name="皓聖 大政" userId="871faf28f77277ca" providerId="LiveId" clId="{5CD971D4-DD52-2549-8960-41C5AF9DE131}" dt="2024-12-23T22:08:36.136" v="294" actId="1076"/>
          <ac:spMkLst>
            <pc:docMk/>
            <pc:sldMk cId="38485253" sldId="562"/>
            <ac:spMk id="10" creationId="{64607F07-EF3D-C2CE-1769-9BC205F23EC3}"/>
          </ac:spMkLst>
        </pc:spChg>
        <pc:picChg chg="add mod">
          <ac:chgData name="皓聖 大政" userId="871faf28f77277ca" providerId="LiveId" clId="{5CD971D4-DD52-2549-8960-41C5AF9DE131}" dt="2024-12-23T22:07:40.486" v="74" actId="1076"/>
          <ac:picMkLst>
            <pc:docMk/>
            <pc:sldMk cId="38485253" sldId="562"/>
            <ac:picMk id="8" creationId="{D3F4361A-A433-661D-746E-883E9B0FA12C}"/>
          </ac:picMkLst>
        </pc:picChg>
      </pc:sldChg>
      <pc:sldChg chg="modSp add mod">
        <pc:chgData name="皓聖 大政" userId="871faf28f77277ca" providerId="LiveId" clId="{5CD971D4-DD52-2549-8960-41C5AF9DE131}" dt="2024-12-23T22:10:26.683" v="325" actId="1076"/>
        <pc:sldMkLst>
          <pc:docMk/>
          <pc:sldMk cId="476423013" sldId="563"/>
        </pc:sldMkLst>
        <pc:spChg chg="mod">
          <ac:chgData name="皓聖 大政" userId="871faf28f77277ca" providerId="LiveId" clId="{5CD971D4-DD52-2549-8960-41C5AF9DE131}" dt="2024-12-23T22:10:26.683" v="325" actId="1076"/>
          <ac:spMkLst>
            <pc:docMk/>
            <pc:sldMk cId="476423013" sldId="563"/>
            <ac:spMk id="10" creationId="{9092D67D-9E99-AFBB-EDC9-855C29EF9E7C}"/>
          </ac:spMkLst>
        </pc:spChg>
      </pc:sldChg>
    </pc:docChg>
  </pc:docChgLst>
  <pc:docChgLst>
    <pc:chgData name="皓聖 大政" userId="871faf28f77277ca" providerId="LiveId" clId="{47B0DB40-BDFC-EA4A-9E34-3AD542324487}"/>
    <pc:docChg chg="undo custSel addSld delSld modSld sldOrd">
      <pc:chgData name="皓聖 大政" userId="871faf28f77277ca" providerId="LiveId" clId="{47B0DB40-BDFC-EA4A-9E34-3AD542324487}" dt="2024-07-05T02:39:43.294" v="19618" actId="20577"/>
      <pc:docMkLst>
        <pc:docMk/>
      </pc:docMkLst>
      <pc:sldChg chg="addSp modSp add mod">
        <pc:chgData name="皓聖 大政" userId="871faf28f77277ca" providerId="LiveId" clId="{47B0DB40-BDFC-EA4A-9E34-3AD542324487}" dt="2024-06-26T07:14:12.648" v="18675"/>
        <pc:sldMkLst>
          <pc:docMk/>
          <pc:sldMk cId="1572720618" sldId="258"/>
        </pc:sldMkLst>
      </pc:sldChg>
      <pc:sldChg chg="add del">
        <pc:chgData name="皓聖 大政" userId="871faf28f77277ca" providerId="LiveId" clId="{47B0DB40-BDFC-EA4A-9E34-3AD542324487}" dt="2024-06-22T10:38:39.268" v="116" actId="2696"/>
        <pc:sldMkLst>
          <pc:docMk/>
          <pc:sldMk cId="1363389389" sldId="262"/>
        </pc:sldMkLst>
      </pc:sldChg>
      <pc:sldChg chg="addSp modSp add mod">
        <pc:chgData name="皓聖 大政" userId="871faf28f77277ca" providerId="LiveId" clId="{47B0DB40-BDFC-EA4A-9E34-3AD542324487}" dt="2024-06-26T07:14:12.648" v="18675"/>
        <pc:sldMkLst>
          <pc:docMk/>
          <pc:sldMk cId="567095092" sldId="263"/>
        </pc:sldMkLst>
      </pc:sldChg>
      <pc:sldChg chg="add ord">
        <pc:chgData name="皓聖 大政" userId="871faf28f77277ca" providerId="LiveId" clId="{47B0DB40-BDFC-EA4A-9E34-3AD542324487}" dt="2024-06-22T10:36:43.102" v="113" actId="20578"/>
        <pc:sldMkLst>
          <pc:docMk/>
          <pc:sldMk cId="1428728276" sldId="264"/>
        </pc:sldMkLst>
      </pc:sldChg>
      <pc:sldChg chg="delSp add del mod">
        <pc:chgData name="皓聖 大政" userId="871faf28f77277ca" providerId="LiveId" clId="{47B0DB40-BDFC-EA4A-9E34-3AD542324487}" dt="2024-06-26T05:21:55.307" v="16180" actId="2696"/>
        <pc:sldMkLst>
          <pc:docMk/>
          <pc:sldMk cId="2915778603" sldId="276"/>
        </pc:sldMkLst>
      </pc:sldChg>
      <pc:sldChg chg="addSp modSp add">
        <pc:chgData name="皓聖 大政" userId="871faf28f77277ca" providerId="LiveId" clId="{47B0DB40-BDFC-EA4A-9E34-3AD542324487}" dt="2024-06-26T07:14:12.648" v="18675"/>
        <pc:sldMkLst>
          <pc:docMk/>
          <pc:sldMk cId="1190703163" sldId="277"/>
        </pc:sldMkLst>
      </pc:sldChg>
      <pc:sldChg chg="addSp modSp add">
        <pc:chgData name="皓聖 大政" userId="871faf28f77277ca" providerId="LiveId" clId="{47B0DB40-BDFC-EA4A-9E34-3AD542324487}" dt="2024-06-26T07:14:12.648" v="18675"/>
        <pc:sldMkLst>
          <pc:docMk/>
          <pc:sldMk cId="3209808732" sldId="278"/>
        </pc:sldMkLst>
      </pc:sldChg>
      <pc:sldChg chg="addSp delSp modSp add mod">
        <pc:chgData name="皓聖 大政" userId="871faf28f77277ca" providerId="LiveId" clId="{47B0DB40-BDFC-EA4A-9E34-3AD542324487}" dt="2024-06-26T07:14:12.648" v="18675"/>
        <pc:sldMkLst>
          <pc:docMk/>
          <pc:sldMk cId="308226005" sldId="281"/>
        </pc:sldMkLst>
      </pc:sldChg>
      <pc:sldChg chg="addSp modSp add">
        <pc:chgData name="皓聖 大政" userId="871faf28f77277ca" providerId="LiveId" clId="{47B0DB40-BDFC-EA4A-9E34-3AD542324487}" dt="2024-06-26T07:14:12.648" v="18675"/>
        <pc:sldMkLst>
          <pc:docMk/>
          <pc:sldMk cId="1960402062" sldId="285"/>
        </pc:sldMkLst>
      </pc:sldChg>
      <pc:sldChg chg="addSp delSp modSp add mod">
        <pc:chgData name="皓聖 大政" userId="871faf28f77277ca" providerId="LiveId" clId="{47B0DB40-BDFC-EA4A-9E34-3AD542324487}" dt="2024-06-26T07:14:12.648" v="18675"/>
        <pc:sldMkLst>
          <pc:docMk/>
          <pc:sldMk cId="3827108490" sldId="286"/>
        </pc:sldMkLst>
      </pc:sldChg>
      <pc:sldChg chg="addSp delSp modSp add mod">
        <pc:chgData name="皓聖 大政" userId="871faf28f77277ca" providerId="LiveId" clId="{47B0DB40-BDFC-EA4A-9E34-3AD542324487}" dt="2024-06-26T07:14:12.648" v="18675"/>
        <pc:sldMkLst>
          <pc:docMk/>
          <pc:sldMk cId="4221411811" sldId="290"/>
        </pc:sldMkLst>
      </pc:sldChg>
      <pc:sldChg chg="delSp add del mod">
        <pc:chgData name="皓聖 大政" userId="871faf28f77277ca" providerId="LiveId" clId="{47B0DB40-BDFC-EA4A-9E34-3AD542324487}" dt="2024-06-26T01:06:18.831" v="12631" actId="2696"/>
        <pc:sldMkLst>
          <pc:docMk/>
          <pc:sldMk cId="3955216890" sldId="291"/>
        </pc:sldMkLst>
      </pc:sldChg>
      <pc:sldChg chg="addSp modSp add mod">
        <pc:chgData name="皓聖 大政" userId="871faf28f77277ca" providerId="LiveId" clId="{47B0DB40-BDFC-EA4A-9E34-3AD542324487}" dt="2024-06-26T07:14:12.648" v="18675"/>
        <pc:sldMkLst>
          <pc:docMk/>
          <pc:sldMk cId="1408150618" sldId="296"/>
        </pc:sldMkLst>
      </pc:sldChg>
      <pc:sldChg chg="addSp modSp add">
        <pc:chgData name="皓聖 大政" userId="871faf28f77277ca" providerId="LiveId" clId="{47B0DB40-BDFC-EA4A-9E34-3AD542324487}" dt="2024-06-26T07:14:12.648" v="18675"/>
        <pc:sldMkLst>
          <pc:docMk/>
          <pc:sldMk cId="3858182257" sldId="298"/>
        </pc:sldMkLst>
      </pc:sldChg>
      <pc:sldChg chg="addSp modSp add mod">
        <pc:chgData name="皓聖 大政" userId="871faf28f77277ca" providerId="LiveId" clId="{47B0DB40-BDFC-EA4A-9E34-3AD542324487}" dt="2024-06-26T07:14:12.648" v="18675"/>
        <pc:sldMkLst>
          <pc:docMk/>
          <pc:sldMk cId="3450448297" sldId="299"/>
        </pc:sldMkLst>
      </pc:sldChg>
      <pc:sldChg chg="addSp delSp modSp add mod">
        <pc:chgData name="皓聖 大政" userId="871faf28f77277ca" providerId="LiveId" clId="{47B0DB40-BDFC-EA4A-9E34-3AD542324487}" dt="2024-06-26T07:14:12.648" v="18675"/>
        <pc:sldMkLst>
          <pc:docMk/>
          <pc:sldMk cId="236048060" sldId="300"/>
        </pc:sldMkLst>
      </pc:sldChg>
      <pc:sldChg chg="addSp modSp add mod">
        <pc:chgData name="皓聖 大政" userId="871faf28f77277ca" providerId="LiveId" clId="{47B0DB40-BDFC-EA4A-9E34-3AD542324487}" dt="2024-06-26T07:14:12.648" v="18675"/>
        <pc:sldMkLst>
          <pc:docMk/>
          <pc:sldMk cId="3523867983" sldId="301"/>
        </pc:sldMkLst>
      </pc:sldChg>
      <pc:sldChg chg="addSp modSp add mod">
        <pc:chgData name="皓聖 大政" userId="871faf28f77277ca" providerId="LiveId" clId="{47B0DB40-BDFC-EA4A-9E34-3AD542324487}" dt="2024-06-26T10:38:03.060" v="18885" actId="122"/>
        <pc:sldMkLst>
          <pc:docMk/>
          <pc:sldMk cId="2489817479" sldId="302"/>
        </pc:sldMkLst>
      </pc:sldChg>
      <pc:sldChg chg="addSp modSp add mod">
        <pc:chgData name="皓聖 大政" userId="871faf28f77277ca" providerId="LiveId" clId="{47B0DB40-BDFC-EA4A-9E34-3AD542324487}" dt="2024-06-26T07:14:12.648" v="18675"/>
        <pc:sldMkLst>
          <pc:docMk/>
          <pc:sldMk cId="3405965355" sldId="303"/>
        </pc:sldMkLst>
      </pc:sldChg>
      <pc:sldChg chg="addSp modSp add">
        <pc:chgData name="皓聖 大政" userId="871faf28f77277ca" providerId="LiveId" clId="{47B0DB40-BDFC-EA4A-9E34-3AD542324487}" dt="2024-06-26T07:14:12.648" v="18675"/>
        <pc:sldMkLst>
          <pc:docMk/>
          <pc:sldMk cId="1817418440" sldId="304"/>
        </pc:sldMkLst>
      </pc:sldChg>
      <pc:sldChg chg="add">
        <pc:chgData name="皓聖 大政" userId="871faf28f77277ca" providerId="LiveId" clId="{47B0DB40-BDFC-EA4A-9E34-3AD542324487}" dt="2024-06-22T10:14:40.154" v="111"/>
        <pc:sldMkLst>
          <pc:docMk/>
          <pc:sldMk cId="4243774711" sldId="321"/>
        </pc:sldMkLst>
      </pc:sldChg>
      <pc:sldChg chg="add ord">
        <pc:chgData name="皓聖 大政" userId="871faf28f77277ca" providerId="LiveId" clId="{47B0DB40-BDFC-EA4A-9E34-3AD542324487}" dt="2024-06-25T03:20:12.917" v="4298" actId="20578"/>
        <pc:sldMkLst>
          <pc:docMk/>
          <pc:sldMk cId="2237311808" sldId="322"/>
        </pc:sldMkLst>
      </pc:sldChg>
      <pc:sldChg chg="add ord">
        <pc:chgData name="皓聖 大政" userId="871faf28f77277ca" providerId="LiveId" clId="{47B0DB40-BDFC-EA4A-9E34-3AD542324487}" dt="2024-06-25T03:20:12.917" v="4298" actId="20578"/>
        <pc:sldMkLst>
          <pc:docMk/>
          <pc:sldMk cId="1194731653" sldId="323"/>
        </pc:sldMkLst>
      </pc:sldChg>
      <pc:sldChg chg="add">
        <pc:chgData name="皓聖 大政" userId="871faf28f77277ca" providerId="LiveId" clId="{47B0DB40-BDFC-EA4A-9E34-3AD542324487}" dt="2024-06-22T10:14:40.154" v="111"/>
        <pc:sldMkLst>
          <pc:docMk/>
          <pc:sldMk cId="1177351054" sldId="331"/>
        </pc:sldMkLst>
      </pc:sldChg>
      <pc:sldChg chg="add ord">
        <pc:chgData name="皓聖 大政" userId="871faf28f77277ca" providerId="LiveId" clId="{47B0DB40-BDFC-EA4A-9E34-3AD542324487}" dt="2024-06-22T10:36:43.102" v="113" actId="20578"/>
        <pc:sldMkLst>
          <pc:docMk/>
          <pc:sldMk cId="263344084" sldId="411"/>
        </pc:sldMkLst>
      </pc:sldChg>
      <pc:sldChg chg="add ord">
        <pc:chgData name="皓聖 大政" userId="871faf28f77277ca" providerId="LiveId" clId="{47B0DB40-BDFC-EA4A-9E34-3AD542324487}" dt="2024-06-22T10:36:43.102" v="113" actId="20578"/>
        <pc:sldMkLst>
          <pc:docMk/>
          <pc:sldMk cId="502326784" sldId="412"/>
        </pc:sldMkLst>
      </pc:sldChg>
      <pc:sldChg chg="add ord">
        <pc:chgData name="皓聖 大政" userId="871faf28f77277ca" providerId="LiveId" clId="{47B0DB40-BDFC-EA4A-9E34-3AD542324487}" dt="2024-06-25T03:20:12.917" v="4298" actId="20578"/>
        <pc:sldMkLst>
          <pc:docMk/>
          <pc:sldMk cId="3779059755" sldId="413"/>
        </pc:sldMkLst>
      </pc:sldChg>
      <pc:sldChg chg="modSp add mod ord">
        <pc:chgData name="皓聖 大政" userId="871faf28f77277ca" providerId="LiveId" clId="{47B0DB40-BDFC-EA4A-9E34-3AD542324487}" dt="2024-06-22T13:31:49.225" v="1574" actId="20577"/>
        <pc:sldMkLst>
          <pc:docMk/>
          <pc:sldMk cId="279097586" sldId="414"/>
        </pc:sldMkLst>
      </pc:sldChg>
      <pc:sldChg chg="add ord">
        <pc:chgData name="皓聖 大政" userId="871faf28f77277ca" providerId="LiveId" clId="{47B0DB40-BDFC-EA4A-9E34-3AD542324487}" dt="2024-06-22T10:40:18.522" v="150" actId="20578"/>
        <pc:sldMkLst>
          <pc:docMk/>
          <pc:sldMk cId="2673179672" sldId="415"/>
        </pc:sldMkLst>
      </pc:sldChg>
      <pc:sldChg chg="add">
        <pc:chgData name="皓聖 大政" userId="871faf28f77277ca" providerId="LiveId" clId="{47B0DB40-BDFC-EA4A-9E34-3AD542324487}" dt="2024-06-22T10:10:44.202" v="75"/>
        <pc:sldMkLst>
          <pc:docMk/>
          <pc:sldMk cId="1105859221" sldId="419"/>
        </pc:sldMkLst>
      </pc:sldChg>
      <pc:sldChg chg="add">
        <pc:chgData name="皓聖 大政" userId="871faf28f77277ca" providerId="LiveId" clId="{47B0DB40-BDFC-EA4A-9E34-3AD542324487}" dt="2024-06-22T10:10:15.512" v="74"/>
        <pc:sldMkLst>
          <pc:docMk/>
          <pc:sldMk cId="397993262" sldId="425"/>
        </pc:sldMkLst>
      </pc:sldChg>
      <pc:sldChg chg="add">
        <pc:chgData name="皓聖 大政" userId="871faf28f77277ca" providerId="LiveId" clId="{47B0DB40-BDFC-EA4A-9E34-3AD542324487}" dt="2024-06-22T10:10:15.512" v="74"/>
        <pc:sldMkLst>
          <pc:docMk/>
          <pc:sldMk cId="405607499" sldId="464"/>
        </pc:sldMkLst>
      </pc:sldChg>
      <pc:sldChg chg="add">
        <pc:chgData name="皓聖 大政" userId="871faf28f77277ca" providerId="LiveId" clId="{47B0DB40-BDFC-EA4A-9E34-3AD542324487}" dt="2024-06-22T10:14:40.154" v="111"/>
        <pc:sldMkLst>
          <pc:docMk/>
          <pc:sldMk cId="4114957138" sldId="470"/>
        </pc:sldMkLst>
      </pc:sldChg>
      <pc:sldChg chg="modSp add mod">
        <pc:chgData name="皓聖 大政" userId="871faf28f77277ca" providerId="LiveId" clId="{47B0DB40-BDFC-EA4A-9E34-3AD542324487}" dt="2024-06-22T13:29:21.074" v="1458" actId="27636"/>
        <pc:sldMkLst>
          <pc:docMk/>
          <pc:sldMk cId="3966273445" sldId="481"/>
        </pc:sldMkLst>
      </pc:sldChg>
      <pc:sldChg chg="add">
        <pc:chgData name="皓聖 大政" userId="871faf28f77277ca" providerId="LiveId" clId="{47B0DB40-BDFC-EA4A-9E34-3AD542324487}" dt="2024-06-22T10:14:40.154" v="111"/>
        <pc:sldMkLst>
          <pc:docMk/>
          <pc:sldMk cId="3815708550" sldId="493"/>
        </pc:sldMkLst>
      </pc:sldChg>
      <pc:sldChg chg="modSp add mod">
        <pc:chgData name="皓聖 大政" userId="871faf28f77277ca" providerId="LiveId" clId="{47B0DB40-BDFC-EA4A-9E34-3AD542324487}" dt="2024-06-22T13:29:50.302" v="1479" actId="20577"/>
        <pc:sldMkLst>
          <pc:docMk/>
          <pc:sldMk cId="3219330888" sldId="501"/>
        </pc:sldMkLst>
      </pc:sldChg>
      <pc:sldChg chg="modSp add mod">
        <pc:chgData name="皓聖 大政" userId="871faf28f77277ca" providerId="LiveId" clId="{47B0DB40-BDFC-EA4A-9E34-3AD542324487}" dt="2024-06-22T13:29:34.227" v="1471" actId="27636"/>
        <pc:sldMkLst>
          <pc:docMk/>
          <pc:sldMk cId="3940430609" sldId="508"/>
        </pc:sldMkLst>
      </pc:sldChg>
      <pc:sldChg chg="addSp delSp modSp mod modNotesTx">
        <pc:chgData name="皓聖 大政" userId="871faf28f77277ca" providerId="LiveId" clId="{47B0DB40-BDFC-EA4A-9E34-3AD542324487}" dt="2024-06-26T01:05:50.931" v="12629" actId="1076"/>
        <pc:sldMkLst>
          <pc:docMk/>
          <pc:sldMk cId="2326253732" sldId="520"/>
        </pc:sldMkLst>
      </pc:sldChg>
      <pc:sldChg chg="addSp delSp modSp new mod">
        <pc:chgData name="皓聖 大政" userId="871faf28f77277ca" providerId="LiveId" clId="{47B0DB40-BDFC-EA4A-9E34-3AD542324487}" dt="2024-06-25T06:12:02.626" v="9877" actId="1076"/>
        <pc:sldMkLst>
          <pc:docMk/>
          <pc:sldMk cId="3365787837" sldId="521"/>
        </pc:sldMkLst>
      </pc:sldChg>
      <pc:sldChg chg="modSp add mod">
        <pc:chgData name="皓聖 大政" userId="871faf28f77277ca" providerId="LiveId" clId="{47B0DB40-BDFC-EA4A-9E34-3AD542324487}" dt="2024-06-22T13:29:27.145" v="1463" actId="20577"/>
        <pc:sldMkLst>
          <pc:docMk/>
          <pc:sldMk cId="282500645" sldId="525"/>
        </pc:sldMkLst>
      </pc:sldChg>
      <pc:sldChg chg="addSp delSp modSp new mod">
        <pc:chgData name="皓聖 大政" userId="871faf28f77277ca" providerId="LiveId" clId="{47B0DB40-BDFC-EA4A-9E34-3AD542324487}" dt="2024-06-26T14:55:33.863" v="18963" actId="20577"/>
        <pc:sldMkLst>
          <pc:docMk/>
          <pc:sldMk cId="1426441046" sldId="526"/>
        </pc:sldMkLst>
      </pc:sldChg>
      <pc:sldChg chg="addSp delSp modSp new mod">
        <pc:chgData name="皓聖 大政" userId="871faf28f77277ca" providerId="LiveId" clId="{47B0DB40-BDFC-EA4A-9E34-3AD542324487}" dt="2024-06-25T05:41:11.763" v="8439" actId="1076"/>
        <pc:sldMkLst>
          <pc:docMk/>
          <pc:sldMk cId="3026825658" sldId="527"/>
        </pc:sldMkLst>
      </pc:sldChg>
      <pc:sldChg chg="add">
        <pc:chgData name="皓聖 大政" userId="871faf28f77277ca" providerId="LiveId" clId="{47B0DB40-BDFC-EA4A-9E34-3AD542324487}" dt="2024-06-22T10:40:28.460" v="151"/>
        <pc:sldMkLst>
          <pc:docMk/>
          <pc:sldMk cId="3452325618" sldId="528"/>
        </pc:sldMkLst>
      </pc:sldChg>
      <pc:sldChg chg="addSp delSp modSp new mod">
        <pc:chgData name="皓聖 大政" userId="871faf28f77277ca" providerId="LiveId" clId="{47B0DB40-BDFC-EA4A-9E34-3AD542324487}" dt="2024-06-26T15:01:03.488" v="19508" actId="207"/>
        <pc:sldMkLst>
          <pc:docMk/>
          <pc:sldMk cId="3267234264" sldId="529"/>
        </pc:sldMkLst>
      </pc:sldChg>
      <pc:sldChg chg="add del ord">
        <pc:chgData name="皓聖 大政" userId="871faf28f77277ca" providerId="LiveId" clId="{47B0DB40-BDFC-EA4A-9E34-3AD542324487}" dt="2024-06-26T05:09:01.365" v="15960" actId="2696"/>
        <pc:sldMkLst>
          <pc:docMk/>
          <pc:sldMk cId="1159059825" sldId="530"/>
        </pc:sldMkLst>
      </pc:sldChg>
      <pc:sldChg chg="addSp delSp modSp new mod">
        <pc:chgData name="皓聖 大政" userId="871faf28f77277ca" providerId="LiveId" clId="{47B0DB40-BDFC-EA4A-9E34-3AD542324487}" dt="2024-07-05T02:19:10.539" v="19596" actId="20577"/>
        <pc:sldMkLst>
          <pc:docMk/>
          <pc:sldMk cId="1498506533" sldId="531"/>
        </pc:sldMkLst>
      </pc:sldChg>
      <pc:sldChg chg="addSp delSp modSp new mod">
        <pc:chgData name="皓聖 大政" userId="871faf28f77277ca" providerId="LiveId" clId="{47B0DB40-BDFC-EA4A-9E34-3AD542324487}" dt="2024-06-26T02:07:15.632" v="12968" actId="113"/>
        <pc:sldMkLst>
          <pc:docMk/>
          <pc:sldMk cId="2168108763" sldId="532"/>
        </pc:sldMkLst>
      </pc:sldChg>
      <pc:sldChg chg="modSp new mod">
        <pc:chgData name="皓聖 大政" userId="871faf28f77277ca" providerId="LiveId" clId="{47B0DB40-BDFC-EA4A-9E34-3AD542324487}" dt="2024-06-22T13:28:40.309" v="1447" actId="20577"/>
        <pc:sldMkLst>
          <pc:docMk/>
          <pc:sldMk cId="2947061362" sldId="533"/>
        </pc:sldMkLst>
      </pc:sldChg>
      <pc:sldChg chg="addSp delSp modSp new mod modAnim">
        <pc:chgData name="皓聖 大政" userId="871faf28f77277ca" providerId="LiveId" clId="{47B0DB40-BDFC-EA4A-9E34-3AD542324487}" dt="2024-06-26T05:21:31.381" v="16178"/>
        <pc:sldMkLst>
          <pc:docMk/>
          <pc:sldMk cId="4103481892" sldId="534"/>
        </pc:sldMkLst>
      </pc:sldChg>
      <pc:sldChg chg="addSp delSp modSp new mod">
        <pc:chgData name="皓聖 大政" userId="871faf28f77277ca" providerId="LiveId" clId="{47B0DB40-BDFC-EA4A-9E34-3AD542324487}" dt="2024-06-25T02:14:24.571" v="4019" actId="1076"/>
        <pc:sldMkLst>
          <pc:docMk/>
          <pc:sldMk cId="1912841368" sldId="535"/>
        </pc:sldMkLst>
      </pc:sldChg>
      <pc:sldChg chg="addSp delSp modSp new mod">
        <pc:chgData name="皓聖 大政" userId="871faf28f77277ca" providerId="LiveId" clId="{47B0DB40-BDFC-EA4A-9E34-3AD542324487}" dt="2024-06-25T02:24:25.551" v="4165" actId="20577"/>
        <pc:sldMkLst>
          <pc:docMk/>
          <pc:sldMk cId="440978220" sldId="536"/>
        </pc:sldMkLst>
      </pc:sldChg>
      <pc:sldChg chg="addSp delSp modSp new mod ord">
        <pc:chgData name="皓聖 大政" userId="871faf28f77277ca" providerId="LiveId" clId="{47B0DB40-BDFC-EA4A-9E34-3AD542324487}" dt="2024-07-05T02:16:29.568" v="19588" actId="20577"/>
        <pc:sldMkLst>
          <pc:docMk/>
          <pc:sldMk cId="3073497332" sldId="537"/>
        </pc:sldMkLst>
      </pc:sldChg>
      <pc:sldChg chg="addSp delSp modSp new mod">
        <pc:chgData name="皓聖 大政" userId="871faf28f77277ca" providerId="LiveId" clId="{47B0DB40-BDFC-EA4A-9E34-3AD542324487}" dt="2024-06-25T01:13:11.880" v="3685" actId="207"/>
        <pc:sldMkLst>
          <pc:docMk/>
          <pc:sldMk cId="3853342469" sldId="538"/>
        </pc:sldMkLst>
      </pc:sldChg>
      <pc:sldChg chg="addSp delSp modSp new mod">
        <pc:chgData name="皓聖 大政" userId="871faf28f77277ca" providerId="LiveId" clId="{47B0DB40-BDFC-EA4A-9E34-3AD542324487}" dt="2024-06-25T02:10:08.815" v="3867" actId="20577"/>
        <pc:sldMkLst>
          <pc:docMk/>
          <pc:sldMk cId="3938135871" sldId="539"/>
        </pc:sldMkLst>
      </pc:sldChg>
      <pc:sldChg chg="addSp delSp modSp new mod">
        <pc:chgData name="皓聖 大政" userId="871faf28f77277ca" providerId="LiveId" clId="{47B0DB40-BDFC-EA4A-9E34-3AD542324487}" dt="2024-06-25T02:12:33.128" v="3997" actId="14100"/>
        <pc:sldMkLst>
          <pc:docMk/>
          <pc:sldMk cId="3026891653" sldId="540"/>
        </pc:sldMkLst>
      </pc:sldChg>
      <pc:sldChg chg="addSp delSp modSp new del mod">
        <pc:chgData name="皓聖 大政" userId="871faf28f77277ca" providerId="LiveId" clId="{47B0DB40-BDFC-EA4A-9E34-3AD542324487}" dt="2024-06-25T02:13:39.399" v="4010" actId="2696"/>
        <pc:sldMkLst>
          <pc:docMk/>
          <pc:sldMk cId="3899900803" sldId="541"/>
        </pc:sldMkLst>
      </pc:sldChg>
      <pc:sldChg chg="addSp delSp modSp new mod">
        <pc:chgData name="皓聖 大政" userId="871faf28f77277ca" providerId="LiveId" clId="{47B0DB40-BDFC-EA4A-9E34-3AD542324487}" dt="2024-06-26T05:28:40.410" v="16426" actId="20577"/>
        <pc:sldMkLst>
          <pc:docMk/>
          <pc:sldMk cId="4244418910" sldId="541"/>
        </pc:sldMkLst>
      </pc:sldChg>
      <pc:sldChg chg="addSp delSp modSp add mod">
        <pc:chgData name="皓聖 大政" userId="871faf28f77277ca" providerId="LiveId" clId="{47B0DB40-BDFC-EA4A-9E34-3AD542324487}" dt="2024-07-05T02:15:13.493" v="19569" actId="1076"/>
        <pc:sldMkLst>
          <pc:docMk/>
          <pc:sldMk cId="2227082293" sldId="542"/>
        </pc:sldMkLst>
      </pc:sldChg>
      <pc:sldChg chg="addSp modSp add mod">
        <pc:chgData name="皓聖 大政" userId="871faf28f77277ca" providerId="LiveId" clId="{47B0DB40-BDFC-EA4A-9E34-3AD542324487}" dt="2024-06-26T14:55:41.552" v="18975" actId="20577"/>
        <pc:sldMkLst>
          <pc:docMk/>
          <pc:sldMk cId="1178788752" sldId="543"/>
        </pc:sldMkLst>
      </pc:sldChg>
      <pc:sldChg chg="add del">
        <pc:chgData name="皓聖 大政" userId="871faf28f77277ca" providerId="LiveId" clId="{47B0DB40-BDFC-EA4A-9E34-3AD542324487}" dt="2024-06-25T03:44:55.287" v="5213" actId="2696"/>
        <pc:sldMkLst>
          <pc:docMk/>
          <pc:sldMk cId="1721140189" sldId="543"/>
        </pc:sldMkLst>
      </pc:sldChg>
      <pc:sldChg chg="addSp delSp modSp new mod">
        <pc:chgData name="皓聖 大政" userId="871faf28f77277ca" providerId="LiveId" clId="{47B0DB40-BDFC-EA4A-9E34-3AD542324487}" dt="2024-07-05T02:39:43.294" v="19618" actId="20577"/>
        <pc:sldMkLst>
          <pc:docMk/>
          <pc:sldMk cId="3400452437" sldId="544"/>
        </pc:sldMkLst>
      </pc:sldChg>
      <pc:sldChg chg="addSp delSp modSp new mod">
        <pc:chgData name="皓聖 大政" userId="871faf28f77277ca" providerId="LiveId" clId="{47B0DB40-BDFC-EA4A-9E34-3AD542324487}" dt="2024-06-26T07:14:00.075" v="18674" actId="20577"/>
        <pc:sldMkLst>
          <pc:docMk/>
          <pc:sldMk cId="3708555896" sldId="545"/>
        </pc:sldMkLst>
      </pc:sldChg>
      <pc:sldChg chg="addSp delSp modSp new del mod">
        <pc:chgData name="皓聖 大政" userId="871faf28f77277ca" providerId="LiveId" clId="{47B0DB40-BDFC-EA4A-9E34-3AD542324487}" dt="2024-06-25T11:25:09.863" v="12522" actId="2696"/>
        <pc:sldMkLst>
          <pc:docMk/>
          <pc:sldMk cId="3024733238" sldId="546"/>
        </pc:sldMkLst>
      </pc:sldChg>
      <pc:sldChg chg="modSp new mod">
        <pc:chgData name="皓聖 大政" userId="871faf28f77277ca" providerId="LiveId" clId="{47B0DB40-BDFC-EA4A-9E34-3AD542324487}" dt="2024-06-25T04:56:16.629" v="6958" actId="20577"/>
        <pc:sldMkLst>
          <pc:docMk/>
          <pc:sldMk cId="2385777716" sldId="547"/>
        </pc:sldMkLst>
      </pc:sldChg>
      <pc:sldChg chg="addSp delSp modSp add mod">
        <pc:chgData name="皓聖 大政" userId="871faf28f77277ca" providerId="LiveId" clId="{47B0DB40-BDFC-EA4A-9E34-3AD542324487}" dt="2024-06-25T06:12:07.534" v="9878" actId="20577"/>
        <pc:sldMkLst>
          <pc:docMk/>
          <pc:sldMk cId="2814564326" sldId="548"/>
        </pc:sldMkLst>
      </pc:sldChg>
      <pc:sldChg chg="addSp delSp modSp new mod">
        <pc:chgData name="皓聖 大政" userId="871faf28f77277ca" providerId="LiveId" clId="{47B0DB40-BDFC-EA4A-9E34-3AD542324487}" dt="2024-06-25T06:20:15.906" v="9982" actId="1076"/>
        <pc:sldMkLst>
          <pc:docMk/>
          <pc:sldMk cId="3130815731" sldId="549"/>
        </pc:sldMkLst>
      </pc:sldChg>
      <pc:sldChg chg="addSp delSp modSp add mod">
        <pc:chgData name="皓聖 大政" userId="871faf28f77277ca" providerId="LiveId" clId="{47B0DB40-BDFC-EA4A-9E34-3AD542324487}" dt="2024-06-26T02:36:33.678" v="13671" actId="20577"/>
        <pc:sldMkLst>
          <pc:docMk/>
          <pc:sldMk cId="497525725" sldId="550"/>
        </pc:sldMkLst>
      </pc:sldChg>
      <pc:sldChg chg="addSp delSp modSp add mod">
        <pc:chgData name="皓聖 大政" userId="871faf28f77277ca" providerId="LiveId" clId="{47B0DB40-BDFC-EA4A-9E34-3AD542324487}" dt="2024-06-25T06:51:06.777" v="10927" actId="1076"/>
        <pc:sldMkLst>
          <pc:docMk/>
          <pc:sldMk cId="957729158" sldId="551"/>
        </pc:sldMkLst>
      </pc:sldChg>
      <pc:sldChg chg="new del">
        <pc:chgData name="皓聖 大政" userId="871faf28f77277ca" providerId="LiveId" clId="{47B0DB40-BDFC-EA4A-9E34-3AD542324487}" dt="2024-06-25T06:47:20.494" v="10727" actId="2696"/>
        <pc:sldMkLst>
          <pc:docMk/>
          <pc:sldMk cId="2025483623" sldId="552"/>
        </pc:sldMkLst>
      </pc:sldChg>
      <pc:sldChg chg="addSp delSp modSp add mod">
        <pc:chgData name="皓聖 大政" userId="871faf28f77277ca" providerId="LiveId" clId="{47B0DB40-BDFC-EA4A-9E34-3AD542324487}" dt="2024-06-26T02:43:46.624" v="14404" actId="1076"/>
        <pc:sldMkLst>
          <pc:docMk/>
          <pc:sldMk cId="3137195599" sldId="552"/>
        </pc:sldMkLst>
      </pc:sldChg>
      <pc:sldChg chg="addSp delSp modSp add mod">
        <pc:chgData name="皓聖 大政" userId="871faf28f77277ca" providerId="LiveId" clId="{47B0DB40-BDFC-EA4A-9E34-3AD542324487}" dt="2024-07-05T02:38:35.602" v="19611" actId="20577"/>
        <pc:sldMkLst>
          <pc:docMk/>
          <pc:sldMk cId="3655112006" sldId="553"/>
        </pc:sldMkLst>
      </pc:sldChg>
      <pc:sldChg chg="addSp modSp add del mod">
        <pc:chgData name="皓聖 大政" userId="871faf28f77277ca" providerId="LiveId" clId="{47B0DB40-BDFC-EA4A-9E34-3AD542324487}" dt="2024-06-25T11:15:30.589" v="12305" actId="2696"/>
        <pc:sldMkLst>
          <pc:docMk/>
          <pc:sldMk cId="762298845" sldId="554"/>
        </pc:sldMkLst>
      </pc:sldChg>
      <pc:sldChg chg="addSp modSp add mod">
        <pc:chgData name="皓聖 大政" userId="871faf28f77277ca" providerId="LiveId" clId="{47B0DB40-BDFC-EA4A-9E34-3AD542324487}" dt="2024-07-05T02:19:27.709" v="19600" actId="20577"/>
        <pc:sldMkLst>
          <pc:docMk/>
          <pc:sldMk cId="365250621" sldId="555"/>
        </pc:sldMkLst>
      </pc:sldChg>
      <pc:sldChg chg="add del">
        <pc:chgData name="皓聖 大政" userId="871faf28f77277ca" providerId="LiveId" clId="{47B0DB40-BDFC-EA4A-9E34-3AD542324487}" dt="2024-06-25T11:14:35.057" v="12289"/>
        <pc:sldMkLst>
          <pc:docMk/>
          <pc:sldMk cId="2215162946" sldId="555"/>
        </pc:sldMkLst>
      </pc:sldChg>
      <pc:sldChg chg="addSp delSp modSp add mod">
        <pc:chgData name="皓聖 大政" userId="871faf28f77277ca" providerId="LiveId" clId="{47B0DB40-BDFC-EA4A-9E34-3AD542324487}" dt="2024-06-26T05:16:51.345" v="16107" actId="20577"/>
        <pc:sldMkLst>
          <pc:docMk/>
          <pc:sldMk cId="379540811" sldId="556"/>
        </pc:sldMkLst>
      </pc:sldChg>
      <pc:sldChg chg="addSp delSp modSp add del mod">
        <pc:chgData name="皓聖 大政" userId="871faf28f77277ca" providerId="LiveId" clId="{47B0DB40-BDFC-EA4A-9E34-3AD542324487}" dt="2024-06-26T02:30:58.489" v="13636" actId="2696"/>
        <pc:sldMkLst>
          <pc:docMk/>
          <pc:sldMk cId="2511376344" sldId="557"/>
        </pc:sldMkLst>
      </pc:sldChg>
      <pc:sldChg chg="addSp delSp modSp new mod ord">
        <pc:chgData name="皓聖 大政" userId="871faf28f77277ca" providerId="LiveId" clId="{47B0DB40-BDFC-EA4A-9E34-3AD542324487}" dt="2024-06-26T02:30:35.110" v="13635" actId="20577"/>
        <pc:sldMkLst>
          <pc:docMk/>
          <pc:sldMk cId="1814688038" sldId="558"/>
        </pc:sldMkLst>
      </pc:sldChg>
      <pc:sldChg chg="add">
        <pc:chgData name="皓聖 大政" userId="871faf28f77277ca" providerId="LiveId" clId="{47B0DB40-BDFC-EA4A-9E34-3AD542324487}" dt="2024-06-26T02:34:14.314" v="13640"/>
        <pc:sldMkLst>
          <pc:docMk/>
          <pc:sldMk cId="2399462245" sldId="559"/>
        </pc:sldMkLst>
      </pc:sldChg>
      <pc:sldChg chg="new del">
        <pc:chgData name="皓聖 大政" userId="871faf28f77277ca" providerId="LiveId" clId="{47B0DB40-BDFC-EA4A-9E34-3AD542324487}" dt="2024-06-26T03:24:50.285" v="14885" actId="2696"/>
        <pc:sldMkLst>
          <pc:docMk/>
          <pc:sldMk cId="852283021" sldId="560"/>
        </pc:sldMkLst>
      </pc:sldChg>
      <pc:sldChg chg="modSp add mod">
        <pc:chgData name="皓聖 大政" userId="871faf28f77277ca" providerId="LiveId" clId="{47B0DB40-BDFC-EA4A-9E34-3AD542324487}" dt="2024-06-26T05:08:58.369" v="15959" actId="1036"/>
        <pc:sldMkLst>
          <pc:docMk/>
          <pc:sldMk cId="1216230077" sldId="560"/>
        </pc:sldMkLst>
      </pc:sldChg>
      <pc:sldChg chg="addSp modSp add mod">
        <pc:chgData name="皓聖 大政" userId="871faf28f77277ca" providerId="LiveId" clId="{47B0DB40-BDFC-EA4A-9E34-3AD542324487}" dt="2024-06-26T07:14:12.648" v="18675"/>
        <pc:sldMkLst>
          <pc:docMk/>
          <pc:sldMk cId="1531465318" sldId="561"/>
        </pc:sldMkLst>
      </pc:sldChg>
    </pc:docChg>
  </pc:docChgLst>
</pc:chgInfo>
</file>

<file path=ppt/diagrams/_rels/data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image" Target="../media/image7.png"/></Relationships>
</file>

<file path=ppt/diagrams/_rels/drawing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image" Target="../media/image7.png"/></Relationships>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EB5474-A9E5-45F7-BBA5-2C3D855ACC4F}" type="doc">
      <dgm:prSet loTypeId="urn:microsoft.com/office/officeart/2005/8/layout/vList2" loCatId="list" qsTypeId="urn:microsoft.com/office/officeart/2005/8/quickstyle/simple1" qsCatId="simple" csTypeId="urn:microsoft.com/office/officeart/2005/8/colors/accent2_5" csCatId="accent2" phldr="1"/>
      <dgm:spPr/>
      <dgm:t>
        <a:bodyPr/>
        <a:lstStyle/>
        <a:p>
          <a:endParaRPr kumimoji="1" lang="ja-JP" altLang="en-US"/>
        </a:p>
      </dgm:t>
    </dgm:pt>
    <dgm:pt modelId="{846B4683-B154-4F89-89DC-B6C1015E050A}">
      <dgm:prSet phldrT="[テキスト]"/>
      <dgm:spPr/>
      <dgm:t>
        <a:bodyPr/>
        <a:lstStyle/>
        <a:p>
          <a:r>
            <a:rPr kumimoji="1" lang="ja-JP" altLang="en-US" b="1" dirty="0"/>
            <a:t>全血での測定</a:t>
          </a:r>
        </a:p>
      </dgm:t>
    </dgm:pt>
    <dgm:pt modelId="{FF6AC756-D492-4CFF-ACCB-147F78ED745B}" type="parTrans" cxnId="{BE536458-051F-460D-A90F-999CFC397A22}">
      <dgm:prSet/>
      <dgm:spPr/>
      <dgm:t>
        <a:bodyPr/>
        <a:lstStyle/>
        <a:p>
          <a:endParaRPr kumimoji="1" lang="ja-JP" altLang="en-US" b="1"/>
        </a:p>
      </dgm:t>
    </dgm:pt>
    <dgm:pt modelId="{3A041B17-21EC-4042-9F9D-9FA4A77DDDC8}" type="sibTrans" cxnId="{BE536458-051F-460D-A90F-999CFC397A22}">
      <dgm:prSet/>
      <dgm:spPr/>
      <dgm:t>
        <a:bodyPr/>
        <a:lstStyle/>
        <a:p>
          <a:endParaRPr kumimoji="1" lang="ja-JP" altLang="en-US" b="1"/>
        </a:p>
      </dgm:t>
    </dgm:pt>
    <dgm:pt modelId="{00C732EA-DD02-4FD5-8A6C-B08992B128D6}">
      <dgm:prSet phldrT="[テキスト]"/>
      <dgm:spPr/>
      <dgm:t>
        <a:bodyPr/>
        <a:lstStyle/>
        <a:p>
          <a:r>
            <a:rPr lang="ja-JP" altLang="en-US" b="1" dirty="0">
              <a:solidFill>
                <a:schemeClr val="bg1"/>
              </a:solidFill>
            </a:rPr>
            <a:t>血液の粘張度を見る</a:t>
          </a:r>
          <a:endParaRPr kumimoji="1" lang="ja-JP" altLang="en-US" b="1" dirty="0">
            <a:solidFill>
              <a:schemeClr val="bg1"/>
            </a:solidFill>
          </a:endParaRPr>
        </a:p>
      </dgm:t>
    </dgm:pt>
    <dgm:pt modelId="{CC1A1676-5F28-476A-8E7D-75D30F0A8B8D}" type="parTrans" cxnId="{D1D09819-64B3-48A6-AE90-0E012CB88900}">
      <dgm:prSet/>
      <dgm:spPr/>
      <dgm:t>
        <a:bodyPr/>
        <a:lstStyle/>
        <a:p>
          <a:endParaRPr kumimoji="1" lang="ja-JP" altLang="en-US" b="1"/>
        </a:p>
      </dgm:t>
    </dgm:pt>
    <dgm:pt modelId="{9C384A09-FD4C-4D79-AF12-0CCA00C6C38B}" type="sibTrans" cxnId="{D1D09819-64B3-48A6-AE90-0E012CB88900}">
      <dgm:prSet/>
      <dgm:spPr/>
      <dgm:t>
        <a:bodyPr/>
        <a:lstStyle/>
        <a:p>
          <a:endParaRPr kumimoji="1" lang="ja-JP" altLang="en-US" b="1"/>
        </a:p>
      </dgm:t>
    </dgm:pt>
    <dgm:pt modelId="{B679876C-2672-4B1B-8FFA-CC30341197EA}">
      <dgm:prSet phldrT="[テキスト]"/>
      <dgm:spPr/>
      <dgm:t>
        <a:bodyPr/>
        <a:lstStyle/>
        <a:p>
          <a:r>
            <a:rPr kumimoji="1" lang="ja-JP" altLang="en-US" b="1" dirty="0"/>
            <a:t>実際の出血に対する止血能を反映</a:t>
          </a:r>
        </a:p>
      </dgm:t>
    </dgm:pt>
    <dgm:pt modelId="{D8373981-B468-4D34-A227-7700A74FA2F0}" type="parTrans" cxnId="{39E5642F-2BA7-4F1D-8DF2-847EDC120565}">
      <dgm:prSet/>
      <dgm:spPr/>
      <dgm:t>
        <a:bodyPr/>
        <a:lstStyle/>
        <a:p>
          <a:endParaRPr kumimoji="1" lang="ja-JP" altLang="en-US" b="1"/>
        </a:p>
      </dgm:t>
    </dgm:pt>
    <dgm:pt modelId="{5654FC62-4ECF-418F-A7D7-517150CDC0B0}" type="sibTrans" cxnId="{39E5642F-2BA7-4F1D-8DF2-847EDC120565}">
      <dgm:prSet/>
      <dgm:spPr/>
      <dgm:t>
        <a:bodyPr/>
        <a:lstStyle/>
        <a:p>
          <a:endParaRPr kumimoji="1" lang="ja-JP" altLang="en-US" b="1"/>
        </a:p>
      </dgm:t>
    </dgm:pt>
    <dgm:pt modelId="{D9AEF139-47EF-483F-8A4B-E84F159CB1D6}">
      <dgm:prSet/>
      <dgm:spPr/>
      <dgm:t>
        <a:bodyPr/>
        <a:lstStyle/>
        <a:p>
          <a:r>
            <a:rPr lang="ja-JP" altLang="en-US" b="1" dirty="0"/>
            <a:t>凝固能のモニタリング</a:t>
          </a:r>
          <a:endParaRPr lang="en-US" altLang="ja-JP" b="1" dirty="0"/>
        </a:p>
      </dgm:t>
    </dgm:pt>
    <dgm:pt modelId="{D2C83486-9341-4C4B-BCD8-20BD732B2E93}" type="parTrans" cxnId="{F977F1E1-77AF-4625-82FF-F9852CF66F31}">
      <dgm:prSet/>
      <dgm:spPr/>
      <dgm:t>
        <a:bodyPr/>
        <a:lstStyle/>
        <a:p>
          <a:endParaRPr kumimoji="1" lang="ja-JP" altLang="en-US" b="1"/>
        </a:p>
      </dgm:t>
    </dgm:pt>
    <dgm:pt modelId="{FB567AC6-9250-43AF-9BE1-6EBFCE567E39}" type="sibTrans" cxnId="{F977F1E1-77AF-4625-82FF-F9852CF66F31}">
      <dgm:prSet/>
      <dgm:spPr/>
      <dgm:t>
        <a:bodyPr/>
        <a:lstStyle/>
        <a:p>
          <a:endParaRPr kumimoji="1" lang="ja-JP" altLang="en-US" b="1"/>
        </a:p>
      </dgm:t>
    </dgm:pt>
    <dgm:pt modelId="{5CA95324-022B-4FFC-A8ED-EB6538DAA453}">
      <dgm:prSet phldrT="[テキスト]"/>
      <dgm:spPr/>
      <dgm:t>
        <a:bodyPr/>
        <a:lstStyle/>
        <a:p>
          <a:r>
            <a:rPr kumimoji="1" lang="ja-JP" altLang="en-US" b="1" dirty="0"/>
            <a:t>血液凝固の状態を全血を用いて包括的に見る</a:t>
          </a:r>
        </a:p>
      </dgm:t>
    </dgm:pt>
    <dgm:pt modelId="{E5E4F006-11EC-4D17-B8E6-A2CCFA3BBB28}" type="sibTrans" cxnId="{E7F577D8-55AE-4BBE-84AD-469E68D3685B}">
      <dgm:prSet/>
      <dgm:spPr/>
      <dgm:t>
        <a:bodyPr/>
        <a:lstStyle/>
        <a:p>
          <a:endParaRPr kumimoji="1" lang="ja-JP" altLang="en-US" b="1"/>
        </a:p>
      </dgm:t>
    </dgm:pt>
    <dgm:pt modelId="{758FD52B-CCB4-42A6-B9DD-F521A0C47DA8}" type="parTrans" cxnId="{E7F577D8-55AE-4BBE-84AD-469E68D3685B}">
      <dgm:prSet/>
      <dgm:spPr/>
      <dgm:t>
        <a:bodyPr/>
        <a:lstStyle/>
        <a:p>
          <a:endParaRPr kumimoji="1" lang="ja-JP" altLang="en-US" b="1"/>
        </a:p>
      </dgm:t>
    </dgm:pt>
    <dgm:pt modelId="{7F4A1EF9-5CDD-4CF7-B82B-16CAFF92A497}">
      <dgm:prSet phldrT="[テキスト]"/>
      <dgm:spPr/>
      <dgm:t>
        <a:bodyPr/>
        <a:lstStyle/>
        <a:p>
          <a:r>
            <a:rPr kumimoji="1" lang="ja-JP" altLang="en-US" b="1" dirty="0"/>
            <a:t>凝固から線溶まで</a:t>
          </a:r>
        </a:p>
      </dgm:t>
    </dgm:pt>
    <dgm:pt modelId="{5B94D9C7-9706-4473-BADF-7E5B245AC980}" type="parTrans" cxnId="{B3FC8E07-843D-4E11-8203-F5AD5EF4C47D}">
      <dgm:prSet/>
      <dgm:spPr/>
      <dgm:t>
        <a:bodyPr/>
        <a:lstStyle/>
        <a:p>
          <a:endParaRPr kumimoji="1" lang="ja-JP" altLang="en-US" b="1"/>
        </a:p>
      </dgm:t>
    </dgm:pt>
    <dgm:pt modelId="{B1D6001D-366E-44C9-9187-66AA52B9E3C6}" type="sibTrans" cxnId="{B3FC8E07-843D-4E11-8203-F5AD5EF4C47D}">
      <dgm:prSet/>
      <dgm:spPr/>
      <dgm:t>
        <a:bodyPr/>
        <a:lstStyle/>
        <a:p>
          <a:endParaRPr kumimoji="1" lang="ja-JP" altLang="en-US" b="1"/>
        </a:p>
      </dgm:t>
    </dgm:pt>
    <dgm:pt modelId="{22A6FF4A-6332-4276-A384-B61CD3B5D341}" type="pres">
      <dgm:prSet presAssocID="{42EB5474-A9E5-45F7-BBA5-2C3D855ACC4F}" presName="linear" presStyleCnt="0">
        <dgm:presLayoutVars>
          <dgm:animLvl val="lvl"/>
          <dgm:resizeHandles val="exact"/>
        </dgm:presLayoutVars>
      </dgm:prSet>
      <dgm:spPr/>
    </dgm:pt>
    <dgm:pt modelId="{CE6B88DF-B15A-4688-9164-F027EB86FBC2}" type="pres">
      <dgm:prSet presAssocID="{5CA95324-022B-4FFC-A8ED-EB6538DAA453}" presName="parentText" presStyleLbl="node1" presStyleIdx="0" presStyleCnt="2" custLinFactNeighborX="88" custLinFactNeighborY="-34253">
        <dgm:presLayoutVars>
          <dgm:chMax val="0"/>
          <dgm:bulletEnabled val="1"/>
        </dgm:presLayoutVars>
      </dgm:prSet>
      <dgm:spPr/>
    </dgm:pt>
    <dgm:pt modelId="{62ECCC09-A335-474D-8273-11BE764F98AB}" type="pres">
      <dgm:prSet presAssocID="{5CA95324-022B-4FFC-A8ED-EB6538DAA453}" presName="childText" presStyleLbl="revTx" presStyleIdx="0" presStyleCnt="2">
        <dgm:presLayoutVars>
          <dgm:bulletEnabled val="1"/>
        </dgm:presLayoutVars>
      </dgm:prSet>
      <dgm:spPr/>
    </dgm:pt>
    <dgm:pt modelId="{ADF6B7E0-EACF-41A6-8B56-C84FC9122E5C}" type="pres">
      <dgm:prSet presAssocID="{00C732EA-DD02-4FD5-8A6C-B08992B128D6}" presName="parentText" presStyleLbl="node1" presStyleIdx="1" presStyleCnt="2" custLinFactNeighborX="-230">
        <dgm:presLayoutVars>
          <dgm:chMax val="0"/>
          <dgm:bulletEnabled val="1"/>
        </dgm:presLayoutVars>
      </dgm:prSet>
      <dgm:spPr/>
    </dgm:pt>
    <dgm:pt modelId="{9FBF4009-6678-4294-A2C7-B55BAE977A7B}" type="pres">
      <dgm:prSet presAssocID="{00C732EA-DD02-4FD5-8A6C-B08992B128D6}" presName="childText" presStyleLbl="revTx" presStyleIdx="1" presStyleCnt="2">
        <dgm:presLayoutVars>
          <dgm:bulletEnabled val="1"/>
        </dgm:presLayoutVars>
      </dgm:prSet>
      <dgm:spPr/>
    </dgm:pt>
  </dgm:ptLst>
  <dgm:cxnLst>
    <dgm:cxn modelId="{B3FC8E07-843D-4E11-8203-F5AD5EF4C47D}" srcId="{5CA95324-022B-4FFC-A8ED-EB6538DAA453}" destId="{7F4A1EF9-5CDD-4CF7-B82B-16CAFF92A497}" srcOrd="1" destOrd="0" parTransId="{5B94D9C7-9706-4473-BADF-7E5B245AC980}" sibTransId="{B1D6001D-366E-44C9-9187-66AA52B9E3C6}"/>
    <dgm:cxn modelId="{2B2F380F-FCAE-414E-B344-B2F0A0C7D776}" type="presOf" srcId="{B679876C-2672-4B1B-8FFA-CC30341197EA}" destId="{9FBF4009-6678-4294-A2C7-B55BAE977A7B}" srcOrd="0" destOrd="0" presId="urn:microsoft.com/office/officeart/2005/8/layout/vList2"/>
    <dgm:cxn modelId="{D1D09819-64B3-48A6-AE90-0E012CB88900}" srcId="{42EB5474-A9E5-45F7-BBA5-2C3D855ACC4F}" destId="{00C732EA-DD02-4FD5-8A6C-B08992B128D6}" srcOrd="1" destOrd="0" parTransId="{CC1A1676-5F28-476A-8E7D-75D30F0A8B8D}" sibTransId="{9C384A09-FD4C-4D79-AF12-0CCA00C6C38B}"/>
    <dgm:cxn modelId="{39E5642F-2BA7-4F1D-8DF2-847EDC120565}" srcId="{00C732EA-DD02-4FD5-8A6C-B08992B128D6}" destId="{B679876C-2672-4B1B-8FFA-CC30341197EA}" srcOrd="0" destOrd="0" parTransId="{D8373981-B468-4D34-A227-7700A74FA2F0}" sibTransId="{5654FC62-4ECF-418F-A7D7-517150CDC0B0}"/>
    <dgm:cxn modelId="{614BAE43-9F5F-4260-8C89-147D78F4D36A}" type="presOf" srcId="{5CA95324-022B-4FFC-A8ED-EB6538DAA453}" destId="{CE6B88DF-B15A-4688-9164-F027EB86FBC2}" srcOrd="0" destOrd="0" presId="urn:microsoft.com/office/officeart/2005/8/layout/vList2"/>
    <dgm:cxn modelId="{25755645-229C-4CC3-9984-9B715BE592C3}" type="presOf" srcId="{7F4A1EF9-5CDD-4CF7-B82B-16CAFF92A497}" destId="{62ECCC09-A335-474D-8273-11BE764F98AB}" srcOrd="0" destOrd="1" presId="urn:microsoft.com/office/officeart/2005/8/layout/vList2"/>
    <dgm:cxn modelId="{BE536458-051F-460D-A90F-999CFC397A22}" srcId="{5CA95324-022B-4FFC-A8ED-EB6538DAA453}" destId="{846B4683-B154-4F89-89DC-B6C1015E050A}" srcOrd="0" destOrd="0" parTransId="{FF6AC756-D492-4CFF-ACCB-147F78ED745B}" sibTransId="{3A041B17-21EC-4042-9F9D-9FA4A77DDDC8}"/>
    <dgm:cxn modelId="{BF50315E-5319-4683-BDF5-7D9B285E950D}" type="presOf" srcId="{D9AEF139-47EF-483F-8A4B-E84F159CB1D6}" destId="{9FBF4009-6678-4294-A2C7-B55BAE977A7B}" srcOrd="0" destOrd="1" presId="urn:microsoft.com/office/officeart/2005/8/layout/vList2"/>
    <dgm:cxn modelId="{1B289B99-49B5-49D2-8EA3-79D92E0C62A4}" type="presOf" srcId="{00C732EA-DD02-4FD5-8A6C-B08992B128D6}" destId="{ADF6B7E0-EACF-41A6-8B56-C84FC9122E5C}" srcOrd="0" destOrd="0" presId="urn:microsoft.com/office/officeart/2005/8/layout/vList2"/>
    <dgm:cxn modelId="{EE6E67BD-BB82-44BB-A151-11EE0E4F09DD}" type="presOf" srcId="{846B4683-B154-4F89-89DC-B6C1015E050A}" destId="{62ECCC09-A335-474D-8273-11BE764F98AB}" srcOrd="0" destOrd="0" presId="urn:microsoft.com/office/officeart/2005/8/layout/vList2"/>
    <dgm:cxn modelId="{654E0CD4-CF81-478F-BD2B-25742D6EEDA1}" type="presOf" srcId="{42EB5474-A9E5-45F7-BBA5-2C3D855ACC4F}" destId="{22A6FF4A-6332-4276-A384-B61CD3B5D341}" srcOrd="0" destOrd="0" presId="urn:microsoft.com/office/officeart/2005/8/layout/vList2"/>
    <dgm:cxn modelId="{E7F577D8-55AE-4BBE-84AD-469E68D3685B}" srcId="{42EB5474-A9E5-45F7-BBA5-2C3D855ACC4F}" destId="{5CA95324-022B-4FFC-A8ED-EB6538DAA453}" srcOrd="0" destOrd="0" parTransId="{758FD52B-CCB4-42A6-B9DD-F521A0C47DA8}" sibTransId="{E5E4F006-11EC-4D17-B8E6-A2CCFA3BBB28}"/>
    <dgm:cxn modelId="{F977F1E1-77AF-4625-82FF-F9852CF66F31}" srcId="{00C732EA-DD02-4FD5-8A6C-B08992B128D6}" destId="{D9AEF139-47EF-483F-8A4B-E84F159CB1D6}" srcOrd="1" destOrd="0" parTransId="{D2C83486-9341-4C4B-BCD8-20BD732B2E93}" sibTransId="{FB567AC6-9250-43AF-9BE1-6EBFCE567E39}"/>
    <dgm:cxn modelId="{D0672ADA-93B8-4E15-8AA4-A1F1135AA073}" type="presParOf" srcId="{22A6FF4A-6332-4276-A384-B61CD3B5D341}" destId="{CE6B88DF-B15A-4688-9164-F027EB86FBC2}" srcOrd="0" destOrd="0" presId="urn:microsoft.com/office/officeart/2005/8/layout/vList2"/>
    <dgm:cxn modelId="{418E5502-00D8-4BB1-AFBE-688381C205FC}" type="presParOf" srcId="{22A6FF4A-6332-4276-A384-B61CD3B5D341}" destId="{62ECCC09-A335-474D-8273-11BE764F98AB}" srcOrd="1" destOrd="0" presId="urn:microsoft.com/office/officeart/2005/8/layout/vList2"/>
    <dgm:cxn modelId="{2ABB684C-D6EC-4C6F-B09A-15F35B735FAF}" type="presParOf" srcId="{22A6FF4A-6332-4276-A384-B61CD3B5D341}" destId="{ADF6B7E0-EACF-41A6-8B56-C84FC9122E5C}" srcOrd="2" destOrd="0" presId="urn:microsoft.com/office/officeart/2005/8/layout/vList2"/>
    <dgm:cxn modelId="{835723F0-C41D-401E-9739-F1E8A256FAB9}" type="presParOf" srcId="{22A6FF4A-6332-4276-A384-B61CD3B5D341}" destId="{9FBF4009-6678-4294-A2C7-B55BAE977A7B}"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BC4B73F-9625-4F64-901C-59DE4B6E6068}" type="doc">
      <dgm:prSet loTypeId="urn:microsoft.com/office/officeart/2005/8/layout/vList6" loCatId="list" qsTypeId="urn:microsoft.com/office/officeart/2005/8/quickstyle/simple5" qsCatId="simple" csTypeId="urn:microsoft.com/office/officeart/2005/8/colors/accent2_4" csCatId="accent2" phldr="1"/>
      <dgm:spPr/>
      <dgm:t>
        <a:bodyPr/>
        <a:lstStyle/>
        <a:p>
          <a:endParaRPr kumimoji="1" lang="ja-JP" altLang="en-US"/>
        </a:p>
      </dgm:t>
    </dgm:pt>
    <dgm:pt modelId="{44D12ED2-2471-4151-9222-85E8ABF0AED9}">
      <dgm:prSet phldrT="[テキスト]"/>
      <dgm:spPr>
        <a:xfrm>
          <a:off x="0" y="1118"/>
          <a:ext cx="4530851" cy="887396"/>
        </a:xfrm>
        <a:prstGeom prst="roundRect">
          <a:avLst/>
        </a:prstGeom>
        <a:gradFill rotWithShape="0">
          <a:gsLst>
            <a:gs pos="0">
              <a:schemeClr val="tx2">
                <a:lumMod val="10000"/>
                <a:lumOff val="90000"/>
              </a:schemeClr>
            </a:gs>
            <a:gs pos="100000">
              <a:srgbClr val="2A6EBB">
                <a:shade val="50000"/>
                <a:hueOff val="0"/>
                <a:satOff val="0"/>
                <a:lumOff val="0"/>
                <a:alphaOff val="0"/>
                <a:tint val="50000"/>
                <a:shade val="100000"/>
                <a:satMod val="350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pPr>
            <a:buNone/>
          </a:pPr>
          <a:r>
            <a:rPr kumimoji="1" lang="ja-JP" altLang="en-US" dirty="0">
              <a:solidFill>
                <a:sysClr val="window" lastClr="FFFFFF"/>
              </a:solidFill>
              <a:latin typeface="Arial"/>
              <a:ea typeface="+mn-ea"/>
              <a:cs typeface="+mn-cs"/>
            </a:rPr>
            <a:t>心臓血管外科</a:t>
          </a:r>
        </a:p>
      </dgm:t>
    </dgm:pt>
    <dgm:pt modelId="{FF47ACD9-8CD7-4B1B-BF6E-FCA675390C94}" type="parTrans" cxnId="{8DF0EEB7-B64F-48D7-A4AB-9D1DC7A0F3D8}">
      <dgm:prSet/>
      <dgm:spPr/>
      <dgm:t>
        <a:bodyPr/>
        <a:lstStyle/>
        <a:p>
          <a:endParaRPr kumimoji="1" lang="ja-JP" altLang="en-US"/>
        </a:p>
      </dgm:t>
    </dgm:pt>
    <dgm:pt modelId="{F5B2F12C-202C-4A72-B2AE-8BEF007EBBAD}" type="sibTrans" cxnId="{8DF0EEB7-B64F-48D7-A4AB-9D1DC7A0F3D8}">
      <dgm:prSet/>
      <dgm:spPr/>
      <dgm:t>
        <a:bodyPr/>
        <a:lstStyle/>
        <a:p>
          <a:endParaRPr kumimoji="1" lang="ja-JP" altLang="en-US"/>
        </a:p>
      </dgm:t>
    </dgm:pt>
    <dgm:pt modelId="{E5CE48E3-35F9-41C5-950E-618AF88B85F4}">
      <dgm:prSet phldrT="[テキスト]"/>
      <dgm:spPr>
        <a:xfrm>
          <a:off x="4530851" y="1118"/>
          <a:ext cx="6796277" cy="887396"/>
        </a:xfrm>
        <a:prstGeom prst="rightArrow">
          <a:avLst>
            <a:gd name="adj1" fmla="val 75000"/>
            <a:gd name="adj2" fmla="val 50000"/>
          </a:avLst>
        </a:prstGeom>
        <a:solidFill>
          <a:srgbClr val="2A6EBB">
            <a:alpha val="90000"/>
            <a:tint val="55000"/>
            <a:hueOff val="0"/>
            <a:satOff val="0"/>
            <a:lumOff val="0"/>
            <a:alphaOff val="0"/>
          </a:srgbClr>
        </a:solidFill>
        <a:ln w="9525" cap="flat" cmpd="sng" algn="ctr">
          <a:solidFill>
            <a:sysClr val="window" lastClr="FFFFFF">
              <a:hueOff val="0"/>
              <a:satOff val="0"/>
              <a:lumOff val="0"/>
              <a:alphaOff val="0"/>
            </a:sysClr>
          </a:solidFill>
          <a:prstDash val="solid"/>
        </a:ln>
        <a:effectLst>
          <a:outerShdw blurRad="40000" dist="23000" dir="5400000" rotWithShape="0">
            <a:srgbClr val="000000">
              <a:alpha val="35000"/>
            </a:srgbClr>
          </a:outerShdw>
        </a:effectLst>
      </dgm:spPr>
      <dgm:t>
        <a:bodyPr/>
        <a:lstStyle/>
        <a:p>
          <a:pPr>
            <a:buChar char="•"/>
          </a:pPr>
          <a:r>
            <a:rPr kumimoji="1" lang="ja-JP" altLang="en-US" dirty="0">
              <a:solidFill>
                <a:srgbClr val="000000">
                  <a:hueOff val="0"/>
                  <a:satOff val="0"/>
                  <a:lumOff val="0"/>
                  <a:alphaOff val="0"/>
                </a:srgbClr>
              </a:solidFill>
              <a:latin typeface="Arial"/>
              <a:ea typeface="+mn-ea"/>
              <a:cs typeface="+mn-cs"/>
            </a:rPr>
            <a:t>周術期出血管理</a:t>
          </a:r>
        </a:p>
      </dgm:t>
    </dgm:pt>
    <dgm:pt modelId="{364082F5-7931-4B7B-8A1E-FEA5FA0C4C7A}" type="parTrans" cxnId="{987E09A0-1F10-44D7-B808-5D77440EE65D}">
      <dgm:prSet/>
      <dgm:spPr/>
      <dgm:t>
        <a:bodyPr/>
        <a:lstStyle/>
        <a:p>
          <a:endParaRPr kumimoji="1" lang="ja-JP" altLang="en-US"/>
        </a:p>
      </dgm:t>
    </dgm:pt>
    <dgm:pt modelId="{56C1F9BC-1C94-42A5-9B80-002E81FA2BC0}" type="sibTrans" cxnId="{987E09A0-1F10-44D7-B808-5D77440EE65D}">
      <dgm:prSet/>
      <dgm:spPr/>
      <dgm:t>
        <a:bodyPr/>
        <a:lstStyle/>
        <a:p>
          <a:endParaRPr kumimoji="1" lang="ja-JP" altLang="en-US"/>
        </a:p>
      </dgm:t>
    </dgm:pt>
    <dgm:pt modelId="{05268C30-B2ED-4A4D-A805-9CD1E54E295B}">
      <dgm:prSet phldrT="[テキスト]"/>
      <dgm:spPr>
        <a:xfrm>
          <a:off x="0" y="977255"/>
          <a:ext cx="4530851" cy="887396"/>
        </a:xfrm>
        <a:prstGeom prst="round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pPr>
            <a:buNone/>
          </a:pPr>
          <a:r>
            <a:rPr kumimoji="1" lang="en-US" altLang="ja-JP" b="1" dirty="0">
              <a:solidFill>
                <a:schemeClr val="tx2"/>
              </a:solidFill>
              <a:latin typeface="Arial"/>
              <a:ea typeface="+mn-ea"/>
              <a:cs typeface="+mn-cs"/>
            </a:rPr>
            <a:t>ICU</a:t>
          </a:r>
          <a:endParaRPr kumimoji="1" lang="ja-JP" altLang="en-US" b="1" dirty="0">
            <a:solidFill>
              <a:schemeClr val="tx2"/>
            </a:solidFill>
            <a:latin typeface="Arial"/>
            <a:ea typeface="+mn-ea"/>
            <a:cs typeface="+mn-cs"/>
          </a:endParaRPr>
        </a:p>
      </dgm:t>
    </dgm:pt>
    <dgm:pt modelId="{A9C0C1BB-E241-418F-9E57-5E2287C1A36E}" type="parTrans" cxnId="{3FBF33F3-D7E3-4CD1-8B3C-5BD387EBC3C0}">
      <dgm:prSet/>
      <dgm:spPr/>
      <dgm:t>
        <a:bodyPr/>
        <a:lstStyle/>
        <a:p>
          <a:endParaRPr kumimoji="1" lang="ja-JP" altLang="en-US"/>
        </a:p>
      </dgm:t>
    </dgm:pt>
    <dgm:pt modelId="{1E91AC46-A445-4349-AB5C-E4B3A4E6D1EA}" type="sibTrans" cxnId="{3FBF33F3-D7E3-4CD1-8B3C-5BD387EBC3C0}">
      <dgm:prSet/>
      <dgm:spPr/>
      <dgm:t>
        <a:bodyPr/>
        <a:lstStyle/>
        <a:p>
          <a:endParaRPr kumimoji="1" lang="ja-JP" altLang="en-US"/>
        </a:p>
      </dgm:t>
    </dgm:pt>
    <dgm:pt modelId="{663D7882-4424-494C-AF53-A9565266A5CF}">
      <dgm:prSet phldrT="[テキスト]" custT="1"/>
      <dgm:spPr>
        <a:xfrm>
          <a:off x="4530851" y="977255"/>
          <a:ext cx="6796277" cy="887396"/>
        </a:xfrm>
        <a:prstGeom prst="rightArrow">
          <a:avLst>
            <a:gd name="adj1" fmla="val 75000"/>
            <a:gd name="adj2" fmla="val 50000"/>
          </a:avLst>
        </a:prstGeom>
        <a:solidFill>
          <a:schemeClr val="accent6">
            <a:lumMod val="20000"/>
            <a:lumOff val="80000"/>
            <a:alpha val="90000"/>
          </a:schemeClr>
        </a:solidFill>
        <a:ln w="9525" cap="flat" cmpd="sng" algn="ctr">
          <a:solidFill>
            <a:sysClr val="window" lastClr="FFFFFF">
              <a:hueOff val="0"/>
              <a:satOff val="0"/>
              <a:lumOff val="0"/>
              <a:alphaOff val="0"/>
            </a:sysClr>
          </a:solidFill>
          <a:prstDash val="solid"/>
        </a:ln>
        <a:effectLst>
          <a:outerShdw blurRad="40000" dist="23000" dir="5400000" rotWithShape="0">
            <a:srgbClr val="000000">
              <a:alpha val="35000"/>
            </a:srgbClr>
          </a:outerShdw>
        </a:effectLst>
      </dgm:spPr>
      <dgm:t>
        <a:bodyPr/>
        <a:lstStyle/>
        <a:p>
          <a:pPr>
            <a:buChar char="•"/>
          </a:pPr>
          <a:r>
            <a:rPr kumimoji="1" lang="ja-JP" altLang="en-US" sz="1800" b="1" dirty="0">
              <a:solidFill>
                <a:srgbClr val="FF0000"/>
              </a:solidFill>
              <a:latin typeface="Arial"/>
              <a:ea typeface="+mn-ea"/>
              <a:cs typeface="+mn-cs"/>
            </a:rPr>
            <a:t>抗凝固管理（</a:t>
          </a:r>
          <a:r>
            <a:rPr kumimoji="1" lang="en-US" altLang="ja-JP" sz="1800" b="1" dirty="0">
              <a:solidFill>
                <a:srgbClr val="FF0000"/>
              </a:solidFill>
              <a:latin typeface="Arial"/>
              <a:ea typeface="+mn-ea"/>
              <a:cs typeface="+mn-cs"/>
            </a:rPr>
            <a:t>ECMO</a:t>
          </a:r>
          <a:r>
            <a:rPr kumimoji="1" lang="ja-JP" altLang="en-US" sz="1800" b="1">
              <a:solidFill>
                <a:srgbClr val="FF0000"/>
              </a:solidFill>
              <a:latin typeface="Arial"/>
              <a:ea typeface="+mn-ea"/>
              <a:cs typeface="+mn-cs"/>
            </a:rPr>
            <a:t>　</a:t>
          </a:r>
          <a:r>
            <a:rPr kumimoji="1" lang="en-US" altLang="ja-JP" sz="1800" b="1" dirty="0">
              <a:solidFill>
                <a:srgbClr val="FF0000"/>
              </a:solidFill>
              <a:latin typeface="Arial"/>
              <a:ea typeface="+mn-ea"/>
              <a:cs typeface="+mn-cs"/>
            </a:rPr>
            <a:t>IMPELLA</a:t>
          </a:r>
          <a:r>
            <a:rPr kumimoji="1" lang="ja-JP" altLang="en-US" sz="1800" b="1">
              <a:solidFill>
                <a:srgbClr val="FF0000"/>
              </a:solidFill>
              <a:latin typeface="Arial"/>
              <a:ea typeface="+mn-ea"/>
              <a:cs typeface="+mn-cs"/>
            </a:rPr>
            <a:t>　</a:t>
          </a:r>
          <a:r>
            <a:rPr kumimoji="1" lang="en-US" altLang="ja-JP" sz="1800" b="1" dirty="0">
              <a:solidFill>
                <a:srgbClr val="FF0000"/>
              </a:solidFill>
              <a:latin typeface="Arial"/>
              <a:ea typeface="+mn-ea"/>
              <a:cs typeface="+mn-cs"/>
            </a:rPr>
            <a:t>VAD</a:t>
          </a:r>
          <a:r>
            <a:rPr kumimoji="1" lang="ja-JP" altLang="en-US" sz="1800" b="1" dirty="0">
              <a:solidFill>
                <a:srgbClr val="FF0000"/>
              </a:solidFill>
              <a:latin typeface="Arial"/>
              <a:ea typeface="+mn-ea"/>
              <a:cs typeface="+mn-cs"/>
            </a:rPr>
            <a:t>管理）</a:t>
          </a:r>
        </a:p>
      </dgm:t>
    </dgm:pt>
    <dgm:pt modelId="{3B540044-F6D9-48F8-B3E0-251C681858CF}" type="parTrans" cxnId="{E3E31674-6340-4C74-A0EB-C47AE8C9ACD8}">
      <dgm:prSet/>
      <dgm:spPr/>
      <dgm:t>
        <a:bodyPr/>
        <a:lstStyle/>
        <a:p>
          <a:endParaRPr kumimoji="1" lang="ja-JP" altLang="en-US"/>
        </a:p>
      </dgm:t>
    </dgm:pt>
    <dgm:pt modelId="{ED65EEDC-4416-4938-8629-6B7A8D90A9D9}" type="sibTrans" cxnId="{E3E31674-6340-4C74-A0EB-C47AE8C9ACD8}">
      <dgm:prSet/>
      <dgm:spPr/>
      <dgm:t>
        <a:bodyPr/>
        <a:lstStyle/>
        <a:p>
          <a:endParaRPr kumimoji="1" lang="ja-JP" altLang="en-US"/>
        </a:p>
      </dgm:t>
    </dgm:pt>
    <dgm:pt modelId="{A74E23D3-3DA6-44F4-9EBC-48521547E1AC}">
      <dgm:prSet phldrT="[テキスト]"/>
      <dgm:spPr>
        <a:xfrm>
          <a:off x="0" y="1953391"/>
          <a:ext cx="4530851" cy="887396"/>
        </a:xfrm>
        <a:prstGeom prst="roundRect">
          <a:avLst/>
        </a:prstGeom>
        <a:gradFill rotWithShape="0">
          <a:gsLst>
            <a:gs pos="0">
              <a:srgbClr val="2A6EBB">
                <a:shade val="50000"/>
                <a:hueOff val="608534"/>
                <a:satOff val="-30256"/>
                <a:lumOff val="51081"/>
                <a:alphaOff val="0"/>
                <a:tint val="100000"/>
                <a:shade val="100000"/>
                <a:satMod val="130000"/>
              </a:srgbClr>
            </a:gs>
            <a:gs pos="100000">
              <a:srgbClr val="2A6EBB">
                <a:shade val="50000"/>
                <a:hueOff val="608534"/>
                <a:satOff val="-30256"/>
                <a:lumOff val="51081"/>
                <a:alphaOff val="0"/>
                <a:tint val="50000"/>
                <a:shade val="100000"/>
                <a:satMod val="350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pPr>
            <a:buNone/>
          </a:pPr>
          <a:r>
            <a:rPr kumimoji="1" lang="ja-JP" altLang="en-US" dirty="0">
              <a:solidFill>
                <a:sysClr val="window" lastClr="FFFFFF"/>
              </a:solidFill>
              <a:latin typeface="Arial"/>
              <a:ea typeface="+mn-ea"/>
              <a:cs typeface="+mn-cs"/>
            </a:rPr>
            <a:t>その他外科手術</a:t>
          </a:r>
        </a:p>
      </dgm:t>
    </dgm:pt>
    <dgm:pt modelId="{FE67D758-A88F-4BC3-934C-347D55B5E578}" type="parTrans" cxnId="{EFDFC42D-9B3C-4F0C-98DE-662640C3B9CD}">
      <dgm:prSet/>
      <dgm:spPr/>
      <dgm:t>
        <a:bodyPr/>
        <a:lstStyle/>
        <a:p>
          <a:endParaRPr kumimoji="1" lang="ja-JP" altLang="en-US"/>
        </a:p>
      </dgm:t>
    </dgm:pt>
    <dgm:pt modelId="{FE01AA9D-4F0B-4C28-949F-E6622D16B729}" type="sibTrans" cxnId="{EFDFC42D-9B3C-4F0C-98DE-662640C3B9CD}">
      <dgm:prSet/>
      <dgm:spPr/>
      <dgm:t>
        <a:bodyPr/>
        <a:lstStyle/>
        <a:p>
          <a:endParaRPr kumimoji="1" lang="ja-JP" altLang="en-US"/>
        </a:p>
      </dgm:t>
    </dgm:pt>
    <dgm:pt modelId="{8DADC692-F6E9-450A-9A7C-2DC8CCF234A3}">
      <dgm:prSet phldrT="[テキスト]"/>
      <dgm:spPr>
        <a:xfrm>
          <a:off x="4530851" y="1953391"/>
          <a:ext cx="6796277" cy="887396"/>
        </a:xfrm>
        <a:prstGeom prst="rightArrow">
          <a:avLst>
            <a:gd name="adj1" fmla="val 75000"/>
            <a:gd name="adj2" fmla="val 50000"/>
          </a:avLst>
        </a:prstGeom>
        <a:solidFill>
          <a:srgbClr val="2A6EBB">
            <a:alpha val="90000"/>
            <a:tint val="55000"/>
            <a:hueOff val="0"/>
            <a:satOff val="0"/>
            <a:lumOff val="0"/>
            <a:alphaOff val="0"/>
          </a:srgbClr>
        </a:solidFill>
        <a:ln w="9525" cap="flat" cmpd="sng" algn="ctr">
          <a:solidFill>
            <a:sysClr val="window" lastClr="FFFFFF">
              <a:hueOff val="0"/>
              <a:satOff val="0"/>
              <a:lumOff val="0"/>
              <a:alphaOff val="0"/>
            </a:sysClr>
          </a:solidFill>
          <a:prstDash val="solid"/>
        </a:ln>
        <a:effectLst>
          <a:outerShdw blurRad="40000" dist="23000" dir="5400000" rotWithShape="0">
            <a:srgbClr val="000000">
              <a:alpha val="35000"/>
            </a:srgbClr>
          </a:outerShdw>
        </a:effectLst>
      </dgm:spPr>
      <dgm:t>
        <a:bodyPr/>
        <a:lstStyle/>
        <a:p>
          <a:pPr>
            <a:buChar char="•"/>
          </a:pPr>
          <a:r>
            <a:rPr kumimoji="1" lang="ja-JP" altLang="en-US" dirty="0">
              <a:solidFill>
                <a:srgbClr val="000000">
                  <a:hueOff val="0"/>
                  <a:satOff val="0"/>
                  <a:lumOff val="0"/>
                  <a:alphaOff val="0"/>
                </a:srgbClr>
              </a:solidFill>
              <a:latin typeface="Arial"/>
              <a:ea typeface="+mn-ea"/>
              <a:cs typeface="+mn-cs"/>
            </a:rPr>
            <a:t>産婦人科</a:t>
          </a:r>
        </a:p>
      </dgm:t>
    </dgm:pt>
    <dgm:pt modelId="{CAAE6A1F-E0FE-4465-9D23-F3B7573EE8B4}" type="parTrans" cxnId="{BAC9E7E2-DD2B-4552-864D-E81710BB84BB}">
      <dgm:prSet/>
      <dgm:spPr/>
      <dgm:t>
        <a:bodyPr/>
        <a:lstStyle/>
        <a:p>
          <a:endParaRPr kumimoji="1" lang="ja-JP" altLang="en-US"/>
        </a:p>
      </dgm:t>
    </dgm:pt>
    <dgm:pt modelId="{B9C473D9-B9BF-4555-87DD-F07839F06A99}" type="sibTrans" cxnId="{BAC9E7E2-DD2B-4552-864D-E81710BB84BB}">
      <dgm:prSet/>
      <dgm:spPr/>
      <dgm:t>
        <a:bodyPr/>
        <a:lstStyle/>
        <a:p>
          <a:endParaRPr kumimoji="1" lang="ja-JP" altLang="en-US"/>
        </a:p>
      </dgm:t>
    </dgm:pt>
    <dgm:pt modelId="{F58CDD35-E249-4C05-A883-10B0B9CBFCBE}">
      <dgm:prSet phldrT="[テキスト]"/>
      <dgm:spPr>
        <a:xfrm>
          <a:off x="4530851" y="1953391"/>
          <a:ext cx="6796277" cy="887396"/>
        </a:xfrm>
        <a:prstGeom prst="rightArrow">
          <a:avLst>
            <a:gd name="adj1" fmla="val 75000"/>
            <a:gd name="adj2" fmla="val 50000"/>
          </a:avLst>
        </a:prstGeom>
        <a:solidFill>
          <a:srgbClr val="2A6EBB">
            <a:alpha val="90000"/>
            <a:tint val="55000"/>
            <a:hueOff val="0"/>
            <a:satOff val="0"/>
            <a:lumOff val="0"/>
            <a:alphaOff val="0"/>
          </a:srgbClr>
        </a:solidFill>
        <a:ln w="9525" cap="flat" cmpd="sng" algn="ctr">
          <a:solidFill>
            <a:sysClr val="window" lastClr="FFFFFF">
              <a:hueOff val="0"/>
              <a:satOff val="0"/>
              <a:lumOff val="0"/>
              <a:alphaOff val="0"/>
            </a:sysClr>
          </a:solidFill>
          <a:prstDash val="solid"/>
        </a:ln>
        <a:effectLst>
          <a:outerShdw blurRad="40000" dist="23000" dir="5400000" rotWithShape="0">
            <a:srgbClr val="000000">
              <a:alpha val="35000"/>
            </a:srgbClr>
          </a:outerShdw>
        </a:effectLst>
      </dgm:spPr>
      <dgm:t>
        <a:bodyPr/>
        <a:lstStyle/>
        <a:p>
          <a:pPr>
            <a:buChar char="•"/>
          </a:pPr>
          <a:r>
            <a:rPr kumimoji="1" lang="ja-JP" altLang="en-US" dirty="0">
              <a:solidFill>
                <a:srgbClr val="000000">
                  <a:hueOff val="0"/>
                  <a:satOff val="0"/>
                  <a:lumOff val="0"/>
                  <a:alphaOff val="0"/>
                </a:srgbClr>
              </a:solidFill>
              <a:latin typeface="Arial"/>
              <a:ea typeface="+mn-ea"/>
              <a:cs typeface="+mn-cs"/>
            </a:rPr>
            <a:t>移植</a:t>
          </a:r>
        </a:p>
      </dgm:t>
    </dgm:pt>
    <dgm:pt modelId="{918788C9-FA2E-4522-B67D-609EDBB7391E}" type="parTrans" cxnId="{0A8519D1-5C7A-4081-93DE-89D4C5F374AF}">
      <dgm:prSet/>
      <dgm:spPr/>
      <dgm:t>
        <a:bodyPr/>
        <a:lstStyle/>
        <a:p>
          <a:endParaRPr kumimoji="1" lang="ja-JP" altLang="en-US"/>
        </a:p>
      </dgm:t>
    </dgm:pt>
    <dgm:pt modelId="{C8D27378-93F6-48C8-8B39-D9D149CE3D82}" type="sibTrans" cxnId="{0A8519D1-5C7A-4081-93DE-89D4C5F374AF}">
      <dgm:prSet/>
      <dgm:spPr/>
      <dgm:t>
        <a:bodyPr/>
        <a:lstStyle/>
        <a:p>
          <a:endParaRPr kumimoji="1" lang="ja-JP" altLang="en-US"/>
        </a:p>
      </dgm:t>
    </dgm:pt>
    <dgm:pt modelId="{F0DADD06-54CD-4545-82FF-7ED60E256381}">
      <dgm:prSet phldrT="[テキスト]"/>
      <dgm:spPr>
        <a:xfrm>
          <a:off x="0" y="2929528"/>
          <a:ext cx="4530851" cy="887396"/>
        </a:xfrm>
        <a:prstGeom prst="round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pPr>
            <a:buNone/>
          </a:pPr>
          <a:r>
            <a:rPr kumimoji="1" lang="ja-JP" altLang="en-US" b="1" dirty="0">
              <a:solidFill>
                <a:schemeClr val="tx2"/>
              </a:solidFill>
              <a:latin typeface="Arial"/>
              <a:ea typeface="+mn-ea"/>
              <a:cs typeface="+mn-cs"/>
            </a:rPr>
            <a:t>救急</a:t>
          </a:r>
        </a:p>
      </dgm:t>
    </dgm:pt>
    <dgm:pt modelId="{46F7876C-F5D0-4A7C-AD04-FC046F8C9638}" type="parTrans" cxnId="{A46B5A39-AE31-4FA3-B137-219828A0D328}">
      <dgm:prSet/>
      <dgm:spPr/>
      <dgm:t>
        <a:bodyPr/>
        <a:lstStyle/>
        <a:p>
          <a:endParaRPr kumimoji="1" lang="ja-JP" altLang="en-US"/>
        </a:p>
      </dgm:t>
    </dgm:pt>
    <dgm:pt modelId="{DBD16FA2-56CE-4024-8102-1F86D8CF5DCA}" type="sibTrans" cxnId="{A46B5A39-AE31-4FA3-B137-219828A0D328}">
      <dgm:prSet/>
      <dgm:spPr/>
      <dgm:t>
        <a:bodyPr/>
        <a:lstStyle/>
        <a:p>
          <a:endParaRPr kumimoji="1" lang="ja-JP" altLang="en-US"/>
        </a:p>
      </dgm:t>
    </dgm:pt>
    <dgm:pt modelId="{BE2B15F2-5241-49C6-9F78-B46348BD6CB7}">
      <dgm:prSet phldrT="[テキスト]" custT="1"/>
      <dgm:spPr>
        <a:xfrm>
          <a:off x="4530851" y="2929528"/>
          <a:ext cx="6796277" cy="887396"/>
        </a:xfrm>
        <a:prstGeom prst="rightArrow">
          <a:avLst>
            <a:gd name="adj1" fmla="val 75000"/>
            <a:gd name="adj2" fmla="val 50000"/>
          </a:avLst>
        </a:prstGeom>
        <a:solidFill>
          <a:schemeClr val="accent3">
            <a:lumMod val="60000"/>
            <a:lumOff val="40000"/>
            <a:alpha val="90000"/>
          </a:schemeClr>
        </a:solidFill>
        <a:ln w="9525" cap="flat" cmpd="sng" algn="ctr">
          <a:solidFill>
            <a:sysClr val="window" lastClr="FFFFFF">
              <a:hueOff val="0"/>
              <a:satOff val="0"/>
              <a:lumOff val="0"/>
              <a:alphaOff val="0"/>
            </a:sysClr>
          </a:solidFill>
          <a:prstDash val="solid"/>
        </a:ln>
        <a:effectLst>
          <a:outerShdw blurRad="40000" dist="23000" dir="5400000" rotWithShape="0">
            <a:srgbClr val="000000">
              <a:alpha val="35000"/>
            </a:srgbClr>
          </a:outerShdw>
        </a:effectLst>
      </dgm:spPr>
      <dgm:t>
        <a:bodyPr/>
        <a:lstStyle/>
        <a:p>
          <a:pPr>
            <a:buChar char="•"/>
          </a:pPr>
          <a:r>
            <a:rPr kumimoji="1" lang="ja-JP" altLang="en-US" sz="1800" b="1" dirty="0">
              <a:solidFill>
                <a:srgbClr val="FF0000"/>
              </a:solidFill>
              <a:latin typeface="Arial"/>
              <a:ea typeface="+mn-ea"/>
              <a:cs typeface="+mn-cs"/>
            </a:rPr>
            <a:t>外傷　頭部外傷</a:t>
          </a:r>
        </a:p>
      </dgm:t>
    </dgm:pt>
    <dgm:pt modelId="{01194FBA-A5CA-4E1B-A68E-BBE714DC5A35}" type="parTrans" cxnId="{63A3FF60-6B6B-467C-8822-04E33065E98B}">
      <dgm:prSet/>
      <dgm:spPr/>
      <dgm:t>
        <a:bodyPr/>
        <a:lstStyle/>
        <a:p>
          <a:endParaRPr kumimoji="1" lang="ja-JP" altLang="en-US"/>
        </a:p>
      </dgm:t>
    </dgm:pt>
    <dgm:pt modelId="{0C7DCC2E-F26A-4F57-8D06-CFB4753E16C8}" type="sibTrans" cxnId="{63A3FF60-6B6B-467C-8822-04E33065E98B}">
      <dgm:prSet/>
      <dgm:spPr/>
      <dgm:t>
        <a:bodyPr/>
        <a:lstStyle/>
        <a:p>
          <a:endParaRPr kumimoji="1" lang="ja-JP" altLang="en-US"/>
        </a:p>
      </dgm:t>
    </dgm:pt>
    <dgm:pt modelId="{A7149F1E-46BD-4544-A7AB-68D4438EDB38}">
      <dgm:prSet phldrT="[テキスト]"/>
      <dgm:spPr>
        <a:xfrm>
          <a:off x="4530851" y="2929528"/>
          <a:ext cx="6796277" cy="887396"/>
        </a:xfrm>
        <a:prstGeom prst="rightArrow">
          <a:avLst>
            <a:gd name="adj1" fmla="val 75000"/>
            <a:gd name="adj2" fmla="val 50000"/>
          </a:avLst>
        </a:prstGeom>
        <a:solidFill>
          <a:schemeClr val="accent3">
            <a:lumMod val="60000"/>
            <a:lumOff val="40000"/>
            <a:alpha val="90000"/>
          </a:schemeClr>
        </a:solidFill>
        <a:ln w="9525" cap="flat" cmpd="sng" algn="ctr">
          <a:solidFill>
            <a:sysClr val="window" lastClr="FFFFFF">
              <a:hueOff val="0"/>
              <a:satOff val="0"/>
              <a:lumOff val="0"/>
              <a:alphaOff val="0"/>
            </a:sysClr>
          </a:solidFill>
          <a:prstDash val="solid"/>
        </a:ln>
        <a:effectLst>
          <a:outerShdw blurRad="40000" dist="23000" dir="5400000" rotWithShape="0">
            <a:srgbClr val="000000">
              <a:alpha val="35000"/>
            </a:srgbClr>
          </a:outerShdw>
        </a:effectLst>
      </dgm:spPr>
      <dgm:t>
        <a:bodyPr/>
        <a:lstStyle/>
        <a:p>
          <a:pPr>
            <a:buChar char="•"/>
          </a:pPr>
          <a:r>
            <a:rPr kumimoji="1" lang="ja-JP" altLang="en-US" sz="1400" dirty="0">
              <a:solidFill>
                <a:srgbClr val="000000">
                  <a:hueOff val="0"/>
                  <a:satOff val="0"/>
                  <a:lumOff val="0"/>
                  <a:alphaOff val="0"/>
                </a:srgbClr>
              </a:solidFill>
              <a:latin typeface="Arial"/>
              <a:ea typeface="+mn-ea"/>
              <a:cs typeface="+mn-cs"/>
            </a:rPr>
            <a:t>熱傷</a:t>
          </a:r>
        </a:p>
      </dgm:t>
    </dgm:pt>
    <dgm:pt modelId="{D73BFE24-5FA1-4CF0-8A92-B73BE7AF0D86}" type="parTrans" cxnId="{B772889B-F0AC-4218-84BB-7C53A6F50E59}">
      <dgm:prSet/>
      <dgm:spPr/>
      <dgm:t>
        <a:bodyPr/>
        <a:lstStyle/>
        <a:p>
          <a:endParaRPr kumimoji="1" lang="ja-JP" altLang="en-US"/>
        </a:p>
      </dgm:t>
    </dgm:pt>
    <dgm:pt modelId="{E51828B1-4234-4F96-9C8C-B96B7F2BBAC2}" type="sibTrans" cxnId="{B772889B-F0AC-4218-84BB-7C53A6F50E59}">
      <dgm:prSet/>
      <dgm:spPr/>
      <dgm:t>
        <a:bodyPr/>
        <a:lstStyle/>
        <a:p>
          <a:endParaRPr kumimoji="1" lang="ja-JP" altLang="en-US"/>
        </a:p>
      </dgm:t>
    </dgm:pt>
    <dgm:pt modelId="{3018BB16-8704-429F-9E84-0B371EE7DDED}">
      <dgm:prSet phldrT="[テキスト]"/>
      <dgm:spPr>
        <a:xfrm>
          <a:off x="4530851" y="977255"/>
          <a:ext cx="6796277" cy="887396"/>
        </a:xfrm>
        <a:prstGeom prst="rightArrow">
          <a:avLst>
            <a:gd name="adj1" fmla="val 75000"/>
            <a:gd name="adj2" fmla="val 50000"/>
          </a:avLst>
        </a:prstGeom>
        <a:solidFill>
          <a:schemeClr val="accent6">
            <a:lumMod val="20000"/>
            <a:lumOff val="80000"/>
            <a:alpha val="90000"/>
          </a:schemeClr>
        </a:solidFill>
        <a:ln w="9525" cap="flat" cmpd="sng" algn="ctr">
          <a:solidFill>
            <a:sysClr val="window" lastClr="FFFFFF">
              <a:hueOff val="0"/>
              <a:satOff val="0"/>
              <a:lumOff val="0"/>
              <a:alphaOff val="0"/>
            </a:sysClr>
          </a:solidFill>
          <a:prstDash val="solid"/>
        </a:ln>
        <a:effectLst>
          <a:outerShdw blurRad="40000" dist="23000" dir="5400000" rotWithShape="0">
            <a:srgbClr val="000000">
              <a:alpha val="35000"/>
            </a:srgbClr>
          </a:outerShdw>
        </a:effectLst>
      </dgm:spPr>
      <dgm:t>
        <a:bodyPr/>
        <a:lstStyle/>
        <a:p>
          <a:pPr>
            <a:buChar char="•"/>
          </a:pPr>
          <a:r>
            <a:rPr kumimoji="1" lang="ja-JP" altLang="en-US" sz="1400" dirty="0">
              <a:solidFill>
                <a:srgbClr val="000000">
                  <a:hueOff val="0"/>
                  <a:satOff val="0"/>
                  <a:lumOff val="0"/>
                  <a:alphaOff val="0"/>
                </a:srgbClr>
              </a:solidFill>
              <a:latin typeface="Arial"/>
              <a:ea typeface="+mn-ea"/>
              <a:cs typeface="+mn-cs"/>
            </a:rPr>
            <a:t>術後出血管理</a:t>
          </a:r>
        </a:p>
      </dgm:t>
    </dgm:pt>
    <dgm:pt modelId="{9C5FE30C-C69E-4E9D-A4CF-813A5909C3A5}" type="parTrans" cxnId="{D80D3D88-1E07-4EF5-9544-0BDD67B3881A}">
      <dgm:prSet/>
      <dgm:spPr/>
      <dgm:t>
        <a:bodyPr/>
        <a:lstStyle/>
        <a:p>
          <a:endParaRPr kumimoji="1" lang="ja-JP" altLang="en-US"/>
        </a:p>
      </dgm:t>
    </dgm:pt>
    <dgm:pt modelId="{F8155325-09ED-4983-B034-87744785C499}" type="sibTrans" cxnId="{D80D3D88-1E07-4EF5-9544-0BDD67B3881A}">
      <dgm:prSet/>
      <dgm:spPr/>
      <dgm:t>
        <a:bodyPr/>
        <a:lstStyle/>
        <a:p>
          <a:endParaRPr kumimoji="1" lang="ja-JP" altLang="en-US"/>
        </a:p>
      </dgm:t>
    </dgm:pt>
    <dgm:pt modelId="{5B8FE993-3C76-4653-B72F-C33E3CC51C50}" type="pres">
      <dgm:prSet presAssocID="{1BC4B73F-9625-4F64-901C-59DE4B6E6068}" presName="Name0" presStyleCnt="0">
        <dgm:presLayoutVars>
          <dgm:dir/>
          <dgm:animLvl val="lvl"/>
          <dgm:resizeHandles/>
        </dgm:presLayoutVars>
      </dgm:prSet>
      <dgm:spPr/>
    </dgm:pt>
    <dgm:pt modelId="{EA90610A-DD9F-4F01-9CFB-EBE641B73D3E}" type="pres">
      <dgm:prSet presAssocID="{44D12ED2-2471-4151-9222-85E8ABF0AED9}" presName="linNode" presStyleCnt="0"/>
      <dgm:spPr/>
    </dgm:pt>
    <dgm:pt modelId="{F3346514-A460-4848-986E-239925543411}" type="pres">
      <dgm:prSet presAssocID="{44D12ED2-2471-4151-9222-85E8ABF0AED9}" presName="parentShp" presStyleLbl="node1" presStyleIdx="0" presStyleCnt="4">
        <dgm:presLayoutVars>
          <dgm:bulletEnabled val="1"/>
        </dgm:presLayoutVars>
      </dgm:prSet>
      <dgm:spPr/>
    </dgm:pt>
    <dgm:pt modelId="{1130980C-89FF-49A1-A1CE-CC6852319095}" type="pres">
      <dgm:prSet presAssocID="{44D12ED2-2471-4151-9222-85E8ABF0AED9}" presName="childShp" presStyleLbl="bgAccFollowNode1" presStyleIdx="0" presStyleCnt="4">
        <dgm:presLayoutVars>
          <dgm:bulletEnabled val="1"/>
        </dgm:presLayoutVars>
      </dgm:prSet>
      <dgm:spPr/>
    </dgm:pt>
    <dgm:pt modelId="{E3A4E392-56A2-4EEC-B487-71362D445A07}" type="pres">
      <dgm:prSet presAssocID="{F5B2F12C-202C-4A72-B2AE-8BEF007EBBAD}" presName="spacing" presStyleCnt="0"/>
      <dgm:spPr/>
    </dgm:pt>
    <dgm:pt modelId="{E32E3C57-7771-45F6-A742-AAB76DE21A86}" type="pres">
      <dgm:prSet presAssocID="{05268C30-B2ED-4A4D-A805-9CD1E54E295B}" presName="linNode" presStyleCnt="0"/>
      <dgm:spPr/>
    </dgm:pt>
    <dgm:pt modelId="{1302463F-8F1A-4614-AEAA-0245CC66CF8C}" type="pres">
      <dgm:prSet presAssocID="{05268C30-B2ED-4A4D-A805-9CD1E54E295B}" presName="parentShp" presStyleLbl="node1" presStyleIdx="1" presStyleCnt="4">
        <dgm:presLayoutVars>
          <dgm:bulletEnabled val="1"/>
        </dgm:presLayoutVars>
      </dgm:prSet>
      <dgm:spPr/>
    </dgm:pt>
    <dgm:pt modelId="{A16469D5-3777-42F1-BEB5-FBBD261A0CBA}" type="pres">
      <dgm:prSet presAssocID="{05268C30-B2ED-4A4D-A805-9CD1E54E295B}" presName="childShp" presStyleLbl="bgAccFollowNode1" presStyleIdx="1" presStyleCnt="4">
        <dgm:presLayoutVars>
          <dgm:bulletEnabled val="1"/>
        </dgm:presLayoutVars>
      </dgm:prSet>
      <dgm:spPr/>
    </dgm:pt>
    <dgm:pt modelId="{94FF24C2-E673-4CAA-867C-8284FEBFD8B0}" type="pres">
      <dgm:prSet presAssocID="{1E91AC46-A445-4349-AB5C-E4B3A4E6D1EA}" presName="spacing" presStyleCnt="0"/>
      <dgm:spPr/>
    </dgm:pt>
    <dgm:pt modelId="{FD096A9A-0476-4E3E-80B4-16D858BC00FB}" type="pres">
      <dgm:prSet presAssocID="{A74E23D3-3DA6-44F4-9EBC-48521547E1AC}" presName="linNode" presStyleCnt="0"/>
      <dgm:spPr/>
    </dgm:pt>
    <dgm:pt modelId="{215E1F48-CD52-4723-914D-7CC8011CF719}" type="pres">
      <dgm:prSet presAssocID="{A74E23D3-3DA6-44F4-9EBC-48521547E1AC}" presName="parentShp" presStyleLbl="node1" presStyleIdx="2" presStyleCnt="4">
        <dgm:presLayoutVars>
          <dgm:bulletEnabled val="1"/>
        </dgm:presLayoutVars>
      </dgm:prSet>
      <dgm:spPr/>
    </dgm:pt>
    <dgm:pt modelId="{586AA200-FF54-46D9-8519-401ECE0E5C04}" type="pres">
      <dgm:prSet presAssocID="{A74E23D3-3DA6-44F4-9EBC-48521547E1AC}" presName="childShp" presStyleLbl="bgAccFollowNode1" presStyleIdx="2" presStyleCnt="4">
        <dgm:presLayoutVars>
          <dgm:bulletEnabled val="1"/>
        </dgm:presLayoutVars>
      </dgm:prSet>
      <dgm:spPr/>
    </dgm:pt>
    <dgm:pt modelId="{88B0F15F-6A20-424A-B028-257AD1DFAACB}" type="pres">
      <dgm:prSet presAssocID="{FE01AA9D-4F0B-4C28-949F-E6622D16B729}" presName="spacing" presStyleCnt="0"/>
      <dgm:spPr/>
    </dgm:pt>
    <dgm:pt modelId="{F250B190-8A40-4BD1-9173-EDF963E6A958}" type="pres">
      <dgm:prSet presAssocID="{F0DADD06-54CD-4545-82FF-7ED60E256381}" presName="linNode" presStyleCnt="0"/>
      <dgm:spPr/>
    </dgm:pt>
    <dgm:pt modelId="{D2A286B4-FCD9-49DF-82AC-03F717F3D9D7}" type="pres">
      <dgm:prSet presAssocID="{F0DADD06-54CD-4545-82FF-7ED60E256381}" presName="parentShp" presStyleLbl="node1" presStyleIdx="3" presStyleCnt="4">
        <dgm:presLayoutVars>
          <dgm:bulletEnabled val="1"/>
        </dgm:presLayoutVars>
      </dgm:prSet>
      <dgm:spPr/>
    </dgm:pt>
    <dgm:pt modelId="{D576E735-8C29-4864-BB72-0734CB5F5D87}" type="pres">
      <dgm:prSet presAssocID="{F0DADD06-54CD-4545-82FF-7ED60E256381}" presName="childShp" presStyleLbl="bgAccFollowNode1" presStyleIdx="3" presStyleCnt="4">
        <dgm:presLayoutVars>
          <dgm:bulletEnabled val="1"/>
        </dgm:presLayoutVars>
      </dgm:prSet>
      <dgm:spPr/>
    </dgm:pt>
  </dgm:ptLst>
  <dgm:cxnLst>
    <dgm:cxn modelId="{CF2A8D07-892D-4072-9A40-475084A9DEF7}" type="presOf" srcId="{3018BB16-8704-429F-9E84-0B371EE7DDED}" destId="{A16469D5-3777-42F1-BEB5-FBBD261A0CBA}" srcOrd="0" destOrd="1" presId="urn:microsoft.com/office/officeart/2005/8/layout/vList6"/>
    <dgm:cxn modelId="{CC0FD60C-0BE5-4A28-8874-D6B481C69503}" type="presOf" srcId="{E5CE48E3-35F9-41C5-950E-618AF88B85F4}" destId="{1130980C-89FF-49A1-A1CE-CC6852319095}" srcOrd="0" destOrd="0" presId="urn:microsoft.com/office/officeart/2005/8/layout/vList6"/>
    <dgm:cxn modelId="{993FF113-9C52-4E0E-B274-F40A57E5832C}" type="presOf" srcId="{44D12ED2-2471-4151-9222-85E8ABF0AED9}" destId="{F3346514-A460-4848-986E-239925543411}" srcOrd="0" destOrd="0" presId="urn:microsoft.com/office/officeart/2005/8/layout/vList6"/>
    <dgm:cxn modelId="{EFDFC42D-9B3C-4F0C-98DE-662640C3B9CD}" srcId="{1BC4B73F-9625-4F64-901C-59DE4B6E6068}" destId="{A74E23D3-3DA6-44F4-9EBC-48521547E1AC}" srcOrd="2" destOrd="0" parTransId="{FE67D758-A88F-4BC3-934C-347D55B5E578}" sibTransId="{FE01AA9D-4F0B-4C28-949F-E6622D16B729}"/>
    <dgm:cxn modelId="{BF240534-C718-4CD7-ABC1-3C6749BB19FD}" type="presOf" srcId="{8DADC692-F6E9-450A-9A7C-2DC8CCF234A3}" destId="{586AA200-FF54-46D9-8519-401ECE0E5C04}" srcOrd="0" destOrd="0" presId="urn:microsoft.com/office/officeart/2005/8/layout/vList6"/>
    <dgm:cxn modelId="{C9B00834-3B7A-458C-9FE3-753C7C3DD6AF}" type="presOf" srcId="{05268C30-B2ED-4A4D-A805-9CD1E54E295B}" destId="{1302463F-8F1A-4614-AEAA-0245CC66CF8C}" srcOrd="0" destOrd="0" presId="urn:microsoft.com/office/officeart/2005/8/layout/vList6"/>
    <dgm:cxn modelId="{508CFD35-0E0E-4ED9-A733-E8595D9427FA}" type="presOf" srcId="{F0DADD06-54CD-4545-82FF-7ED60E256381}" destId="{D2A286B4-FCD9-49DF-82AC-03F717F3D9D7}" srcOrd="0" destOrd="0" presId="urn:microsoft.com/office/officeart/2005/8/layout/vList6"/>
    <dgm:cxn modelId="{A46B5A39-AE31-4FA3-B137-219828A0D328}" srcId="{1BC4B73F-9625-4F64-901C-59DE4B6E6068}" destId="{F0DADD06-54CD-4545-82FF-7ED60E256381}" srcOrd="3" destOrd="0" parTransId="{46F7876C-F5D0-4A7C-AD04-FC046F8C9638}" sibTransId="{DBD16FA2-56CE-4024-8102-1F86D8CF5DCA}"/>
    <dgm:cxn modelId="{EA75BB4E-0280-4158-AF85-B4B8717F3CE4}" type="presOf" srcId="{A7149F1E-46BD-4544-A7AB-68D4438EDB38}" destId="{D576E735-8C29-4864-BB72-0734CB5F5D87}" srcOrd="0" destOrd="1" presId="urn:microsoft.com/office/officeart/2005/8/layout/vList6"/>
    <dgm:cxn modelId="{63A3FF60-6B6B-467C-8822-04E33065E98B}" srcId="{F0DADD06-54CD-4545-82FF-7ED60E256381}" destId="{BE2B15F2-5241-49C6-9F78-B46348BD6CB7}" srcOrd="0" destOrd="0" parTransId="{01194FBA-A5CA-4E1B-A68E-BBE714DC5A35}" sibTransId="{0C7DCC2E-F26A-4F57-8D06-CFB4753E16C8}"/>
    <dgm:cxn modelId="{E3E31674-6340-4C74-A0EB-C47AE8C9ACD8}" srcId="{05268C30-B2ED-4A4D-A805-9CD1E54E295B}" destId="{663D7882-4424-494C-AF53-A9565266A5CF}" srcOrd="0" destOrd="0" parTransId="{3B540044-F6D9-48F8-B3E0-251C681858CF}" sibTransId="{ED65EEDC-4416-4938-8629-6B7A8D90A9D9}"/>
    <dgm:cxn modelId="{D80D3D88-1E07-4EF5-9544-0BDD67B3881A}" srcId="{05268C30-B2ED-4A4D-A805-9CD1E54E295B}" destId="{3018BB16-8704-429F-9E84-0B371EE7DDED}" srcOrd="1" destOrd="0" parTransId="{9C5FE30C-C69E-4E9D-A4CF-813A5909C3A5}" sibTransId="{F8155325-09ED-4983-B034-87744785C499}"/>
    <dgm:cxn modelId="{9D0C028D-82CB-4F09-81D6-44AA563A20CC}" type="presOf" srcId="{BE2B15F2-5241-49C6-9F78-B46348BD6CB7}" destId="{D576E735-8C29-4864-BB72-0734CB5F5D87}" srcOrd="0" destOrd="0" presId="urn:microsoft.com/office/officeart/2005/8/layout/vList6"/>
    <dgm:cxn modelId="{B772889B-F0AC-4218-84BB-7C53A6F50E59}" srcId="{F0DADD06-54CD-4545-82FF-7ED60E256381}" destId="{A7149F1E-46BD-4544-A7AB-68D4438EDB38}" srcOrd="1" destOrd="0" parTransId="{D73BFE24-5FA1-4CF0-8A92-B73BE7AF0D86}" sibTransId="{E51828B1-4234-4F96-9C8C-B96B7F2BBAC2}"/>
    <dgm:cxn modelId="{987E09A0-1F10-44D7-B808-5D77440EE65D}" srcId="{44D12ED2-2471-4151-9222-85E8ABF0AED9}" destId="{E5CE48E3-35F9-41C5-950E-618AF88B85F4}" srcOrd="0" destOrd="0" parTransId="{364082F5-7931-4B7B-8A1E-FEA5FA0C4C7A}" sibTransId="{56C1F9BC-1C94-42A5-9B80-002E81FA2BC0}"/>
    <dgm:cxn modelId="{8DF0EEB7-B64F-48D7-A4AB-9D1DC7A0F3D8}" srcId="{1BC4B73F-9625-4F64-901C-59DE4B6E6068}" destId="{44D12ED2-2471-4151-9222-85E8ABF0AED9}" srcOrd="0" destOrd="0" parTransId="{FF47ACD9-8CD7-4B1B-BF6E-FCA675390C94}" sibTransId="{F5B2F12C-202C-4A72-B2AE-8BEF007EBBAD}"/>
    <dgm:cxn modelId="{FFAEC1BF-CB6E-4262-A671-F5EAC4BCB76D}" type="presOf" srcId="{A74E23D3-3DA6-44F4-9EBC-48521547E1AC}" destId="{215E1F48-CD52-4723-914D-7CC8011CF719}" srcOrd="0" destOrd="0" presId="urn:microsoft.com/office/officeart/2005/8/layout/vList6"/>
    <dgm:cxn modelId="{0A8519D1-5C7A-4081-93DE-89D4C5F374AF}" srcId="{A74E23D3-3DA6-44F4-9EBC-48521547E1AC}" destId="{F58CDD35-E249-4C05-A883-10B0B9CBFCBE}" srcOrd="1" destOrd="0" parTransId="{918788C9-FA2E-4522-B67D-609EDBB7391E}" sibTransId="{C8D27378-93F6-48C8-8B39-D9D149CE3D82}"/>
    <dgm:cxn modelId="{70B669E1-9C40-47B9-96C4-D4E09604A40C}" type="presOf" srcId="{F58CDD35-E249-4C05-A883-10B0B9CBFCBE}" destId="{586AA200-FF54-46D9-8519-401ECE0E5C04}" srcOrd="0" destOrd="1" presId="urn:microsoft.com/office/officeart/2005/8/layout/vList6"/>
    <dgm:cxn modelId="{BAC9E7E2-DD2B-4552-864D-E81710BB84BB}" srcId="{A74E23D3-3DA6-44F4-9EBC-48521547E1AC}" destId="{8DADC692-F6E9-450A-9A7C-2DC8CCF234A3}" srcOrd="0" destOrd="0" parTransId="{CAAE6A1F-E0FE-4465-9D23-F3B7573EE8B4}" sibTransId="{B9C473D9-B9BF-4555-87DD-F07839F06A99}"/>
    <dgm:cxn modelId="{E5E90BF3-691D-4068-8F19-BAF3EB0D4BA5}" type="presOf" srcId="{1BC4B73F-9625-4F64-901C-59DE4B6E6068}" destId="{5B8FE993-3C76-4653-B72F-C33E3CC51C50}" srcOrd="0" destOrd="0" presId="urn:microsoft.com/office/officeart/2005/8/layout/vList6"/>
    <dgm:cxn modelId="{3FBF33F3-D7E3-4CD1-8B3C-5BD387EBC3C0}" srcId="{1BC4B73F-9625-4F64-901C-59DE4B6E6068}" destId="{05268C30-B2ED-4A4D-A805-9CD1E54E295B}" srcOrd="1" destOrd="0" parTransId="{A9C0C1BB-E241-418F-9E57-5E2287C1A36E}" sibTransId="{1E91AC46-A445-4349-AB5C-E4B3A4E6D1EA}"/>
    <dgm:cxn modelId="{E8E56EF9-18A5-44D6-B476-AFB08D709616}" type="presOf" srcId="{663D7882-4424-494C-AF53-A9565266A5CF}" destId="{A16469D5-3777-42F1-BEB5-FBBD261A0CBA}" srcOrd="0" destOrd="0" presId="urn:microsoft.com/office/officeart/2005/8/layout/vList6"/>
    <dgm:cxn modelId="{1547EAD7-B2DB-4B5D-8757-32D948817541}" type="presParOf" srcId="{5B8FE993-3C76-4653-B72F-C33E3CC51C50}" destId="{EA90610A-DD9F-4F01-9CFB-EBE641B73D3E}" srcOrd="0" destOrd="0" presId="urn:microsoft.com/office/officeart/2005/8/layout/vList6"/>
    <dgm:cxn modelId="{04DB2E9A-E44B-4AED-A39B-37CFD0820125}" type="presParOf" srcId="{EA90610A-DD9F-4F01-9CFB-EBE641B73D3E}" destId="{F3346514-A460-4848-986E-239925543411}" srcOrd="0" destOrd="0" presId="urn:microsoft.com/office/officeart/2005/8/layout/vList6"/>
    <dgm:cxn modelId="{54F12A28-51AC-4791-8C89-8AC22BE068AE}" type="presParOf" srcId="{EA90610A-DD9F-4F01-9CFB-EBE641B73D3E}" destId="{1130980C-89FF-49A1-A1CE-CC6852319095}" srcOrd="1" destOrd="0" presId="urn:microsoft.com/office/officeart/2005/8/layout/vList6"/>
    <dgm:cxn modelId="{A5F59B0A-2880-44B6-A59F-AC50BD987CF2}" type="presParOf" srcId="{5B8FE993-3C76-4653-B72F-C33E3CC51C50}" destId="{E3A4E392-56A2-4EEC-B487-71362D445A07}" srcOrd="1" destOrd="0" presId="urn:microsoft.com/office/officeart/2005/8/layout/vList6"/>
    <dgm:cxn modelId="{45AA401E-31BA-4B33-8726-32F09CD4D891}" type="presParOf" srcId="{5B8FE993-3C76-4653-B72F-C33E3CC51C50}" destId="{E32E3C57-7771-45F6-A742-AAB76DE21A86}" srcOrd="2" destOrd="0" presId="urn:microsoft.com/office/officeart/2005/8/layout/vList6"/>
    <dgm:cxn modelId="{CEAAFC18-7CA4-42EC-8BF1-6E01C803002C}" type="presParOf" srcId="{E32E3C57-7771-45F6-A742-AAB76DE21A86}" destId="{1302463F-8F1A-4614-AEAA-0245CC66CF8C}" srcOrd="0" destOrd="0" presId="urn:microsoft.com/office/officeart/2005/8/layout/vList6"/>
    <dgm:cxn modelId="{9BFFCE20-605C-4181-8F08-A932BCA5E5BA}" type="presParOf" srcId="{E32E3C57-7771-45F6-A742-AAB76DE21A86}" destId="{A16469D5-3777-42F1-BEB5-FBBD261A0CBA}" srcOrd="1" destOrd="0" presId="urn:microsoft.com/office/officeart/2005/8/layout/vList6"/>
    <dgm:cxn modelId="{0266EB38-9222-4AA4-A9B6-A297620A21CC}" type="presParOf" srcId="{5B8FE993-3C76-4653-B72F-C33E3CC51C50}" destId="{94FF24C2-E673-4CAA-867C-8284FEBFD8B0}" srcOrd="3" destOrd="0" presId="urn:microsoft.com/office/officeart/2005/8/layout/vList6"/>
    <dgm:cxn modelId="{0661F78F-9FED-4867-AA2E-98EC2B8E1275}" type="presParOf" srcId="{5B8FE993-3C76-4653-B72F-C33E3CC51C50}" destId="{FD096A9A-0476-4E3E-80B4-16D858BC00FB}" srcOrd="4" destOrd="0" presId="urn:microsoft.com/office/officeart/2005/8/layout/vList6"/>
    <dgm:cxn modelId="{FF9C154E-1DBB-47B9-9ACA-456162449D55}" type="presParOf" srcId="{FD096A9A-0476-4E3E-80B4-16D858BC00FB}" destId="{215E1F48-CD52-4723-914D-7CC8011CF719}" srcOrd="0" destOrd="0" presId="urn:microsoft.com/office/officeart/2005/8/layout/vList6"/>
    <dgm:cxn modelId="{BE46860B-86EE-46EE-9C2E-8D36F1D6892E}" type="presParOf" srcId="{FD096A9A-0476-4E3E-80B4-16D858BC00FB}" destId="{586AA200-FF54-46D9-8519-401ECE0E5C04}" srcOrd="1" destOrd="0" presId="urn:microsoft.com/office/officeart/2005/8/layout/vList6"/>
    <dgm:cxn modelId="{EE217519-0787-4D69-90A0-665CCE56E39F}" type="presParOf" srcId="{5B8FE993-3C76-4653-B72F-C33E3CC51C50}" destId="{88B0F15F-6A20-424A-B028-257AD1DFAACB}" srcOrd="5" destOrd="0" presId="urn:microsoft.com/office/officeart/2005/8/layout/vList6"/>
    <dgm:cxn modelId="{08DA93B0-5A95-4BD0-A102-9D6583CB27B8}" type="presParOf" srcId="{5B8FE993-3C76-4653-B72F-C33E3CC51C50}" destId="{F250B190-8A40-4BD1-9173-EDF963E6A958}" srcOrd="6" destOrd="0" presId="urn:microsoft.com/office/officeart/2005/8/layout/vList6"/>
    <dgm:cxn modelId="{F6919647-408B-4172-9339-3F5C59870A85}" type="presParOf" srcId="{F250B190-8A40-4BD1-9173-EDF963E6A958}" destId="{D2A286B4-FCD9-49DF-82AC-03F717F3D9D7}" srcOrd="0" destOrd="0" presId="urn:microsoft.com/office/officeart/2005/8/layout/vList6"/>
    <dgm:cxn modelId="{00A272BC-9E0A-46E1-9497-280998D3AF30}" type="presParOf" srcId="{F250B190-8A40-4BD1-9173-EDF963E6A958}" destId="{D576E735-8C29-4864-BB72-0734CB5F5D87}"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EC19F31-5094-45F1-9727-7733C7779044}" type="doc">
      <dgm:prSet loTypeId="urn:microsoft.com/office/officeart/2005/8/layout/vList4" loCatId="list" qsTypeId="urn:microsoft.com/office/officeart/2005/8/quickstyle/simple3" qsCatId="simple" csTypeId="urn:microsoft.com/office/officeart/2005/8/colors/accent2_5" csCatId="accent2" phldr="1"/>
      <dgm:spPr/>
      <dgm:t>
        <a:bodyPr/>
        <a:lstStyle/>
        <a:p>
          <a:endParaRPr kumimoji="1" lang="ja-JP" altLang="en-US"/>
        </a:p>
      </dgm:t>
    </dgm:pt>
    <dgm:pt modelId="{E86D11FF-4590-4231-9563-CB66FFB1F3E0}">
      <dgm:prSet phldrT="[テキスト]" custT="1"/>
      <dgm:spPr/>
      <dgm:t>
        <a:bodyPr/>
        <a:lstStyle/>
        <a:p>
          <a:r>
            <a:rPr kumimoji="1" lang="ja-JP" altLang="en-US"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グローバルヘモスタシス</a:t>
          </a:r>
          <a:endParaRPr kumimoji="1" lang="en-US" altLang="ja-JP"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endParaRPr>
        </a:p>
        <a:p>
          <a:r>
            <a:rPr lang="ja-JP" altLang="en-US" sz="2000" b="0" u="sng" dirty="0">
              <a:latin typeface="メイリオ" panose="020B0604030504040204" pitchFamily="50" charset="-128"/>
              <a:ea typeface="メイリオ" panose="020B0604030504040204" pitchFamily="50" charset="-128"/>
            </a:rPr>
            <a:t>凝固因子やヘパリンの影響</a:t>
          </a:r>
          <a:r>
            <a:rPr lang="ja-JP" altLang="en-US" sz="2000" b="0" u="none" dirty="0">
              <a:latin typeface="メイリオ" panose="020B0604030504040204" pitchFamily="50" charset="-128"/>
              <a:ea typeface="メイリオ" panose="020B0604030504040204" pitchFamily="50" charset="-128"/>
            </a:rPr>
            <a:t>、フィブリノゲンや血小板機能などを包括的に評価</a:t>
          </a:r>
          <a:endParaRPr kumimoji="1" lang="ja-JP" altLang="en-US" sz="2000" b="0" dirty="0">
            <a:latin typeface="メイリオ" panose="020B0604030504040204" pitchFamily="50" charset="-128"/>
            <a:ea typeface="メイリオ" panose="020B0604030504040204" pitchFamily="50" charset="-128"/>
          </a:endParaRPr>
        </a:p>
      </dgm:t>
    </dgm:pt>
    <dgm:pt modelId="{30DEA196-6ACC-41B2-AB9B-832DD3459F88}" type="parTrans" cxnId="{93E11769-5547-4B21-8493-1573AF5E0219}">
      <dgm:prSet/>
      <dgm:spPr/>
      <dgm:t>
        <a:bodyPr/>
        <a:lstStyle/>
        <a:p>
          <a:endParaRPr kumimoji="1" lang="ja-JP" altLang="en-US"/>
        </a:p>
      </dgm:t>
    </dgm:pt>
    <dgm:pt modelId="{2E53C59D-85BB-4B2A-9685-06824A972139}" type="sibTrans" cxnId="{93E11769-5547-4B21-8493-1573AF5E0219}">
      <dgm:prSet/>
      <dgm:spPr/>
      <dgm:t>
        <a:bodyPr/>
        <a:lstStyle/>
        <a:p>
          <a:endParaRPr kumimoji="1" lang="ja-JP" altLang="en-US"/>
        </a:p>
      </dgm:t>
    </dgm:pt>
    <dgm:pt modelId="{E97DDBF1-28DD-4399-A5A7-6DDD415493D1}">
      <dgm:prSet phldrT="[テキスト]" custT="1"/>
      <dgm:spPr>
        <a:solidFill>
          <a:srgbClr val="CCFF99"/>
        </a:solidFill>
      </dgm:spPr>
      <dgm:t>
        <a:bodyPr tIns="108000"/>
        <a:lstStyle/>
        <a:p>
          <a:r>
            <a:rPr kumimoji="1" lang="ja-JP" altLang="en-US"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プレートレットマッピング</a:t>
          </a:r>
          <a:endParaRPr kumimoji="1" lang="en-US" altLang="ja-JP" sz="2800" b="1"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endParaRPr>
        </a:p>
        <a:p>
          <a:r>
            <a:rPr kumimoji="1" lang="ja-JP" altLang="en-US" sz="2000" b="0" u="none" dirty="0">
              <a:latin typeface="メイリオ" panose="020B0604030504040204" pitchFamily="50" charset="-128"/>
              <a:ea typeface="メイリオ" panose="020B0604030504040204" pitchFamily="50" charset="-128"/>
            </a:rPr>
            <a:t>特定のレセプターにおける血小板活性を測定。アスピリンやプラビックス等で</a:t>
          </a:r>
          <a:r>
            <a:rPr kumimoji="1" lang="ja-JP" altLang="en-US" sz="2000" b="0" u="sng" dirty="0">
              <a:latin typeface="メイリオ" panose="020B0604030504040204" pitchFamily="50" charset="-128"/>
              <a:ea typeface="メイリオ" panose="020B0604030504040204" pitchFamily="50" charset="-128"/>
            </a:rPr>
            <a:t>抑制された血餅強度を測定する</a:t>
          </a:r>
        </a:p>
        <a:p>
          <a:r>
            <a:rPr lang="en-US" altLang="ja-JP" sz="2000" b="0" u="none" dirty="0">
              <a:solidFill>
                <a:srgbClr val="FF0000"/>
              </a:solidFill>
              <a:latin typeface="メイリオ" panose="020B0604030504040204" pitchFamily="50" charset="-128"/>
              <a:ea typeface="メイリオ" panose="020B0604030504040204" pitchFamily="50" charset="-128"/>
            </a:rPr>
            <a:t>※</a:t>
          </a:r>
          <a:r>
            <a:rPr lang="ja-JP" altLang="en-US" sz="2000" b="0" u="none" dirty="0">
              <a:solidFill>
                <a:srgbClr val="FF0000"/>
              </a:solidFill>
              <a:latin typeface="メイリオ" panose="020B0604030504040204" pitchFamily="50" charset="-128"/>
              <a:ea typeface="メイリオ" panose="020B0604030504040204" pitchFamily="50" charset="-128"/>
            </a:rPr>
            <a:t>血液粘弾性検査装置では</a:t>
          </a:r>
          <a:r>
            <a:rPr lang="en-US" altLang="ja-JP" sz="2000" b="0" u="none" dirty="0">
              <a:solidFill>
                <a:srgbClr val="FF0000"/>
              </a:solidFill>
              <a:latin typeface="メイリオ" panose="020B0604030504040204" pitchFamily="50" charset="-128"/>
              <a:ea typeface="メイリオ" panose="020B0604030504040204" pitchFamily="50" charset="-128"/>
            </a:rPr>
            <a:t>TEG</a:t>
          </a:r>
          <a:r>
            <a:rPr lang="ja-JP" altLang="en-US" sz="2000" b="0" u="none" dirty="0">
              <a:solidFill>
                <a:srgbClr val="FF0000"/>
              </a:solidFill>
              <a:latin typeface="メイリオ" panose="020B0604030504040204" pitchFamily="50" charset="-128"/>
              <a:ea typeface="メイリオ" panose="020B0604030504040204" pitchFamily="50" charset="-128"/>
            </a:rPr>
            <a:t>だけ！</a:t>
          </a:r>
          <a:endParaRPr lang="en-US" altLang="ja-JP" sz="2000" b="0" u="none" dirty="0">
            <a:solidFill>
              <a:srgbClr val="FF0000"/>
            </a:solidFill>
            <a:latin typeface="メイリオ" panose="020B0604030504040204" pitchFamily="50" charset="-128"/>
            <a:ea typeface="メイリオ" panose="020B0604030504040204" pitchFamily="50" charset="-128"/>
          </a:endParaRPr>
        </a:p>
      </dgm:t>
    </dgm:pt>
    <dgm:pt modelId="{1E3E5AC7-50CC-4E5F-BAD6-DE5617A930B1}" type="parTrans" cxnId="{83ECD736-E388-4462-BD7C-D78B2F54CC02}">
      <dgm:prSet/>
      <dgm:spPr/>
      <dgm:t>
        <a:bodyPr/>
        <a:lstStyle/>
        <a:p>
          <a:endParaRPr kumimoji="1" lang="ja-JP" altLang="en-US"/>
        </a:p>
      </dgm:t>
    </dgm:pt>
    <dgm:pt modelId="{284FA361-FDB9-467F-96CB-4A7BD49FB21D}" type="sibTrans" cxnId="{83ECD736-E388-4462-BD7C-D78B2F54CC02}">
      <dgm:prSet/>
      <dgm:spPr/>
      <dgm:t>
        <a:bodyPr/>
        <a:lstStyle/>
        <a:p>
          <a:endParaRPr kumimoji="1" lang="ja-JP" altLang="en-US"/>
        </a:p>
      </dgm:t>
    </dgm:pt>
    <dgm:pt modelId="{35525D05-3FBD-45E6-B80B-54EF199E090F}" type="pres">
      <dgm:prSet presAssocID="{2EC19F31-5094-45F1-9727-7733C7779044}" presName="linear" presStyleCnt="0">
        <dgm:presLayoutVars>
          <dgm:dir/>
          <dgm:resizeHandles val="exact"/>
        </dgm:presLayoutVars>
      </dgm:prSet>
      <dgm:spPr/>
    </dgm:pt>
    <dgm:pt modelId="{D4885415-1384-4426-BBFC-2C7EF14FF5B7}" type="pres">
      <dgm:prSet presAssocID="{E86D11FF-4590-4231-9563-CB66FFB1F3E0}" presName="comp" presStyleCnt="0"/>
      <dgm:spPr/>
    </dgm:pt>
    <dgm:pt modelId="{BE14B1DB-3F97-462A-BE1E-533EC342BFD3}" type="pres">
      <dgm:prSet presAssocID="{E86D11FF-4590-4231-9563-CB66FFB1F3E0}" presName="box" presStyleLbl="node1" presStyleIdx="0" presStyleCnt="2" custScaleY="87497"/>
      <dgm:spPr/>
    </dgm:pt>
    <dgm:pt modelId="{7523DDED-F894-4814-87E9-A2C1919B160A}" type="pres">
      <dgm:prSet presAssocID="{E86D11FF-4590-4231-9563-CB66FFB1F3E0}" presName="img" presStyleLbl="fgImgPlace1" presStyleIdx="0" presStyleCnt="2" custAng="5400000" custScaleX="103885" custScaleY="54915"/>
      <dgm:spPr>
        <a:blipFill rotWithShape="1">
          <a:blip xmlns:r="http://schemas.openxmlformats.org/officeDocument/2006/relationships" r:embed="rId1"/>
          <a:stretch>
            <a:fillRect/>
          </a:stretch>
        </a:blipFill>
      </dgm:spPr>
    </dgm:pt>
    <dgm:pt modelId="{8102A549-94B9-4491-8C4C-41B8430C5A9B}" type="pres">
      <dgm:prSet presAssocID="{E86D11FF-4590-4231-9563-CB66FFB1F3E0}" presName="text" presStyleLbl="node1" presStyleIdx="0" presStyleCnt="2">
        <dgm:presLayoutVars>
          <dgm:bulletEnabled val="1"/>
        </dgm:presLayoutVars>
      </dgm:prSet>
      <dgm:spPr/>
    </dgm:pt>
    <dgm:pt modelId="{ECBDF625-E9CB-459D-95B4-17665FA9AC42}" type="pres">
      <dgm:prSet presAssocID="{2E53C59D-85BB-4B2A-9685-06824A972139}" presName="spacer" presStyleCnt="0"/>
      <dgm:spPr/>
    </dgm:pt>
    <dgm:pt modelId="{BA24CC1B-655C-43A1-A235-E003B86056D9}" type="pres">
      <dgm:prSet presAssocID="{E97DDBF1-28DD-4399-A5A7-6DDD415493D1}" presName="comp" presStyleCnt="0"/>
      <dgm:spPr/>
    </dgm:pt>
    <dgm:pt modelId="{62474295-9D91-429C-ACEB-0AAED19F711F}" type="pres">
      <dgm:prSet presAssocID="{E97DDBF1-28DD-4399-A5A7-6DDD415493D1}" presName="box" presStyleLbl="node1" presStyleIdx="1" presStyleCnt="2" custLinFactNeighborY="-841"/>
      <dgm:spPr/>
    </dgm:pt>
    <dgm:pt modelId="{E467EAE4-3F19-4601-962E-0C2FACB27657}" type="pres">
      <dgm:prSet presAssocID="{E97DDBF1-28DD-4399-A5A7-6DDD415493D1}" presName="img" presStyleLbl="fgImgPlace1" presStyleIdx="1" presStyleCnt="2" custAng="5400000" custScaleX="103885" custScaleY="54915"/>
      <dgm:spPr>
        <a:blipFill rotWithShape="1">
          <a:blip xmlns:r="http://schemas.openxmlformats.org/officeDocument/2006/relationships" r:embed="rId2"/>
          <a:stretch>
            <a:fillRect/>
          </a:stretch>
        </a:blipFill>
      </dgm:spPr>
    </dgm:pt>
    <dgm:pt modelId="{2C9A73E2-5B62-464E-A5F2-878C271E030F}" type="pres">
      <dgm:prSet presAssocID="{E97DDBF1-28DD-4399-A5A7-6DDD415493D1}" presName="text" presStyleLbl="node1" presStyleIdx="1" presStyleCnt="2">
        <dgm:presLayoutVars>
          <dgm:bulletEnabled val="1"/>
        </dgm:presLayoutVars>
      </dgm:prSet>
      <dgm:spPr/>
    </dgm:pt>
  </dgm:ptLst>
  <dgm:cxnLst>
    <dgm:cxn modelId="{83ECD736-E388-4462-BD7C-D78B2F54CC02}" srcId="{2EC19F31-5094-45F1-9727-7733C7779044}" destId="{E97DDBF1-28DD-4399-A5A7-6DDD415493D1}" srcOrd="1" destOrd="0" parTransId="{1E3E5AC7-50CC-4E5F-BAD6-DE5617A930B1}" sibTransId="{284FA361-FDB9-467F-96CB-4A7BD49FB21D}"/>
    <dgm:cxn modelId="{CAF9EE4F-1783-4F3C-A6DC-35E0026F25AE}" type="presOf" srcId="{E86D11FF-4590-4231-9563-CB66FFB1F3E0}" destId="{BE14B1DB-3F97-462A-BE1E-533EC342BFD3}" srcOrd="0" destOrd="0" presId="urn:microsoft.com/office/officeart/2005/8/layout/vList4"/>
    <dgm:cxn modelId="{42028755-9021-4784-8743-65167B6A239D}" type="presOf" srcId="{E97DDBF1-28DD-4399-A5A7-6DDD415493D1}" destId="{2C9A73E2-5B62-464E-A5F2-878C271E030F}" srcOrd="1" destOrd="0" presId="urn:microsoft.com/office/officeart/2005/8/layout/vList4"/>
    <dgm:cxn modelId="{9D81B067-4447-42AE-84F6-8EFB5D83CFE5}" type="presOf" srcId="{E97DDBF1-28DD-4399-A5A7-6DDD415493D1}" destId="{62474295-9D91-429C-ACEB-0AAED19F711F}" srcOrd="0" destOrd="0" presId="urn:microsoft.com/office/officeart/2005/8/layout/vList4"/>
    <dgm:cxn modelId="{93E11769-5547-4B21-8493-1573AF5E0219}" srcId="{2EC19F31-5094-45F1-9727-7733C7779044}" destId="{E86D11FF-4590-4231-9563-CB66FFB1F3E0}" srcOrd="0" destOrd="0" parTransId="{30DEA196-6ACC-41B2-AB9B-832DD3459F88}" sibTransId="{2E53C59D-85BB-4B2A-9685-06824A972139}"/>
    <dgm:cxn modelId="{76E35086-19CB-4683-A79B-85C28FE50BCE}" type="presOf" srcId="{2EC19F31-5094-45F1-9727-7733C7779044}" destId="{35525D05-3FBD-45E6-B80B-54EF199E090F}" srcOrd="0" destOrd="0" presId="urn:microsoft.com/office/officeart/2005/8/layout/vList4"/>
    <dgm:cxn modelId="{1E206FB6-97AF-4DF3-8AB0-EED88211F465}" type="presOf" srcId="{E86D11FF-4590-4231-9563-CB66FFB1F3E0}" destId="{8102A549-94B9-4491-8C4C-41B8430C5A9B}" srcOrd="1" destOrd="0" presId="urn:microsoft.com/office/officeart/2005/8/layout/vList4"/>
    <dgm:cxn modelId="{22821EAE-F55B-4219-8FB7-F45DDD75A7D4}" type="presParOf" srcId="{35525D05-3FBD-45E6-B80B-54EF199E090F}" destId="{D4885415-1384-4426-BBFC-2C7EF14FF5B7}" srcOrd="0" destOrd="0" presId="urn:microsoft.com/office/officeart/2005/8/layout/vList4"/>
    <dgm:cxn modelId="{43AB792F-286D-40E0-A4DB-2A4F09F92414}" type="presParOf" srcId="{D4885415-1384-4426-BBFC-2C7EF14FF5B7}" destId="{BE14B1DB-3F97-462A-BE1E-533EC342BFD3}" srcOrd="0" destOrd="0" presId="urn:microsoft.com/office/officeart/2005/8/layout/vList4"/>
    <dgm:cxn modelId="{0B2669A2-0417-429C-AABB-F634BC46C56A}" type="presParOf" srcId="{D4885415-1384-4426-BBFC-2C7EF14FF5B7}" destId="{7523DDED-F894-4814-87E9-A2C1919B160A}" srcOrd="1" destOrd="0" presId="urn:microsoft.com/office/officeart/2005/8/layout/vList4"/>
    <dgm:cxn modelId="{157412B3-DB26-4801-B4BC-00F8D3B08317}" type="presParOf" srcId="{D4885415-1384-4426-BBFC-2C7EF14FF5B7}" destId="{8102A549-94B9-4491-8C4C-41B8430C5A9B}" srcOrd="2" destOrd="0" presId="urn:microsoft.com/office/officeart/2005/8/layout/vList4"/>
    <dgm:cxn modelId="{2B28F5EA-096A-4381-B394-48C7CC527E6D}" type="presParOf" srcId="{35525D05-3FBD-45E6-B80B-54EF199E090F}" destId="{ECBDF625-E9CB-459D-95B4-17665FA9AC42}" srcOrd="1" destOrd="0" presId="urn:microsoft.com/office/officeart/2005/8/layout/vList4"/>
    <dgm:cxn modelId="{4D98696D-127E-4A98-8F20-19B2EEE18BC4}" type="presParOf" srcId="{35525D05-3FBD-45E6-B80B-54EF199E090F}" destId="{BA24CC1B-655C-43A1-A235-E003B86056D9}" srcOrd="2" destOrd="0" presId="urn:microsoft.com/office/officeart/2005/8/layout/vList4"/>
    <dgm:cxn modelId="{9922A3F2-0496-4EBF-9ADD-9DD661929392}" type="presParOf" srcId="{BA24CC1B-655C-43A1-A235-E003B86056D9}" destId="{62474295-9D91-429C-ACEB-0AAED19F711F}" srcOrd="0" destOrd="0" presId="urn:microsoft.com/office/officeart/2005/8/layout/vList4"/>
    <dgm:cxn modelId="{56EC8902-D7B0-48F7-A0C7-15BA7165862A}" type="presParOf" srcId="{BA24CC1B-655C-43A1-A235-E003B86056D9}" destId="{E467EAE4-3F19-4601-962E-0C2FACB27657}" srcOrd="1" destOrd="0" presId="urn:microsoft.com/office/officeart/2005/8/layout/vList4"/>
    <dgm:cxn modelId="{498D59DE-B621-40E0-8B8F-21DC2E5E5372}" type="presParOf" srcId="{BA24CC1B-655C-43A1-A235-E003B86056D9}" destId="{2C9A73E2-5B62-464E-A5F2-878C271E030F}"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BC4B73F-9625-4F64-901C-59DE4B6E6068}" type="doc">
      <dgm:prSet loTypeId="urn:microsoft.com/office/officeart/2005/8/layout/vList6" loCatId="list" qsTypeId="urn:microsoft.com/office/officeart/2005/8/quickstyle/simple5" qsCatId="simple" csTypeId="urn:microsoft.com/office/officeart/2005/8/colors/accent2_4" csCatId="accent2" phldr="1"/>
      <dgm:spPr/>
      <dgm:t>
        <a:bodyPr/>
        <a:lstStyle/>
        <a:p>
          <a:endParaRPr kumimoji="1" lang="ja-JP" altLang="en-US"/>
        </a:p>
      </dgm:t>
    </dgm:pt>
    <dgm:pt modelId="{44D12ED2-2471-4151-9222-85E8ABF0AED9}">
      <dgm:prSet phldrT="[テキスト]"/>
      <dgm:spPr>
        <a:xfrm>
          <a:off x="0" y="1118"/>
          <a:ext cx="4530851" cy="887396"/>
        </a:xfrm>
        <a:prstGeom prst="roundRect">
          <a:avLst/>
        </a:prstGeom>
        <a:gradFill rotWithShape="0">
          <a:gsLst>
            <a:gs pos="0">
              <a:schemeClr val="tx2">
                <a:lumMod val="10000"/>
                <a:lumOff val="90000"/>
              </a:schemeClr>
            </a:gs>
            <a:gs pos="100000">
              <a:srgbClr val="2A6EBB">
                <a:shade val="50000"/>
                <a:hueOff val="0"/>
                <a:satOff val="0"/>
                <a:lumOff val="0"/>
                <a:alphaOff val="0"/>
                <a:tint val="50000"/>
                <a:shade val="100000"/>
                <a:satMod val="350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pPr>
            <a:buNone/>
          </a:pPr>
          <a:r>
            <a:rPr kumimoji="1" lang="ja-JP" altLang="en-US" dirty="0">
              <a:solidFill>
                <a:sysClr val="window" lastClr="FFFFFF"/>
              </a:solidFill>
              <a:latin typeface="Arial"/>
              <a:ea typeface="+mn-ea"/>
              <a:cs typeface="+mn-cs"/>
            </a:rPr>
            <a:t>心臓血管外科</a:t>
          </a:r>
        </a:p>
      </dgm:t>
    </dgm:pt>
    <dgm:pt modelId="{FF47ACD9-8CD7-4B1B-BF6E-FCA675390C94}" type="parTrans" cxnId="{8DF0EEB7-B64F-48D7-A4AB-9D1DC7A0F3D8}">
      <dgm:prSet/>
      <dgm:spPr/>
      <dgm:t>
        <a:bodyPr/>
        <a:lstStyle/>
        <a:p>
          <a:endParaRPr kumimoji="1" lang="ja-JP" altLang="en-US"/>
        </a:p>
      </dgm:t>
    </dgm:pt>
    <dgm:pt modelId="{F5B2F12C-202C-4A72-B2AE-8BEF007EBBAD}" type="sibTrans" cxnId="{8DF0EEB7-B64F-48D7-A4AB-9D1DC7A0F3D8}">
      <dgm:prSet/>
      <dgm:spPr/>
      <dgm:t>
        <a:bodyPr/>
        <a:lstStyle/>
        <a:p>
          <a:endParaRPr kumimoji="1" lang="ja-JP" altLang="en-US"/>
        </a:p>
      </dgm:t>
    </dgm:pt>
    <dgm:pt modelId="{E5CE48E3-35F9-41C5-950E-618AF88B85F4}">
      <dgm:prSet phldrT="[テキスト]"/>
      <dgm:spPr>
        <a:xfrm>
          <a:off x="4530851" y="1118"/>
          <a:ext cx="6796277" cy="887396"/>
        </a:xfrm>
        <a:prstGeom prst="rightArrow">
          <a:avLst>
            <a:gd name="adj1" fmla="val 75000"/>
            <a:gd name="adj2" fmla="val 50000"/>
          </a:avLst>
        </a:prstGeom>
        <a:solidFill>
          <a:srgbClr val="2A6EBB">
            <a:alpha val="90000"/>
            <a:tint val="55000"/>
            <a:hueOff val="0"/>
            <a:satOff val="0"/>
            <a:lumOff val="0"/>
            <a:alphaOff val="0"/>
          </a:srgbClr>
        </a:solidFill>
        <a:ln w="9525" cap="flat" cmpd="sng" algn="ctr">
          <a:solidFill>
            <a:sysClr val="window" lastClr="FFFFFF">
              <a:hueOff val="0"/>
              <a:satOff val="0"/>
              <a:lumOff val="0"/>
              <a:alphaOff val="0"/>
            </a:sysClr>
          </a:solidFill>
          <a:prstDash val="solid"/>
        </a:ln>
        <a:effectLst>
          <a:outerShdw blurRad="40000" dist="23000" dir="5400000" rotWithShape="0">
            <a:srgbClr val="000000">
              <a:alpha val="35000"/>
            </a:srgbClr>
          </a:outerShdw>
        </a:effectLst>
      </dgm:spPr>
      <dgm:t>
        <a:bodyPr/>
        <a:lstStyle/>
        <a:p>
          <a:pPr>
            <a:buChar char="•"/>
          </a:pPr>
          <a:r>
            <a:rPr kumimoji="1" lang="ja-JP" altLang="en-US" dirty="0">
              <a:solidFill>
                <a:srgbClr val="000000">
                  <a:hueOff val="0"/>
                  <a:satOff val="0"/>
                  <a:lumOff val="0"/>
                  <a:alphaOff val="0"/>
                </a:srgbClr>
              </a:solidFill>
              <a:latin typeface="Arial"/>
              <a:ea typeface="+mn-ea"/>
              <a:cs typeface="+mn-cs"/>
            </a:rPr>
            <a:t>周術期出血管理</a:t>
          </a:r>
        </a:p>
      </dgm:t>
    </dgm:pt>
    <dgm:pt modelId="{364082F5-7931-4B7B-8A1E-FEA5FA0C4C7A}" type="parTrans" cxnId="{987E09A0-1F10-44D7-B808-5D77440EE65D}">
      <dgm:prSet/>
      <dgm:spPr/>
      <dgm:t>
        <a:bodyPr/>
        <a:lstStyle/>
        <a:p>
          <a:endParaRPr kumimoji="1" lang="ja-JP" altLang="en-US"/>
        </a:p>
      </dgm:t>
    </dgm:pt>
    <dgm:pt modelId="{56C1F9BC-1C94-42A5-9B80-002E81FA2BC0}" type="sibTrans" cxnId="{987E09A0-1F10-44D7-B808-5D77440EE65D}">
      <dgm:prSet/>
      <dgm:spPr/>
      <dgm:t>
        <a:bodyPr/>
        <a:lstStyle/>
        <a:p>
          <a:endParaRPr kumimoji="1" lang="ja-JP" altLang="en-US"/>
        </a:p>
      </dgm:t>
    </dgm:pt>
    <dgm:pt modelId="{05268C30-B2ED-4A4D-A805-9CD1E54E295B}">
      <dgm:prSet phldrT="[テキスト]"/>
      <dgm:spPr>
        <a:xfrm>
          <a:off x="0" y="977255"/>
          <a:ext cx="4530851" cy="887396"/>
        </a:xfrm>
        <a:prstGeom prst="round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pPr>
            <a:buNone/>
          </a:pPr>
          <a:r>
            <a:rPr kumimoji="1" lang="en-US" altLang="ja-JP" b="1" dirty="0">
              <a:solidFill>
                <a:schemeClr val="tx2"/>
              </a:solidFill>
              <a:latin typeface="Arial"/>
              <a:ea typeface="+mn-ea"/>
              <a:cs typeface="+mn-cs"/>
            </a:rPr>
            <a:t>ICU</a:t>
          </a:r>
          <a:endParaRPr kumimoji="1" lang="ja-JP" altLang="en-US" b="1" dirty="0">
            <a:solidFill>
              <a:schemeClr val="tx2"/>
            </a:solidFill>
            <a:latin typeface="Arial"/>
            <a:ea typeface="+mn-ea"/>
            <a:cs typeface="+mn-cs"/>
          </a:endParaRPr>
        </a:p>
      </dgm:t>
    </dgm:pt>
    <dgm:pt modelId="{A9C0C1BB-E241-418F-9E57-5E2287C1A36E}" type="parTrans" cxnId="{3FBF33F3-D7E3-4CD1-8B3C-5BD387EBC3C0}">
      <dgm:prSet/>
      <dgm:spPr/>
      <dgm:t>
        <a:bodyPr/>
        <a:lstStyle/>
        <a:p>
          <a:endParaRPr kumimoji="1" lang="ja-JP" altLang="en-US"/>
        </a:p>
      </dgm:t>
    </dgm:pt>
    <dgm:pt modelId="{1E91AC46-A445-4349-AB5C-E4B3A4E6D1EA}" type="sibTrans" cxnId="{3FBF33F3-D7E3-4CD1-8B3C-5BD387EBC3C0}">
      <dgm:prSet/>
      <dgm:spPr/>
      <dgm:t>
        <a:bodyPr/>
        <a:lstStyle/>
        <a:p>
          <a:endParaRPr kumimoji="1" lang="ja-JP" altLang="en-US"/>
        </a:p>
      </dgm:t>
    </dgm:pt>
    <dgm:pt modelId="{663D7882-4424-494C-AF53-A9565266A5CF}">
      <dgm:prSet phldrT="[テキスト]" custT="1"/>
      <dgm:spPr>
        <a:xfrm>
          <a:off x="4530851" y="977255"/>
          <a:ext cx="6796277" cy="887396"/>
        </a:xfrm>
        <a:prstGeom prst="rightArrow">
          <a:avLst>
            <a:gd name="adj1" fmla="val 75000"/>
            <a:gd name="adj2" fmla="val 50000"/>
          </a:avLst>
        </a:prstGeom>
        <a:solidFill>
          <a:schemeClr val="accent6">
            <a:lumMod val="20000"/>
            <a:lumOff val="80000"/>
            <a:alpha val="90000"/>
          </a:schemeClr>
        </a:solidFill>
        <a:ln w="9525" cap="flat" cmpd="sng" algn="ctr">
          <a:solidFill>
            <a:sysClr val="window" lastClr="FFFFFF">
              <a:hueOff val="0"/>
              <a:satOff val="0"/>
              <a:lumOff val="0"/>
              <a:alphaOff val="0"/>
            </a:sysClr>
          </a:solidFill>
          <a:prstDash val="solid"/>
        </a:ln>
        <a:effectLst>
          <a:outerShdw blurRad="40000" dist="23000" dir="5400000" rotWithShape="0">
            <a:srgbClr val="000000">
              <a:alpha val="35000"/>
            </a:srgbClr>
          </a:outerShdw>
        </a:effectLst>
      </dgm:spPr>
      <dgm:t>
        <a:bodyPr/>
        <a:lstStyle/>
        <a:p>
          <a:pPr>
            <a:buChar char="•"/>
          </a:pPr>
          <a:r>
            <a:rPr kumimoji="1" lang="ja-JP" altLang="en-US" sz="1800" b="1" dirty="0">
              <a:solidFill>
                <a:srgbClr val="FF0000"/>
              </a:solidFill>
              <a:latin typeface="Arial"/>
              <a:ea typeface="+mn-ea"/>
              <a:cs typeface="+mn-cs"/>
            </a:rPr>
            <a:t>抗凝固管理（</a:t>
          </a:r>
          <a:r>
            <a:rPr kumimoji="1" lang="en-US" altLang="ja-JP" sz="1800" b="1" dirty="0">
              <a:solidFill>
                <a:srgbClr val="FF0000"/>
              </a:solidFill>
              <a:latin typeface="Arial"/>
              <a:ea typeface="+mn-ea"/>
              <a:cs typeface="+mn-cs"/>
            </a:rPr>
            <a:t>ECMO</a:t>
          </a:r>
          <a:r>
            <a:rPr kumimoji="1" lang="ja-JP" altLang="en-US" sz="1800" b="1">
              <a:solidFill>
                <a:srgbClr val="FF0000"/>
              </a:solidFill>
              <a:latin typeface="Arial"/>
              <a:ea typeface="+mn-ea"/>
              <a:cs typeface="+mn-cs"/>
            </a:rPr>
            <a:t>　</a:t>
          </a:r>
          <a:r>
            <a:rPr kumimoji="1" lang="en-US" altLang="ja-JP" sz="1800" b="1" dirty="0">
              <a:solidFill>
                <a:srgbClr val="FF0000"/>
              </a:solidFill>
              <a:latin typeface="Arial"/>
              <a:ea typeface="+mn-ea"/>
              <a:cs typeface="+mn-cs"/>
            </a:rPr>
            <a:t>IMPELLA</a:t>
          </a:r>
          <a:r>
            <a:rPr kumimoji="1" lang="ja-JP" altLang="en-US" sz="1800" b="1">
              <a:solidFill>
                <a:srgbClr val="FF0000"/>
              </a:solidFill>
              <a:latin typeface="Arial"/>
              <a:ea typeface="+mn-ea"/>
              <a:cs typeface="+mn-cs"/>
            </a:rPr>
            <a:t>　</a:t>
          </a:r>
          <a:r>
            <a:rPr kumimoji="1" lang="en-US" altLang="ja-JP" sz="1800" b="1" dirty="0">
              <a:solidFill>
                <a:srgbClr val="FF0000"/>
              </a:solidFill>
              <a:latin typeface="Arial"/>
              <a:ea typeface="+mn-ea"/>
              <a:cs typeface="+mn-cs"/>
            </a:rPr>
            <a:t>VAD</a:t>
          </a:r>
          <a:r>
            <a:rPr kumimoji="1" lang="ja-JP" altLang="en-US" sz="1800" b="1" dirty="0">
              <a:solidFill>
                <a:srgbClr val="FF0000"/>
              </a:solidFill>
              <a:latin typeface="Arial"/>
              <a:ea typeface="+mn-ea"/>
              <a:cs typeface="+mn-cs"/>
            </a:rPr>
            <a:t>管理）</a:t>
          </a:r>
        </a:p>
      </dgm:t>
    </dgm:pt>
    <dgm:pt modelId="{3B540044-F6D9-48F8-B3E0-251C681858CF}" type="parTrans" cxnId="{E3E31674-6340-4C74-A0EB-C47AE8C9ACD8}">
      <dgm:prSet/>
      <dgm:spPr/>
      <dgm:t>
        <a:bodyPr/>
        <a:lstStyle/>
        <a:p>
          <a:endParaRPr kumimoji="1" lang="ja-JP" altLang="en-US"/>
        </a:p>
      </dgm:t>
    </dgm:pt>
    <dgm:pt modelId="{ED65EEDC-4416-4938-8629-6B7A8D90A9D9}" type="sibTrans" cxnId="{E3E31674-6340-4C74-A0EB-C47AE8C9ACD8}">
      <dgm:prSet/>
      <dgm:spPr/>
      <dgm:t>
        <a:bodyPr/>
        <a:lstStyle/>
        <a:p>
          <a:endParaRPr kumimoji="1" lang="ja-JP" altLang="en-US"/>
        </a:p>
      </dgm:t>
    </dgm:pt>
    <dgm:pt modelId="{A74E23D3-3DA6-44F4-9EBC-48521547E1AC}">
      <dgm:prSet phldrT="[テキスト]"/>
      <dgm:spPr>
        <a:xfrm>
          <a:off x="0" y="1953391"/>
          <a:ext cx="4530851" cy="887396"/>
        </a:xfrm>
        <a:prstGeom prst="roundRect">
          <a:avLst/>
        </a:prstGeom>
        <a:gradFill rotWithShape="0">
          <a:gsLst>
            <a:gs pos="0">
              <a:srgbClr val="2A6EBB">
                <a:shade val="50000"/>
                <a:hueOff val="608534"/>
                <a:satOff val="-30256"/>
                <a:lumOff val="51081"/>
                <a:alphaOff val="0"/>
                <a:tint val="100000"/>
                <a:shade val="100000"/>
                <a:satMod val="130000"/>
              </a:srgbClr>
            </a:gs>
            <a:gs pos="100000">
              <a:srgbClr val="2A6EBB">
                <a:shade val="50000"/>
                <a:hueOff val="608534"/>
                <a:satOff val="-30256"/>
                <a:lumOff val="51081"/>
                <a:alphaOff val="0"/>
                <a:tint val="50000"/>
                <a:shade val="100000"/>
                <a:satMod val="350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pPr>
            <a:buNone/>
          </a:pPr>
          <a:r>
            <a:rPr kumimoji="1" lang="ja-JP" altLang="en-US" dirty="0">
              <a:solidFill>
                <a:sysClr val="window" lastClr="FFFFFF"/>
              </a:solidFill>
              <a:latin typeface="Arial"/>
              <a:ea typeface="+mn-ea"/>
              <a:cs typeface="+mn-cs"/>
            </a:rPr>
            <a:t>その他外科手術</a:t>
          </a:r>
        </a:p>
      </dgm:t>
    </dgm:pt>
    <dgm:pt modelId="{FE67D758-A88F-4BC3-934C-347D55B5E578}" type="parTrans" cxnId="{EFDFC42D-9B3C-4F0C-98DE-662640C3B9CD}">
      <dgm:prSet/>
      <dgm:spPr/>
      <dgm:t>
        <a:bodyPr/>
        <a:lstStyle/>
        <a:p>
          <a:endParaRPr kumimoji="1" lang="ja-JP" altLang="en-US"/>
        </a:p>
      </dgm:t>
    </dgm:pt>
    <dgm:pt modelId="{FE01AA9D-4F0B-4C28-949F-E6622D16B729}" type="sibTrans" cxnId="{EFDFC42D-9B3C-4F0C-98DE-662640C3B9CD}">
      <dgm:prSet/>
      <dgm:spPr/>
      <dgm:t>
        <a:bodyPr/>
        <a:lstStyle/>
        <a:p>
          <a:endParaRPr kumimoji="1" lang="ja-JP" altLang="en-US"/>
        </a:p>
      </dgm:t>
    </dgm:pt>
    <dgm:pt modelId="{8DADC692-F6E9-450A-9A7C-2DC8CCF234A3}">
      <dgm:prSet phldrT="[テキスト]"/>
      <dgm:spPr>
        <a:xfrm>
          <a:off x="4530851" y="1953391"/>
          <a:ext cx="6796277" cy="887396"/>
        </a:xfrm>
        <a:prstGeom prst="rightArrow">
          <a:avLst>
            <a:gd name="adj1" fmla="val 75000"/>
            <a:gd name="adj2" fmla="val 50000"/>
          </a:avLst>
        </a:prstGeom>
        <a:solidFill>
          <a:srgbClr val="2A6EBB">
            <a:alpha val="90000"/>
            <a:tint val="55000"/>
            <a:hueOff val="0"/>
            <a:satOff val="0"/>
            <a:lumOff val="0"/>
            <a:alphaOff val="0"/>
          </a:srgbClr>
        </a:solidFill>
        <a:ln w="9525" cap="flat" cmpd="sng" algn="ctr">
          <a:solidFill>
            <a:sysClr val="window" lastClr="FFFFFF">
              <a:hueOff val="0"/>
              <a:satOff val="0"/>
              <a:lumOff val="0"/>
              <a:alphaOff val="0"/>
            </a:sysClr>
          </a:solidFill>
          <a:prstDash val="solid"/>
        </a:ln>
        <a:effectLst>
          <a:outerShdw blurRad="40000" dist="23000" dir="5400000" rotWithShape="0">
            <a:srgbClr val="000000">
              <a:alpha val="35000"/>
            </a:srgbClr>
          </a:outerShdw>
        </a:effectLst>
      </dgm:spPr>
      <dgm:t>
        <a:bodyPr/>
        <a:lstStyle/>
        <a:p>
          <a:pPr>
            <a:buChar char="•"/>
          </a:pPr>
          <a:r>
            <a:rPr kumimoji="1" lang="ja-JP" altLang="en-US" dirty="0">
              <a:solidFill>
                <a:srgbClr val="000000">
                  <a:hueOff val="0"/>
                  <a:satOff val="0"/>
                  <a:lumOff val="0"/>
                  <a:alphaOff val="0"/>
                </a:srgbClr>
              </a:solidFill>
              <a:latin typeface="Arial"/>
              <a:ea typeface="+mn-ea"/>
              <a:cs typeface="+mn-cs"/>
            </a:rPr>
            <a:t>産婦人科</a:t>
          </a:r>
        </a:p>
      </dgm:t>
    </dgm:pt>
    <dgm:pt modelId="{CAAE6A1F-E0FE-4465-9D23-F3B7573EE8B4}" type="parTrans" cxnId="{BAC9E7E2-DD2B-4552-864D-E81710BB84BB}">
      <dgm:prSet/>
      <dgm:spPr/>
      <dgm:t>
        <a:bodyPr/>
        <a:lstStyle/>
        <a:p>
          <a:endParaRPr kumimoji="1" lang="ja-JP" altLang="en-US"/>
        </a:p>
      </dgm:t>
    </dgm:pt>
    <dgm:pt modelId="{B9C473D9-B9BF-4555-87DD-F07839F06A99}" type="sibTrans" cxnId="{BAC9E7E2-DD2B-4552-864D-E81710BB84BB}">
      <dgm:prSet/>
      <dgm:spPr/>
      <dgm:t>
        <a:bodyPr/>
        <a:lstStyle/>
        <a:p>
          <a:endParaRPr kumimoji="1" lang="ja-JP" altLang="en-US"/>
        </a:p>
      </dgm:t>
    </dgm:pt>
    <dgm:pt modelId="{F58CDD35-E249-4C05-A883-10B0B9CBFCBE}">
      <dgm:prSet phldrT="[テキスト]"/>
      <dgm:spPr>
        <a:xfrm>
          <a:off x="4530851" y="1953391"/>
          <a:ext cx="6796277" cy="887396"/>
        </a:xfrm>
        <a:prstGeom prst="rightArrow">
          <a:avLst>
            <a:gd name="adj1" fmla="val 75000"/>
            <a:gd name="adj2" fmla="val 50000"/>
          </a:avLst>
        </a:prstGeom>
        <a:solidFill>
          <a:srgbClr val="2A6EBB">
            <a:alpha val="90000"/>
            <a:tint val="55000"/>
            <a:hueOff val="0"/>
            <a:satOff val="0"/>
            <a:lumOff val="0"/>
            <a:alphaOff val="0"/>
          </a:srgbClr>
        </a:solidFill>
        <a:ln w="9525" cap="flat" cmpd="sng" algn="ctr">
          <a:solidFill>
            <a:sysClr val="window" lastClr="FFFFFF">
              <a:hueOff val="0"/>
              <a:satOff val="0"/>
              <a:lumOff val="0"/>
              <a:alphaOff val="0"/>
            </a:sysClr>
          </a:solidFill>
          <a:prstDash val="solid"/>
        </a:ln>
        <a:effectLst>
          <a:outerShdw blurRad="40000" dist="23000" dir="5400000" rotWithShape="0">
            <a:srgbClr val="000000">
              <a:alpha val="35000"/>
            </a:srgbClr>
          </a:outerShdw>
        </a:effectLst>
      </dgm:spPr>
      <dgm:t>
        <a:bodyPr/>
        <a:lstStyle/>
        <a:p>
          <a:pPr>
            <a:buChar char="•"/>
          </a:pPr>
          <a:r>
            <a:rPr kumimoji="1" lang="ja-JP" altLang="en-US" dirty="0">
              <a:solidFill>
                <a:srgbClr val="000000">
                  <a:hueOff val="0"/>
                  <a:satOff val="0"/>
                  <a:lumOff val="0"/>
                  <a:alphaOff val="0"/>
                </a:srgbClr>
              </a:solidFill>
              <a:latin typeface="Arial"/>
              <a:ea typeface="+mn-ea"/>
              <a:cs typeface="+mn-cs"/>
            </a:rPr>
            <a:t>移植</a:t>
          </a:r>
        </a:p>
      </dgm:t>
    </dgm:pt>
    <dgm:pt modelId="{918788C9-FA2E-4522-B67D-609EDBB7391E}" type="parTrans" cxnId="{0A8519D1-5C7A-4081-93DE-89D4C5F374AF}">
      <dgm:prSet/>
      <dgm:spPr/>
      <dgm:t>
        <a:bodyPr/>
        <a:lstStyle/>
        <a:p>
          <a:endParaRPr kumimoji="1" lang="ja-JP" altLang="en-US"/>
        </a:p>
      </dgm:t>
    </dgm:pt>
    <dgm:pt modelId="{C8D27378-93F6-48C8-8B39-D9D149CE3D82}" type="sibTrans" cxnId="{0A8519D1-5C7A-4081-93DE-89D4C5F374AF}">
      <dgm:prSet/>
      <dgm:spPr/>
      <dgm:t>
        <a:bodyPr/>
        <a:lstStyle/>
        <a:p>
          <a:endParaRPr kumimoji="1" lang="ja-JP" altLang="en-US"/>
        </a:p>
      </dgm:t>
    </dgm:pt>
    <dgm:pt modelId="{F0DADD06-54CD-4545-82FF-7ED60E256381}">
      <dgm:prSet phldrT="[テキスト]"/>
      <dgm:spPr>
        <a:xfrm>
          <a:off x="0" y="2929528"/>
          <a:ext cx="4530851" cy="887396"/>
        </a:xfrm>
        <a:prstGeom prst="round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pPr>
            <a:buNone/>
          </a:pPr>
          <a:r>
            <a:rPr kumimoji="1" lang="ja-JP" altLang="en-US" b="1" dirty="0">
              <a:solidFill>
                <a:schemeClr val="tx2"/>
              </a:solidFill>
              <a:latin typeface="Arial"/>
              <a:ea typeface="+mn-ea"/>
              <a:cs typeface="+mn-cs"/>
            </a:rPr>
            <a:t>救急</a:t>
          </a:r>
        </a:p>
      </dgm:t>
    </dgm:pt>
    <dgm:pt modelId="{46F7876C-F5D0-4A7C-AD04-FC046F8C9638}" type="parTrans" cxnId="{A46B5A39-AE31-4FA3-B137-219828A0D328}">
      <dgm:prSet/>
      <dgm:spPr/>
      <dgm:t>
        <a:bodyPr/>
        <a:lstStyle/>
        <a:p>
          <a:endParaRPr kumimoji="1" lang="ja-JP" altLang="en-US"/>
        </a:p>
      </dgm:t>
    </dgm:pt>
    <dgm:pt modelId="{DBD16FA2-56CE-4024-8102-1F86D8CF5DCA}" type="sibTrans" cxnId="{A46B5A39-AE31-4FA3-B137-219828A0D328}">
      <dgm:prSet/>
      <dgm:spPr/>
      <dgm:t>
        <a:bodyPr/>
        <a:lstStyle/>
        <a:p>
          <a:endParaRPr kumimoji="1" lang="ja-JP" altLang="en-US"/>
        </a:p>
      </dgm:t>
    </dgm:pt>
    <dgm:pt modelId="{BE2B15F2-5241-49C6-9F78-B46348BD6CB7}">
      <dgm:prSet phldrT="[テキスト]" custT="1"/>
      <dgm:spPr>
        <a:xfrm>
          <a:off x="4530851" y="2929528"/>
          <a:ext cx="6796277" cy="887396"/>
        </a:xfrm>
        <a:prstGeom prst="rightArrow">
          <a:avLst>
            <a:gd name="adj1" fmla="val 75000"/>
            <a:gd name="adj2" fmla="val 50000"/>
          </a:avLst>
        </a:prstGeom>
        <a:solidFill>
          <a:schemeClr val="accent3">
            <a:lumMod val="60000"/>
            <a:lumOff val="40000"/>
            <a:alpha val="90000"/>
          </a:schemeClr>
        </a:solidFill>
        <a:ln w="9525" cap="flat" cmpd="sng" algn="ctr">
          <a:solidFill>
            <a:sysClr val="window" lastClr="FFFFFF">
              <a:hueOff val="0"/>
              <a:satOff val="0"/>
              <a:lumOff val="0"/>
              <a:alphaOff val="0"/>
            </a:sysClr>
          </a:solidFill>
          <a:prstDash val="solid"/>
        </a:ln>
        <a:effectLst>
          <a:outerShdw blurRad="40000" dist="23000" dir="5400000" rotWithShape="0">
            <a:srgbClr val="000000">
              <a:alpha val="35000"/>
            </a:srgbClr>
          </a:outerShdw>
        </a:effectLst>
      </dgm:spPr>
      <dgm:t>
        <a:bodyPr/>
        <a:lstStyle/>
        <a:p>
          <a:pPr>
            <a:buChar char="•"/>
          </a:pPr>
          <a:r>
            <a:rPr kumimoji="1" lang="ja-JP" altLang="en-US" sz="1800" b="1" dirty="0">
              <a:solidFill>
                <a:srgbClr val="FF0000"/>
              </a:solidFill>
              <a:latin typeface="Arial"/>
              <a:ea typeface="+mn-ea"/>
              <a:cs typeface="+mn-cs"/>
            </a:rPr>
            <a:t>外傷　頭部外傷</a:t>
          </a:r>
        </a:p>
      </dgm:t>
    </dgm:pt>
    <dgm:pt modelId="{01194FBA-A5CA-4E1B-A68E-BBE714DC5A35}" type="parTrans" cxnId="{63A3FF60-6B6B-467C-8822-04E33065E98B}">
      <dgm:prSet/>
      <dgm:spPr/>
      <dgm:t>
        <a:bodyPr/>
        <a:lstStyle/>
        <a:p>
          <a:endParaRPr kumimoji="1" lang="ja-JP" altLang="en-US"/>
        </a:p>
      </dgm:t>
    </dgm:pt>
    <dgm:pt modelId="{0C7DCC2E-F26A-4F57-8D06-CFB4753E16C8}" type="sibTrans" cxnId="{63A3FF60-6B6B-467C-8822-04E33065E98B}">
      <dgm:prSet/>
      <dgm:spPr/>
      <dgm:t>
        <a:bodyPr/>
        <a:lstStyle/>
        <a:p>
          <a:endParaRPr kumimoji="1" lang="ja-JP" altLang="en-US"/>
        </a:p>
      </dgm:t>
    </dgm:pt>
    <dgm:pt modelId="{A7149F1E-46BD-4544-A7AB-68D4438EDB38}">
      <dgm:prSet phldrT="[テキスト]"/>
      <dgm:spPr>
        <a:xfrm>
          <a:off x="4530851" y="2929528"/>
          <a:ext cx="6796277" cy="887396"/>
        </a:xfrm>
        <a:prstGeom prst="rightArrow">
          <a:avLst>
            <a:gd name="adj1" fmla="val 75000"/>
            <a:gd name="adj2" fmla="val 50000"/>
          </a:avLst>
        </a:prstGeom>
        <a:solidFill>
          <a:schemeClr val="accent3">
            <a:lumMod val="60000"/>
            <a:lumOff val="40000"/>
            <a:alpha val="90000"/>
          </a:schemeClr>
        </a:solidFill>
        <a:ln w="9525" cap="flat" cmpd="sng" algn="ctr">
          <a:solidFill>
            <a:sysClr val="window" lastClr="FFFFFF">
              <a:hueOff val="0"/>
              <a:satOff val="0"/>
              <a:lumOff val="0"/>
              <a:alphaOff val="0"/>
            </a:sysClr>
          </a:solidFill>
          <a:prstDash val="solid"/>
        </a:ln>
        <a:effectLst>
          <a:outerShdw blurRad="40000" dist="23000" dir="5400000" rotWithShape="0">
            <a:srgbClr val="000000">
              <a:alpha val="35000"/>
            </a:srgbClr>
          </a:outerShdw>
        </a:effectLst>
      </dgm:spPr>
      <dgm:t>
        <a:bodyPr/>
        <a:lstStyle/>
        <a:p>
          <a:pPr>
            <a:buChar char="•"/>
          </a:pPr>
          <a:r>
            <a:rPr kumimoji="1" lang="ja-JP" altLang="en-US" sz="1400" dirty="0">
              <a:solidFill>
                <a:srgbClr val="000000">
                  <a:hueOff val="0"/>
                  <a:satOff val="0"/>
                  <a:lumOff val="0"/>
                  <a:alphaOff val="0"/>
                </a:srgbClr>
              </a:solidFill>
              <a:latin typeface="Arial"/>
              <a:ea typeface="+mn-ea"/>
              <a:cs typeface="+mn-cs"/>
            </a:rPr>
            <a:t>熱傷</a:t>
          </a:r>
        </a:p>
      </dgm:t>
    </dgm:pt>
    <dgm:pt modelId="{D73BFE24-5FA1-4CF0-8A92-B73BE7AF0D86}" type="parTrans" cxnId="{B772889B-F0AC-4218-84BB-7C53A6F50E59}">
      <dgm:prSet/>
      <dgm:spPr/>
      <dgm:t>
        <a:bodyPr/>
        <a:lstStyle/>
        <a:p>
          <a:endParaRPr kumimoji="1" lang="ja-JP" altLang="en-US"/>
        </a:p>
      </dgm:t>
    </dgm:pt>
    <dgm:pt modelId="{E51828B1-4234-4F96-9C8C-B96B7F2BBAC2}" type="sibTrans" cxnId="{B772889B-F0AC-4218-84BB-7C53A6F50E59}">
      <dgm:prSet/>
      <dgm:spPr/>
      <dgm:t>
        <a:bodyPr/>
        <a:lstStyle/>
        <a:p>
          <a:endParaRPr kumimoji="1" lang="ja-JP" altLang="en-US"/>
        </a:p>
      </dgm:t>
    </dgm:pt>
    <dgm:pt modelId="{3018BB16-8704-429F-9E84-0B371EE7DDED}">
      <dgm:prSet phldrT="[テキスト]"/>
      <dgm:spPr>
        <a:xfrm>
          <a:off x="4530851" y="977255"/>
          <a:ext cx="6796277" cy="887396"/>
        </a:xfrm>
        <a:prstGeom prst="rightArrow">
          <a:avLst>
            <a:gd name="adj1" fmla="val 75000"/>
            <a:gd name="adj2" fmla="val 50000"/>
          </a:avLst>
        </a:prstGeom>
        <a:solidFill>
          <a:schemeClr val="accent6">
            <a:lumMod val="20000"/>
            <a:lumOff val="80000"/>
            <a:alpha val="90000"/>
          </a:schemeClr>
        </a:solidFill>
        <a:ln w="9525" cap="flat" cmpd="sng" algn="ctr">
          <a:solidFill>
            <a:sysClr val="window" lastClr="FFFFFF">
              <a:hueOff val="0"/>
              <a:satOff val="0"/>
              <a:lumOff val="0"/>
              <a:alphaOff val="0"/>
            </a:sysClr>
          </a:solidFill>
          <a:prstDash val="solid"/>
        </a:ln>
        <a:effectLst>
          <a:outerShdw blurRad="40000" dist="23000" dir="5400000" rotWithShape="0">
            <a:srgbClr val="000000">
              <a:alpha val="35000"/>
            </a:srgbClr>
          </a:outerShdw>
        </a:effectLst>
      </dgm:spPr>
      <dgm:t>
        <a:bodyPr/>
        <a:lstStyle/>
        <a:p>
          <a:pPr>
            <a:buChar char="•"/>
          </a:pPr>
          <a:r>
            <a:rPr kumimoji="1" lang="ja-JP" altLang="en-US" sz="1400" dirty="0">
              <a:solidFill>
                <a:srgbClr val="000000">
                  <a:hueOff val="0"/>
                  <a:satOff val="0"/>
                  <a:lumOff val="0"/>
                  <a:alphaOff val="0"/>
                </a:srgbClr>
              </a:solidFill>
              <a:latin typeface="Arial"/>
              <a:ea typeface="+mn-ea"/>
              <a:cs typeface="+mn-cs"/>
            </a:rPr>
            <a:t>術後出血管理</a:t>
          </a:r>
        </a:p>
      </dgm:t>
    </dgm:pt>
    <dgm:pt modelId="{9C5FE30C-C69E-4E9D-A4CF-813A5909C3A5}" type="parTrans" cxnId="{D80D3D88-1E07-4EF5-9544-0BDD67B3881A}">
      <dgm:prSet/>
      <dgm:spPr/>
      <dgm:t>
        <a:bodyPr/>
        <a:lstStyle/>
        <a:p>
          <a:endParaRPr kumimoji="1" lang="ja-JP" altLang="en-US"/>
        </a:p>
      </dgm:t>
    </dgm:pt>
    <dgm:pt modelId="{F8155325-09ED-4983-B034-87744785C499}" type="sibTrans" cxnId="{D80D3D88-1E07-4EF5-9544-0BDD67B3881A}">
      <dgm:prSet/>
      <dgm:spPr/>
      <dgm:t>
        <a:bodyPr/>
        <a:lstStyle/>
        <a:p>
          <a:endParaRPr kumimoji="1" lang="ja-JP" altLang="en-US"/>
        </a:p>
      </dgm:t>
    </dgm:pt>
    <dgm:pt modelId="{5B8FE993-3C76-4653-B72F-C33E3CC51C50}" type="pres">
      <dgm:prSet presAssocID="{1BC4B73F-9625-4F64-901C-59DE4B6E6068}" presName="Name0" presStyleCnt="0">
        <dgm:presLayoutVars>
          <dgm:dir/>
          <dgm:animLvl val="lvl"/>
          <dgm:resizeHandles/>
        </dgm:presLayoutVars>
      </dgm:prSet>
      <dgm:spPr/>
    </dgm:pt>
    <dgm:pt modelId="{EA90610A-DD9F-4F01-9CFB-EBE641B73D3E}" type="pres">
      <dgm:prSet presAssocID="{44D12ED2-2471-4151-9222-85E8ABF0AED9}" presName="linNode" presStyleCnt="0"/>
      <dgm:spPr/>
    </dgm:pt>
    <dgm:pt modelId="{F3346514-A460-4848-986E-239925543411}" type="pres">
      <dgm:prSet presAssocID="{44D12ED2-2471-4151-9222-85E8ABF0AED9}" presName="parentShp" presStyleLbl="node1" presStyleIdx="0" presStyleCnt="4">
        <dgm:presLayoutVars>
          <dgm:bulletEnabled val="1"/>
        </dgm:presLayoutVars>
      </dgm:prSet>
      <dgm:spPr/>
    </dgm:pt>
    <dgm:pt modelId="{1130980C-89FF-49A1-A1CE-CC6852319095}" type="pres">
      <dgm:prSet presAssocID="{44D12ED2-2471-4151-9222-85E8ABF0AED9}" presName="childShp" presStyleLbl="bgAccFollowNode1" presStyleIdx="0" presStyleCnt="4">
        <dgm:presLayoutVars>
          <dgm:bulletEnabled val="1"/>
        </dgm:presLayoutVars>
      </dgm:prSet>
      <dgm:spPr/>
    </dgm:pt>
    <dgm:pt modelId="{E3A4E392-56A2-4EEC-B487-71362D445A07}" type="pres">
      <dgm:prSet presAssocID="{F5B2F12C-202C-4A72-B2AE-8BEF007EBBAD}" presName="spacing" presStyleCnt="0"/>
      <dgm:spPr/>
    </dgm:pt>
    <dgm:pt modelId="{E32E3C57-7771-45F6-A742-AAB76DE21A86}" type="pres">
      <dgm:prSet presAssocID="{05268C30-B2ED-4A4D-A805-9CD1E54E295B}" presName="linNode" presStyleCnt="0"/>
      <dgm:spPr/>
    </dgm:pt>
    <dgm:pt modelId="{1302463F-8F1A-4614-AEAA-0245CC66CF8C}" type="pres">
      <dgm:prSet presAssocID="{05268C30-B2ED-4A4D-A805-9CD1E54E295B}" presName="parentShp" presStyleLbl="node1" presStyleIdx="1" presStyleCnt="4">
        <dgm:presLayoutVars>
          <dgm:bulletEnabled val="1"/>
        </dgm:presLayoutVars>
      </dgm:prSet>
      <dgm:spPr/>
    </dgm:pt>
    <dgm:pt modelId="{A16469D5-3777-42F1-BEB5-FBBD261A0CBA}" type="pres">
      <dgm:prSet presAssocID="{05268C30-B2ED-4A4D-A805-9CD1E54E295B}" presName="childShp" presStyleLbl="bgAccFollowNode1" presStyleIdx="1" presStyleCnt="4">
        <dgm:presLayoutVars>
          <dgm:bulletEnabled val="1"/>
        </dgm:presLayoutVars>
      </dgm:prSet>
      <dgm:spPr/>
    </dgm:pt>
    <dgm:pt modelId="{94FF24C2-E673-4CAA-867C-8284FEBFD8B0}" type="pres">
      <dgm:prSet presAssocID="{1E91AC46-A445-4349-AB5C-E4B3A4E6D1EA}" presName="spacing" presStyleCnt="0"/>
      <dgm:spPr/>
    </dgm:pt>
    <dgm:pt modelId="{FD096A9A-0476-4E3E-80B4-16D858BC00FB}" type="pres">
      <dgm:prSet presAssocID="{A74E23D3-3DA6-44F4-9EBC-48521547E1AC}" presName="linNode" presStyleCnt="0"/>
      <dgm:spPr/>
    </dgm:pt>
    <dgm:pt modelId="{215E1F48-CD52-4723-914D-7CC8011CF719}" type="pres">
      <dgm:prSet presAssocID="{A74E23D3-3DA6-44F4-9EBC-48521547E1AC}" presName="parentShp" presStyleLbl="node1" presStyleIdx="2" presStyleCnt="4">
        <dgm:presLayoutVars>
          <dgm:bulletEnabled val="1"/>
        </dgm:presLayoutVars>
      </dgm:prSet>
      <dgm:spPr/>
    </dgm:pt>
    <dgm:pt modelId="{586AA200-FF54-46D9-8519-401ECE0E5C04}" type="pres">
      <dgm:prSet presAssocID="{A74E23D3-3DA6-44F4-9EBC-48521547E1AC}" presName="childShp" presStyleLbl="bgAccFollowNode1" presStyleIdx="2" presStyleCnt="4">
        <dgm:presLayoutVars>
          <dgm:bulletEnabled val="1"/>
        </dgm:presLayoutVars>
      </dgm:prSet>
      <dgm:spPr/>
    </dgm:pt>
    <dgm:pt modelId="{88B0F15F-6A20-424A-B028-257AD1DFAACB}" type="pres">
      <dgm:prSet presAssocID="{FE01AA9D-4F0B-4C28-949F-E6622D16B729}" presName="spacing" presStyleCnt="0"/>
      <dgm:spPr/>
    </dgm:pt>
    <dgm:pt modelId="{F250B190-8A40-4BD1-9173-EDF963E6A958}" type="pres">
      <dgm:prSet presAssocID="{F0DADD06-54CD-4545-82FF-7ED60E256381}" presName="linNode" presStyleCnt="0"/>
      <dgm:spPr/>
    </dgm:pt>
    <dgm:pt modelId="{D2A286B4-FCD9-49DF-82AC-03F717F3D9D7}" type="pres">
      <dgm:prSet presAssocID="{F0DADD06-54CD-4545-82FF-7ED60E256381}" presName="parentShp" presStyleLbl="node1" presStyleIdx="3" presStyleCnt="4">
        <dgm:presLayoutVars>
          <dgm:bulletEnabled val="1"/>
        </dgm:presLayoutVars>
      </dgm:prSet>
      <dgm:spPr/>
    </dgm:pt>
    <dgm:pt modelId="{D576E735-8C29-4864-BB72-0734CB5F5D87}" type="pres">
      <dgm:prSet presAssocID="{F0DADD06-54CD-4545-82FF-7ED60E256381}" presName="childShp" presStyleLbl="bgAccFollowNode1" presStyleIdx="3" presStyleCnt="4">
        <dgm:presLayoutVars>
          <dgm:bulletEnabled val="1"/>
        </dgm:presLayoutVars>
      </dgm:prSet>
      <dgm:spPr/>
    </dgm:pt>
  </dgm:ptLst>
  <dgm:cxnLst>
    <dgm:cxn modelId="{CF2A8D07-892D-4072-9A40-475084A9DEF7}" type="presOf" srcId="{3018BB16-8704-429F-9E84-0B371EE7DDED}" destId="{A16469D5-3777-42F1-BEB5-FBBD261A0CBA}" srcOrd="0" destOrd="1" presId="urn:microsoft.com/office/officeart/2005/8/layout/vList6"/>
    <dgm:cxn modelId="{CC0FD60C-0BE5-4A28-8874-D6B481C69503}" type="presOf" srcId="{E5CE48E3-35F9-41C5-950E-618AF88B85F4}" destId="{1130980C-89FF-49A1-A1CE-CC6852319095}" srcOrd="0" destOrd="0" presId="urn:microsoft.com/office/officeart/2005/8/layout/vList6"/>
    <dgm:cxn modelId="{993FF113-9C52-4E0E-B274-F40A57E5832C}" type="presOf" srcId="{44D12ED2-2471-4151-9222-85E8ABF0AED9}" destId="{F3346514-A460-4848-986E-239925543411}" srcOrd="0" destOrd="0" presId="urn:microsoft.com/office/officeart/2005/8/layout/vList6"/>
    <dgm:cxn modelId="{EFDFC42D-9B3C-4F0C-98DE-662640C3B9CD}" srcId="{1BC4B73F-9625-4F64-901C-59DE4B6E6068}" destId="{A74E23D3-3DA6-44F4-9EBC-48521547E1AC}" srcOrd="2" destOrd="0" parTransId="{FE67D758-A88F-4BC3-934C-347D55B5E578}" sibTransId="{FE01AA9D-4F0B-4C28-949F-E6622D16B729}"/>
    <dgm:cxn modelId="{BF240534-C718-4CD7-ABC1-3C6749BB19FD}" type="presOf" srcId="{8DADC692-F6E9-450A-9A7C-2DC8CCF234A3}" destId="{586AA200-FF54-46D9-8519-401ECE0E5C04}" srcOrd="0" destOrd="0" presId="urn:microsoft.com/office/officeart/2005/8/layout/vList6"/>
    <dgm:cxn modelId="{C9B00834-3B7A-458C-9FE3-753C7C3DD6AF}" type="presOf" srcId="{05268C30-B2ED-4A4D-A805-9CD1E54E295B}" destId="{1302463F-8F1A-4614-AEAA-0245CC66CF8C}" srcOrd="0" destOrd="0" presId="urn:microsoft.com/office/officeart/2005/8/layout/vList6"/>
    <dgm:cxn modelId="{508CFD35-0E0E-4ED9-A733-E8595D9427FA}" type="presOf" srcId="{F0DADD06-54CD-4545-82FF-7ED60E256381}" destId="{D2A286B4-FCD9-49DF-82AC-03F717F3D9D7}" srcOrd="0" destOrd="0" presId="urn:microsoft.com/office/officeart/2005/8/layout/vList6"/>
    <dgm:cxn modelId="{A46B5A39-AE31-4FA3-B137-219828A0D328}" srcId="{1BC4B73F-9625-4F64-901C-59DE4B6E6068}" destId="{F0DADD06-54CD-4545-82FF-7ED60E256381}" srcOrd="3" destOrd="0" parTransId="{46F7876C-F5D0-4A7C-AD04-FC046F8C9638}" sibTransId="{DBD16FA2-56CE-4024-8102-1F86D8CF5DCA}"/>
    <dgm:cxn modelId="{EA75BB4E-0280-4158-AF85-B4B8717F3CE4}" type="presOf" srcId="{A7149F1E-46BD-4544-A7AB-68D4438EDB38}" destId="{D576E735-8C29-4864-BB72-0734CB5F5D87}" srcOrd="0" destOrd="1" presId="urn:microsoft.com/office/officeart/2005/8/layout/vList6"/>
    <dgm:cxn modelId="{63A3FF60-6B6B-467C-8822-04E33065E98B}" srcId="{F0DADD06-54CD-4545-82FF-7ED60E256381}" destId="{BE2B15F2-5241-49C6-9F78-B46348BD6CB7}" srcOrd="0" destOrd="0" parTransId="{01194FBA-A5CA-4E1B-A68E-BBE714DC5A35}" sibTransId="{0C7DCC2E-F26A-4F57-8D06-CFB4753E16C8}"/>
    <dgm:cxn modelId="{E3E31674-6340-4C74-A0EB-C47AE8C9ACD8}" srcId="{05268C30-B2ED-4A4D-A805-9CD1E54E295B}" destId="{663D7882-4424-494C-AF53-A9565266A5CF}" srcOrd="0" destOrd="0" parTransId="{3B540044-F6D9-48F8-B3E0-251C681858CF}" sibTransId="{ED65EEDC-4416-4938-8629-6B7A8D90A9D9}"/>
    <dgm:cxn modelId="{D80D3D88-1E07-4EF5-9544-0BDD67B3881A}" srcId="{05268C30-B2ED-4A4D-A805-9CD1E54E295B}" destId="{3018BB16-8704-429F-9E84-0B371EE7DDED}" srcOrd="1" destOrd="0" parTransId="{9C5FE30C-C69E-4E9D-A4CF-813A5909C3A5}" sibTransId="{F8155325-09ED-4983-B034-87744785C499}"/>
    <dgm:cxn modelId="{9D0C028D-82CB-4F09-81D6-44AA563A20CC}" type="presOf" srcId="{BE2B15F2-5241-49C6-9F78-B46348BD6CB7}" destId="{D576E735-8C29-4864-BB72-0734CB5F5D87}" srcOrd="0" destOrd="0" presId="urn:microsoft.com/office/officeart/2005/8/layout/vList6"/>
    <dgm:cxn modelId="{B772889B-F0AC-4218-84BB-7C53A6F50E59}" srcId="{F0DADD06-54CD-4545-82FF-7ED60E256381}" destId="{A7149F1E-46BD-4544-A7AB-68D4438EDB38}" srcOrd="1" destOrd="0" parTransId="{D73BFE24-5FA1-4CF0-8A92-B73BE7AF0D86}" sibTransId="{E51828B1-4234-4F96-9C8C-B96B7F2BBAC2}"/>
    <dgm:cxn modelId="{987E09A0-1F10-44D7-B808-5D77440EE65D}" srcId="{44D12ED2-2471-4151-9222-85E8ABF0AED9}" destId="{E5CE48E3-35F9-41C5-950E-618AF88B85F4}" srcOrd="0" destOrd="0" parTransId="{364082F5-7931-4B7B-8A1E-FEA5FA0C4C7A}" sibTransId="{56C1F9BC-1C94-42A5-9B80-002E81FA2BC0}"/>
    <dgm:cxn modelId="{8DF0EEB7-B64F-48D7-A4AB-9D1DC7A0F3D8}" srcId="{1BC4B73F-9625-4F64-901C-59DE4B6E6068}" destId="{44D12ED2-2471-4151-9222-85E8ABF0AED9}" srcOrd="0" destOrd="0" parTransId="{FF47ACD9-8CD7-4B1B-BF6E-FCA675390C94}" sibTransId="{F5B2F12C-202C-4A72-B2AE-8BEF007EBBAD}"/>
    <dgm:cxn modelId="{FFAEC1BF-CB6E-4262-A671-F5EAC4BCB76D}" type="presOf" srcId="{A74E23D3-3DA6-44F4-9EBC-48521547E1AC}" destId="{215E1F48-CD52-4723-914D-7CC8011CF719}" srcOrd="0" destOrd="0" presId="urn:microsoft.com/office/officeart/2005/8/layout/vList6"/>
    <dgm:cxn modelId="{0A8519D1-5C7A-4081-93DE-89D4C5F374AF}" srcId="{A74E23D3-3DA6-44F4-9EBC-48521547E1AC}" destId="{F58CDD35-E249-4C05-A883-10B0B9CBFCBE}" srcOrd="1" destOrd="0" parTransId="{918788C9-FA2E-4522-B67D-609EDBB7391E}" sibTransId="{C8D27378-93F6-48C8-8B39-D9D149CE3D82}"/>
    <dgm:cxn modelId="{70B669E1-9C40-47B9-96C4-D4E09604A40C}" type="presOf" srcId="{F58CDD35-E249-4C05-A883-10B0B9CBFCBE}" destId="{586AA200-FF54-46D9-8519-401ECE0E5C04}" srcOrd="0" destOrd="1" presId="urn:microsoft.com/office/officeart/2005/8/layout/vList6"/>
    <dgm:cxn modelId="{BAC9E7E2-DD2B-4552-864D-E81710BB84BB}" srcId="{A74E23D3-3DA6-44F4-9EBC-48521547E1AC}" destId="{8DADC692-F6E9-450A-9A7C-2DC8CCF234A3}" srcOrd="0" destOrd="0" parTransId="{CAAE6A1F-E0FE-4465-9D23-F3B7573EE8B4}" sibTransId="{B9C473D9-B9BF-4555-87DD-F07839F06A99}"/>
    <dgm:cxn modelId="{E5E90BF3-691D-4068-8F19-BAF3EB0D4BA5}" type="presOf" srcId="{1BC4B73F-9625-4F64-901C-59DE4B6E6068}" destId="{5B8FE993-3C76-4653-B72F-C33E3CC51C50}" srcOrd="0" destOrd="0" presId="urn:microsoft.com/office/officeart/2005/8/layout/vList6"/>
    <dgm:cxn modelId="{3FBF33F3-D7E3-4CD1-8B3C-5BD387EBC3C0}" srcId="{1BC4B73F-9625-4F64-901C-59DE4B6E6068}" destId="{05268C30-B2ED-4A4D-A805-9CD1E54E295B}" srcOrd="1" destOrd="0" parTransId="{A9C0C1BB-E241-418F-9E57-5E2287C1A36E}" sibTransId="{1E91AC46-A445-4349-AB5C-E4B3A4E6D1EA}"/>
    <dgm:cxn modelId="{E8E56EF9-18A5-44D6-B476-AFB08D709616}" type="presOf" srcId="{663D7882-4424-494C-AF53-A9565266A5CF}" destId="{A16469D5-3777-42F1-BEB5-FBBD261A0CBA}" srcOrd="0" destOrd="0" presId="urn:microsoft.com/office/officeart/2005/8/layout/vList6"/>
    <dgm:cxn modelId="{1547EAD7-B2DB-4B5D-8757-32D948817541}" type="presParOf" srcId="{5B8FE993-3C76-4653-B72F-C33E3CC51C50}" destId="{EA90610A-DD9F-4F01-9CFB-EBE641B73D3E}" srcOrd="0" destOrd="0" presId="urn:microsoft.com/office/officeart/2005/8/layout/vList6"/>
    <dgm:cxn modelId="{04DB2E9A-E44B-4AED-A39B-37CFD0820125}" type="presParOf" srcId="{EA90610A-DD9F-4F01-9CFB-EBE641B73D3E}" destId="{F3346514-A460-4848-986E-239925543411}" srcOrd="0" destOrd="0" presId="urn:microsoft.com/office/officeart/2005/8/layout/vList6"/>
    <dgm:cxn modelId="{54F12A28-51AC-4791-8C89-8AC22BE068AE}" type="presParOf" srcId="{EA90610A-DD9F-4F01-9CFB-EBE641B73D3E}" destId="{1130980C-89FF-49A1-A1CE-CC6852319095}" srcOrd="1" destOrd="0" presId="urn:microsoft.com/office/officeart/2005/8/layout/vList6"/>
    <dgm:cxn modelId="{A5F59B0A-2880-44B6-A59F-AC50BD987CF2}" type="presParOf" srcId="{5B8FE993-3C76-4653-B72F-C33E3CC51C50}" destId="{E3A4E392-56A2-4EEC-B487-71362D445A07}" srcOrd="1" destOrd="0" presId="urn:microsoft.com/office/officeart/2005/8/layout/vList6"/>
    <dgm:cxn modelId="{45AA401E-31BA-4B33-8726-32F09CD4D891}" type="presParOf" srcId="{5B8FE993-3C76-4653-B72F-C33E3CC51C50}" destId="{E32E3C57-7771-45F6-A742-AAB76DE21A86}" srcOrd="2" destOrd="0" presId="urn:microsoft.com/office/officeart/2005/8/layout/vList6"/>
    <dgm:cxn modelId="{CEAAFC18-7CA4-42EC-8BF1-6E01C803002C}" type="presParOf" srcId="{E32E3C57-7771-45F6-A742-AAB76DE21A86}" destId="{1302463F-8F1A-4614-AEAA-0245CC66CF8C}" srcOrd="0" destOrd="0" presId="urn:microsoft.com/office/officeart/2005/8/layout/vList6"/>
    <dgm:cxn modelId="{9BFFCE20-605C-4181-8F08-A932BCA5E5BA}" type="presParOf" srcId="{E32E3C57-7771-45F6-A742-AAB76DE21A86}" destId="{A16469D5-3777-42F1-BEB5-FBBD261A0CBA}" srcOrd="1" destOrd="0" presId="urn:microsoft.com/office/officeart/2005/8/layout/vList6"/>
    <dgm:cxn modelId="{0266EB38-9222-4AA4-A9B6-A297620A21CC}" type="presParOf" srcId="{5B8FE993-3C76-4653-B72F-C33E3CC51C50}" destId="{94FF24C2-E673-4CAA-867C-8284FEBFD8B0}" srcOrd="3" destOrd="0" presId="urn:microsoft.com/office/officeart/2005/8/layout/vList6"/>
    <dgm:cxn modelId="{0661F78F-9FED-4867-AA2E-98EC2B8E1275}" type="presParOf" srcId="{5B8FE993-3C76-4653-B72F-C33E3CC51C50}" destId="{FD096A9A-0476-4E3E-80B4-16D858BC00FB}" srcOrd="4" destOrd="0" presId="urn:microsoft.com/office/officeart/2005/8/layout/vList6"/>
    <dgm:cxn modelId="{FF9C154E-1DBB-47B9-9ACA-456162449D55}" type="presParOf" srcId="{FD096A9A-0476-4E3E-80B4-16D858BC00FB}" destId="{215E1F48-CD52-4723-914D-7CC8011CF719}" srcOrd="0" destOrd="0" presId="urn:microsoft.com/office/officeart/2005/8/layout/vList6"/>
    <dgm:cxn modelId="{BE46860B-86EE-46EE-9C2E-8D36F1D6892E}" type="presParOf" srcId="{FD096A9A-0476-4E3E-80B4-16D858BC00FB}" destId="{586AA200-FF54-46D9-8519-401ECE0E5C04}" srcOrd="1" destOrd="0" presId="urn:microsoft.com/office/officeart/2005/8/layout/vList6"/>
    <dgm:cxn modelId="{EE217519-0787-4D69-90A0-665CCE56E39F}" type="presParOf" srcId="{5B8FE993-3C76-4653-B72F-C33E3CC51C50}" destId="{88B0F15F-6A20-424A-B028-257AD1DFAACB}" srcOrd="5" destOrd="0" presId="urn:microsoft.com/office/officeart/2005/8/layout/vList6"/>
    <dgm:cxn modelId="{08DA93B0-5A95-4BD0-A102-9D6583CB27B8}" type="presParOf" srcId="{5B8FE993-3C76-4653-B72F-C33E3CC51C50}" destId="{F250B190-8A40-4BD1-9173-EDF963E6A958}" srcOrd="6" destOrd="0" presId="urn:microsoft.com/office/officeart/2005/8/layout/vList6"/>
    <dgm:cxn modelId="{F6919647-408B-4172-9339-3F5C59870A85}" type="presParOf" srcId="{F250B190-8A40-4BD1-9173-EDF963E6A958}" destId="{D2A286B4-FCD9-49DF-82AC-03F717F3D9D7}" srcOrd="0" destOrd="0" presId="urn:microsoft.com/office/officeart/2005/8/layout/vList6"/>
    <dgm:cxn modelId="{00A272BC-9E0A-46E1-9497-280998D3AF30}" type="presParOf" srcId="{F250B190-8A40-4BD1-9173-EDF963E6A958}" destId="{D576E735-8C29-4864-BB72-0734CB5F5D87}"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BC4B73F-9625-4F64-901C-59DE4B6E6068}" type="doc">
      <dgm:prSet loTypeId="urn:microsoft.com/office/officeart/2005/8/layout/vList6" loCatId="list" qsTypeId="urn:microsoft.com/office/officeart/2005/8/quickstyle/simple5" qsCatId="simple" csTypeId="urn:microsoft.com/office/officeart/2005/8/colors/accent2_4" csCatId="accent2" phldr="1"/>
      <dgm:spPr/>
      <dgm:t>
        <a:bodyPr/>
        <a:lstStyle/>
        <a:p>
          <a:endParaRPr kumimoji="1" lang="ja-JP" altLang="en-US"/>
        </a:p>
      </dgm:t>
    </dgm:pt>
    <dgm:pt modelId="{44D12ED2-2471-4151-9222-85E8ABF0AED9}">
      <dgm:prSet phldrT="[テキスト]"/>
      <dgm:spPr>
        <a:xfrm>
          <a:off x="0" y="1118"/>
          <a:ext cx="4530851" cy="887396"/>
        </a:xfrm>
        <a:prstGeom prst="roundRect">
          <a:avLst/>
        </a:prstGeom>
        <a:gradFill rotWithShape="0">
          <a:gsLst>
            <a:gs pos="0">
              <a:schemeClr val="tx2">
                <a:lumMod val="10000"/>
                <a:lumOff val="90000"/>
              </a:schemeClr>
            </a:gs>
            <a:gs pos="100000">
              <a:srgbClr val="2A6EBB">
                <a:shade val="50000"/>
                <a:hueOff val="0"/>
                <a:satOff val="0"/>
                <a:lumOff val="0"/>
                <a:alphaOff val="0"/>
                <a:tint val="50000"/>
                <a:shade val="100000"/>
                <a:satMod val="350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pPr>
            <a:buNone/>
          </a:pPr>
          <a:r>
            <a:rPr kumimoji="1" lang="ja-JP" altLang="en-US" dirty="0">
              <a:solidFill>
                <a:sysClr val="window" lastClr="FFFFFF"/>
              </a:solidFill>
              <a:latin typeface="Arial"/>
              <a:ea typeface="+mn-ea"/>
              <a:cs typeface="+mn-cs"/>
            </a:rPr>
            <a:t>心臓血管外科</a:t>
          </a:r>
        </a:p>
      </dgm:t>
    </dgm:pt>
    <dgm:pt modelId="{FF47ACD9-8CD7-4B1B-BF6E-FCA675390C94}" type="parTrans" cxnId="{8DF0EEB7-B64F-48D7-A4AB-9D1DC7A0F3D8}">
      <dgm:prSet/>
      <dgm:spPr/>
      <dgm:t>
        <a:bodyPr/>
        <a:lstStyle/>
        <a:p>
          <a:endParaRPr kumimoji="1" lang="ja-JP" altLang="en-US"/>
        </a:p>
      </dgm:t>
    </dgm:pt>
    <dgm:pt modelId="{F5B2F12C-202C-4A72-B2AE-8BEF007EBBAD}" type="sibTrans" cxnId="{8DF0EEB7-B64F-48D7-A4AB-9D1DC7A0F3D8}">
      <dgm:prSet/>
      <dgm:spPr/>
      <dgm:t>
        <a:bodyPr/>
        <a:lstStyle/>
        <a:p>
          <a:endParaRPr kumimoji="1" lang="ja-JP" altLang="en-US"/>
        </a:p>
      </dgm:t>
    </dgm:pt>
    <dgm:pt modelId="{E5CE48E3-35F9-41C5-950E-618AF88B85F4}">
      <dgm:prSet phldrT="[テキスト]"/>
      <dgm:spPr>
        <a:xfrm>
          <a:off x="4530851" y="1118"/>
          <a:ext cx="6796277" cy="887396"/>
        </a:xfrm>
        <a:prstGeom prst="rightArrow">
          <a:avLst>
            <a:gd name="adj1" fmla="val 75000"/>
            <a:gd name="adj2" fmla="val 50000"/>
          </a:avLst>
        </a:prstGeom>
        <a:solidFill>
          <a:srgbClr val="2A6EBB">
            <a:alpha val="90000"/>
            <a:tint val="55000"/>
            <a:hueOff val="0"/>
            <a:satOff val="0"/>
            <a:lumOff val="0"/>
            <a:alphaOff val="0"/>
          </a:srgbClr>
        </a:solidFill>
        <a:ln w="9525" cap="flat" cmpd="sng" algn="ctr">
          <a:solidFill>
            <a:sysClr val="window" lastClr="FFFFFF">
              <a:hueOff val="0"/>
              <a:satOff val="0"/>
              <a:lumOff val="0"/>
              <a:alphaOff val="0"/>
            </a:sysClr>
          </a:solidFill>
          <a:prstDash val="solid"/>
        </a:ln>
        <a:effectLst>
          <a:outerShdw blurRad="40000" dist="23000" dir="5400000" rotWithShape="0">
            <a:srgbClr val="000000">
              <a:alpha val="35000"/>
            </a:srgbClr>
          </a:outerShdw>
        </a:effectLst>
      </dgm:spPr>
      <dgm:t>
        <a:bodyPr/>
        <a:lstStyle/>
        <a:p>
          <a:pPr>
            <a:buChar char="•"/>
          </a:pPr>
          <a:r>
            <a:rPr kumimoji="1" lang="ja-JP" altLang="en-US" dirty="0">
              <a:solidFill>
                <a:srgbClr val="000000">
                  <a:hueOff val="0"/>
                  <a:satOff val="0"/>
                  <a:lumOff val="0"/>
                  <a:alphaOff val="0"/>
                </a:srgbClr>
              </a:solidFill>
              <a:latin typeface="Arial"/>
              <a:ea typeface="+mn-ea"/>
              <a:cs typeface="+mn-cs"/>
            </a:rPr>
            <a:t>周術期出血管理</a:t>
          </a:r>
        </a:p>
      </dgm:t>
    </dgm:pt>
    <dgm:pt modelId="{364082F5-7931-4B7B-8A1E-FEA5FA0C4C7A}" type="parTrans" cxnId="{987E09A0-1F10-44D7-B808-5D77440EE65D}">
      <dgm:prSet/>
      <dgm:spPr/>
      <dgm:t>
        <a:bodyPr/>
        <a:lstStyle/>
        <a:p>
          <a:endParaRPr kumimoji="1" lang="ja-JP" altLang="en-US"/>
        </a:p>
      </dgm:t>
    </dgm:pt>
    <dgm:pt modelId="{56C1F9BC-1C94-42A5-9B80-002E81FA2BC0}" type="sibTrans" cxnId="{987E09A0-1F10-44D7-B808-5D77440EE65D}">
      <dgm:prSet/>
      <dgm:spPr/>
      <dgm:t>
        <a:bodyPr/>
        <a:lstStyle/>
        <a:p>
          <a:endParaRPr kumimoji="1" lang="ja-JP" altLang="en-US"/>
        </a:p>
      </dgm:t>
    </dgm:pt>
    <dgm:pt modelId="{05268C30-B2ED-4A4D-A805-9CD1E54E295B}">
      <dgm:prSet phldrT="[テキスト]"/>
      <dgm:spPr>
        <a:xfrm>
          <a:off x="0" y="977255"/>
          <a:ext cx="4530851" cy="887396"/>
        </a:xfrm>
        <a:prstGeom prst="round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pPr>
            <a:buNone/>
          </a:pPr>
          <a:r>
            <a:rPr kumimoji="1" lang="en-US" altLang="ja-JP" b="1" dirty="0">
              <a:solidFill>
                <a:schemeClr val="tx2"/>
              </a:solidFill>
              <a:latin typeface="Arial"/>
              <a:ea typeface="+mn-ea"/>
              <a:cs typeface="+mn-cs"/>
            </a:rPr>
            <a:t>ICU</a:t>
          </a:r>
          <a:endParaRPr kumimoji="1" lang="ja-JP" altLang="en-US" b="1" dirty="0">
            <a:solidFill>
              <a:schemeClr val="tx2"/>
            </a:solidFill>
            <a:latin typeface="Arial"/>
            <a:ea typeface="+mn-ea"/>
            <a:cs typeface="+mn-cs"/>
          </a:endParaRPr>
        </a:p>
      </dgm:t>
    </dgm:pt>
    <dgm:pt modelId="{A9C0C1BB-E241-418F-9E57-5E2287C1A36E}" type="parTrans" cxnId="{3FBF33F3-D7E3-4CD1-8B3C-5BD387EBC3C0}">
      <dgm:prSet/>
      <dgm:spPr/>
      <dgm:t>
        <a:bodyPr/>
        <a:lstStyle/>
        <a:p>
          <a:endParaRPr kumimoji="1" lang="ja-JP" altLang="en-US"/>
        </a:p>
      </dgm:t>
    </dgm:pt>
    <dgm:pt modelId="{1E91AC46-A445-4349-AB5C-E4B3A4E6D1EA}" type="sibTrans" cxnId="{3FBF33F3-D7E3-4CD1-8B3C-5BD387EBC3C0}">
      <dgm:prSet/>
      <dgm:spPr/>
      <dgm:t>
        <a:bodyPr/>
        <a:lstStyle/>
        <a:p>
          <a:endParaRPr kumimoji="1" lang="ja-JP" altLang="en-US"/>
        </a:p>
      </dgm:t>
    </dgm:pt>
    <dgm:pt modelId="{663D7882-4424-494C-AF53-A9565266A5CF}">
      <dgm:prSet phldrT="[テキスト]" custT="1"/>
      <dgm:spPr>
        <a:xfrm>
          <a:off x="4530851" y="977255"/>
          <a:ext cx="6796277" cy="887396"/>
        </a:xfrm>
        <a:prstGeom prst="rightArrow">
          <a:avLst>
            <a:gd name="adj1" fmla="val 75000"/>
            <a:gd name="adj2" fmla="val 50000"/>
          </a:avLst>
        </a:prstGeom>
        <a:solidFill>
          <a:schemeClr val="accent6">
            <a:lumMod val="20000"/>
            <a:lumOff val="80000"/>
            <a:alpha val="90000"/>
          </a:schemeClr>
        </a:solidFill>
        <a:ln w="9525" cap="flat" cmpd="sng" algn="ctr">
          <a:solidFill>
            <a:sysClr val="window" lastClr="FFFFFF">
              <a:hueOff val="0"/>
              <a:satOff val="0"/>
              <a:lumOff val="0"/>
              <a:alphaOff val="0"/>
            </a:sysClr>
          </a:solidFill>
          <a:prstDash val="solid"/>
        </a:ln>
        <a:effectLst>
          <a:outerShdw blurRad="40000" dist="23000" dir="5400000" rotWithShape="0">
            <a:srgbClr val="000000">
              <a:alpha val="35000"/>
            </a:srgbClr>
          </a:outerShdw>
        </a:effectLst>
      </dgm:spPr>
      <dgm:t>
        <a:bodyPr/>
        <a:lstStyle/>
        <a:p>
          <a:pPr>
            <a:buChar char="•"/>
          </a:pPr>
          <a:r>
            <a:rPr kumimoji="1" lang="ja-JP" altLang="en-US" sz="1800" b="1" dirty="0">
              <a:solidFill>
                <a:srgbClr val="FF0000"/>
              </a:solidFill>
              <a:latin typeface="Arial"/>
              <a:ea typeface="+mn-ea"/>
              <a:cs typeface="+mn-cs"/>
            </a:rPr>
            <a:t>抗凝固管理（</a:t>
          </a:r>
          <a:r>
            <a:rPr kumimoji="1" lang="en-US" altLang="ja-JP" sz="1800" b="1" dirty="0">
              <a:solidFill>
                <a:srgbClr val="FF0000"/>
              </a:solidFill>
              <a:latin typeface="Arial"/>
              <a:ea typeface="+mn-ea"/>
              <a:cs typeface="+mn-cs"/>
            </a:rPr>
            <a:t>ECMO</a:t>
          </a:r>
          <a:r>
            <a:rPr kumimoji="1" lang="ja-JP" altLang="en-US" sz="1800" b="1">
              <a:solidFill>
                <a:srgbClr val="FF0000"/>
              </a:solidFill>
              <a:latin typeface="Arial"/>
              <a:ea typeface="+mn-ea"/>
              <a:cs typeface="+mn-cs"/>
            </a:rPr>
            <a:t>　</a:t>
          </a:r>
          <a:r>
            <a:rPr kumimoji="1" lang="en-US" altLang="ja-JP" sz="1800" b="1" dirty="0">
              <a:solidFill>
                <a:srgbClr val="FF0000"/>
              </a:solidFill>
              <a:latin typeface="Arial"/>
              <a:ea typeface="+mn-ea"/>
              <a:cs typeface="+mn-cs"/>
            </a:rPr>
            <a:t>IMPELLA</a:t>
          </a:r>
          <a:r>
            <a:rPr kumimoji="1" lang="ja-JP" altLang="en-US" sz="1800" b="1">
              <a:solidFill>
                <a:srgbClr val="FF0000"/>
              </a:solidFill>
              <a:latin typeface="Arial"/>
              <a:ea typeface="+mn-ea"/>
              <a:cs typeface="+mn-cs"/>
            </a:rPr>
            <a:t>　</a:t>
          </a:r>
          <a:r>
            <a:rPr kumimoji="1" lang="en-US" altLang="ja-JP" sz="1800" b="1" dirty="0">
              <a:solidFill>
                <a:srgbClr val="FF0000"/>
              </a:solidFill>
              <a:latin typeface="Arial"/>
              <a:ea typeface="+mn-ea"/>
              <a:cs typeface="+mn-cs"/>
            </a:rPr>
            <a:t>VAD</a:t>
          </a:r>
          <a:r>
            <a:rPr kumimoji="1" lang="ja-JP" altLang="en-US" sz="1800" b="1" dirty="0">
              <a:solidFill>
                <a:srgbClr val="FF0000"/>
              </a:solidFill>
              <a:latin typeface="Arial"/>
              <a:ea typeface="+mn-ea"/>
              <a:cs typeface="+mn-cs"/>
            </a:rPr>
            <a:t>管理）</a:t>
          </a:r>
        </a:p>
      </dgm:t>
    </dgm:pt>
    <dgm:pt modelId="{3B540044-F6D9-48F8-B3E0-251C681858CF}" type="parTrans" cxnId="{E3E31674-6340-4C74-A0EB-C47AE8C9ACD8}">
      <dgm:prSet/>
      <dgm:spPr/>
      <dgm:t>
        <a:bodyPr/>
        <a:lstStyle/>
        <a:p>
          <a:endParaRPr kumimoji="1" lang="ja-JP" altLang="en-US"/>
        </a:p>
      </dgm:t>
    </dgm:pt>
    <dgm:pt modelId="{ED65EEDC-4416-4938-8629-6B7A8D90A9D9}" type="sibTrans" cxnId="{E3E31674-6340-4C74-A0EB-C47AE8C9ACD8}">
      <dgm:prSet/>
      <dgm:spPr/>
      <dgm:t>
        <a:bodyPr/>
        <a:lstStyle/>
        <a:p>
          <a:endParaRPr kumimoji="1" lang="ja-JP" altLang="en-US"/>
        </a:p>
      </dgm:t>
    </dgm:pt>
    <dgm:pt modelId="{A74E23D3-3DA6-44F4-9EBC-48521547E1AC}">
      <dgm:prSet phldrT="[テキスト]"/>
      <dgm:spPr>
        <a:xfrm>
          <a:off x="0" y="1953391"/>
          <a:ext cx="4530851" cy="887396"/>
        </a:xfrm>
        <a:prstGeom prst="roundRect">
          <a:avLst/>
        </a:prstGeom>
        <a:gradFill rotWithShape="0">
          <a:gsLst>
            <a:gs pos="0">
              <a:srgbClr val="2A6EBB">
                <a:shade val="50000"/>
                <a:hueOff val="608534"/>
                <a:satOff val="-30256"/>
                <a:lumOff val="51081"/>
                <a:alphaOff val="0"/>
                <a:tint val="100000"/>
                <a:shade val="100000"/>
                <a:satMod val="130000"/>
              </a:srgbClr>
            </a:gs>
            <a:gs pos="100000">
              <a:srgbClr val="2A6EBB">
                <a:shade val="50000"/>
                <a:hueOff val="608534"/>
                <a:satOff val="-30256"/>
                <a:lumOff val="51081"/>
                <a:alphaOff val="0"/>
                <a:tint val="50000"/>
                <a:shade val="100000"/>
                <a:satMod val="350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pPr>
            <a:buNone/>
          </a:pPr>
          <a:r>
            <a:rPr kumimoji="1" lang="ja-JP" altLang="en-US" dirty="0">
              <a:solidFill>
                <a:sysClr val="window" lastClr="FFFFFF"/>
              </a:solidFill>
              <a:latin typeface="Arial"/>
              <a:ea typeface="+mn-ea"/>
              <a:cs typeface="+mn-cs"/>
            </a:rPr>
            <a:t>その他外科手術</a:t>
          </a:r>
        </a:p>
      </dgm:t>
    </dgm:pt>
    <dgm:pt modelId="{FE67D758-A88F-4BC3-934C-347D55B5E578}" type="parTrans" cxnId="{EFDFC42D-9B3C-4F0C-98DE-662640C3B9CD}">
      <dgm:prSet/>
      <dgm:spPr/>
      <dgm:t>
        <a:bodyPr/>
        <a:lstStyle/>
        <a:p>
          <a:endParaRPr kumimoji="1" lang="ja-JP" altLang="en-US"/>
        </a:p>
      </dgm:t>
    </dgm:pt>
    <dgm:pt modelId="{FE01AA9D-4F0B-4C28-949F-E6622D16B729}" type="sibTrans" cxnId="{EFDFC42D-9B3C-4F0C-98DE-662640C3B9CD}">
      <dgm:prSet/>
      <dgm:spPr/>
      <dgm:t>
        <a:bodyPr/>
        <a:lstStyle/>
        <a:p>
          <a:endParaRPr kumimoji="1" lang="ja-JP" altLang="en-US"/>
        </a:p>
      </dgm:t>
    </dgm:pt>
    <dgm:pt modelId="{8DADC692-F6E9-450A-9A7C-2DC8CCF234A3}">
      <dgm:prSet phldrT="[テキスト]"/>
      <dgm:spPr>
        <a:xfrm>
          <a:off x="4530851" y="1953391"/>
          <a:ext cx="6796277" cy="887396"/>
        </a:xfrm>
        <a:prstGeom prst="rightArrow">
          <a:avLst>
            <a:gd name="adj1" fmla="val 75000"/>
            <a:gd name="adj2" fmla="val 50000"/>
          </a:avLst>
        </a:prstGeom>
        <a:solidFill>
          <a:srgbClr val="2A6EBB">
            <a:alpha val="90000"/>
            <a:tint val="55000"/>
            <a:hueOff val="0"/>
            <a:satOff val="0"/>
            <a:lumOff val="0"/>
            <a:alphaOff val="0"/>
          </a:srgbClr>
        </a:solidFill>
        <a:ln w="9525" cap="flat" cmpd="sng" algn="ctr">
          <a:solidFill>
            <a:sysClr val="window" lastClr="FFFFFF">
              <a:hueOff val="0"/>
              <a:satOff val="0"/>
              <a:lumOff val="0"/>
              <a:alphaOff val="0"/>
            </a:sysClr>
          </a:solidFill>
          <a:prstDash val="solid"/>
        </a:ln>
        <a:effectLst>
          <a:outerShdw blurRad="40000" dist="23000" dir="5400000" rotWithShape="0">
            <a:srgbClr val="000000">
              <a:alpha val="35000"/>
            </a:srgbClr>
          </a:outerShdw>
        </a:effectLst>
      </dgm:spPr>
      <dgm:t>
        <a:bodyPr/>
        <a:lstStyle/>
        <a:p>
          <a:pPr>
            <a:buChar char="•"/>
          </a:pPr>
          <a:r>
            <a:rPr kumimoji="1" lang="ja-JP" altLang="en-US" dirty="0">
              <a:solidFill>
                <a:srgbClr val="000000">
                  <a:hueOff val="0"/>
                  <a:satOff val="0"/>
                  <a:lumOff val="0"/>
                  <a:alphaOff val="0"/>
                </a:srgbClr>
              </a:solidFill>
              <a:latin typeface="Arial"/>
              <a:ea typeface="+mn-ea"/>
              <a:cs typeface="+mn-cs"/>
            </a:rPr>
            <a:t>産婦人科</a:t>
          </a:r>
        </a:p>
      </dgm:t>
    </dgm:pt>
    <dgm:pt modelId="{CAAE6A1F-E0FE-4465-9D23-F3B7573EE8B4}" type="parTrans" cxnId="{BAC9E7E2-DD2B-4552-864D-E81710BB84BB}">
      <dgm:prSet/>
      <dgm:spPr/>
      <dgm:t>
        <a:bodyPr/>
        <a:lstStyle/>
        <a:p>
          <a:endParaRPr kumimoji="1" lang="ja-JP" altLang="en-US"/>
        </a:p>
      </dgm:t>
    </dgm:pt>
    <dgm:pt modelId="{B9C473D9-B9BF-4555-87DD-F07839F06A99}" type="sibTrans" cxnId="{BAC9E7E2-DD2B-4552-864D-E81710BB84BB}">
      <dgm:prSet/>
      <dgm:spPr/>
      <dgm:t>
        <a:bodyPr/>
        <a:lstStyle/>
        <a:p>
          <a:endParaRPr kumimoji="1" lang="ja-JP" altLang="en-US"/>
        </a:p>
      </dgm:t>
    </dgm:pt>
    <dgm:pt modelId="{F58CDD35-E249-4C05-A883-10B0B9CBFCBE}">
      <dgm:prSet phldrT="[テキスト]"/>
      <dgm:spPr>
        <a:xfrm>
          <a:off x="4530851" y="1953391"/>
          <a:ext cx="6796277" cy="887396"/>
        </a:xfrm>
        <a:prstGeom prst="rightArrow">
          <a:avLst>
            <a:gd name="adj1" fmla="val 75000"/>
            <a:gd name="adj2" fmla="val 50000"/>
          </a:avLst>
        </a:prstGeom>
        <a:solidFill>
          <a:srgbClr val="2A6EBB">
            <a:alpha val="90000"/>
            <a:tint val="55000"/>
            <a:hueOff val="0"/>
            <a:satOff val="0"/>
            <a:lumOff val="0"/>
            <a:alphaOff val="0"/>
          </a:srgbClr>
        </a:solidFill>
        <a:ln w="9525" cap="flat" cmpd="sng" algn="ctr">
          <a:solidFill>
            <a:sysClr val="window" lastClr="FFFFFF">
              <a:hueOff val="0"/>
              <a:satOff val="0"/>
              <a:lumOff val="0"/>
              <a:alphaOff val="0"/>
            </a:sysClr>
          </a:solidFill>
          <a:prstDash val="solid"/>
        </a:ln>
        <a:effectLst>
          <a:outerShdw blurRad="40000" dist="23000" dir="5400000" rotWithShape="0">
            <a:srgbClr val="000000">
              <a:alpha val="35000"/>
            </a:srgbClr>
          </a:outerShdw>
        </a:effectLst>
      </dgm:spPr>
      <dgm:t>
        <a:bodyPr/>
        <a:lstStyle/>
        <a:p>
          <a:pPr>
            <a:buChar char="•"/>
          </a:pPr>
          <a:r>
            <a:rPr kumimoji="1" lang="ja-JP" altLang="en-US" dirty="0">
              <a:solidFill>
                <a:srgbClr val="000000">
                  <a:hueOff val="0"/>
                  <a:satOff val="0"/>
                  <a:lumOff val="0"/>
                  <a:alphaOff val="0"/>
                </a:srgbClr>
              </a:solidFill>
              <a:latin typeface="Arial"/>
              <a:ea typeface="+mn-ea"/>
              <a:cs typeface="+mn-cs"/>
            </a:rPr>
            <a:t>移植</a:t>
          </a:r>
        </a:p>
      </dgm:t>
    </dgm:pt>
    <dgm:pt modelId="{918788C9-FA2E-4522-B67D-609EDBB7391E}" type="parTrans" cxnId="{0A8519D1-5C7A-4081-93DE-89D4C5F374AF}">
      <dgm:prSet/>
      <dgm:spPr/>
      <dgm:t>
        <a:bodyPr/>
        <a:lstStyle/>
        <a:p>
          <a:endParaRPr kumimoji="1" lang="ja-JP" altLang="en-US"/>
        </a:p>
      </dgm:t>
    </dgm:pt>
    <dgm:pt modelId="{C8D27378-93F6-48C8-8B39-D9D149CE3D82}" type="sibTrans" cxnId="{0A8519D1-5C7A-4081-93DE-89D4C5F374AF}">
      <dgm:prSet/>
      <dgm:spPr/>
      <dgm:t>
        <a:bodyPr/>
        <a:lstStyle/>
        <a:p>
          <a:endParaRPr kumimoji="1" lang="ja-JP" altLang="en-US"/>
        </a:p>
      </dgm:t>
    </dgm:pt>
    <dgm:pt modelId="{F0DADD06-54CD-4545-82FF-7ED60E256381}">
      <dgm:prSet phldrT="[テキスト]"/>
      <dgm:spPr>
        <a:xfrm>
          <a:off x="0" y="2929528"/>
          <a:ext cx="4530851" cy="887396"/>
        </a:xfrm>
        <a:prstGeom prst="round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pPr>
            <a:buNone/>
          </a:pPr>
          <a:r>
            <a:rPr kumimoji="1" lang="ja-JP" altLang="en-US" b="1" dirty="0">
              <a:solidFill>
                <a:schemeClr val="tx2"/>
              </a:solidFill>
              <a:latin typeface="Arial"/>
              <a:ea typeface="+mn-ea"/>
              <a:cs typeface="+mn-cs"/>
            </a:rPr>
            <a:t>救急</a:t>
          </a:r>
        </a:p>
      </dgm:t>
    </dgm:pt>
    <dgm:pt modelId="{46F7876C-F5D0-4A7C-AD04-FC046F8C9638}" type="parTrans" cxnId="{A46B5A39-AE31-4FA3-B137-219828A0D328}">
      <dgm:prSet/>
      <dgm:spPr/>
      <dgm:t>
        <a:bodyPr/>
        <a:lstStyle/>
        <a:p>
          <a:endParaRPr kumimoji="1" lang="ja-JP" altLang="en-US"/>
        </a:p>
      </dgm:t>
    </dgm:pt>
    <dgm:pt modelId="{DBD16FA2-56CE-4024-8102-1F86D8CF5DCA}" type="sibTrans" cxnId="{A46B5A39-AE31-4FA3-B137-219828A0D328}">
      <dgm:prSet/>
      <dgm:spPr/>
      <dgm:t>
        <a:bodyPr/>
        <a:lstStyle/>
        <a:p>
          <a:endParaRPr kumimoji="1" lang="ja-JP" altLang="en-US"/>
        </a:p>
      </dgm:t>
    </dgm:pt>
    <dgm:pt modelId="{BE2B15F2-5241-49C6-9F78-B46348BD6CB7}">
      <dgm:prSet phldrT="[テキスト]" custT="1"/>
      <dgm:spPr>
        <a:xfrm>
          <a:off x="4530851" y="2929528"/>
          <a:ext cx="6796277" cy="887396"/>
        </a:xfrm>
        <a:prstGeom prst="rightArrow">
          <a:avLst>
            <a:gd name="adj1" fmla="val 75000"/>
            <a:gd name="adj2" fmla="val 50000"/>
          </a:avLst>
        </a:prstGeom>
        <a:solidFill>
          <a:schemeClr val="accent3">
            <a:lumMod val="60000"/>
            <a:lumOff val="40000"/>
            <a:alpha val="90000"/>
          </a:schemeClr>
        </a:solidFill>
        <a:ln w="9525" cap="flat" cmpd="sng" algn="ctr">
          <a:solidFill>
            <a:sysClr val="window" lastClr="FFFFFF">
              <a:hueOff val="0"/>
              <a:satOff val="0"/>
              <a:lumOff val="0"/>
              <a:alphaOff val="0"/>
            </a:sysClr>
          </a:solidFill>
          <a:prstDash val="solid"/>
        </a:ln>
        <a:effectLst>
          <a:outerShdw blurRad="40000" dist="23000" dir="5400000" rotWithShape="0">
            <a:srgbClr val="000000">
              <a:alpha val="35000"/>
            </a:srgbClr>
          </a:outerShdw>
        </a:effectLst>
      </dgm:spPr>
      <dgm:t>
        <a:bodyPr/>
        <a:lstStyle/>
        <a:p>
          <a:pPr>
            <a:buChar char="•"/>
          </a:pPr>
          <a:r>
            <a:rPr kumimoji="1" lang="ja-JP" altLang="en-US" sz="1800" b="1" dirty="0">
              <a:solidFill>
                <a:srgbClr val="FF0000"/>
              </a:solidFill>
              <a:latin typeface="Arial"/>
              <a:ea typeface="+mn-ea"/>
              <a:cs typeface="+mn-cs"/>
            </a:rPr>
            <a:t>外傷　頭部外傷</a:t>
          </a:r>
        </a:p>
      </dgm:t>
    </dgm:pt>
    <dgm:pt modelId="{01194FBA-A5CA-4E1B-A68E-BBE714DC5A35}" type="parTrans" cxnId="{63A3FF60-6B6B-467C-8822-04E33065E98B}">
      <dgm:prSet/>
      <dgm:spPr/>
      <dgm:t>
        <a:bodyPr/>
        <a:lstStyle/>
        <a:p>
          <a:endParaRPr kumimoji="1" lang="ja-JP" altLang="en-US"/>
        </a:p>
      </dgm:t>
    </dgm:pt>
    <dgm:pt modelId="{0C7DCC2E-F26A-4F57-8D06-CFB4753E16C8}" type="sibTrans" cxnId="{63A3FF60-6B6B-467C-8822-04E33065E98B}">
      <dgm:prSet/>
      <dgm:spPr/>
      <dgm:t>
        <a:bodyPr/>
        <a:lstStyle/>
        <a:p>
          <a:endParaRPr kumimoji="1" lang="ja-JP" altLang="en-US"/>
        </a:p>
      </dgm:t>
    </dgm:pt>
    <dgm:pt modelId="{A7149F1E-46BD-4544-A7AB-68D4438EDB38}">
      <dgm:prSet phldrT="[テキスト]"/>
      <dgm:spPr>
        <a:xfrm>
          <a:off x="4530851" y="2929528"/>
          <a:ext cx="6796277" cy="887396"/>
        </a:xfrm>
        <a:prstGeom prst="rightArrow">
          <a:avLst>
            <a:gd name="adj1" fmla="val 75000"/>
            <a:gd name="adj2" fmla="val 50000"/>
          </a:avLst>
        </a:prstGeom>
        <a:solidFill>
          <a:schemeClr val="accent3">
            <a:lumMod val="60000"/>
            <a:lumOff val="40000"/>
            <a:alpha val="90000"/>
          </a:schemeClr>
        </a:solidFill>
        <a:ln w="9525" cap="flat" cmpd="sng" algn="ctr">
          <a:solidFill>
            <a:sysClr val="window" lastClr="FFFFFF">
              <a:hueOff val="0"/>
              <a:satOff val="0"/>
              <a:lumOff val="0"/>
              <a:alphaOff val="0"/>
            </a:sysClr>
          </a:solidFill>
          <a:prstDash val="solid"/>
        </a:ln>
        <a:effectLst>
          <a:outerShdw blurRad="40000" dist="23000" dir="5400000" rotWithShape="0">
            <a:srgbClr val="000000">
              <a:alpha val="35000"/>
            </a:srgbClr>
          </a:outerShdw>
        </a:effectLst>
      </dgm:spPr>
      <dgm:t>
        <a:bodyPr/>
        <a:lstStyle/>
        <a:p>
          <a:pPr>
            <a:buChar char="•"/>
          </a:pPr>
          <a:r>
            <a:rPr kumimoji="1" lang="ja-JP" altLang="en-US" sz="1400" dirty="0">
              <a:solidFill>
                <a:srgbClr val="000000">
                  <a:hueOff val="0"/>
                  <a:satOff val="0"/>
                  <a:lumOff val="0"/>
                  <a:alphaOff val="0"/>
                </a:srgbClr>
              </a:solidFill>
              <a:latin typeface="Arial"/>
              <a:ea typeface="+mn-ea"/>
              <a:cs typeface="+mn-cs"/>
            </a:rPr>
            <a:t>熱傷</a:t>
          </a:r>
        </a:p>
      </dgm:t>
    </dgm:pt>
    <dgm:pt modelId="{D73BFE24-5FA1-4CF0-8A92-B73BE7AF0D86}" type="parTrans" cxnId="{B772889B-F0AC-4218-84BB-7C53A6F50E59}">
      <dgm:prSet/>
      <dgm:spPr/>
      <dgm:t>
        <a:bodyPr/>
        <a:lstStyle/>
        <a:p>
          <a:endParaRPr kumimoji="1" lang="ja-JP" altLang="en-US"/>
        </a:p>
      </dgm:t>
    </dgm:pt>
    <dgm:pt modelId="{E51828B1-4234-4F96-9C8C-B96B7F2BBAC2}" type="sibTrans" cxnId="{B772889B-F0AC-4218-84BB-7C53A6F50E59}">
      <dgm:prSet/>
      <dgm:spPr/>
      <dgm:t>
        <a:bodyPr/>
        <a:lstStyle/>
        <a:p>
          <a:endParaRPr kumimoji="1" lang="ja-JP" altLang="en-US"/>
        </a:p>
      </dgm:t>
    </dgm:pt>
    <dgm:pt modelId="{3018BB16-8704-429F-9E84-0B371EE7DDED}">
      <dgm:prSet phldrT="[テキスト]"/>
      <dgm:spPr>
        <a:xfrm>
          <a:off x="4530851" y="977255"/>
          <a:ext cx="6796277" cy="887396"/>
        </a:xfrm>
        <a:prstGeom prst="rightArrow">
          <a:avLst>
            <a:gd name="adj1" fmla="val 75000"/>
            <a:gd name="adj2" fmla="val 50000"/>
          </a:avLst>
        </a:prstGeom>
        <a:solidFill>
          <a:schemeClr val="accent6">
            <a:lumMod val="20000"/>
            <a:lumOff val="80000"/>
            <a:alpha val="90000"/>
          </a:schemeClr>
        </a:solidFill>
        <a:ln w="9525" cap="flat" cmpd="sng" algn="ctr">
          <a:solidFill>
            <a:sysClr val="window" lastClr="FFFFFF">
              <a:hueOff val="0"/>
              <a:satOff val="0"/>
              <a:lumOff val="0"/>
              <a:alphaOff val="0"/>
            </a:sysClr>
          </a:solidFill>
          <a:prstDash val="solid"/>
        </a:ln>
        <a:effectLst>
          <a:outerShdw blurRad="40000" dist="23000" dir="5400000" rotWithShape="0">
            <a:srgbClr val="000000">
              <a:alpha val="35000"/>
            </a:srgbClr>
          </a:outerShdw>
        </a:effectLst>
      </dgm:spPr>
      <dgm:t>
        <a:bodyPr/>
        <a:lstStyle/>
        <a:p>
          <a:pPr>
            <a:buChar char="•"/>
          </a:pPr>
          <a:r>
            <a:rPr kumimoji="1" lang="ja-JP" altLang="en-US" sz="1400" dirty="0">
              <a:solidFill>
                <a:srgbClr val="000000">
                  <a:hueOff val="0"/>
                  <a:satOff val="0"/>
                  <a:lumOff val="0"/>
                  <a:alphaOff val="0"/>
                </a:srgbClr>
              </a:solidFill>
              <a:latin typeface="Arial"/>
              <a:ea typeface="+mn-ea"/>
              <a:cs typeface="+mn-cs"/>
            </a:rPr>
            <a:t>術後出血管理</a:t>
          </a:r>
        </a:p>
      </dgm:t>
    </dgm:pt>
    <dgm:pt modelId="{9C5FE30C-C69E-4E9D-A4CF-813A5909C3A5}" type="parTrans" cxnId="{D80D3D88-1E07-4EF5-9544-0BDD67B3881A}">
      <dgm:prSet/>
      <dgm:spPr/>
      <dgm:t>
        <a:bodyPr/>
        <a:lstStyle/>
        <a:p>
          <a:endParaRPr kumimoji="1" lang="ja-JP" altLang="en-US"/>
        </a:p>
      </dgm:t>
    </dgm:pt>
    <dgm:pt modelId="{F8155325-09ED-4983-B034-87744785C499}" type="sibTrans" cxnId="{D80D3D88-1E07-4EF5-9544-0BDD67B3881A}">
      <dgm:prSet/>
      <dgm:spPr/>
      <dgm:t>
        <a:bodyPr/>
        <a:lstStyle/>
        <a:p>
          <a:endParaRPr kumimoji="1" lang="ja-JP" altLang="en-US"/>
        </a:p>
      </dgm:t>
    </dgm:pt>
    <dgm:pt modelId="{5B8FE993-3C76-4653-B72F-C33E3CC51C50}" type="pres">
      <dgm:prSet presAssocID="{1BC4B73F-9625-4F64-901C-59DE4B6E6068}" presName="Name0" presStyleCnt="0">
        <dgm:presLayoutVars>
          <dgm:dir/>
          <dgm:animLvl val="lvl"/>
          <dgm:resizeHandles/>
        </dgm:presLayoutVars>
      </dgm:prSet>
      <dgm:spPr/>
    </dgm:pt>
    <dgm:pt modelId="{EA90610A-DD9F-4F01-9CFB-EBE641B73D3E}" type="pres">
      <dgm:prSet presAssocID="{44D12ED2-2471-4151-9222-85E8ABF0AED9}" presName="linNode" presStyleCnt="0"/>
      <dgm:spPr/>
    </dgm:pt>
    <dgm:pt modelId="{F3346514-A460-4848-986E-239925543411}" type="pres">
      <dgm:prSet presAssocID="{44D12ED2-2471-4151-9222-85E8ABF0AED9}" presName="parentShp" presStyleLbl="node1" presStyleIdx="0" presStyleCnt="4">
        <dgm:presLayoutVars>
          <dgm:bulletEnabled val="1"/>
        </dgm:presLayoutVars>
      </dgm:prSet>
      <dgm:spPr/>
    </dgm:pt>
    <dgm:pt modelId="{1130980C-89FF-49A1-A1CE-CC6852319095}" type="pres">
      <dgm:prSet presAssocID="{44D12ED2-2471-4151-9222-85E8ABF0AED9}" presName="childShp" presStyleLbl="bgAccFollowNode1" presStyleIdx="0" presStyleCnt="4">
        <dgm:presLayoutVars>
          <dgm:bulletEnabled val="1"/>
        </dgm:presLayoutVars>
      </dgm:prSet>
      <dgm:spPr/>
    </dgm:pt>
    <dgm:pt modelId="{E3A4E392-56A2-4EEC-B487-71362D445A07}" type="pres">
      <dgm:prSet presAssocID="{F5B2F12C-202C-4A72-B2AE-8BEF007EBBAD}" presName="spacing" presStyleCnt="0"/>
      <dgm:spPr/>
    </dgm:pt>
    <dgm:pt modelId="{E32E3C57-7771-45F6-A742-AAB76DE21A86}" type="pres">
      <dgm:prSet presAssocID="{05268C30-B2ED-4A4D-A805-9CD1E54E295B}" presName="linNode" presStyleCnt="0"/>
      <dgm:spPr/>
    </dgm:pt>
    <dgm:pt modelId="{1302463F-8F1A-4614-AEAA-0245CC66CF8C}" type="pres">
      <dgm:prSet presAssocID="{05268C30-B2ED-4A4D-A805-9CD1E54E295B}" presName="parentShp" presStyleLbl="node1" presStyleIdx="1" presStyleCnt="4">
        <dgm:presLayoutVars>
          <dgm:bulletEnabled val="1"/>
        </dgm:presLayoutVars>
      </dgm:prSet>
      <dgm:spPr/>
    </dgm:pt>
    <dgm:pt modelId="{A16469D5-3777-42F1-BEB5-FBBD261A0CBA}" type="pres">
      <dgm:prSet presAssocID="{05268C30-B2ED-4A4D-A805-9CD1E54E295B}" presName="childShp" presStyleLbl="bgAccFollowNode1" presStyleIdx="1" presStyleCnt="4">
        <dgm:presLayoutVars>
          <dgm:bulletEnabled val="1"/>
        </dgm:presLayoutVars>
      </dgm:prSet>
      <dgm:spPr/>
    </dgm:pt>
    <dgm:pt modelId="{94FF24C2-E673-4CAA-867C-8284FEBFD8B0}" type="pres">
      <dgm:prSet presAssocID="{1E91AC46-A445-4349-AB5C-E4B3A4E6D1EA}" presName="spacing" presStyleCnt="0"/>
      <dgm:spPr/>
    </dgm:pt>
    <dgm:pt modelId="{FD096A9A-0476-4E3E-80B4-16D858BC00FB}" type="pres">
      <dgm:prSet presAssocID="{A74E23D3-3DA6-44F4-9EBC-48521547E1AC}" presName="linNode" presStyleCnt="0"/>
      <dgm:spPr/>
    </dgm:pt>
    <dgm:pt modelId="{215E1F48-CD52-4723-914D-7CC8011CF719}" type="pres">
      <dgm:prSet presAssocID="{A74E23D3-3DA6-44F4-9EBC-48521547E1AC}" presName="parentShp" presStyleLbl="node1" presStyleIdx="2" presStyleCnt="4">
        <dgm:presLayoutVars>
          <dgm:bulletEnabled val="1"/>
        </dgm:presLayoutVars>
      </dgm:prSet>
      <dgm:spPr/>
    </dgm:pt>
    <dgm:pt modelId="{586AA200-FF54-46D9-8519-401ECE0E5C04}" type="pres">
      <dgm:prSet presAssocID="{A74E23D3-3DA6-44F4-9EBC-48521547E1AC}" presName="childShp" presStyleLbl="bgAccFollowNode1" presStyleIdx="2" presStyleCnt="4">
        <dgm:presLayoutVars>
          <dgm:bulletEnabled val="1"/>
        </dgm:presLayoutVars>
      </dgm:prSet>
      <dgm:spPr/>
    </dgm:pt>
    <dgm:pt modelId="{88B0F15F-6A20-424A-B028-257AD1DFAACB}" type="pres">
      <dgm:prSet presAssocID="{FE01AA9D-4F0B-4C28-949F-E6622D16B729}" presName="spacing" presStyleCnt="0"/>
      <dgm:spPr/>
    </dgm:pt>
    <dgm:pt modelId="{F250B190-8A40-4BD1-9173-EDF963E6A958}" type="pres">
      <dgm:prSet presAssocID="{F0DADD06-54CD-4545-82FF-7ED60E256381}" presName="linNode" presStyleCnt="0"/>
      <dgm:spPr/>
    </dgm:pt>
    <dgm:pt modelId="{D2A286B4-FCD9-49DF-82AC-03F717F3D9D7}" type="pres">
      <dgm:prSet presAssocID="{F0DADD06-54CD-4545-82FF-7ED60E256381}" presName="parentShp" presStyleLbl="node1" presStyleIdx="3" presStyleCnt="4">
        <dgm:presLayoutVars>
          <dgm:bulletEnabled val="1"/>
        </dgm:presLayoutVars>
      </dgm:prSet>
      <dgm:spPr/>
    </dgm:pt>
    <dgm:pt modelId="{D576E735-8C29-4864-BB72-0734CB5F5D87}" type="pres">
      <dgm:prSet presAssocID="{F0DADD06-54CD-4545-82FF-7ED60E256381}" presName="childShp" presStyleLbl="bgAccFollowNode1" presStyleIdx="3" presStyleCnt="4">
        <dgm:presLayoutVars>
          <dgm:bulletEnabled val="1"/>
        </dgm:presLayoutVars>
      </dgm:prSet>
      <dgm:spPr/>
    </dgm:pt>
  </dgm:ptLst>
  <dgm:cxnLst>
    <dgm:cxn modelId="{CF2A8D07-892D-4072-9A40-475084A9DEF7}" type="presOf" srcId="{3018BB16-8704-429F-9E84-0B371EE7DDED}" destId="{A16469D5-3777-42F1-BEB5-FBBD261A0CBA}" srcOrd="0" destOrd="1" presId="urn:microsoft.com/office/officeart/2005/8/layout/vList6"/>
    <dgm:cxn modelId="{CC0FD60C-0BE5-4A28-8874-D6B481C69503}" type="presOf" srcId="{E5CE48E3-35F9-41C5-950E-618AF88B85F4}" destId="{1130980C-89FF-49A1-A1CE-CC6852319095}" srcOrd="0" destOrd="0" presId="urn:microsoft.com/office/officeart/2005/8/layout/vList6"/>
    <dgm:cxn modelId="{993FF113-9C52-4E0E-B274-F40A57E5832C}" type="presOf" srcId="{44D12ED2-2471-4151-9222-85E8ABF0AED9}" destId="{F3346514-A460-4848-986E-239925543411}" srcOrd="0" destOrd="0" presId="urn:microsoft.com/office/officeart/2005/8/layout/vList6"/>
    <dgm:cxn modelId="{EFDFC42D-9B3C-4F0C-98DE-662640C3B9CD}" srcId="{1BC4B73F-9625-4F64-901C-59DE4B6E6068}" destId="{A74E23D3-3DA6-44F4-9EBC-48521547E1AC}" srcOrd="2" destOrd="0" parTransId="{FE67D758-A88F-4BC3-934C-347D55B5E578}" sibTransId="{FE01AA9D-4F0B-4C28-949F-E6622D16B729}"/>
    <dgm:cxn modelId="{BF240534-C718-4CD7-ABC1-3C6749BB19FD}" type="presOf" srcId="{8DADC692-F6E9-450A-9A7C-2DC8CCF234A3}" destId="{586AA200-FF54-46D9-8519-401ECE0E5C04}" srcOrd="0" destOrd="0" presId="urn:microsoft.com/office/officeart/2005/8/layout/vList6"/>
    <dgm:cxn modelId="{C9B00834-3B7A-458C-9FE3-753C7C3DD6AF}" type="presOf" srcId="{05268C30-B2ED-4A4D-A805-9CD1E54E295B}" destId="{1302463F-8F1A-4614-AEAA-0245CC66CF8C}" srcOrd="0" destOrd="0" presId="urn:microsoft.com/office/officeart/2005/8/layout/vList6"/>
    <dgm:cxn modelId="{508CFD35-0E0E-4ED9-A733-E8595D9427FA}" type="presOf" srcId="{F0DADD06-54CD-4545-82FF-7ED60E256381}" destId="{D2A286B4-FCD9-49DF-82AC-03F717F3D9D7}" srcOrd="0" destOrd="0" presId="urn:microsoft.com/office/officeart/2005/8/layout/vList6"/>
    <dgm:cxn modelId="{A46B5A39-AE31-4FA3-B137-219828A0D328}" srcId="{1BC4B73F-9625-4F64-901C-59DE4B6E6068}" destId="{F0DADD06-54CD-4545-82FF-7ED60E256381}" srcOrd="3" destOrd="0" parTransId="{46F7876C-F5D0-4A7C-AD04-FC046F8C9638}" sibTransId="{DBD16FA2-56CE-4024-8102-1F86D8CF5DCA}"/>
    <dgm:cxn modelId="{EA75BB4E-0280-4158-AF85-B4B8717F3CE4}" type="presOf" srcId="{A7149F1E-46BD-4544-A7AB-68D4438EDB38}" destId="{D576E735-8C29-4864-BB72-0734CB5F5D87}" srcOrd="0" destOrd="1" presId="urn:microsoft.com/office/officeart/2005/8/layout/vList6"/>
    <dgm:cxn modelId="{63A3FF60-6B6B-467C-8822-04E33065E98B}" srcId="{F0DADD06-54CD-4545-82FF-7ED60E256381}" destId="{BE2B15F2-5241-49C6-9F78-B46348BD6CB7}" srcOrd="0" destOrd="0" parTransId="{01194FBA-A5CA-4E1B-A68E-BBE714DC5A35}" sibTransId="{0C7DCC2E-F26A-4F57-8D06-CFB4753E16C8}"/>
    <dgm:cxn modelId="{E3E31674-6340-4C74-A0EB-C47AE8C9ACD8}" srcId="{05268C30-B2ED-4A4D-A805-9CD1E54E295B}" destId="{663D7882-4424-494C-AF53-A9565266A5CF}" srcOrd="0" destOrd="0" parTransId="{3B540044-F6D9-48F8-B3E0-251C681858CF}" sibTransId="{ED65EEDC-4416-4938-8629-6B7A8D90A9D9}"/>
    <dgm:cxn modelId="{D80D3D88-1E07-4EF5-9544-0BDD67B3881A}" srcId="{05268C30-B2ED-4A4D-A805-9CD1E54E295B}" destId="{3018BB16-8704-429F-9E84-0B371EE7DDED}" srcOrd="1" destOrd="0" parTransId="{9C5FE30C-C69E-4E9D-A4CF-813A5909C3A5}" sibTransId="{F8155325-09ED-4983-B034-87744785C499}"/>
    <dgm:cxn modelId="{9D0C028D-82CB-4F09-81D6-44AA563A20CC}" type="presOf" srcId="{BE2B15F2-5241-49C6-9F78-B46348BD6CB7}" destId="{D576E735-8C29-4864-BB72-0734CB5F5D87}" srcOrd="0" destOrd="0" presId="urn:microsoft.com/office/officeart/2005/8/layout/vList6"/>
    <dgm:cxn modelId="{B772889B-F0AC-4218-84BB-7C53A6F50E59}" srcId="{F0DADD06-54CD-4545-82FF-7ED60E256381}" destId="{A7149F1E-46BD-4544-A7AB-68D4438EDB38}" srcOrd="1" destOrd="0" parTransId="{D73BFE24-5FA1-4CF0-8A92-B73BE7AF0D86}" sibTransId="{E51828B1-4234-4F96-9C8C-B96B7F2BBAC2}"/>
    <dgm:cxn modelId="{987E09A0-1F10-44D7-B808-5D77440EE65D}" srcId="{44D12ED2-2471-4151-9222-85E8ABF0AED9}" destId="{E5CE48E3-35F9-41C5-950E-618AF88B85F4}" srcOrd="0" destOrd="0" parTransId="{364082F5-7931-4B7B-8A1E-FEA5FA0C4C7A}" sibTransId="{56C1F9BC-1C94-42A5-9B80-002E81FA2BC0}"/>
    <dgm:cxn modelId="{8DF0EEB7-B64F-48D7-A4AB-9D1DC7A0F3D8}" srcId="{1BC4B73F-9625-4F64-901C-59DE4B6E6068}" destId="{44D12ED2-2471-4151-9222-85E8ABF0AED9}" srcOrd="0" destOrd="0" parTransId="{FF47ACD9-8CD7-4B1B-BF6E-FCA675390C94}" sibTransId="{F5B2F12C-202C-4A72-B2AE-8BEF007EBBAD}"/>
    <dgm:cxn modelId="{FFAEC1BF-CB6E-4262-A671-F5EAC4BCB76D}" type="presOf" srcId="{A74E23D3-3DA6-44F4-9EBC-48521547E1AC}" destId="{215E1F48-CD52-4723-914D-7CC8011CF719}" srcOrd="0" destOrd="0" presId="urn:microsoft.com/office/officeart/2005/8/layout/vList6"/>
    <dgm:cxn modelId="{0A8519D1-5C7A-4081-93DE-89D4C5F374AF}" srcId="{A74E23D3-3DA6-44F4-9EBC-48521547E1AC}" destId="{F58CDD35-E249-4C05-A883-10B0B9CBFCBE}" srcOrd="1" destOrd="0" parTransId="{918788C9-FA2E-4522-B67D-609EDBB7391E}" sibTransId="{C8D27378-93F6-48C8-8B39-D9D149CE3D82}"/>
    <dgm:cxn modelId="{70B669E1-9C40-47B9-96C4-D4E09604A40C}" type="presOf" srcId="{F58CDD35-E249-4C05-A883-10B0B9CBFCBE}" destId="{586AA200-FF54-46D9-8519-401ECE0E5C04}" srcOrd="0" destOrd="1" presId="urn:microsoft.com/office/officeart/2005/8/layout/vList6"/>
    <dgm:cxn modelId="{BAC9E7E2-DD2B-4552-864D-E81710BB84BB}" srcId="{A74E23D3-3DA6-44F4-9EBC-48521547E1AC}" destId="{8DADC692-F6E9-450A-9A7C-2DC8CCF234A3}" srcOrd="0" destOrd="0" parTransId="{CAAE6A1F-E0FE-4465-9D23-F3B7573EE8B4}" sibTransId="{B9C473D9-B9BF-4555-87DD-F07839F06A99}"/>
    <dgm:cxn modelId="{E5E90BF3-691D-4068-8F19-BAF3EB0D4BA5}" type="presOf" srcId="{1BC4B73F-9625-4F64-901C-59DE4B6E6068}" destId="{5B8FE993-3C76-4653-B72F-C33E3CC51C50}" srcOrd="0" destOrd="0" presId="urn:microsoft.com/office/officeart/2005/8/layout/vList6"/>
    <dgm:cxn modelId="{3FBF33F3-D7E3-4CD1-8B3C-5BD387EBC3C0}" srcId="{1BC4B73F-9625-4F64-901C-59DE4B6E6068}" destId="{05268C30-B2ED-4A4D-A805-9CD1E54E295B}" srcOrd="1" destOrd="0" parTransId="{A9C0C1BB-E241-418F-9E57-5E2287C1A36E}" sibTransId="{1E91AC46-A445-4349-AB5C-E4B3A4E6D1EA}"/>
    <dgm:cxn modelId="{E8E56EF9-18A5-44D6-B476-AFB08D709616}" type="presOf" srcId="{663D7882-4424-494C-AF53-A9565266A5CF}" destId="{A16469D5-3777-42F1-BEB5-FBBD261A0CBA}" srcOrd="0" destOrd="0" presId="urn:microsoft.com/office/officeart/2005/8/layout/vList6"/>
    <dgm:cxn modelId="{1547EAD7-B2DB-4B5D-8757-32D948817541}" type="presParOf" srcId="{5B8FE993-3C76-4653-B72F-C33E3CC51C50}" destId="{EA90610A-DD9F-4F01-9CFB-EBE641B73D3E}" srcOrd="0" destOrd="0" presId="urn:microsoft.com/office/officeart/2005/8/layout/vList6"/>
    <dgm:cxn modelId="{04DB2E9A-E44B-4AED-A39B-37CFD0820125}" type="presParOf" srcId="{EA90610A-DD9F-4F01-9CFB-EBE641B73D3E}" destId="{F3346514-A460-4848-986E-239925543411}" srcOrd="0" destOrd="0" presId="urn:microsoft.com/office/officeart/2005/8/layout/vList6"/>
    <dgm:cxn modelId="{54F12A28-51AC-4791-8C89-8AC22BE068AE}" type="presParOf" srcId="{EA90610A-DD9F-4F01-9CFB-EBE641B73D3E}" destId="{1130980C-89FF-49A1-A1CE-CC6852319095}" srcOrd="1" destOrd="0" presId="urn:microsoft.com/office/officeart/2005/8/layout/vList6"/>
    <dgm:cxn modelId="{A5F59B0A-2880-44B6-A59F-AC50BD987CF2}" type="presParOf" srcId="{5B8FE993-3C76-4653-B72F-C33E3CC51C50}" destId="{E3A4E392-56A2-4EEC-B487-71362D445A07}" srcOrd="1" destOrd="0" presId="urn:microsoft.com/office/officeart/2005/8/layout/vList6"/>
    <dgm:cxn modelId="{45AA401E-31BA-4B33-8726-32F09CD4D891}" type="presParOf" srcId="{5B8FE993-3C76-4653-B72F-C33E3CC51C50}" destId="{E32E3C57-7771-45F6-A742-AAB76DE21A86}" srcOrd="2" destOrd="0" presId="urn:microsoft.com/office/officeart/2005/8/layout/vList6"/>
    <dgm:cxn modelId="{CEAAFC18-7CA4-42EC-8BF1-6E01C803002C}" type="presParOf" srcId="{E32E3C57-7771-45F6-A742-AAB76DE21A86}" destId="{1302463F-8F1A-4614-AEAA-0245CC66CF8C}" srcOrd="0" destOrd="0" presId="urn:microsoft.com/office/officeart/2005/8/layout/vList6"/>
    <dgm:cxn modelId="{9BFFCE20-605C-4181-8F08-A932BCA5E5BA}" type="presParOf" srcId="{E32E3C57-7771-45F6-A742-AAB76DE21A86}" destId="{A16469D5-3777-42F1-BEB5-FBBD261A0CBA}" srcOrd="1" destOrd="0" presId="urn:microsoft.com/office/officeart/2005/8/layout/vList6"/>
    <dgm:cxn modelId="{0266EB38-9222-4AA4-A9B6-A297620A21CC}" type="presParOf" srcId="{5B8FE993-3C76-4653-B72F-C33E3CC51C50}" destId="{94FF24C2-E673-4CAA-867C-8284FEBFD8B0}" srcOrd="3" destOrd="0" presId="urn:microsoft.com/office/officeart/2005/8/layout/vList6"/>
    <dgm:cxn modelId="{0661F78F-9FED-4867-AA2E-98EC2B8E1275}" type="presParOf" srcId="{5B8FE993-3C76-4653-B72F-C33E3CC51C50}" destId="{FD096A9A-0476-4E3E-80B4-16D858BC00FB}" srcOrd="4" destOrd="0" presId="urn:microsoft.com/office/officeart/2005/8/layout/vList6"/>
    <dgm:cxn modelId="{FF9C154E-1DBB-47B9-9ACA-456162449D55}" type="presParOf" srcId="{FD096A9A-0476-4E3E-80B4-16D858BC00FB}" destId="{215E1F48-CD52-4723-914D-7CC8011CF719}" srcOrd="0" destOrd="0" presId="urn:microsoft.com/office/officeart/2005/8/layout/vList6"/>
    <dgm:cxn modelId="{BE46860B-86EE-46EE-9C2E-8D36F1D6892E}" type="presParOf" srcId="{FD096A9A-0476-4E3E-80B4-16D858BC00FB}" destId="{586AA200-FF54-46D9-8519-401ECE0E5C04}" srcOrd="1" destOrd="0" presId="urn:microsoft.com/office/officeart/2005/8/layout/vList6"/>
    <dgm:cxn modelId="{EE217519-0787-4D69-90A0-665CCE56E39F}" type="presParOf" srcId="{5B8FE993-3C76-4653-B72F-C33E3CC51C50}" destId="{88B0F15F-6A20-424A-B028-257AD1DFAACB}" srcOrd="5" destOrd="0" presId="urn:microsoft.com/office/officeart/2005/8/layout/vList6"/>
    <dgm:cxn modelId="{08DA93B0-5A95-4BD0-A102-9D6583CB27B8}" type="presParOf" srcId="{5B8FE993-3C76-4653-B72F-C33E3CC51C50}" destId="{F250B190-8A40-4BD1-9173-EDF963E6A958}" srcOrd="6" destOrd="0" presId="urn:microsoft.com/office/officeart/2005/8/layout/vList6"/>
    <dgm:cxn modelId="{F6919647-408B-4172-9339-3F5C59870A85}" type="presParOf" srcId="{F250B190-8A40-4BD1-9173-EDF963E6A958}" destId="{D2A286B4-FCD9-49DF-82AC-03F717F3D9D7}" srcOrd="0" destOrd="0" presId="urn:microsoft.com/office/officeart/2005/8/layout/vList6"/>
    <dgm:cxn modelId="{00A272BC-9E0A-46E1-9497-280998D3AF30}" type="presParOf" srcId="{F250B190-8A40-4BD1-9173-EDF963E6A958}" destId="{D576E735-8C29-4864-BB72-0734CB5F5D87}"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6B88DF-B15A-4688-9164-F027EB86FBC2}">
      <dsp:nvSpPr>
        <dsp:cNvPr id="0" name=""/>
        <dsp:cNvSpPr/>
      </dsp:nvSpPr>
      <dsp:spPr>
        <a:xfrm>
          <a:off x="0" y="0"/>
          <a:ext cx="8133726" cy="610739"/>
        </a:xfrm>
        <a:prstGeom prst="roundRect">
          <a:avLst/>
        </a:prstGeom>
        <a:solidFill>
          <a:schemeClr val="accent2">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kumimoji="1" lang="ja-JP" altLang="en-US" sz="1800" b="1" kern="1200" dirty="0"/>
            <a:t>血液凝固の状態を全血を用いて包括的に見る</a:t>
          </a:r>
        </a:p>
      </dsp:txBody>
      <dsp:txXfrm>
        <a:off x="29814" y="29814"/>
        <a:ext cx="8074098" cy="551111"/>
      </dsp:txXfrm>
    </dsp:sp>
    <dsp:sp modelId="{62ECCC09-A335-474D-8273-11BE764F98AB}">
      <dsp:nvSpPr>
        <dsp:cNvPr id="0" name=""/>
        <dsp:cNvSpPr/>
      </dsp:nvSpPr>
      <dsp:spPr>
        <a:xfrm>
          <a:off x="0" y="649165"/>
          <a:ext cx="8133726" cy="763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246" tIns="22860" rIns="128016" bIns="22860" numCol="1" spcCol="1270" anchor="t" anchorCtr="0">
          <a:noAutofit/>
        </a:bodyPr>
        <a:lstStyle/>
        <a:p>
          <a:pPr marL="114300" lvl="1" indent="-114300" algn="l" defTabSz="622300">
            <a:lnSpc>
              <a:spcPct val="90000"/>
            </a:lnSpc>
            <a:spcBef>
              <a:spcPct val="0"/>
            </a:spcBef>
            <a:spcAft>
              <a:spcPct val="20000"/>
            </a:spcAft>
            <a:buChar char="•"/>
          </a:pPr>
          <a:r>
            <a:rPr kumimoji="1" lang="ja-JP" altLang="en-US" sz="1400" b="1" kern="1200" dirty="0"/>
            <a:t>全血での測定</a:t>
          </a:r>
        </a:p>
        <a:p>
          <a:pPr marL="114300" lvl="1" indent="-114300" algn="l" defTabSz="622300">
            <a:lnSpc>
              <a:spcPct val="90000"/>
            </a:lnSpc>
            <a:spcBef>
              <a:spcPct val="0"/>
            </a:spcBef>
            <a:spcAft>
              <a:spcPct val="20000"/>
            </a:spcAft>
            <a:buChar char="•"/>
          </a:pPr>
          <a:r>
            <a:rPr kumimoji="1" lang="ja-JP" altLang="en-US" sz="1400" b="1" kern="1200" dirty="0"/>
            <a:t>凝固から線溶まで</a:t>
          </a:r>
        </a:p>
      </dsp:txBody>
      <dsp:txXfrm>
        <a:off x="0" y="649165"/>
        <a:ext cx="8133726" cy="763830"/>
      </dsp:txXfrm>
    </dsp:sp>
    <dsp:sp modelId="{ADF6B7E0-EACF-41A6-8B56-C84FC9122E5C}">
      <dsp:nvSpPr>
        <dsp:cNvPr id="0" name=""/>
        <dsp:cNvSpPr/>
      </dsp:nvSpPr>
      <dsp:spPr>
        <a:xfrm>
          <a:off x="0" y="1412995"/>
          <a:ext cx="8133726" cy="610739"/>
        </a:xfrm>
        <a:prstGeom prst="roundRect">
          <a:avLst/>
        </a:prstGeom>
        <a:solidFill>
          <a:schemeClr val="accent2">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ja-JP" altLang="en-US" sz="1800" b="1" kern="1200" dirty="0">
              <a:solidFill>
                <a:schemeClr val="bg1"/>
              </a:solidFill>
            </a:rPr>
            <a:t>血液の粘張度を見る</a:t>
          </a:r>
          <a:endParaRPr kumimoji="1" lang="ja-JP" altLang="en-US" sz="1800" b="1" kern="1200" dirty="0">
            <a:solidFill>
              <a:schemeClr val="bg1"/>
            </a:solidFill>
          </a:endParaRPr>
        </a:p>
      </dsp:txBody>
      <dsp:txXfrm>
        <a:off x="29814" y="1442809"/>
        <a:ext cx="8074098" cy="551111"/>
      </dsp:txXfrm>
    </dsp:sp>
    <dsp:sp modelId="{9FBF4009-6678-4294-A2C7-B55BAE977A7B}">
      <dsp:nvSpPr>
        <dsp:cNvPr id="0" name=""/>
        <dsp:cNvSpPr/>
      </dsp:nvSpPr>
      <dsp:spPr>
        <a:xfrm>
          <a:off x="0" y="2023735"/>
          <a:ext cx="8133726" cy="763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246" tIns="22860" rIns="128016" bIns="22860" numCol="1" spcCol="1270" anchor="t" anchorCtr="0">
          <a:noAutofit/>
        </a:bodyPr>
        <a:lstStyle/>
        <a:p>
          <a:pPr marL="114300" lvl="1" indent="-114300" algn="l" defTabSz="622300">
            <a:lnSpc>
              <a:spcPct val="90000"/>
            </a:lnSpc>
            <a:spcBef>
              <a:spcPct val="0"/>
            </a:spcBef>
            <a:spcAft>
              <a:spcPct val="20000"/>
            </a:spcAft>
            <a:buChar char="•"/>
          </a:pPr>
          <a:r>
            <a:rPr kumimoji="1" lang="ja-JP" altLang="en-US" sz="1400" b="1" kern="1200" dirty="0"/>
            <a:t>実際の出血に対する止血能を反映</a:t>
          </a:r>
        </a:p>
        <a:p>
          <a:pPr marL="114300" lvl="1" indent="-114300" algn="l" defTabSz="622300">
            <a:lnSpc>
              <a:spcPct val="90000"/>
            </a:lnSpc>
            <a:spcBef>
              <a:spcPct val="0"/>
            </a:spcBef>
            <a:spcAft>
              <a:spcPct val="20000"/>
            </a:spcAft>
            <a:buChar char="•"/>
          </a:pPr>
          <a:r>
            <a:rPr lang="ja-JP" altLang="en-US" sz="1400" b="1" kern="1200" dirty="0"/>
            <a:t>凝固能のモニタリング</a:t>
          </a:r>
          <a:endParaRPr lang="en-US" altLang="ja-JP" sz="1400" b="1" kern="1200" dirty="0"/>
        </a:p>
      </dsp:txBody>
      <dsp:txXfrm>
        <a:off x="0" y="2023735"/>
        <a:ext cx="8133726" cy="7638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30980C-89FF-49A1-A1CE-CC6852319095}">
      <dsp:nvSpPr>
        <dsp:cNvPr id="0" name=""/>
        <dsp:cNvSpPr/>
      </dsp:nvSpPr>
      <dsp:spPr>
        <a:xfrm>
          <a:off x="4659521" y="1188"/>
          <a:ext cx="6989281" cy="943184"/>
        </a:xfrm>
        <a:prstGeom prst="rightArrow">
          <a:avLst>
            <a:gd name="adj1" fmla="val 75000"/>
            <a:gd name="adj2" fmla="val 50000"/>
          </a:avLst>
        </a:prstGeom>
        <a:solidFill>
          <a:srgbClr val="2A6EBB">
            <a:alpha val="90000"/>
            <a:tint val="55000"/>
            <a:hueOff val="0"/>
            <a:satOff val="0"/>
            <a:lumOff val="0"/>
            <a:alphaOff val="0"/>
          </a:srgbClr>
        </a:solidFill>
        <a:ln w="9525" cap="flat" cmpd="sng" algn="ctr">
          <a:solidFill>
            <a:sysClr val="window" lastClr="FFFFFF">
              <a:hueOff val="0"/>
              <a:satOff val="0"/>
              <a:lumOff val="0"/>
              <a:alphaOff val="0"/>
            </a:sysClr>
          </a:solidFill>
          <a:prstDash val="solid"/>
          <a:miter lim="800000"/>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kumimoji="1" lang="ja-JP" altLang="en-US" sz="1400" kern="1200" dirty="0">
              <a:solidFill>
                <a:srgbClr val="000000">
                  <a:hueOff val="0"/>
                  <a:satOff val="0"/>
                  <a:lumOff val="0"/>
                  <a:alphaOff val="0"/>
                </a:srgbClr>
              </a:solidFill>
              <a:latin typeface="Arial"/>
              <a:ea typeface="+mn-ea"/>
              <a:cs typeface="+mn-cs"/>
            </a:rPr>
            <a:t>周術期出血管理</a:t>
          </a:r>
        </a:p>
      </dsp:txBody>
      <dsp:txXfrm>
        <a:off x="4659521" y="119086"/>
        <a:ext cx="6635587" cy="707388"/>
      </dsp:txXfrm>
    </dsp:sp>
    <dsp:sp modelId="{F3346514-A460-4848-986E-239925543411}">
      <dsp:nvSpPr>
        <dsp:cNvPr id="0" name=""/>
        <dsp:cNvSpPr/>
      </dsp:nvSpPr>
      <dsp:spPr>
        <a:xfrm>
          <a:off x="0" y="1188"/>
          <a:ext cx="4659521" cy="943184"/>
        </a:xfrm>
        <a:prstGeom prst="roundRect">
          <a:avLst/>
        </a:prstGeom>
        <a:gradFill rotWithShape="0">
          <a:gsLst>
            <a:gs pos="0">
              <a:schemeClr val="tx2">
                <a:lumMod val="10000"/>
                <a:lumOff val="90000"/>
              </a:schemeClr>
            </a:gs>
            <a:gs pos="100000">
              <a:srgbClr val="2A6EBB">
                <a:shade val="50000"/>
                <a:hueOff val="0"/>
                <a:satOff val="0"/>
                <a:lumOff val="0"/>
                <a:alphaOff val="0"/>
                <a:tint val="50000"/>
                <a:shade val="100000"/>
                <a:satMod val="350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kumimoji="1" lang="ja-JP" altLang="en-US" sz="3100" kern="1200" dirty="0">
              <a:solidFill>
                <a:sysClr val="window" lastClr="FFFFFF"/>
              </a:solidFill>
              <a:latin typeface="Arial"/>
              <a:ea typeface="+mn-ea"/>
              <a:cs typeface="+mn-cs"/>
            </a:rPr>
            <a:t>心臓血管外科</a:t>
          </a:r>
        </a:p>
      </dsp:txBody>
      <dsp:txXfrm>
        <a:off x="46042" y="47230"/>
        <a:ext cx="4567437" cy="851100"/>
      </dsp:txXfrm>
    </dsp:sp>
    <dsp:sp modelId="{A16469D5-3777-42F1-BEB5-FBBD261A0CBA}">
      <dsp:nvSpPr>
        <dsp:cNvPr id="0" name=""/>
        <dsp:cNvSpPr/>
      </dsp:nvSpPr>
      <dsp:spPr>
        <a:xfrm>
          <a:off x="4659521" y="1038692"/>
          <a:ext cx="6989281" cy="943184"/>
        </a:xfrm>
        <a:prstGeom prst="rightArrow">
          <a:avLst>
            <a:gd name="adj1" fmla="val 75000"/>
            <a:gd name="adj2" fmla="val 50000"/>
          </a:avLst>
        </a:prstGeom>
        <a:solidFill>
          <a:schemeClr val="accent6">
            <a:lumMod val="20000"/>
            <a:lumOff val="80000"/>
            <a:alpha val="90000"/>
          </a:schemeClr>
        </a:solidFill>
        <a:ln w="9525" cap="flat" cmpd="sng" algn="ctr">
          <a:solidFill>
            <a:sysClr val="window" lastClr="FFFFFF">
              <a:hueOff val="0"/>
              <a:satOff val="0"/>
              <a:lumOff val="0"/>
              <a:alphaOff val="0"/>
            </a:sysClr>
          </a:solidFill>
          <a:prstDash val="solid"/>
          <a:miter lim="800000"/>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kumimoji="1" lang="ja-JP" altLang="en-US" sz="1800" b="1" kern="1200" dirty="0">
              <a:solidFill>
                <a:srgbClr val="FF0000"/>
              </a:solidFill>
              <a:latin typeface="Arial"/>
              <a:ea typeface="+mn-ea"/>
              <a:cs typeface="+mn-cs"/>
            </a:rPr>
            <a:t>抗凝固管理（</a:t>
          </a:r>
          <a:r>
            <a:rPr kumimoji="1" lang="en-US" altLang="ja-JP" sz="1800" b="1" kern="1200" dirty="0">
              <a:solidFill>
                <a:srgbClr val="FF0000"/>
              </a:solidFill>
              <a:latin typeface="Arial"/>
              <a:ea typeface="+mn-ea"/>
              <a:cs typeface="+mn-cs"/>
            </a:rPr>
            <a:t>ECMO</a:t>
          </a:r>
          <a:r>
            <a:rPr kumimoji="1" lang="ja-JP" altLang="en-US" sz="1800" b="1" kern="1200">
              <a:solidFill>
                <a:srgbClr val="FF0000"/>
              </a:solidFill>
              <a:latin typeface="Arial"/>
              <a:ea typeface="+mn-ea"/>
              <a:cs typeface="+mn-cs"/>
            </a:rPr>
            <a:t>　</a:t>
          </a:r>
          <a:r>
            <a:rPr kumimoji="1" lang="en-US" altLang="ja-JP" sz="1800" b="1" kern="1200" dirty="0">
              <a:solidFill>
                <a:srgbClr val="FF0000"/>
              </a:solidFill>
              <a:latin typeface="Arial"/>
              <a:ea typeface="+mn-ea"/>
              <a:cs typeface="+mn-cs"/>
            </a:rPr>
            <a:t>IMPELLA</a:t>
          </a:r>
          <a:r>
            <a:rPr kumimoji="1" lang="ja-JP" altLang="en-US" sz="1800" b="1" kern="1200">
              <a:solidFill>
                <a:srgbClr val="FF0000"/>
              </a:solidFill>
              <a:latin typeface="Arial"/>
              <a:ea typeface="+mn-ea"/>
              <a:cs typeface="+mn-cs"/>
            </a:rPr>
            <a:t>　</a:t>
          </a:r>
          <a:r>
            <a:rPr kumimoji="1" lang="en-US" altLang="ja-JP" sz="1800" b="1" kern="1200" dirty="0">
              <a:solidFill>
                <a:srgbClr val="FF0000"/>
              </a:solidFill>
              <a:latin typeface="Arial"/>
              <a:ea typeface="+mn-ea"/>
              <a:cs typeface="+mn-cs"/>
            </a:rPr>
            <a:t>VAD</a:t>
          </a:r>
          <a:r>
            <a:rPr kumimoji="1" lang="ja-JP" altLang="en-US" sz="1800" b="1" kern="1200" dirty="0">
              <a:solidFill>
                <a:srgbClr val="FF0000"/>
              </a:solidFill>
              <a:latin typeface="Arial"/>
              <a:ea typeface="+mn-ea"/>
              <a:cs typeface="+mn-cs"/>
            </a:rPr>
            <a:t>管理）</a:t>
          </a:r>
        </a:p>
        <a:p>
          <a:pPr marL="114300" lvl="1" indent="-114300" algn="l" defTabSz="622300">
            <a:lnSpc>
              <a:spcPct val="90000"/>
            </a:lnSpc>
            <a:spcBef>
              <a:spcPct val="0"/>
            </a:spcBef>
            <a:spcAft>
              <a:spcPct val="15000"/>
            </a:spcAft>
            <a:buChar char="•"/>
          </a:pPr>
          <a:r>
            <a:rPr kumimoji="1" lang="ja-JP" altLang="en-US" sz="1400" kern="1200" dirty="0">
              <a:solidFill>
                <a:srgbClr val="000000">
                  <a:hueOff val="0"/>
                  <a:satOff val="0"/>
                  <a:lumOff val="0"/>
                  <a:alphaOff val="0"/>
                </a:srgbClr>
              </a:solidFill>
              <a:latin typeface="Arial"/>
              <a:ea typeface="+mn-ea"/>
              <a:cs typeface="+mn-cs"/>
            </a:rPr>
            <a:t>術後出血管理</a:t>
          </a:r>
        </a:p>
      </dsp:txBody>
      <dsp:txXfrm>
        <a:off x="4659521" y="1156590"/>
        <a:ext cx="6635587" cy="707388"/>
      </dsp:txXfrm>
    </dsp:sp>
    <dsp:sp modelId="{1302463F-8F1A-4614-AEAA-0245CC66CF8C}">
      <dsp:nvSpPr>
        <dsp:cNvPr id="0" name=""/>
        <dsp:cNvSpPr/>
      </dsp:nvSpPr>
      <dsp:spPr>
        <a:xfrm>
          <a:off x="0" y="1038692"/>
          <a:ext cx="4659521" cy="943184"/>
        </a:xfrm>
        <a:prstGeom prst="round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kumimoji="1" lang="en-US" altLang="ja-JP" sz="3100" b="1" kern="1200" dirty="0">
              <a:solidFill>
                <a:schemeClr val="tx2"/>
              </a:solidFill>
              <a:latin typeface="Arial"/>
              <a:ea typeface="+mn-ea"/>
              <a:cs typeface="+mn-cs"/>
            </a:rPr>
            <a:t>ICU</a:t>
          </a:r>
          <a:endParaRPr kumimoji="1" lang="ja-JP" altLang="en-US" sz="3100" b="1" kern="1200" dirty="0">
            <a:solidFill>
              <a:schemeClr val="tx2"/>
            </a:solidFill>
            <a:latin typeface="Arial"/>
            <a:ea typeface="+mn-ea"/>
            <a:cs typeface="+mn-cs"/>
          </a:endParaRPr>
        </a:p>
      </dsp:txBody>
      <dsp:txXfrm>
        <a:off x="46042" y="1084734"/>
        <a:ext cx="4567437" cy="851100"/>
      </dsp:txXfrm>
    </dsp:sp>
    <dsp:sp modelId="{586AA200-FF54-46D9-8519-401ECE0E5C04}">
      <dsp:nvSpPr>
        <dsp:cNvPr id="0" name=""/>
        <dsp:cNvSpPr/>
      </dsp:nvSpPr>
      <dsp:spPr>
        <a:xfrm>
          <a:off x="4659521" y="2076195"/>
          <a:ext cx="6989281" cy="943184"/>
        </a:xfrm>
        <a:prstGeom prst="rightArrow">
          <a:avLst>
            <a:gd name="adj1" fmla="val 75000"/>
            <a:gd name="adj2" fmla="val 50000"/>
          </a:avLst>
        </a:prstGeom>
        <a:solidFill>
          <a:srgbClr val="2A6EBB">
            <a:alpha val="90000"/>
            <a:tint val="55000"/>
            <a:hueOff val="0"/>
            <a:satOff val="0"/>
            <a:lumOff val="0"/>
            <a:alphaOff val="0"/>
          </a:srgbClr>
        </a:solidFill>
        <a:ln w="9525" cap="flat" cmpd="sng" algn="ctr">
          <a:solidFill>
            <a:sysClr val="window" lastClr="FFFFFF">
              <a:hueOff val="0"/>
              <a:satOff val="0"/>
              <a:lumOff val="0"/>
              <a:alphaOff val="0"/>
            </a:sysClr>
          </a:solidFill>
          <a:prstDash val="solid"/>
          <a:miter lim="800000"/>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kumimoji="1" lang="ja-JP" altLang="en-US" sz="1400" kern="1200" dirty="0">
              <a:solidFill>
                <a:srgbClr val="000000">
                  <a:hueOff val="0"/>
                  <a:satOff val="0"/>
                  <a:lumOff val="0"/>
                  <a:alphaOff val="0"/>
                </a:srgbClr>
              </a:solidFill>
              <a:latin typeface="Arial"/>
              <a:ea typeface="+mn-ea"/>
              <a:cs typeface="+mn-cs"/>
            </a:rPr>
            <a:t>産婦人科</a:t>
          </a:r>
        </a:p>
        <a:p>
          <a:pPr marL="114300" lvl="1" indent="-114300" algn="l" defTabSz="622300">
            <a:lnSpc>
              <a:spcPct val="90000"/>
            </a:lnSpc>
            <a:spcBef>
              <a:spcPct val="0"/>
            </a:spcBef>
            <a:spcAft>
              <a:spcPct val="15000"/>
            </a:spcAft>
            <a:buChar char="•"/>
          </a:pPr>
          <a:r>
            <a:rPr kumimoji="1" lang="ja-JP" altLang="en-US" sz="1400" kern="1200" dirty="0">
              <a:solidFill>
                <a:srgbClr val="000000">
                  <a:hueOff val="0"/>
                  <a:satOff val="0"/>
                  <a:lumOff val="0"/>
                  <a:alphaOff val="0"/>
                </a:srgbClr>
              </a:solidFill>
              <a:latin typeface="Arial"/>
              <a:ea typeface="+mn-ea"/>
              <a:cs typeface="+mn-cs"/>
            </a:rPr>
            <a:t>移植</a:t>
          </a:r>
        </a:p>
      </dsp:txBody>
      <dsp:txXfrm>
        <a:off x="4659521" y="2194093"/>
        <a:ext cx="6635587" cy="707388"/>
      </dsp:txXfrm>
    </dsp:sp>
    <dsp:sp modelId="{215E1F48-CD52-4723-914D-7CC8011CF719}">
      <dsp:nvSpPr>
        <dsp:cNvPr id="0" name=""/>
        <dsp:cNvSpPr/>
      </dsp:nvSpPr>
      <dsp:spPr>
        <a:xfrm>
          <a:off x="0" y="2076195"/>
          <a:ext cx="4659521" cy="943184"/>
        </a:xfrm>
        <a:prstGeom prst="roundRect">
          <a:avLst/>
        </a:prstGeom>
        <a:gradFill rotWithShape="0">
          <a:gsLst>
            <a:gs pos="0">
              <a:srgbClr val="2A6EBB">
                <a:shade val="50000"/>
                <a:hueOff val="608534"/>
                <a:satOff val="-30256"/>
                <a:lumOff val="51081"/>
                <a:alphaOff val="0"/>
                <a:tint val="100000"/>
                <a:shade val="100000"/>
                <a:satMod val="130000"/>
              </a:srgbClr>
            </a:gs>
            <a:gs pos="100000">
              <a:srgbClr val="2A6EBB">
                <a:shade val="50000"/>
                <a:hueOff val="608534"/>
                <a:satOff val="-30256"/>
                <a:lumOff val="51081"/>
                <a:alphaOff val="0"/>
                <a:tint val="50000"/>
                <a:shade val="100000"/>
                <a:satMod val="350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kumimoji="1" lang="ja-JP" altLang="en-US" sz="3100" kern="1200" dirty="0">
              <a:solidFill>
                <a:sysClr val="window" lastClr="FFFFFF"/>
              </a:solidFill>
              <a:latin typeface="Arial"/>
              <a:ea typeface="+mn-ea"/>
              <a:cs typeface="+mn-cs"/>
            </a:rPr>
            <a:t>その他外科手術</a:t>
          </a:r>
        </a:p>
      </dsp:txBody>
      <dsp:txXfrm>
        <a:off x="46042" y="2122237"/>
        <a:ext cx="4567437" cy="851100"/>
      </dsp:txXfrm>
    </dsp:sp>
    <dsp:sp modelId="{D576E735-8C29-4864-BB72-0734CB5F5D87}">
      <dsp:nvSpPr>
        <dsp:cNvPr id="0" name=""/>
        <dsp:cNvSpPr/>
      </dsp:nvSpPr>
      <dsp:spPr>
        <a:xfrm>
          <a:off x="4659521" y="3113699"/>
          <a:ext cx="6989281" cy="943184"/>
        </a:xfrm>
        <a:prstGeom prst="rightArrow">
          <a:avLst>
            <a:gd name="adj1" fmla="val 75000"/>
            <a:gd name="adj2" fmla="val 50000"/>
          </a:avLst>
        </a:prstGeom>
        <a:solidFill>
          <a:schemeClr val="accent3">
            <a:lumMod val="60000"/>
            <a:lumOff val="40000"/>
            <a:alpha val="90000"/>
          </a:schemeClr>
        </a:solidFill>
        <a:ln w="9525" cap="flat" cmpd="sng" algn="ctr">
          <a:solidFill>
            <a:sysClr val="window" lastClr="FFFFFF">
              <a:hueOff val="0"/>
              <a:satOff val="0"/>
              <a:lumOff val="0"/>
              <a:alphaOff val="0"/>
            </a:sysClr>
          </a:solidFill>
          <a:prstDash val="solid"/>
          <a:miter lim="800000"/>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kumimoji="1" lang="ja-JP" altLang="en-US" sz="1800" b="1" kern="1200" dirty="0">
              <a:solidFill>
                <a:srgbClr val="FF0000"/>
              </a:solidFill>
              <a:latin typeface="Arial"/>
              <a:ea typeface="+mn-ea"/>
              <a:cs typeface="+mn-cs"/>
            </a:rPr>
            <a:t>外傷　頭部外傷</a:t>
          </a:r>
        </a:p>
        <a:p>
          <a:pPr marL="114300" lvl="1" indent="-114300" algn="l" defTabSz="622300">
            <a:lnSpc>
              <a:spcPct val="90000"/>
            </a:lnSpc>
            <a:spcBef>
              <a:spcPct val="0"/>
            </a:spcBef>
            <a:spcAft>
              <a:spcPct val="15000"/>
            </a:spcAft>
            <a:buChar char="•"/>
          </a:pPr>
          <a:r>
            <a:rPr kumimoji="1" lang="ja-JP" altLang="en-US" sz="1400" kern="1200" dirty="0">
              <a:solidFill>
                <a:srgbClr val="000000">
                  <a:hueOff val="0"/>
                  <a:satOff val="0"/>
                  <a:lumOff val="0"/>
                  <a:alphaOff val="0"/>
                </a:srgbClr>
              </a:solidFill>
              <a:latin typeface="Arial"/>
              <a:ea typeface="+mn-ea"/>
              <a:cs typeface="+mn-cs"/>
            </a:rPr>
            <a:t>熱傷</a:t>
          </a:r>
        </a:p>
      </dsp:txBody>
      <dsp:txXfrm>
        <a:off x="4659521" y="3231597"/>
        <a:ext cx="6635587" cy="707388"/>
      </dsp:txXfrm>
    </dsp:sp>
    <dsp:sp modelId="{D2A286B4-FCD9-49DF-82AC-03F717F3D9D7}">
      <dsp:nvSpPr>
        <dsp:cNvPr id="0" name=""/>
        <dsp:cNvSpPr/>
      </dsp:nvSpPr>
      <dsp:spPr>
        <a:xfrm>
          <a:off x="0" y="3113699"/>
          <a:ext cx="4659521" cy="943184"/>
        </a:xfrm>
        <a:prstGeom prst="round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kumimoji="1" lang="ja-JP" altLang="en-US" sz="3100" b="1" kern="1200" dirty="0">
              <a:solidFill>
                <a:schemeClr val="tx2"/>
              </a:solidFill>
              <a:latin typeface="Arial"/>
              <a:ea typeface="+mn-ea"/>
              <a:cs typeface="+mn-cs"/>
            </a:rPr>
            <a:t>救急</a:t>
          </a:r>
        </a:p>
      </dsp:txBody>
      <dsp:txXfrm>
        <a:off x="46042" y="3159741"/>
        <a:ext cx="4567437" cy="8511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14B1DB-3F97-462A-BE1E-533EC342BFD3}">
      <dsp:nvSpPr>
        <dsp:cNvPr id="0" name=""/>
        <dsp:cNvSpPr/>
      </dsp:nvSpPr>
      <dsp:spPr>
        <a:xfrm>
          <a:off x="0" y="0"/>
          <a:ext cx="9529736" cy="2150971"/>
        </a:xfrm>
        <a:prstGeom prst="roundRect">
          <a:avLst>
            <a:gd name="adj" fmla="val 10000"/>
          </a:avLst>
        </a:prstGeom>
        <a:gradFill rotWithShape="0">
          <a:gsLst>
            <a:gs pos="0">
              <a:schemeClr val="accent2">
                <a:alpha val="90000"/>
                <a:hueOff val="0"/>
                <a:satOff val="0"/>
                <a:lumOff val="0"/>
                <a:alphaOff val="0"/>
                <a:lumMod val="110000"/>
                <a:satMod val="105000"/>
                <a:tint val="67000"/>
              </a:schemeClr>
            </a:gs>
            <a:gs pos="50000">
              <a:schemeClr val="accent2">
                <a:alpha val="90000"/>
                <a:hueOff val="0"/>
                <a:satOff val="0"/>
                <a:lumOff val="0"/>
                <a:alphaOff val="0"/>
                <a:lumMod val="105000"/>
                <a:satMod val="103000"/>
                <a:tint val="73000"/>
              </a:schemeClr>
            </a:gs>
            <a:gs pos="100000">
              <a:schemeClr val="accent2">
                <a:alpha val="9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kumimoji="1" lang="ja-JP" altLang="en-US" sz="2800" b="1" kern="1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グローバルヘモスタシス</a:t>
          </a:r>
          <a:endParaRPr kumimoji="1" lang="en-US" altLang="ja-JP" sz="2800" b="1" kern="1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endParaRPr>
        </a:p>
        <a:p>
          <a:pPr marL="0" lvl="0" indent="0" algn="l" defTabSz="1244600">
            <a:lnSpc>
              <a:spcPct val="90000"/>
            </a:lnSpc>
            <a:spcBef>
              <a:spcPct val="0"/>
            </a:spcBef>
            <a:spcAft>
              <a:spcPct val="35000"/>
            </a:spcAft>
            <a:buNone/>
          </a:pPr>
          <a:r>
            <a:rPr lang="ja-JP" altLang="en-US" sz="2000" b="0" u="sng" kern="1200" dirty="0">
              <a:latin typeface="メイリオ" panose="020B0604030504040204" pitchFamily="50" charset="-128"/>
              <a:ea typeface="メイリオ" panose="020B0604030504040204" pitchFamily="50" charset="-128"/>
            </a:rPr>
            <a:t>凝固因子やヘパリンの影響</a:t>
          </a:r>
          <a:r>
            <a:rPr lang="ja-JP" altLang="en-US" sz="2000" b="0" u="none" kern="1200" dirty="0">
              <a:latin typeface="メイリオ" panose="020B0604030504040204" pitchFamily="50" charset="-128"/>
              <a:ea typeface="メイリオ" panose="020B0604030504040204" pitchFamily="50" charset="-128"/>
            </a:rPr>
            <a:t>、フィブリノゲンや血小板機能などを包括的に評価</a:t>
          </a:r>
          <a:endParaRPr kumimoji="1" lang="ja-JP" altLang="en-US" sz="2000" b="0" kern="1200" dirty="0">
            <a:latin typeface="メイリオ" panose="020B0604030504040204" pitchFamily="50" charset="-128"/>
            <a:ea typeface="メイリオ" panose="020B0604030504040204" pitchFamily="50" charset="-128"/>
          </a:endParaRPr>
        </a:p>
      </dsp:txBody>
      <dsp:txXfrm>
        <a:off x="2151780" y="0"/>
        <a:ext cx="7377955" cy="2150971"/>
      </dsp:txXfrm>
    </dsp:sp>
    <dsp:sp modelId="{7523DDED-F894-4814-87E9-A2C1919B160A}">
      <dsp:nvSpPr>
        <dsp:cNvPr id="0" name=""/>
        <dsp:cNvSpPr/>
      </dsp:nvSpPr>
      <dsp:spPr>
        <a:xfrm rot="5400000">
          <a:off x="208810" y="535487"/>
          <a:ext cx="1979993" cy="1079996"/>
        </a:xfrm>
        <a:prstGeom prst="roundRect">
          <a:avLst>
            <a:gd name="adj" fmla="val 10000"/>
          </a:avLst>
        </a:prstGeom>
        <a:blipFill rotWithShape="1">
          <a:blip xmlns:r="http://schemas.openxmlformats.org/officeDocument/2006/relationships" r:embed="rId1"/>
          <a:stretch>
            <a:fillRect/>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62474295-9D91-429C-ACEB-0AAED19F711F}">
      <dsp:nvSpPr>
        <dsp:cNvPr id="0" name=""/>
        <dsp:cNvSpPr/>
      </dsp:nvSpPr>
      <dsp:spPr>
        <a:xfrm>
          <a:off x="0" y="2376130"/>
          <a:ext cx="9529736" cy="2458336"/>
        </a:xfrm>
        <a:prstGeom prst="roundRect">
          <a:avLst>
            <a:gd name="adj" fmla="val 10000"/>
          </a:avLst>
        </a:prstGeom>
        <a:solidFill>
          <a:srgbClr val="CCFF99"/>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8000" rIns="106680" bIns="106680" numCol="1" spcCol="1270" anchor="ctr" anchorCtr="0">
          <a:noAutofit/>
        </a:bodyPr>
        <a:lstStyle/>
        <a:p>
          <a:pPr marL="0" lvl="0" indent="0" algn="l" defTabSz="1244600">
            <a:lnSpc>
              <a:spcPct val="90000"/>
            </a:lnSpc>
            <a:spcBef>
              <a:spcPct val="0"/>
            </a:spcBef>
            <a:spcAft>
              <a:spcPct val="35000"/>
            </a:spcAft>
            <a:buNone/>
          </a:pPr>
          <a:r>
            <a:rPr kumimoji="1" lang="ja-JP" altLang="en-US" sz="2800" b="1" kern="1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rPr>
            <a:t>プレートレットマッピング</a:t>
          </a:r>
          <a:endParaRPr kumimoji="1" lang="en-US" altLang="ja-JP" sz="2800" b="1" kern="1200" dirty="0">
            <a:effectLst>
              <a:outerShdw blurRad="38100" dist="38100" dir="2700000" algn="tl">
                <a:srgbClr val="000000">
                  <a:alpha val="43137"/>
                </a:srgbClr>
              </a:outerShdw>
            </a:effectLst>
            <a:latin typeface="メイリオ" panose="020B0604030504040204" pitchFamily="50" charset="-128"/>
            <a:ea typeface="メイリオ" panose="020B0604030504040204" pitchFamily="50" charset="-128"/>
          </a:endParaRPr>
        </a:p>
        <a:p>
          <a:pPr marL="0" lvl="0" indent="0" algn="l" defTabSz="1244600">
            <a:lnSpc>
              <a:spcPct val="90000"/>
            </a:lnSpc>
            <a:spcBef>
              <a:spcPct val="0"/>
            </a:spcBef>
            <a:spcAft>
              <a:spcPct val="35000"/>
            </a:spcAft>
            <a:buNone/>
          </a:pPr>
          <a:r>
            <a:rPr kumimoji="1" lang="ja-JP" altLang="en-US" sz="2000" b="0" u="none" kern="1200" dirty="0">
              <a:latin typeface="メイリオ" panose="020B0604030504040204" pitchFamily="50" charset="-128"/>
              <a:ea typeface="メイリオ" panose="020B0604030504040204" pitchFamily="50" charset="-128"/>
            </a:rPr>
            <a:t>特定のレセプターにおける血小板活性を測定。アスピリンやプラビックス等で</a:t>
          </a:r>
          <a:r>
            <a:rPr kumimoji="1" lang="ja-JP" altLang="en-US" sz="2000" b="0" u="sng" kern="1200" dirty="0">
              <a:latin typeface="メイリオ" panose="020B0604030504040204" pitchFamily="50" charset="-128"/>
              <a:ea typeface="メイリオ" panose="020B0604030504040204" pitchFamily="50" charset="-128"/>
            </a:rPr>
            <a:t>抑制された血餅強度を測定する</a:t>
          </a:r>
        </a:p>
        <a:p>
          <a:pPr marL="0" lvl="0" indent="0" algn="l" defTabSz="1244600">
            <a:lnSpc>
              <a:spcPct val="90000"/>
            </a:lnSpc>
            <a:spcBef>
              <a:spcPct val="0"/>
            </a:spcBef>
            <a:spcAft>
              <a:spcPct val="35000"/>
            </a:spcAft>
            <a:buNone/>
          </a:pPr>
          <a:r>
            <a:rPr lang="en-US" altLang="ja-JP" sz="2000" b="0" u="none" kern="1200" dirty="0">
              <a:solidFill>
                <a:srgbClr val="FF0000"/>
              </a:solidFill>
              <a:latin typeface="メイリオ" panose="020B0604030504040204" pitchFamily="50" charset="-128"/>
              <a:ea typeface="メイリオ" panose="020B0604030504040204" pitchFamily="50" charset="-128"/>
            </a:rPr>
            <a:t>※</a:t>
          </a:r>
          <a:r>
            <a:rPr lang="ja-JP" altLang="en-US" sz="2000" b="0" u="none" kern="1200" dirty="0">
              <a:solidFill>
                <a:srgbClr val="FF0000"/>
              </a:solidFill>
              <a:latin typeface="メイリオ" panose="020B0604030504040204" pitchFamily="50" charset="-128"/>
              <a:ea typeface="メイリオ" panose="020B0604030504040204" pitchFamily="50" charset="-128"/>
            </a:rPr>
            <a:t>血液粘弾性検査装置では</a:t>
          </a:r>
          <a:r>
            <a:rPr lang="en-US" altLang="ja-JP" sz="2000" b="0" u="none" kern="1200" dirty="0">
              <a:solidFill>
                <a:srgbClr val="FF0000"/>
              </a:solidFill>
              <a:latin typeface="メイリオ" panose="020B0604030504040204" pitchFamily="50" charset="-128"/>
              <a:ea typeface="メイリオ" panose="020B0604030504040204" pitchFamily="50" charset="-128"/>
            </a:rPr>
            <a:t>TEG</a:t>
          </a:r>
          <a:r>
            <a:rPr lang="ja-JP" altLang="en-US" sz="2000" b="0" u="none" kern="1200" dirty="0">
              <a:solidFill>
                <a:srgbClr val="FF0000"/>
              </a:solidFill>
              <a:latin typeface="メイリオ" panose="020B0604030504040204" pitchFamily="50" charset="-128"/>
              <a:ea typeface="メイリオ" panose="020B0604030504040204" pitchFamily="50" charset="-128"/>
            </a:rPr>
            <a:t>だけ！</a:t>
          </a:r>
          <a:endParaRPr lang="en-US" altLang="ja-JP" sz="2000" b="0" u="none" kern="1200" dirty="0">
            <a:solidFill>
              <a:srgbClr val="FF0000"/>
            </a:solidFill>
            <a:latin typeface="メイリオ" panose="020B0604030504040204" pitchFamily="50" charset="-128"/>
            <a:ea typeface="メイリオ" panose="020B0604030504040204" pitchFamily="50" charset="-128"/>
          </a:endParaRPr>
        </a:p>
      </dsp:txBody>
      <dsp:txXfrm>
        <a:off x="2151780" y="2376130"/>
        <a:ext cx="7377955" cy="2458336"/>
      </dsp:txXfrm>
    </dsp:sp>
    <dsp:sp modelId="{E467EAE4-3F19-4601-962E-0C2FACB27657}">
      <dsp:nvSpPr>
        <dsp:cNvPr id="0" name=""/>
        <dsp:cNvSpPr/>
      </dsp:nvSpPr>
      <dsp:spPr>
        <a:xfrm rot="5400000">
          <a:off x="208810" y="3085974"/>
          <a:ext cx="1979993" cy="1079996"/>
        </a:xfrm>
        <a:prstGeom prst="roundRect">
          <a:avLst>
            <a:gd name="adj" fmla="val 10000"/>
          </a:avLst>
        </a:prstGeom>
        <a:blipFill rotWithShape="1">
          <a:blip xmlns:r="http://schemas.openxmlformats.org/officeDocument/2006/relationships" r:embed="rId2"/>
          <a:stretch>
            <a:fillRect/>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30980C-89FF-49A1-A1CE-CC6852319095}">
      <dsp:nvSpPr>
        <dsp:cNvPr id="0" name=""/>
        <dsp:cNvSpPr/>
      </dsp:nvSpPr>
      <dsp:spPr>
        <a:xfrm>
          <a:off x="4659521" y="1188"/>
          <a:ext cx="6989281" cy="943184"/>
        </a:xfrm>
        <a:prstGeom prst="rightArrow">
          <a:avLst>
            <a:gd name="adj1" fmla="val 75000"/>
            <a:gd name="adj2" fmla="val 50000"/>
          </a:avLst>
        </a:prstGeom>
        <a:solidFill>
          <a:srgbClr val="2A6EBB">
            <a:alpha val="90000"/>
            <a:tint val="55000"/>
            <a:hueOff val="0"/>
            <a:satOff val="0"/>
            <a:lumOff val="0"/>
            <a:alphaOff val="0"/>
          </a:srgbClr>
        </a:solidFill>
        <a:ln w="9525" cap="flat" cmpd="sng" algn="ctr">
          <a:solidFill>
            <a:sysClr val="window" lastClr="FFFFFF">
              <a:hueOff val="0"/>
              <a:satOff val="0"/>
              <a:lumOff val="0"/>
              <a:alphaOff val="0"/>
            </a:sysClr>
          </a:solidFill>
          <a:prstDash val="solid"/>
          <a:miter lim="800000"/>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kumimoji="1" lang="ja-JP" altLang="en-US" sz="1400" kern="1200" dirty="0">
              <a:solidFill>
                <a:srgbClr val="000000">
                  <a:hueOff val="0"/>
                  <a:satOff val="0"/>
                  <a:lumOff val="0"/>
                  <a:alphaOff val="0"/>
                </a:srgbClr>
              </a:solidFill>
              <a:latin typeface="Arial"/>
              <a:ea typeface="+mn-ea"/>
              <a:cs typeface="+mn-cs"/>
            </a:rPr>
            <a:t>周術期出血管理</a:t>
          </a:r>
        </a:p>
      </dsp:txBody>
      <dsp:txXfrm>
        <a:off x="4659521" y="119086"/>
        <a:ext cx="6635587" cy="707388"/>
      </dsp:txXfrm>
    </dsp:sp>
    <dsp:sp modelId="{F3346514-A460-4848-986E-239925543411}">
      <dsp:nvSpPr>
        <dsp:cNvPr id="0" name=""/>
        <dsp:cNvSpPr/>
      </dsp:nvSpPr>
      <dsp:spPr>
        <a:xfrm>
          <a:off x="0" y="1188"/>
          <a:ext cx="4659521" cy="943184"/>
        </a:xfrm>
        <a:prstGeom prst="roundRect">
          <a:avLst/>
        </a:prstGeom>
        <a:gradFill rotWithShape="0">
          <a:gsLst>
            <a:gs pos="0">
              <a:schemeClr val="tx2">
                <a:lumMod val="10000"/>
                <a:lumOff val="90000"/>
              </a:schemeClr>
            </a:gs>
            <a:gs pos="100000">
              <a:srgbClr val="2A6EBB">
                <a:shade val="50000"/>
                <a:hueOff val="0"/>
                <a:satOff val="0"/>
                <a:lumOff val="0"/>
                <a:alphaOff val="0"/>
                <a:tint val="50000"/>
                <a:shade val="100000"/>
                <a:satMod val="350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kumimoji="1" lang="ja-JP" altLang="en-US" sz="3100" kern="1200" dirty="0">
              <a:solidFill>
                <a:sysClr val="window" lastClr="FFFFFF"/>
              </a:solidFill>
              <a:latin typeface="Arial"/>
              <a:ea typeface="+mn-ea"/>
              <a:cs typeface="+mn-cs"/>
            </a:rPr>
            <a:t>心臓血管外科</a:t>
          </a:r>
        </a:p>
      </dsp:txBody>
      <dsp:txXfrm>
        <a:off x="46042" y="47230"/>
        <a:ext cx="4567437" cy="851100"/>
      </dsp:txXfrm>
    </dsp:sp>
    <dsp:sp modelId="{A16469D5-3777-42F1-BEB5-FBBD261A0CBA}">
      <dsp:nvSpPr>
        <dsp:cNvPr id="0" name=""/>
        <dsp:cNvSpPr/>
      </dsp:nvSpPr>
      <dsp:spPr>
        <a:xfrm>
          <a:off x="4659521" y="1038692"/>
          <a:ext cx="6989281" cy="943184"/>
        </a:xfrm>
        <a:prstGeom prst="rightArrow">
          <a:avLst>
            <a:gd name="adj1" fmla="val 75000"/>
            <a:gd name="adj2" fmla="val 50000"/>
          </a:avLst>
        </a:prstGeom>
        <a:solidFill>
          <a:schemeClr val="accent6">
            <a:lumMod val="20000"/>
            <a:lumOff val="80000"/>
            <a:alpha val="90000"/>
          </a:schemeClr>
        </a:solidFill>
        <a:ln w="9525" cap="flat" cmpd="sng" algn="ctr">
          <a:solidFill>
            <a:sysClr val="window" lastClr="FFFFFF">
              <a:hueOff val="0"/>
              <a:satOff val="0"/>
              <a:lumOff val="0"/>
              <a:alphaOff val="0"/>
            </a:sysClr>
          </a:solidFill>
          <a:prstDash val="solid"/>
          <a:miter lim="800000"/>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kumimoji="1" lang="ja-JP" altLang="en-US" sz="1800" b="1" kern="1200" dirty="0">
              <a:solidFill>
                <a:srgbClr val="FF0000"/>
              </a:solidFill>
              <a:latin typeface="Arial"/>
              <a:ea typeface="+mn-ea"/>
              <a:cs typeface="+mn-cs"/>
            </a:rPr>
            <a:t>抗凝固管理（</a:t>
          </a:r>
          <a:r>
            <a:rPr kumimoji="1" lang="en-US" altLang="ja-JP" sz="1800" b="1" kern="1200" dirty="0">
              <a:solidFill>
                <a:srgbClr val="FF0000"/>
              </a:solidFill>
              <a:latin typeface="Arial"/>
              <a:ea typeface="+mn-ea"/>
              <a:cs typeface="+mn-cs"/>
            </a:rPr>
            <a:t>ECMO</a:t>
          </a:r>
          <a:r>
            <a:rPr kumimoji="1" lang="ja-JP" altLang="en-US" sz="1800" b="1" kern="1200">
              <a:solidFill>
                <a:srgbClr val="FF0000"/>
              </a:solidFill>
              <a:latin typeface="Arial"/>
              <a:ea typeface="+mn-ea"/>
              <a:cs typeface="+mn-cs"/>
            </a:rPr>
            <a:t>　</a:t>
          </a:r>
          <a:r>
            <a:rPr kumimoji="1" lang="en-US" altLang="ja-JP" sz="1800" b="1" kern="1200" dirty="0">
              <a:solidFill>
                <a:srgbClr val="FF0000"/>
              </a:solidFill>
              <a:latin typeface="Arial"/>
              <a:ea typeface="+mn-ea"/>
              <a:cs typeface="+mn-cs"/>
            </a:rPr>
            <a:t>IMPELLA</a:t>
          </a:r>
          <a:r>
            <a:rPr kumimoji="1" lang="ja-JP" altLang="en-US" sz="1800" b="1" kern="1200">
              <a:solidFill>
                <a:srgbClr val="FF0000"/>
              </a:solidFill>
              <a:latin typeface="Arial"/>
              <a:ea typeface="+mn-ea"/>
              <a:cs typeface="+mn-cs"/>
            </a:rPr>
            <a:t>　</a:t>
          </a:r>
          <a:r>
            <a:rPr kumimoji="1" lang="en-US" altLang="ja-JP" sz="1800" b="1" kern="1200" dirty="0">
              <a:solidFill>
                <a:srgbClr val="FF0000"/>
              </a:solidFill>
              <a:latin typeface="Arial"/>
              <a:ea typeface="+mn-ea"/>
              <a:cs typeface="+mn-cs"/>
            </a:rPr>
            <a:t>VAD</a:t>
          </a:r>
          <a:r>
            <a:rPr kumimoji="1" lang="ja-JP" altLang="en-US" sz="1800" b="1" kern="1200" dirty="0">
              <a:solidFill>
                <a:srgbClr val="FF0000"/>
              </a:solidFill>
              <a:latin typeface="Arial"/>
              <a:ea typeface="+mn-ea"/>
              <a:cs typeface="+mn-cs"/>
            </a:rPr>
            <a:t>管理）</a:t>
          </a:r>
        </a:p>
        <a:p>
          <a:pPr marL="114300" lvl="1" indent="-114300" algn="l" defTabSz="622300">
            <a:lnSpc>
              <a:spcPct val="90000"/>
            </a:lnSpc>
            <a:spcBef>
              <a:spcPct val="0"/>
            </a:spcBef>
            <a:spcAft>
              <a:spcPct val="15000"/>
            </a:spcAft>
            <a:buChar char="•"/>
          </a:pPr>
          <a:r>
            <a:rPr kumimoji="1" lang="ja-JP" altLang="en-US" sz="1400" kern="1200" dirty="0">
              <a:solidFill>
                <a:srgbClr val="000000">
                  <a:hueOff val="0"/>
                  <a:satOff val="0"/>
                  <a:lumOff val="0"/>
                  <a:alphaOff val="0"/>
                </a:srgbClr>
              </a:solidFill>
              <a:latin typeface="Arial"/>
              <a:ea typeface="+mn-ea"/>
              <a:cs typeface="+mn-cs"/>
            </a:rPr>
            <a:t>術後出血管理</a:t>
          </a:r>
        </a:p>
      </dsp:txBody>
      <dsp:txXfrm>
        <a:off x="4659521" y="1156590"/>
        <a:ext cx="6635587" cy="707388"/>
      </dsp:txXfrm>
    </dsp:sp>
    <dsp:sp modelId="{1302463F-8F1A-4614-AEAA-0245CC66CF8C}">
      <dsp:nvSpPr>
        <dsp:cNvPr id="0" name=""/>
        <dsp:cNvSpPr/>
      </dsp:nvSpPr>
      <dsp:spPr>
        <a:xfrm>
          <a:off x="0" y="1038692"/>
          <a:ext cx="4659521" cy="943184"/>
        </a:xfrm>
        <a:prstGeom prst="round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kumimoji="1" lang="en-US" altLang="ja-JP" sz="3100" b="1" kern="1200" dirty="0">
              <a:solidFill>
                <a:schemeClr val="tx2"/>
              </a:solidFill>
              <a:latin typeface="Arial"/>
              <a:ea typeface="+mn-ea"/>
              <a:cs typeface="+mn-cs"/>
            </a:rPr>
            <a:t>ICU</a:t>
          </a:r>
          <a:endParaRPr kumimoji="1" lang="ja-JP" altLang="en-US" sz="3100" b="1" kern="1200" dirty="0">
            <a:solidFill>
              <a:schemeClr val="tx2"/>
            </a:solidFill>
            <a:latin typeface="Arial"/>
            <a:ea typeface="+mn-ea"/>
            <a:cs typeface="+mn-cs"/>
          </a:endParaRPr>
        </a:p>
      </dsp:txBody>
      <dsp:txXfrm>
        <a:off x="46042" y="1084734"/>
        <a:ext cx="4567437" cy="851100"/>
      </dsp:txXfrm>
    </dsp:sp>
    <dsp:sp modelId="{586AA200-FF54-46D9-8519-401ECE0E5C04}">
      <dsp:nvSpPr>
        <dsp:cNvPr id="0" name=""/>
        <dsp:cNvSpPr/>
      </dsp:nvSpPr>
      <dsp:spPr>
        <a:xfrm>
          <a:off x="4659521" y="2076195"/>
          <a:ext cx="6989281" cy="943184"/>
        </a:xfrm>
        <a:prstGeom prst="rightArrow">
          <a:avLst>
            <a:gd name="adj1" fmla="val 75000"/>
            <a:gd name="adj2" fmla="val 50000"/>
          </a:avLst>
        </a:prstGeom>
        <a:solidFill>
          <a:srgbClr val="2A6EBB">
            <a:alpha val="90000"/>
            <a:tint val="55000"/>
            <a:hueOff val="0"/>
            <a:satOff val="0"/>
            <a:lumOff val="0"/>
            <a:alphaOff val="0"/>
          </a:srgbClr>
        </a:solidFill>
        <a:ln w="9525" cap="flat" cmpd="sng" algn="ctr">
          <a:solidFill>
            <a:sysClr val="window" lastClr="FFFFFF">
              <a:hueOff val="0"/>
              <a:satOff val="0"/>
              <a:lumOff val="0"/>
              <a:alphaOff val="0"/>
            </a:sysClr>
          </a:solidFill>
          <a:prstDash val="solid"/>
          <a:miter lim="800000"/>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kumimoji="1" lang="ja-JP" altLang="en-US" sz="1400" kern="1200" dirty="0">
              <a:solidFill>
                <a:srgbClr val="000000">
                  <a:hueOff val="0"/>
                  <a:satOff val="0"/>
                  <a:lumOff val="0"/>
                  <a:alphaOff val="0"/>
                </a:srgbClr>
              </a:solidFill>
              <a:latin typeface="Arial"/>
              <a:ea typeface="+mn-ea"/>
              <a:cs typeface="+mn-cs"/>
            </a:rPr>
            <a:t>産婦人科</a:t>
          </a:r>
        </a:p>
        <a:p>
          <a:pPr marL="114300" lvl="1" indent="-114300" algn="l" defTabSz="622300">
            <a:lnSpc>
              <a:spcPct val="90000"/>
            </a:lnSpc>
            <a:spcBef>
              <a:spcPct val="0"/>
            </a:spcBef>
            <a:spcAft>
              <a:spcPct val="15000"/>
            </a:spcAft>
            <a:buChar char="•"/>
          </a:pPr>
          <a:r>
            <a:rPr kumimoji="1" lang="ja-JP" altLang="en-US" sz="1400" kern="1200" dirty="0">
              <a:solidFill>
                <a:srgbClr val="000000">
                  <a:hueOff val="0"/>
                  <a:satOff val="0"/>
                  <a:lumOff val="0"/>
                  <a:alphaOff val="0"/>
                </a:srgbClr>
              </a:solidFill>
              <a:latin typeface="Arial"/>
              <a:ea typeface="+mn-ea"/>
              <a:cs typeface="+mn-cs"/>
            </a:rPr>
            <a:t>移植</a:t>
          </a:r>
        </a:p>
      </dsp:txBody>
      <dsp:txXfrm>
        <a:off x="4659521" y="2194093"/>
        <a:ext cx="6635587" cy="707388"/>
      </dsp:txXfrm>
    </dsp:sp>
    <dsp:sp modelId="{215E1F48-CD52-4723-914D-7CC8011CF719}">
      <dsp:nvSpPr>
        <dsp:cNvPr id="0" name=""/>
        <dsp:cNvSpPr/>
      </dsp:nvSpPr>
      <dsp:spPr>
        <a:xfrm>
          <a:off x="0" y="2076195"/>
          <a:ext cx="4659521" cy="943184"/>
        </a:xfrm>
        <a:prstGeom prst="roundRect">
          <a:avLst/>
        </a:prstGeom>
        <a:gradFill rotWithShape="0">
          <a:gsLst>
            <a:gs pos="0">
              <a:srgbClr val="2A6EBB">
                <a:shade val="50000"/>
                <a:hueOff val="608534"/>
                <a:satOff val="-30256"/>
                <a:lumOff val="51081"/>
                <a:alphaOff val="0"/>
                <a:tint val="100000"/>
                <a:shade val="100000"/>
                <a:satMod val="130000"/>
              </a:srgbClr>
            </a:gs>
            <a:gs pos="100000">
              <a:srgbClr val="2A6EBB">
                <a:shade val="50000"/>
                <a:hueOff val="608534"/>
                <a:satOff val="-30256"/>
                <a:lumOff val="51081"/>
                <a:alphaOff val="0"/>
                <a:tint val="50000"/>
                <a:shade val="100000"/>
                <a:satMod val="350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kumimoji="1" lang="ja-JP" altLang="en-US" sz="3100" kern="1200" dirty="0">
              <a:solidFill>
                <a:sysClr val="window" lastClr="FFFFFF"/>
              </a:solidFill>
              <a:latin typeface="Arial"/>
              <a:ea typeface="+mn-ea"/>
              <a:cs typeface="+mn-cs"/>
            </a:rPr>
            <a:t>その他外科手術</a:t>
          </a:r>
        </a:p>
      </dsp:txBody>
      <dsp:txXfrm>
        <a:off x="46042" y="2122237"/>
        <a:ext cx="4567437" cy="851100"/>
      </dsp:txXfrm>
    </dsp:sp>
    <dsp:sp modelId="{D576E735-8C29-4864-BB72-0734CB5F5D87}">
      <dsp:nvSpPr>
        <dsp:cNvPr id="0" name=""/>
        <dsp:cNvSpPr/>
      </dsp:nvSpPr>
      <dsp:spPr>
        <a:xfrm>
          <a:off x="4659521" y="3113699"/>
          <a:ext cx="6989281" cy="943184"/>
        </a:xfrm>
        <a:prstGeom prst="rightArrow">
          <a:avLst>
            <a:gd name="adj1" fmla="val 75000"/>
            <a:gd name="adj2" fmla="val 50000"/>
          </a:avLst>
        </a:prstGeom>
        <a:solidFill>
          <a:schemeClr val="accent3">
            <a:lumMod val="60000"/>
            <a:lumOff val="40000"/>
            <a:alpha val="90000"/>
          </a:schemeClr>
        </a:solidFill>
        <a:ln w="9525" cap="flat" cmpd="sng" algn="ctr">
          <a:solidFill>
            <a:sysClr val="window" lastClr="FFFFFF">
              <a:hueOff val="0"/>
              <a:satOff val="0"/>
              <a:lumOff val="0"/>
              <a:alphaOff val="0"/>
            </a:sysClr>
          </a:solidFill>
          <a:prstDash val="solid"/>
          <a:miter lim="800000"/>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kumimoji="1" lang="ja-JP" altLang="en-US" sz="1800" b="1" kern="1200" dirty="0">
              <a:solidFill>
                <a:srgbClr val="FF0000"/>
              </a:solidFill>
              <a:latin typeface="Arial"/>
              <a:ea typeface="+mn-ea"/>
              <a:cs typeface="+mn-cs"/>
            </a:rPr>
            <a:t>外傷　頭部外傷</a:t>
          </a:r>
        </a:p>
        <a:p>
          <a:pPr marL="114300" lvl="1" indent="-114300" algn="l" defTabSz="622300">
            <a:lnSpc>
              <a:spcPct val="90000"/>
            </a:lnSpc>
            <a:spcBef>
              <a:spcPct val="0"/>
            </a:spcBef>
            <a:spcAft>
              <a:spcPct val="15000"/>
            </a:spcAft>
            <a:buChar char="•"/>
          </a:pPr>
          <a:r>
            <a:rPr kumimoji="1" lang="ja-JP" altLang="en-US" sz="1400" kern="1200" dirty="0">
              <a:solidFill>
                <a:srgbClr val="000000">
                  <a:hueOff val="0"/>
                  <a:satOff val="0"/>
                  <a:lumOff val="0"/>
                  <a:alphaOff val="0"/>
                </a:srgbClr>
              </a:solidFill>
              <a:latin typeface="Arial"/>
              <a:ea typeface="+mn-ea"/>
              <a:cs typeface="+mn-cs"/>
            </a:rPr>
            <a:t>熱傷</a:t>
          </a:r>
        </a:p>
      </dsp:txBody>
      <dsp:txXfrm>
        <a:off x="4659521" y="3231597"/>
        <a:ext cx="6635587" cy="707388"/>
      </dsp:txXfrm>
    </dsp:sp>
    <dsp:sp modelId="{D2A286B4-FCD9-49DF-82AC-03F717F3D9D7}">
      <dsp:nvSpPr>
        <dsp:cNvPr id="0" name=""/>
        <dsp:cNvSpPr/>
      </dsp:nvSpPr>
      <dsp:spPr>
        <a:xfrm>
          <a:off x="0" y="3113699"/>
          <a:ext cx="4659521" cy="943184"/>
        </a:xfrm>
        <a:prstGeom prst="round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kumimoji="1" lang="ja-JP" altLang="en-US" sz="3100" b="1" kern="1200" dirty="0">
              <a:solidFill>
                <a:schemeClr val="tx2"/>
              </a:solidFill>
              <a:latin typeface="Arial"/>
              <a:ea typeface="+mn-ea"/>
              <a:cs typeface="+mn-cs"/>
            </a:rPr>
            <a:t>救急</a:t>
          </a:r>
        </a:p>
      </dsp:txBody>
      <dsp:txXfrm>
        <a:off x="46042" y="3159741"/>
        <a:ext cx="4567437" cy="8511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30980C-89FF-49A1-A1CE-CC6852319095}">
      <dsp:nvSpPr>
        <dsp:cNvPr id="0" name=""/>
        <dsp:cNvSpPr/>
      </dsp:nvSpPr>
      <dsp:spPr>
        <a:xfrm>
          <a:off x="4659521" y="1188"/>
          <a:ext cx="6989281" cy="943184"/>
        </a:xfrm>
        <a:prstGeom prst="rightArrow">
          <a:avLst>
            <a:gd name="adj1" fmla="val 75000"/>
            <a:gd name="adj2" fmla="val 50000"/>
          </a:avLst>
        </a:prstGeom>
        <a:solidFill>
          <a:srgbClr val="2A6EBB">
            <a:alpha val="90000"/>
            <a:tint val="55000"/>
            <a:hueOff val="0"/>
            <a:satOff val="0"/>
            <a:lumOff val="0"/>
            <a:alphaOff val="0"/>
          </a:srgbClr>
        </a:solidFill>
        <a:ln w="9525" cap="flat" cmpd="sng" algn="ctr">
          <a:solidFill>
            <a:sysClr val="window" lastClr="FFFFFF">
              <a:hueOff val="0"/>
              <a:satOff val="0"/>
              <a:lumOff val="0"/>
              <a:alphaOff val="0"/>
            </a:sysClr>
          </a:solidFill>
          <a:prstDash val="solid"/>
          <a:miter lim="800000"/>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kumimoji="1" lang="ja-JP" altLang="en-US" sz="1400" kern="1200" dirty="0">
              <a:solidFill>
                <a:srgbClr val="000000">
                  <a:hueOff val="0"/>
                  <a:satOff val="0"/>
                  <a:lumOff val="0"/>
                  <a:alphaOff val="0"/>
                </a:srgbClr>
              </a:solidFill>
              <a:latin typeface="Arial"/>
              <a:ea typeface="+mn-ea"/>
              <a:cs typeface="+mn-cs"/>
            </a:rPr>
            <a:t>周術期出血管理</a:t>
          </a:r>
        </a:p>
      </dsp:txBody>
      <dsp:txXfrm>
        <a:off x="4659521" y="119086"/>
        <a:ext cx="6635587" cy="707388"/>
      </dsp:txXfrm>
    </dsp:sp>
    <dsp:sp modelId="{F3346514-A460-4848-986E-239925543411}">
      <dsp:nvSpPr>
        <dsp:cNvPr id="0" name=""/>
        <dsp:cNvSpPr/>
      </dsp:nvSpPr>
      <dsp:spPr>
        <a:xfrm>
          <a:off x="0" y="1188"/>
          <a:ext cx="4659521" cy="943184"/>
        </a:xfrm>
        <a:prstGeom prst="roundRect">
          <a:avLst/>
        </a:prstGeom>
        <a:gradFill rotWithShape="0">
          <a:gsLst>
            <a:gs pos="0">
              <a:schemeClr val="tx2">
                <a:lumMod val="10000"/>
                <a:lumOff val="90000"/>
              </a:schemeClr>
            </a:gs>
            <a:gs pos="100000">
              <a:srgbClr val="2A6EBB">
                <a:shade val="50000"/>
                <a:hueOff val="0"/>
                <a:satOff val="0"/>
                <a:lumOff val="0"/>
                <a:alphaOff val="0"/>
                <a:tint val="50000"/>
                <a:shade val="100000"/>
                <a:satMod val="350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kumimoji="1" lang="ja-JP" altLang="en-US" sz="3100" kern="1200" dirty="0">
              <a:solidFill>
                <a:sysClr val="window" lastClr="FFFFFF"/>
              </a:solidFill>
              <a:latin typeface="Arial"/>
              <a:ea typeface="+mn-ea"/>
              <a:cs typeface="+mn-cs"/>
            </a:rPr>
            <a:t>心臓血管外科</a:t>
          </a:r>
        </a:p>
      </dsp:txBody>
      <dsp:txXfrm>
        <a:off x="46042" y="47230"/>
        <a:ext cx="4567437" cy="851100"/>
      </dsp:txXfrm>
    </dsp:sp>
    <dsp:sp modelId="{A16469D5-3777-42F1-BEB5-FBBD261A0CBA}">
      <dsp:nvSpPr>
        <dsp:cNvPr id="0" name=""/>
        <dsp:cNvSpPr/>
      </dsp:nvSpPr>
      <dsp:spPr>
        <a:xfrm>
          <a:off x="4659521" y="1038692"/>
          <a:ext cx="6989281" cy="943184"/>
        </a:xfrm>
        <a:prstGeom prst="rightArrow">
          <a:avLst>
            <a:gd name="adj1" fmla="val 75000"/>
            <a:gd name="adj2" fmla="val 50000"/>
          </a:avLst>
        </a:prstGeom>
        <a:solidFill>
          <a:schemeClr val="accent6">
            <a:lumMod val="20000"/>
            <a:lumOff val="80000"/>
            <a:alpha val="90000"/>
          </a:schemeClr>
        </a:solidFill>
        <a:ln w="9525" cap="flat" cmpd="sng" algn="ctr">
          <a:solidFill>
            <a:sysClr val="window" lastClr="FFFFFF">
              <a:hueOff val="0"/>
              <a:satOff val="0"/>
              <a:lumOff val="0"/>
              <a:alphaOff val="0"/>
            </a:sysClr>
          </a:solidFill>
          <a:prstDash val="solid"/>
          <a:miter lim="800000"/>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kumimoji="1" lang="ja-JP" altLang="en-US" sz="1800" b="1" kern="1200" dirty="0">
              <a:solidFill>
                <a:srgbClr val="FF0000"/>
              </a:solidFill>
              <a:latin typeface="Arial"/>
              <a:ea typeface="+mn-ea"/>
              <a:cs typeface="+mn-cs"/>
            </a:rPr>
            <a:t>抗凝固管理（</a:t>
          </a:r>
          <a:r>
            <a:rPr kumimoji="1" lang="en-US" altLang="ja-JP" sz="1800" b="1" kern="1200" dirty="0">
              <a:solidFill>
                <a:srgbClr val="FF0000"/>
              </a:solidFill>
              <a:latin typeface="Arial"/>
              <a:ea typeface="+mn-ea"/>
              <a:cs typeface="+mn-cs"/>
            </a:rPr>
            <a:t>ECMO</a:t>
          </a:r>
          <a:r>
            <a:rPr kumimoji="1" lang="ja-JP" altLang="en-US" sz="1800" b="1" kern="1200">
              <a:solidFill>
                <a:srgbClr val="FF0000"/>
              </a:solidFill>
              <a:latin typeface="Arial"/>
              <a:ea typeface="+mn-ea"/>
              <a:cs typeface="+mn-cs"/>
            </a:rPr>
            <a:t>　</a:t>
          </a:r>
          <a:r>
            <a:rPr kumimoji="1" lang="en-US" altLang="ja-JP" sz="1800" b="1" kern="1200" dirty="0">
              <a:solidFill>
                <a:srgbClr val="FF0000"/>
              </a:solidFill>
              <a:latin typeface="Arial"/>
              <a:ea typeface="+mn-ea"/>
              <a:cs typeface="+mn-cs"/>
            </a:rPr>
            <a:t>IMPELLA</a:t>
          </a:r>
          <a:r>
            <a:rPr kumimoji="1" lang="ja-JP" altLang="en-US" sz="1800" b="1" kern="1200">
              <a:solidFill>
                <a:srgbClr val="FF0000"/>
              </a:solidFill>
              <a:latin typeface="Arial"/>
              <a:ea typeface="+mn-ea"/>
              <a:cs typeface="+mn-cs"/>
            </a:rPr>
            <a:t>　</a:t>
          </a:r>
          <a:r>
            <a:rPr kumimoji="1" lang="en-US" altLang="ja-JP" sz="1800" b="1" kern="1200" dirty="0">
              <a:solidFill>
                <a:srgbClr val="FF0000"/>
              </a:solidFill>
              <a:latin typeface="Arial"/>
              <a:ea typeface="+mn-ea"/>
              <a:cs typeface="+mn-cs"/>
            </a:rPr>
            <a:t>VAD</a:t>
          </a:r>
          <a:r>
            <a:rPr kumimoji="1" lang="ja-JP" altLang="en-US" sz="1800" b="1" kern="1200" dirty="0">
              <a:solidFill>
                <a:srgbClr val="FF0000"/>
              </a:solidFill>
              <a:latin typeface="Arial"/>
              <a:ea typeface="+mn-ea"/>
              <a:cs typeface="+mn-cs"/>
            </a:rPr>
            <a:t>管理）</a:t>
          </a:r>
        </a:p>
        <a:p>
          <a:pPr marL="114300" lvl="1" indent="-114300" algn="l" defTabSz="622300">
            <a:lnSpc>
              <a:spcPct val="90000"/>
            </a:lnSpc>
            <a:spcBef>
              <a:spcPct val="0"/>
            </a:spcBef>
            <a:spcAft>
              <a:spcPct val="15000"/>
            </a:spcAft>
            <a:buChar char="•"/>
          </a:pPr>
          <a:r>
            <a:rPr kumimoji="1" lang="ja-JP" altLang="en-US" sz="1400" kern="1200" dirty="0">
              <a:solidFill>
                <a:srgbClr val="000000">
                  <a:hueOff val="0"/>
                  <a:satOff val="0"/>
                  <a:lumOff val="0"/>
                  <a:alphaOff val="0"/>
                </a:srgbClr>
              </a:solidFill>
              <a:latin typeface="Arial"/>
              <a:ea typeface="+mn-ea"/>
              <a:cs typeface="+mn-cs"/>
            </a:rPr>
            <a:t>術後出血管理</a:t>
          </a:r>
        </a:p>
      </dsp:txBody>
      <dsp:txXfrm>
        <a:off x="4659521" y="1156590"/>
        <a:ext cx="6635587" cy="707388"/>
      </dsp:txXfrm>
    </dsp:sp>
    <dsp:sp modelId="{1302463F-8F1A-4614-AEAA-0245CC66CF8C}">
      <dsp:nvSpPr>
        <dsp:cNvPr id="0" name=""/>
        <dsp:cNvSpPr/>
      </dsp:nvSpPr>
      <dsp:spPr>
        <a:xfrm>
          <a:off x="0" y="1038692"/>
          <a:ext cx="4659521" cy="943184"/>
        </a:xfrm>
        <a:prstGeom prst="round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kumimoji="1" lang="en-US" altLang="ja-JP" sz="3100" b="1" kern="1200" dirty="0">
              <a:solidFill>
                <a:schemeClr val="tx2"/>
              </a:solidFill>
              <a:latin typeface="Arial"/>
              <a:ea typeface="+mn-ea"/>
              <a:cs typeface="+mn-cs"/>
            </a:rPr>
            <a:t>ICU</a:t>
          </a:r>
          <a:endParaRPr kumimoji="1" lang="ja-JP" altLang="en-US" sz="3100" b="1" kern="1200" dirty="0">
            <a:solidFill>
              <a:schemeClr val="tx2"/>
            </a:solidFill>
            <a:latin typeface="Arial"/>
            <a:ea typeface="+mn-ea"/>
            <a:cs typeface="+mn-cs"/>
          </a:endParaRPr>
        </a:p>
      </dsp:txBody>
      <dsp:txXfrm>
        <a:off x="46042" y="1084734"/>
        <a:ext cx="4567437" cy="851100"/>
      </dsp:txXfrm>
    </dsp:sp>
    <dsp:sp modelId="{586AA200-FF54-46D9-8519-401ECE0E5C04}">
      <dsp:nvSpPr>
        <dsp:cNvPr id="0" name=""/>
        <dsp:cNvSpPr/>
      </dsp:nvSpPr>
      <dsp:spPr>
        <a:xfrm>
          <a:off x="4659521" y="2076195"/>
          <a:ext cx="6989281" cy="943184"/>
        </a:xfrm>
        <a:prstGeom prst="rightArrow">
          <a:avLst>
            <a:gd name="adj1" fmla="val 75000"/>
            <a:gd name="adj2" fmla="val 50000"/>
          </a:avLst>
        </a:prstGeom>
        <a:solidFill>
          <a:srgbClr val="2A6EBB">
            <a:alpha val="90000"/>
            <a:tint val="55000"/>
            <a:hueOff val="0"/>
            <a:satOff val="0"/>
            <a:lumOff val="0"/>
            <a:alphaOff val="0"/>
          </a:srgbClr>
        </a:solidFill>
        <a:ln w="9525" cap="flat" cmpd="sng" algn="ctr">
          <a:solidFill>
            <a:sysClr val="window" lastClr="FFFFFF">
              <a:hueOff val="0"/>
              <a:satOff val="0"/>
              <a:lumOff val="0"/>
              <a:alphaOff val="0"/>
            </a:sysClr>
          </a:solidFill>
          <a:prstDash val="solid"/>
          <a:miter lim="800000"/>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kumimoji="1" lang="ja-JP" altLang="en-US" sz="1400" kern="1200" dirty="0">
              <a:solidFill>
                <a:srgbClr val="000000">
                  <a:hueOff val="0"/>
                  <a:satOff val="0"/>
                  <a:lumOff val="0"/>
                  <a:alphaOff val="0"/>
                </a:srgbClr>
              </a:solidFill>
              <a:latin typeface="Arial"/>
              <a:ea typeface="+mn-ea"/>
              <a:cs typeface="+mn-cs"/>
            </a:rPr>
            <a:t>産婦人科</a:t>
          </a:r>
        </a:p>
        <a:p>
          <a:pPr marL="114300" lvl="1" indent="-114300" algn="l" defTabSz="622300">
            <a:lnSpc>
              <a:spcPct val="90000"/>
            </a:lnSpc>
            <a:spcBef>
              <a:spcPct val="0"/>
            </a:spcBef>
            <a:spcAft>
              <a:spcPct val="15000"/>
            </a:spcAft>
            <a:buChar char="•"/>
          </a:pPr>
          <a:r>
            <a:rPr kumimoji="1" lang="ja-JP" altLang="en-US" sz="1400" kern="1200" dirty="0">
              <a:solidFill>
                <a:srgbClr val="000000">
                  <a:hueOff val="0"/>
                  <a:satOff val="0"/>
                  <a:lumOff val="0"/>
                  <a:alphaOff val="0"/>
                </a:srgbClr>
              </a:solidFill>
              <a:latin typeface="Arial"/>
              <a:ea typeface="+mn-ea"/>
              <a:cs typeface="+mn-cs"/>
            </a:rPr>
            <a:t>移植</a:t>
          </a:r>
        </a:p>
      </dsp:txBody>
      <dsp:txXfrm>
        <a:off x="4659521" y="2194093"/>
        <a:ext cx="6635587" cy="707388"/>
      </dsp:txXfrm>
    </dsp:sp>
    <dsp:sp modelId="{215E1F48-CD52-4723-914D-7CC8011CF719}">
      <dsp:nvSpPr>
        <dsp:cNvPr id="0" name=""/>
        <dsp:cNvSpPr/>
      </dsp:nvSpPr>
      <dsp:spPr>
        <a:xfrm>
          <a:off x="0" y="2076195"/>
          <a:ext cx="4659521" cy="943184"/>
        </a:xfrm>
        <a:prstGeom prst="roundRect">
          <a:avLst/>
        </a:prstGeom>
        <a:gradFill rotWithShape="0">
          <a:gsLst>
            <a:gs pos="0">
              <a:srgbClr val="2A6EBB">
                <a:shade val="50000"/>
                <a:hueOff val="608534"/>
                <a:satOff val="-30256"/>
                <a:lumOff val="51081"/>
                <a:alphaOff val="0"/>
                <a:tint val="100000"/>
                <a:shade val="100000"/>
                <a:satMod val="130000"/>
              </a:srgbClr>
            </a:gs>
            <a:gs pos="100000">
              <a:srgbClr val="2A6EBB">
                <a:shade val="50000"/>
                <a:hueOff val="608534"/>
                <a:satOff val="-30256"/>
                <a:lumOff val="51081"/>
                <a:alphaOff val="0"/>
                <a:tint val="50000"/>
                <a:shade val="100000"/>
                <a:satMod val="350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kumimoji="1" lang="ja-JP" altLang="en-US" sz="3100" kern="1200" dirty="0">
              <a:solidFill>
                <a:sysClr val="window" lastClr="FFFFFF"/>
              </a:solidFill>
              <a:latin typeface="Arial"/>
              <a:ea typeface="+mn-ea"/>
              <a:cs typeface="+mn-cs"/>
            </a:rPr>
            <a:t>その他外科手術</a:t>
          </a:r>
        </a:p>
      </dsp:txBody>
      <dsp:txXfrm>
        <a:off x="46042" y="2122237"/>
        <a:ext cx="4567437" cy="851100"/>
      </dsp:txXfrm>
    </dsp:sp>
    <dsp:sp modelId="{D576E735-8C29-4864-BB72-0734CB5F5D87}">
      <dsp:nvSpPr>
        <dsp:cNvPr id="0" name=""/>
        <dsp:cNvSpPr/>
      </dsp:nvSpPr>
      <dsp:spPr>
        <a:xfrm>
          <a:off x="4659521" y="3113699"/>
          <a:ext cx="6989281" cy="943184"/>
        </a:xfrm>
        <a:prstGeom prst="rightArrow">
          <a:avLst>
            <a:gd name="adj1" fmla="val 75000"/>
            <a:gd name="adj2" fmla="val 50000"/>
          </a:avLst>
        </a:prstGeom>
        <a:solidFill>
          <a:schemeClr val="accent3">
            <a:lumMod val="60000"/>
            <a:lumOff val="40000"/>
            <a:alpha val="90000"/>
          </a:schemeClr>
        </a:solidFill>
        <a:ln w="9525" cap="flat" cmpd="sng" algn="ctr">
          <a:solidFill>
            <a:sysClr val="window" lastClr="FFFFFF">
              <a:hueOff val="0"/>
              <a:satOff val="0"/>
              <a:lumOff val="0"/>
              <a:alphaOff val="0"/>
            </a:sysClr>
          </a:solidFill>
          <a:prstDash val="solid"/>
          <a:miter lim="800000"/>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kumimoji="1" lang="ja-JP" altLang="en-US" sz="1800" b="1" kern="1200" dirty="0">
              <a:solidFill>
                <a:srgbClr val="FF0000"/>
              </a:solidFill>
              <a:latin typeface="Arial"/>
              <a:ea typeface="+mn-ea"/>
              <a:cs typeface="+mn-cs"/>
            </a:rPr>
            <a:t>外傷　頭部外傷</a:t>
          </a:r>
        </a:p>
        <a:p>
          <a:pPr marL="114300" lvl="1" indent="-114300" algn="l" defTabSz="622300">
            <a:lnSpc>
              <a:spcPct val="90000"/>
            </a:lnSpc>
            <a:spcBef>
              <a:spcPct val="0"/>
            </a:spcBef>
            <a:spcAft>
              <a:spcPct val="15000"/>
            </a:spcAft>
            <a:buChar char="•"/>
          </a:pPr>
          <a:r>
            <a:rPr kumimoji="1" lang="ja-JP" altLang="en-US" sz="1400" kern="1200" dirty="0">
              <a:solidFill>
                <a:srgbClr val="000000">
                  <a:hueOff val="0"/>
                  <a:satOff val="0"/>
                  <a:lumOff val="0"/>
                  <a:alphaOff val="0"/>
                </a:srgbClr>
              </a:solidFill>
              <a:latin typeface="Arial"/>
              <a:ea typeface="+mn-ea"/>
              <a:cs typeface="+mn-cs"/>
            </a:rPr>
            <a:t>熱傷</a:t>
          </a:r>
        </a:p>
      </dsp:txBody>
      <dsp:txXfrm>
        <a:off x="4659521" y="3231597"/>
        <a:ext cx="6635587" cy="707388"/>
      </dsp:txXfrm>
    </dsp:sp>
    <dsp:sp modelId="{D2A286B4-FCD9-49DF-82AC-03F717F3D9D7}">
      <dsp:nvSpPr>
        <dsp:cNvPr id="0" name=""/>
        <dsp:cNvSpPr/>
      </dsp:nvSpPr>
      <dsp:spPr>
        <a:xfrm>
          <a:off x="0" y="3113699"/>
          <a:ext cx="4659521" cy="943184"/>
        </a:xfrm>
        <a:prstGeom prst="round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kumimoji="1" lang="ja-JP" altLang="en-US" sz="3100" b="1" kern="1200" dirty="0">
              <a:solidFill>
                <a:schemeClr val="tx2"/>
              </a:solidFill>
              <a:latin typeface="Arial"/>
              <a:ea typeface="+mn-ea"/>
              <a:cs typeface="+mn-cs"/>
            </a:rPr>
            <a:t>救急</a:t>
          </a:r>
        </a:p>
      </dsp:txBody>
      <dsp:txXfrm>
        <a:off x="46042" y="3159741"/>
        <a:ext cx="4567437" cy="8511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AE4F52-D809-431A-A8D6-27B27AF8CC3A}" type="datetimeFigureOut">
              <a:rPr kumimoji="1" lang="ja-JP" altLang="en-US" smtClean="0"/>
              <a:t>2026/5/15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E5E8AA-3987-4CBF-95C8-6C9A2C87E65F}" type="slidenum">
              <a:rPr kumimoji="1" lang="ja-JP" altLang="en-US" smtClean="0"/>
              <a:t>‹#›</a:t>
            </a:fld>
            <a:endParaRPr kumimoji="1" lang="ja-JP" altLang="en-US"/>
          </a:p>
        </p:txBody>
      </p:sp>
    </p:spTree>
    <p:extLst>
      <p:ext uri="{BB962C8B-B14F-4D97-AF65-F5344CB8AC3E}">
        <p14:creationId xmlns:p14="http://schemas.microsoft.com/office/powerpoint/2010/main" val="180095969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err="1"/>
              <a:t>ActF</a:t>
            </a:r>
            <a:r>
              <a:rPr kumimoji="1" lang="en-US" altLang="ja-JP" dirty="0"/>
              <a:t>-MA</a:t>
            </a:r>
            <a:r>
              <a:rPr kumimoji="1" lang="ja-JP" altLang="en-US"/>
              <a:t>　</a:t>
            </a:r>
            <a:r>
              <a:rPr kumimoji="1" lang="en-US" altLang="ja-JP" dirty="0"/>
              <a:t>4</a:t>
            </a:r>
            <a:r>
              <a:rPr kumimoji="1" lang="ja-JP" altLang="en-US"/>
              <a:t>．</a:t>
            </a:r>
            <a:r>
              <a:rPr kumimoji="1" lang="en-US" altLang="ja-JP" dirty="0"/>
              <a:t>5mm</a:t>
            </a:r>
            <a:r>
              <a:rPr kumimoji="1" lang="ja-JP" altLang="en-US"/>
              <a:t>→</a:t>
            </a:r>
            <a:r>
              <a:rPr kumimoji="1" lang="en-US" altLang="ja-JP" dirty="0"/>
              <a:t>Fib150mg/dl</a:t>
            </a:r>
          </a:p>
          <a:p>
            <a:r>
              <a:rPr kumimoji="1" lang="en-US" altLang="ja-JP" dirty="0"/>
              <a:t>               10.5mm</a:t>
            </a:r>
            <a:r>
              <a:rPr kumimoji="1" lang="ja-JP" altLang="en-US"/>
              <a:t>→</a:t>
            </a:r>
            <a:r>
              <a:rPr kumimoji="1" lang="en-US" altLang="ja-JP" dirty="0"/>
              <a:t>200mg/dl</a:t>
            </a:r>
            <a:endParaRPr kumimoji="1" lang="ja-JP" altLang="en-US"/>
          </a:p>
        </p:txBody>
      </p:sp>
      <p:sp>
        <p:nvSpPr>
          <p:cNvPr id="4" name="スライド番号プレースホルダー 3"/>
          <p:cNvSpPr>
            <a:spLocks noGrp="1"/>
          </p:cNvSpPr>
          <p:nvPr>
            <p:ph type="sldNum" sz="quarter" idx="5"/>
          </p:nvPr>
        </p:nvSpPr>
        <p:spPr/>
        <p:txBody>
          <a:bodyPr/>
          <a:lstStyle/>
          <a:p>
            <a:fld id="{98E5E8AA-3987-4CBF-95C8-6C9A2C87E65F}" type="slidenum">
              <a:rPr kumimoji="1" lang="ja-JP" altLang="en-US" smtClean="0"/>
              <a:t>42</a:t>
            </a:fld>
            <a:endParaRPr kumimoji="1" lang="ja-JP" altLang="en-US"/>
          </a:p>
        </p:txBody>
      </p:sp>
    </p:spTree>
    <p:extLst>
      <p:ext uri="{BB962C8B-B14F-4D97-AF65-F5344CB8AC3E}">
        <p14:creationId xmlns:p14="http://schemas.microsoft.com/office/powerpoint/2010/main" val="4133380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err="1"/>
              <a:t>ActF</a:t>
            </a:r>
            <a:r>
              <a:rPr kumimoji="1" lang="en-US" altLang="ja-JP" dirty="0"/>
              <a:t>-MA</a:t>
            </a:r>
            <a:r>
              <a:rPr kumimoji="1" lang="ja-JP" altLang="en-US"/>
              <a:t>　</a:t>
            </a:r>
            <a:r>
              <a:rPr kumimoji="1" lang="en-US" altLang="ja-JP" dirty="0"/>
              <a:t>4</a:t>
            </a:r>
            <a:r>
              <a:rPr kumimoji="1" lang="ja-JP" altLang="en-US"/>
              <a:t>．</a:t>
            </a:r>
            <a:r>
              <a:rPr kumimoji="1" lang="en-US" altLang="ja-JP" dirty="0"/>
              <a:t>5mm</a:t>
            </a:r>
            <a:r>
              <a:rPr kumimoji="1" lang="ja-JP" altLang="en-US"/>
              <a:t>→</a:t>
            </a:r>
            <a:r>
              <a:rPr kumimoji="1" lang="en-US" altLang="ja-JP" dirty="0"/>
              <a:t>Fib150mg/dl</a:t>
            </a:r>
          </a:p>
          <a:p>
            <a:r>
              <a:rPr kumimoji="1" lang="en-US" altLang="ja-JP" dirty="0"/>
              <a:t>               10.5mm</a:t>
            </a:r>
            <a:r>
              <a:rPr kumimoji="1" lang="ja-JP" altLang="en-US"/>
              <a:t>→</a:t>
            </a:r>
            <a:r>
              <a:rPr kumimoji="1" lang="en-US" altLang="ja-JP" dirty="0"/>
              <a:t>200mg/dl</a:t>
            </a:r>
            <a:endParaRPr kumimoji="1" lang="ja-JP" altLang="en-US"/>
          </a:p>
        </p:txBody>
      </p:sp>
      <p:sp>
        <p:nvSpPr>
          <p:cNvPr id="4" name="スライド番号プレースホルダー 3"/>
          <p:cNvSpPr>
            <a:spLocks noGrp="1"/>
          </p:cNvSpPr>
          <p:nvPr>
            <p:ph type="sldNum" sz="quarter" idx="5"/>
          </p:nvPr>
        </p:nvSpPr>
        <p:spPr/>
        <p:txBody>
          <a:bodyPr/>
          <a:lstStyle/>
          <a:p>
            <a:fld id="{98E5E8AA-3987-4CBF-95C8-6C9A2C87E65F}" type="slidenum">
              <a:rPr kumimoji="1" lang="ja-JP" altLang="en-US" smtClean="0"/>
              <a:t>51</a:t>
            </a:fld>
            <a:endParaRPr kumimoji="1" lang="ja-JP" altLang="en-US"/>
          </a:p>
        </p:txBody>
      </p:sp>
    </p:spTree>
    <p:extLst>
      <p:ext uri="{BB962C8B-B14F-4D97-AF65-F5344CB8AC3E}">
        <p14:creationId xmlns:p14="http://schemas.microsoft.com/office/powerpoint/2010/main" val="2086784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98E5E8AA-3987-4CBF-95C8-6C9A2C87E65F}" type="slidenum">
              <a:rPr kumimoji="1" lang="ja-JP" altLang="en-US" smtClean="0"/>
              <a:t>62</a:t>
            </a:fld>
            <a:endParaRPr kumimoji="1" lang="ja-JP" altLang="en-US"/>
          </a:p>
        </p:txBody>
      </p:sp>
    </p:spTree>
    <p:extLst>
      <p:ext uri="{BB962C8B-B14F-4D97-AF65-F5344CB8AC3E}">
        <p14:creationId xmlns:p14="http://schemas.microsoft.com/office/powerpoint/2010/main" val="26350877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12" name="図プレースホルダー 11">
            <a:extLst>
              <a:ext uri="{FF2B5EF4-FFF2-40B4-BE49-F238E27FC236}">
                <a16:creationId xmlns:a16="http://schemas.microsoft.com/office/drawing/2014/main" id="{E86919D0-E2C3-4C6D-A851-0043D31A8C4C}"/>
              </a:ext>
            </a:extLst>
          </p:cNvPr>
          <p:cNvSpPr>
            <a:spLocks noGrp="1"/>
          </p:cNvSpPr>
          <p:nvPr>
            <p:ph type="pic" sz="quarter" idx="13" hasCustomPrompt="1"/>
          </p:nvPr>
        </p:nvSpPr>
        <p:spPr>
          <a:xfrm>
            <a:off x="0" y="0"/>
            <a:ext cx="12192000" cy="6858000"/>
          </a:xfrm>
          <a:solidFill>
            <a:schemeClr val="tx2"/>
          </a:solidFill>
        </p:spPr>
        <p:txBody>
          <a:bodyPr lIns="720000" tIns="720000" rIns="720000" bIns="720000"/>
          <a:lstStyle>
            <a:lvl1pPr>
              <a:defRPr>
                <a:solidFill>
                  <a:schemeClr val="bg1"/>
                </a:solidFill>
              </a:defRPr>
            </a:lvl1pPr>
          </a:lstStyle>
          <a:p>
            <a:r>
              <a:rPr kumimoji="1" lang="ja-JP" altLang="en-US" dirty="0"/>
              <a:t>図をアイコンをクリックして挿入</a:t>
            </a:r>
          </a:p>
        </p:txBody>
      </p:sp>
      <p:sp>
        <p:nvSpPr>
          <p:cNvPr id="2" name="タイトル 1">
            <a:extLst>
              <a:ext uri="{FF2B5EF4-FFF2-40B4-BE49-F238E27FC236}">
                <a16:creationId xmlns:a16="http://schemas.microsoft.com/office/drawing/2014/main" id="{146E225D-1A69-461B-9FED-A26A378AC9D6}"/>
              </a:ext>
            </a:extLst>
          </p:cNvPr>
          <p:cNvSpPr>
            <a:spLocks noGrp="1"/>
          </p:cNvSpPr>
          <p:nvPr>
            <p:ph type="ctrTitle"/>
          </p:nvPr>
        </p:nvSpPr>
        <p:spPr>
          <a:xfrm>
            <a:off x="0" y="3933824"/>
            <a:ext cx="12191999" cy="1294425"/>
          </a:xfrm>
          <a:solidFill>
            <a:schemeClr val="bg1">
              <a:alpha val="20000"/>
            </a:schemeClr>
          </a:solidFill>
        </p:spPr>
        <p:txBody>
          <a:bodyPr lIns="360000" rIns="360000" anchor="ctr"/>
          <a:lstStyle>
            <a:lvl1pPr algn="l">
              <a:defRPr sz="6000">
                <a:solidFill>
                  <a:schemeClr val="bg1"/>
                </a:solidFill>
              </a:defRPr>
            </a:lvl1pPr>
          </a:lstStyle>
          <a:p>
            <a:r>
              <a:rPr kumimoji="1" lang="ja-JP" altLang="en-US"/>
              <a:t>マスター タイトルの書式設定</a:t>
            </a:r>
            <a:endParaRPr kumimoji="1" lang="ja-JP" altLang="en-US" dirty="0"/>
          </a:p>
        </p:txBody>
      </p:sp>
      <p:sp>
        <p:nvSpPr>
          <p:cNvPr id="3" name="字幕 2">
            <a:extLst>
              <a:ext uri="{FF2B5EF4-FFF2-40B4-BE49-F238E27FC236}">
                <a16:creationId xmlns:a16="http://schemas.microsoft.com/office/drawing/2014/main" id="{11D6B12D-C12F-497C-8F65-6D3622D1C820}"/>
              </a:ext>
            </a:extLst>
          </p:cNvPr>
          <p:cNvSpPr>
            <a:spLocks noGrp="1"/>
          </p:cNvSpPr>
          <p:nvPr>
            <p:ph type="subTitle" idx="1"/>
          </p:nvPr>
        </p:nvSpPr>
        <p:spPr>
          <a:xfrm>
            <a:off x="0" y="5228249"/>
            <a:ext cx="12191998" cy="753451"/>
          </a:xfrm>
          <a:solidFill>
            <a:schemeClr val="bg1">
              <a:alpha val="20000"/>
            </a:schemeClr>
          </a:solidFill>
        </p:spPr>
        <p:txBody>
          <a:bodyPr lIns="360000" rIns="36000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ja-JP" altLang="en-US" dirty="0"/>
          </a:p>
        </p:txBody>
      </p:sp>
      <p:sp>
        <p:nvSpPr>
          <p:cNvPr id="4" name="日付プレースホルダー 3">
            <a:extLst>
              <a:ext uri="{FF2B5EF4-FFF2-40B4-BE49-F238E27FC236}">
                <a16:creationId xmlns:a16="http://schemas.microsoft.com/office/drawing/2014/main" id="{EB243BB9-34A2-417D-ACA3-2B178CA5983A}"/>
              </a:ext>
            </a:extLst>
          </p:cNvPr>
          <p:cNvSpPr>
            <a:spLocks noGrp="1"/>
          </p:cNvSpPr>
          <p:nvPr>
            <p:ph type="dt" sz="half" idx="10"/>
          </p:nvPr>
        </p:nvSpPr>
        <p:spPr/>
        <p:txBody>
          <a:bodyPr/>
          <a:lstStyle>
            <a:lvl1pPr>
              <a:defRPr>
                <a:solidFill>
                  <a:schemeClr val="accent3"/>
                </a:solidFill>
              </a:defRPr>
            </a:lvl1pPr>
          </a:lstStyle>
          <a:p>
            <a:fld id="{2C80D09E-E370-A24E-A450-FFB3421300F7}" type="datetime1">
              <a:rPr lang="ja-JP" altLang="en-US" smtClean="0"/>
              <a:t>2026/5/15</a:t>
            </a:fld>
            <a:endParaRPr lang="ja-JP" altLang="en-US" dirty="0"/>
          </a:p>
        </p:txBody>
      </p:sp>
      <p:sp>
        <p:nvSpPr>
          <p:cNvPr id="5" name="フッター プレースホルダー 4">
            <a:extLst>
              <a:ext uri="{FF2B5EF4-FFF2-40B4-BE49-F238E27FC236}">
                <a16:creationId xmlns:a16="http://schemas.microsoft.com/office/drawing/2014/main" id="{936AFD70-B3B1-4970-AE6F-0BEAFD4DABB8}"/>
              </a:ext>
            </a:extLst>
          </p:cNvPr>
          <p:cNvSpPr>
            <a:spLocks noGrp="1"/>
          </p:cNvSpPr>
          <p:nvPr>
            <p:ph type="ftr" sz="quarter" idx="11"/>
          </p:nvPr>
        </p:nvSpPr>
        <p:spPr/>
        <p:txBody>
          <a:bodyPr/>
          <a:lstStyle>
            <a:lvl1pPr>
              <a:defRPr>
                <a:solidFill>
                  <a:schemeClr val="accent3"/>
                </a:solidFill>
              </a:defRPr>
            </a:lvl1pPr>
          </a:lstStyle>
          <a:p>
            <a:r>
              <a:rPr lang="en-US" altLang="ja-JP"/>
              <a:t>©2024 </a:t>
            </a:r>
            <a:r>
              <a:rPr lang="ja-JP" altLang="en-US"/>
              <a:t>済生会横浜市東部病院 救急科 </a:t>
            </a:r>
            <a:r>
              <a:rPr lang="en-US" altLang="ja-JP"/>
              <a:t>All rights reserved.</a:t>
            </a:r>
            <a:endParaRPr lang="ja-JP" altLang="en-US"/>
          </a:p>
        </p:txBody>
      </p:sp>
      <p:sp>
        <p:nvSpPr>
          <p:cNvPr id="6" name="スライド番号プレースホルダー 5">
            <a:extLst>
              <a:ext uri="{FF2B5EF4-FFF2-40B4-BE49-F238E27FC236}">
                <a16:creationId xmlns:a16="http://schemas.microsoft.com/office/drawing/2014/main" id="{98D2D7B8-19EF-493C-9A02-19255AA6E790}"/>
              </a:ext>
            </a:extLst>
          </p:cNvPr>
          <p:cNvSpPr>
            <a:spLocks noGrp="1"/>
          </p:cNvSpPr>
          <p:nvPr>
            <p:ph type="sldNum" sz="quarter" idx="12"/>
          </p:nvPr>
        </p:nvSpPr>
        <p:spPr/>
        <p:txBody>
          <a:bodyPr/>
          <a:lstStyle>
            <a:lvl1pPr>
              <a:defRPr>
                <a:solidFill>
                  <a:schemeClr val="accent3"/>
                </a:solidFill>
              </a:defRPr>
            </a:lvl1pPr>
          </a:lstStyle>
          <a:p>
            <a:fld id="{41B87E3F-77EC-4EFD-94DE-AA3AEB7C7760}" type="slidenum">
              <a:rPr lang="ja-JP" altLang="en-US" smtClean="0"/>
              <a:pPr/>
              <a:t>‹#›</a:t>
            </a:fld>
            <a:endParaRPr lang="ja-JP" altLang="en-US"/>
          </a:p>
        </p:txBody>
      </p:sp>
      <p:sp>
        <p:nvSpPr>
          <p:cNvPr id="15" name="テキスト プレースホルダー 14">
            <a:extLst>
              <a:ext uri="{FF2B5EF4-FFF2-40B4-BE49-F238E27FC236}">
                <a16:creationId xmlns:a16="http://schemas.microsoft.com/office/drawing/2014/main" id="{5F468B44-2EE5-4738-8231-0C28E786DD7F}"/>
              </a:ext>
            </a:extLst>
          </p:cNvPr>
          <p:cNvSpPr>
            <a:spLocks noGrp="1"/>
          </p:cNvSpPr>
          <p:nvPr>
            <p:ph type="body" sz="quarter" idx="14" hasCustomPrompt="1"/>
          </p:nvPr>
        </p:nvSpPr>
        <p:spPr>
          <a:xfrm>
            <a:off x="8153400" y="295275"/>
            <a:ext cx="3714750" cy="1219200"/>
          </a:xfrm>
          <a:blipFill>
            <a:blip r:embed="rId2"/>
            <a:stretch>
              <a:fillRect/>
            </a:stretch>
          </a:blipFill>
        </p:spPr>
        <p:txBody>
          <a:bodyPr/>
          <a:lstStyle>
            <a:lvl1pPr>
              <a:defRPr>
                <a:effectLst>
                  <a:outerShdw blurRad="50800" dist="50800" dir="5400000" algn="ctr" rotWithShape="0">
                    <a:srgbClr val="000000">
                      <a:alpha val="0"/>
                    </a:srgbClr>
                  </a:outerShdw>
                </a:effectLst>
              </a:defRPr>
            </a:lvl1pPr>
          </a:lstStyle>
          <a:p>
            <a:pPr lvl="0"/>
            <a:r>
              <a:rPr kumimoji="1" lang="en-US" altLang="ja-JP" dirty="0"/>
              <a:t> </a:t>
            </a:r>
            <a:endParaRPr kumimoji="1" lang="ja-JP" altLang="en-US" dirty="0"/>
          </a:p>
        </p:txBody>
      </p:sp>
    </p:spTree>
    <p:extLst>
      <p:ext uri="{BB962C8B-B14F-4D97-AF65-F5344CB8AC3E}">
        <p14:creationId xmlns:p14="http://schemas.microsoft.com/office/powerpoint/2010/main" val="1526582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795730-E646-4F1C-98D4-2062A253DBDD}"/>
              </a:ext>
            </a:extLst>
          </p:cNvPr>
          <p:cNvSpPr>
            <a:spLocks noGrp="1"/>
          </p:cNvSpPr>
          <p:nvPr>
            <p:ph type="title"/>
          </p:nvPr>
        </p:nvSpPr>
        <p:spPr>
          <a:xfrm>
            <a:off x="838200" y="504000"/>
            <a:ext cx="10515600" cy="900000"/>
          </a:xfrm>
        </p:spPr>
        <p:txBody>
          <a:bodyPr anchor="ctr"/>
          <a:lstStyle>
            <a:lvl1pPr>
              <a:defRPr u="none"/>
            </a:lvl1pPr>
          </a:lstStyle>
          <a:p>
            <a:r>
              <a:rPr kumimoji="1" lang="ja-JP" altLang="en-US"/>
              <a:t>マスター タイトルの書式設定</a:t>
            </a:r>
            <a:endParaRPr kumimoji="1" lang="ja-JP" altLang="en-US" dirty="0"/>
          </a:p>
        </p:txBody>
      </p:sp>
      <p:sp>
        <p:nvSpPr>
          <p:cNvPr id="3" name="コンテンツ プレースホルダー 2">
            <a:extLst>
              <a:ext uri="{FF2B5EF4-FFF2-40B4-BE49-F238E27FC236}">
                <a16:creationId xmlns:a16="http://schemas.microsoft.com/office/drawing/2014/main" id="{AE8F6B90-72C1-45E3-8A2C-E9F80FDD1FE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5E107DD-AFCC-45EA-9C20-F8C4E2B385B0}"/>
              </a:ext>
            </a:extLst>
          </p:cNvPr>
          <p:cNvSpPr>
            <a:spLocks noGrp="1"/>
          </p:cNvSpPr>
          <p:nvPr>
            <p:ph type="dt" sz="half" idx="10"/>
          </p:nvPr>
        </p:nvSpPr>
        <p:spPr/>
        <p:txBody>
          <a:bodyPr/>
          <a:lstStyle/>
          <a:p>
            <a:fld id="{3C2F0FB7-648A-5347-9828-7F73D876C15C}"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55F73C89-95FA-4F68-9468-885DBD4349DF}"/>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DDD221E6-BC4F-4D19-A3AE-39B9F839D9A3}"/>
              </a:ext>
            </a:extLst>
          </p:cNvPr>
          <p:cNvSpPr>
            <a:spLocks noGrp="1"/>
          </p:cNvSpPr>
          <p:nvPr>
            <p:ph type="sldNum" sz="quarter" idx="12"/>
          </p:nvPr>
        </p:nvSpPr>
        <p:spPr/>
        <p:txBody>
          <a:bodyPr/>
          <a:lstStyle/>
          <a:p>
            <a:r>
              <a:rPr lang="en-US" altLang="ja-JP" dirty="0"/>
              <a:t>No. </a:t>
            </a:r>
            <a:fld id="{41B87E3F-77EC-4EFD-94DE-AA3AEB7C7760}" type="slidenum">
              <a:rPr lang="ja-JP" altLang="en-US" smtClean="0"/>
              <a:pPr/>
              <a:t>‹#›</a:t>
            </a:fld>
            <a:endParaRPr kumimoji="1" lang="ja-JP" altLang="en-US" dirty="0"/>
          </a:p>
        </p:txBody>
      </p:sp>
      <p:sp>
        <p:nvSpPr>
          <p:cNvPr id="8" name="正方形/長方形 7">
            <a:extLst>
              <a:ext uri="{FF2B5EF4-FFF2-40B4-BE49-F238E27FC236}">
                <a16:creationId xmlns:a16="http://schemas.microsoft.com/office/drawing/2014/main" id="{5FA55BB7-9F90-47AE-9FB0-EA303320FA50}"/>
              </a:ext>
            </a:extLst>
          </p:cNvPr>
          <p:cNvSpPr/>
          <p:nvPr userDrawn="1"/>
        </p:nvSpPr>
        <p:spPr>
          <a:xfrm>
            <a:off x="0" y="1404000"/>
            <a:ext cx="11353800" cy="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042086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セクション見出し">
    <p:spTree>
      <p:nvGrpSpPr>
        <p:cNvPr id="1" name=""/>
        <p:cNvGrpSpPr/>
        <p:nvPr/>
      </p:nvGrpSpPr>
      <p:grpSpPr>
        <a:xfrm>
          <a:off x="0" y="0"/>
          <a:ext cx="0" cy="0"/>
          <a:chOff x="0" y="0"/>
          <a:chExt cx="0" cy="0"/>
        </a:xfrm>
      </p:grpSpPr>
      <p:sp>
        <p:nvSpPr>
          <p:cNvPr id="10" name="図プレースホルダー 9">
            <a:extLst>
              <a:ext uri="{FF2B5EF4-FFF2-40B4-BE49-F238E27FC236}">
                <a16:creationId xmlns:a16="http://schemas.microsoft.com/office/drawing/2014/main" id="{827AD7F5-801F-4B3A-9FD9-39DE91DC560B}"/>
              </a:ext>
            </a:extLst>
          </p:cNvPr>
          <p:cNvSpPr>
            <a:spLocks noGrp="1"/>
          </p:cNvSpPr>
          <p:nvPr>
            <p:ph type="pic" sz="quarter" idx="13" hasCustomPrompt="1"/>
          </p:nvPr>
        </p:nvSpPr>
        <p:spPr>
          <a:xfrm>
            <a:off x="0" y="432594"/>
            <a:ext cx="12191999" cy="5992812"/>
          </a:xfrm>
          <a:solidFill>
            <a:schemeClr val="accent2"/>
          </a:solidFill>
        </p:spPr>
        <p:txBody>
          <a:bodyPr lIns="360000" tIns="360000" rIns="360000" bIns="360000"/>
          <a:lstStyle>
            <a:lvl1pPr>
              <a:defRPr>
                <a:solidFill>
                  <a:schemeClr val="bg1"/>
                </a:solidFill>
              </a:defRPr>
            </a:lvl1pPr>
          </a:lstStyle>
          <a:p>
            <a:r>
              <a:rPr kumimoji="1" lang="ja-JP" altLang="en-US" dirty="0"/>
              <a:t>一度動かしてからアイコンをクリックしてください。</a:t>
            </a:r>
          </a:p>
        </p:txBody>
      </p:sp>
      <p:sp>
        <p:nvSpPr>
          <p:cNvPr id="2" name="タイトル 1">
            <a:extLst>
              <a:ext uri="{FF2B5EF4-FFF2-40B4-BE49-F238E27FC236}">
                <a16:creationId xmlns:a16="http://schemas.microsoft.com/office/drawing/2014/main" id="{E4F2936F-9D08-42B9-AF51-4C56FD2736DD}"/>
              </a:ext>
            </a:extLst>
          </p:cNvPr>
          <p:cNvSpPr>
            <a:spLocks noGrp="1"/>
          </p:cNvSpPr>
          <p:nvPr>
            <p:ph type="title"/>
          </p:nvPr>
        </p:nvSpPr>
        <p:spPr>
          <a:xfrm>
            <a:off x="-1" y="1839300"/>
            <a:ext cx="12191999" cy="3179400"/>
          </a:xfrm>
          <a:solidFill>
            <a:schemeClr val="accent1">
              <a:alpha val="80000"/>
            </a:schemeClr>
          </a:solidFill>
        </p:spPr>
        <p:txBody>
          <a:bodyPr anchor="ctr"/>
          <a:lstStyle>
            <a:lvl1pPr algn="ctr">
              <a:defRPr sz="6000">
                <a:solidFill>
                  <a:schemeClr val="bg1"/>
                </a:solidFill>
              </a:defRPr>
            </a:lvl1pPr>
          </a:lstStyle>
          <a:p>
            <a:r>
              <a:rPr kumimoji="1" lang="ja-JP" altLang="en-US"/>
              <a:t>マスター タイトルの書式設定</a:t>
            </a:r>
            <a:endParaRPr kumimoji="1" lang="ja-JP" altLang="en-US" dirty="0"/>
          </a:p>
        </p:txBody>
      </p:sp>
      <p:sp>
        <p:nvSpPr>
          <p:cNvPr id="3" name="テキスト プレースホルダー 2">
            <a:extLst>
              <a:ext uri="{FF2B5EF4-FFF2-40B4-BE49-F238E27FC236}">
                <a16:creationId xmlns:a16="http://schemas.microsoft.com/office/drawing/2014/main" id="{4578652A-EE0D-41A9-8559-456793CE508E}"/>
              </a:ext>
            </a:extLst>
          </p:cNvPr>
          <p:cNvSpPr>
            <a:spLocks noGrp="1"/>
          </p:cNvSpPr>
          <p:nvPr>
            <p:ph type="body" idx="1"/>
          </p:nvPr>
        </p:nvSpPr>
        <p:spPr>
          <a:xfrm>
            <a:off x="831850" y="4319157"/>
            <a:ext cx="10515600" cy="605268"/>
          </a:xfrm>
        </p:spPr>
        <p:txBody>
          <a:bodyPr anchor="ctr"/>
          <a:lstStyle>
            <a:lvl1pPr marL="0" indent="0" algn="ct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3CC6EF5-37D4-4578-8E3B-063730ED654B}"/>
              </a:ext>
            </a:extLst>
          </p:cNvPr>
          <p:cNvSpPr>
            <a:spLocks noGrp="1"/>
          </p:cNvSpPr>
          <p:nvPr>
            <p:ph type="dt" sz="half" idx="10"/>
          </p:nvPr>
        </p:nvSpPr>
        <p:spPr/>
        <p:txBody>
          <a:bodyPr/>
          <a:lstStyle/>
          <a:p>
            <a:fld id="{C1D2E68F-8F03-704D-864A-5E97724F1242}"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6FBDDC17-99CD-42C5-B092-F0A5EE60F19E}"/>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E3795D90-FA4F-4ACB-8202-A659C36D14E7}"/>
              </a:ext>
            </a:extLst>
          </p:cNvPr>
          <p:cNvSpPr>
            <a:spLocks noGrp="1"/>
          </p:cNvSpPr>
          <p:nvPr>
            <p:ph type="sldNum" sz="quarter" idx="12"/>
          </p:nvPr>
        </p:nvSpPr>
        <p:spPr/>
        <p:txBody>
          <a:bodyPr/>
          <a:lstStyle/>
          <a:p>
            <a:r>
              <a:rPr lang="en-US" altLang="ja-JP" dirty="0"/>
              <a:t>No. </a:t>
            </a:r>
            <a:fld id="{41B87E3F-77EC-4EFD-94DE-AA3AEB7C7760}" type="slidenum">
              <a:rPr lang="ja-JP" altLang="en-US" smtClean="0"/>
              <a:pPr/>
              <a:t>‹#›</a:t>
            </a:fld>
            <a:endParaRPr lang="ja-JP" altLang="en-US" dirty="0"/>
          </a:p>
        </p:txBody>
      </p:sp>
    </p:spTree>
    <p:extLst>
      <p:ext uri="{BB962C8B-B14F-4D97-AF65-F5344CB8AC3E}">
        <p14:creationId xmlns:p14="http://schemas.microsoft.com/office/powerpoint/2010/main" val="3702061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B5F8BA-9EFB-4EEB-AE6B-1D6059BEDD02}"/>
              </a:ext>
            </a:extLst>
          </p:cNvPr>
          <p:cNvSpPr>
            <a:spLocks noGrp="1"/>
          </p:cNvSpPr>
          <p:nvPr>
            <p:ph type="title"/>
          </p:nvPr>
        </p:nvSpPr>
        <p:spPr>
          <a:xfrm>
            <a:off x="838200" y="504000"/>
            <a:ext cx="10515600" cy="900000"/>
          </a:xfrm>
        </p:spPr>
        <p:txBody>
          <a:bodyPr/>
          <a:lstStyle/>
          <a:p>
            <a:r>
              <a:rPr kumimoji="1" lang="ja-JP" altLang="en-US"/>
              <a:t>マスター タイトルの書式設定</a:t>
            </a:r>
            <a:endParaRPr kumimoji="1" lang="ja-JP" altLang="en-US" dirty="0"/>
          </a:p>
        </p:txBody>
      </p:sp>
      <p:sp>
        <p:nvSpPr>
          <p:cNvPr id="3" name="コンテンツ プレースホルダー 2">
            <a:extLst>
              <a:ext uri="{FF2B5EF4-FFF2-40B4-BE49-F238E27FC236}">
                <a16:creationId xmlns:a16="http://schemas.microsoft.com/office/drawing/2014/main" id="{D8819CC8-FD84-40CD-B9F1-D158B32E1B2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4" name="コンテンツ プレースホルダー 3">
            <a:extLst>
              <a:ext uri="{FF2B5EF4-FFF2-40B4-BE49-F238E27FC236}">
                <a16:creationId xmlns:a16="http://schemas.microsoft.com/office/drawing/2014/main" id="{1EC01061-6C5E-4B70-9090-FE573D27B29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日付プレースホルダー 4">
            <a:extLst>
              <a:ext uri="{FF2B5EF4-FFF2-40B4-BE49-F238E27FC236}">
                <a16:creationId xmlns:a16="http://schemas.microsoft.com/office/drawing/2014/main" id="{08A54183-0DDC-4005-8AC1-90281D6B8701}"/>
              </a:ext>
            </a:extLst>
          </p:cNvPr>
          <p:cNvSpPr>
            <a:spLocks noGrp="1"/>
          </p:cNvSpPr>
          <p:nvPr>
            <p:ph type="dt" sz="half" idx="10"/>
          </p:nvPr>
        </p:nvSpPr>
        <p:spPr/>
        <p:txBody>
          <a:bodyPr/>
          <a:lstStyle/>
          <a:p>
            <a:fld id="{EFEF614E-F849-BB4D-86A5-79E0CB7CE892}" type="datetime1">
              <a:rPr kumimoji="1" lang="ja-JP" altLang="en-US" smtClean="0"/>
              <a:t>2026/5/15</a:t>
            </a:fld>
            <a:endParaRPr kumimoji="1" lang="ja-JP" altLang="en-US"/>
          </a:p>
        </p:txBody>
      </p:sp>
      <p:sp>
        <p:nvSpPr>
          <p:cNvPr id="6" name="フッター プレースホルダー 5">
            <a:extLst>
              <a:ext uri="{FF2B5EF4-FFF2-40B4-BE49-F238E27FC236}">
                <a16:creationId xmlns:a16="http://schemas.microsoft.com/office/drawing/2014/main" id="{52ED4F12-CC4A-4176-AEB1-008272F29C71}"/>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7" name="スライド番号プレースホルダー 6">
            <a:extLst>
              <a:ext uri="{FF2B5EF4-FFF2-40B4-BE49-F238E27FC236}">
                <a16:creationId xmlns:a16="http://schemas.microsoft.com/office/drawing/2014/main" id="{A8B8540A-8A1A-4BD6-BFC2-142D4E0F2ED4}"/>
              </a:ext>
            </a:extLst>
          </p:cNvPr>
          <p:cNvSpPr>
            <a:spLocks noGrp="1"/>
          </p:cNvSpPr>
          <p:nvPr>
            <p:ph type="sldNum" sz="quarter" idx="12"/>
          </p:nvPr>
        </p:nvSpPr>
        <p:spPr/>
        <p:txBody>
          <a:bodyPr/>
          <a:lstStyle/>
          <a:p>
            <a:r>
              <a:rPr lang="en-US" altLang="ja-JP" dirty="0"/>
              <a:t>No. </a:t>
            </a:r>
            <a:fld id="{41B87E3F-77EC-4EFD-94DE-AA3AEB7C7760}" type="slidenum">
              <a:rPr lang="ja-JP" altLang="en-US" smtClean="0"/>
              <a:pPr/>
              <a:t>‹#›</a:t>
            </a:fld>
            <a:endParaRPr kumimoji="1" lang="ja-JP" altLang="en-US" dirty="0"/>
          </a:p>
        </p:txBody>
      </p:sp>
      <p:sp>
        <p:nvSpPr>
          <p:cNvPr id="9" name="正方形/長方形 8">
            <a:extLst>
              <a:ext uri="{FF2B5EF4-FFF2-40B4-BE49-F238E27FC236}">
                <a16:creationId xmlns:a16="http://schemas.microsoft.com/office/drawing/2014/main" id="{4B913F8F-E926-453D-9F79-A692E5DE4182}"/>
              </a:ext>
            </a:extLst>
          </p:cNvPr>
          <p:cNvSpPr/>
          <p:nvPr userDrawn="1"/>
        </p:nvSpPr>
        <p:spPr>
          <a:xfrm>
            <a:off x="0" y="1404000"/>
            <a:ext cx="11353800" cy="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06359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E672DE-F772-491B-BAEE-CBE6C4ACF9D7}"/>
              </a:ext>
            </a:extLst>
          </p:cNvPr>
          <p:cNvSpPr>
            <a:spLocks noGrp="1"/>
          </p:cNvSpPr>
          <p:nvPr>
            <p:ph type="title"/>
          </p:nvPr>
        </p:nvSpPr>
        <p:spPr>
          <a:xfrm>
            <a:off x="839788" y="504824"/>
            <a:ext cx="10515600" cy="900000"/>
          </a:xfrm>
        </p:spPr>
        <p:txBody>
          <a:bodyPr/>
          <a:lstStyle/>
          <a:p>
            <a:r>
              <a:rPr kumimoji="1" lang="ja-JP" altLang="en-US"/>
              <a:t>マスター タイトルの書式設定</a:t>
            </a:r>
            <a:endParaRPr kumimoji="1" lang="ja-JP" altLang="en-US" dirty="0"/>
          </a:p>
        </p:txBody>
      </p:sp>
      <p:sp>
        <p:nvSpPr>
          <p:cNvPr id="3" name="テキスト プレースホルダー 2">
            <a:extLst>
              <a:ext uri="{FF2B5EF4-FFF2-40B4-BE49-F238E27FC236}">
                <a16:creationId xmlns:a16="http://schemas.microsoft.com/office/drawing/2014/main" id="{6DF5D157-FD8C-40BA-ABBB-F2FFD8BF2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50D6EA5-C4C7-4C19-9044-6B474303A8F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2C33DAF8-597D-4165-B282-207DD5505A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9A3C32A-8C5C-43E0-867C-E7ED2593AF8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BA523311-31B2-4E32-9D3E-2E1EE50EA0B9}"/>
              </a:ext>
            </a:extLst>
          </p:cNvPr>
          <p:cNvSpPr>
            <a:spLocks noGrp="1"/>
          </p:cNvSpPr>
          <p:nvPr>
            <p:ph type="dt" sz="half" idx="10"/>
          </p:nvPr>
        </p:nvSpPr>
        <p:spPr/>
        <p:txBody>
          <a:bodyPr/>
          <a:lstStyle/>
          <a:p>
            <a:fld id="{AA4D98DD-55B3-DA45-936C-5EB236409798}" type="datetime1">
              <a:rPr kumimoji="1" lang="ja-JP" altLang="en-US" smtClean="0"/>
              <a:t>2026/5/15</a:t>
            </a:fld>
            <a:endParaRPr kumimoji="1" lang="ja-JP" altLang="en-US"/>
          </a:p>
        </p:txBody>
      </p:sp>
      <p:sp>
        <p:nvSpPr>
          <p:cNvPr id="8" name="フッター プレースホルダー 7">
            <a:extLst>
              <a:ext uri="{FF2B5EF4-FFF2-40B4-BE49-F238E27FC236}">
                <a16:creationId xmlns:a16="http://schemas.microsoft.com/office/drawing/2014/main" id="{CB6E4C31-BEB6-4D57-98B5-63B275A77F35}"/>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9" name="スライド番号プレースホルダー 8">
            <a:extLst>
              <a:ext uri="{FF2B5EF4-FFF2-40B4-BE49-F238E27FC236}">
                <a16:creationId xmlns:a16="http://schemas.microsoft.com/office/drawing/2014/main" id="{9AA5315F-F40C-42E2-89FA-F99482150136}"/>
              </a:ext>
            </a:extLst>
          </p:cNvPr>
          <p:cNvSpPr>
            <a:spLocks noGrp="1"/>
          </p:cNvSpPr>
          <p:nvPr>
            <p:ph type="sldNum" sz="quarter" idx="12"/>
          </p:nvPr>
        </p:nvSpPr>
        <p:spPr/>
        <p:txBody>
          <a:bodyPr/>
          <a:lstStyle/>
          <a:p>
            <a:r>
              <a:rPr lang="en-US" altLang="ja-JP" dirty="0"/>
              <a:t>No. </a:t>
            </a:r>
            <a:fld id="{41B87E3F-77EC-4EFD-94DE-AA3AEB7C7760}" type="slidenum">
              <a:rPr lang="ja-JP" altLang="en-US" smtClean="0"/>
              <a:pPr/>
              <a:t>‹#›</a:t>
            </a:fld>
            <a:endParaRPr kumimoji="1" lang="ja-JP" altLang="en-US" dirty="0"/>
          </a:p>
        </p:txBody>
      </p:sp>
      <p:sp>
        <p:nvSpPr>
          <p:cNvPr id="10" name="正方形/長方形 9">
            <a:extLst>
              <a:ext uri="{FF2B5EF4-FFF2-40B4-BE49-F238E27FC236}">
                <a16:creationId xmlns:a16="http://schemas.microsoft.com/office/drawing/2014/main" id="{CC61E1B8-7E77-4FF3-BDFB-3BD87A0105A1}"/>
              </a:ext>
            </a:extLst>
          </p:cNvPr>
          <p:cNvSpPr/>
          <p:nvPr userDrawn="1"/>
        </p:nvSpPr>
        <p:spPr>
          <a:xfrm>
            <a:off x="0" y="1404000"/>
            <a:ext cx="11353800" cy="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82748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7A8992-EEAB-46A9-AE6A-C50A8E436062}"/>
              </a:ext>
            </a:extLst>
          </p:cNvPr>
          <p:cNvSpPr>
            <a:spLocks noGrp="1"/>
          </p:cNvSpPr>
          <p:nvPr>
            <p:ph type="title"/>
          </p:nvPr>
        </p:nvSpPr>
        <p:spPr/>
        <p:txBody>
          <a:bodyPr/>
          <a:lstStyle/>
          <a:p>
            <a:r>
              <a:rPr kumimoji="1" lang="ja-JP" altLang="en-US"/>
              <a:t>マスター タイトルの書式設定</a:t>
            </a:r>
            <a:endParaRPr kumimoji="1" lang="ja-JP" altLang="en-US" dirty="0"/>
          </a:p>
        </p:txBody>
      </p:sp>
      <p:sp>
        <p:nvSpPr>
          <p:cNvPr id="3" name="日付プレースホルダー 2">
            <a:extLst>
              <a:ext uri="{FF2B5EF4-FFF2-40B4-BE49-F238E27FC236}">
                <a16:creationId xmlns:a16="http://schemas.microsoft.com/office/drawing/2014/main" id="{81345095-092B-47A5-A808-4DBAD95A820A}"/>
              </a:ext>
            </a:extLst>
          </p:cNvPr>
          <p:cNvSpPr>
            <a:spLocks noGrp="1"/>
          </p:cNvSpPr>
          <p:nvPr>
            <p:ph type="dt" sz="half" idx="10"/>
          </p:nvPr>
        </p:nvSpPr>
        <p:spPr/>
        <p:txBody>
          <a:bodyPr/>
          <a:lstStyle/>
          <a:p>
            <a:fld id="{F65AE453-F0A5-3D49-9F4B-7E33A8FE2FF4}" type="datetime1">
              <a:rPr kumimoji="1" lang="ja-JP" altLang="en-US" smtClean="0"/>
              <a:t>2026/5/15</a:t>
            </a:fld>
            <a:endParaRPr kumimoji="1" lang="ja-JP" altLang="en-US"/>
          </a:p>
        </p:txBody>
      </p:sp>
      <p:sp>
        <p:nvSpPr>
          <p:cNvPr id="4" name="フッター プレースホルダー 3">
            <a:extLst>
              <a:ext uri="{FF2B5EF4-FFF2-40B4-BE49-F238E27FC236}">
                <a16:creationId xmlns:a16="http://schemas.microsoft.com/office/drawing/2014/main" id="{4855CA24-DBC9-46C8-8EA2-DC33EF307712}"/>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5" name="スライド番号プレースホルダー 4">
            <a:extLst>
              <a:ext uri="{FF2B5EF4-FFF2-40B4-BE49-F238E27FC236}">
                <a16:creationId xmlns:a16="http://schemas.microsoft.com/office/drawing/2014/main" id="{21AC9098-FAA9-4FE1-A653-D00E5C930C13}"/>
              </a:ext>
            </a:extLst>
          </p:cNvPr>
          <p:cNvSpPr>
            <a:spLocks noGrp="1"/>
          </p:cNvSpPr>
          <p:nvPr>
            <p:ph type="sldNum" sz="quarter" idx="12"/>
          </p:nvPr>
        </p:nvSpPr>
        <p:spPr/>
        <p:txBody>
          <a:bodyPr/>
          <a:lstStyle/>
          <a:p>
            <a:r>
              <a:rPr lang="en-US" altLang="ja-JP" dirty="0"/>
              <a:t>No. </a:t>
            </a:r>
            <a:fld id="{41B87E3F-77EC-4EFD-94DE-AA3AEB7C7760}" type="slidenum">
              <a:rPr lang="ja-JP" altLang="en-US" smtClean="0"/>
              <a:pPr/>
              <a:t>‹#›</a:t>
            </a:fld>
            <a:endParaRPr kumimoji="1" lang="ja-JP" altLang="en-US" dirty="0"/>
          </a:p>
        </p:txBody>
      </p:sp>
      <p:sp>
        <p:nvSpPr>
          <p:cNvPr id="6" name="正方形/長方形 5">
            <a:extLst>
              <a:ext uri="{FF2B5EF4-FFF2-40B4-BE49-F238E27FC236}">
                <a16:creationId xmlns:a16="http://schemas.microsoft.com/office/drawing/2014/main" id="{8173EA80-52E1-4BD3-85BA-F1A3F7313249}"/>
              </a:ext>
            </a:extLst>
          </p:cNvPr>
          <p:cNvSpPr/>
          <p:nvPr userDrawn="1"/>
        </p:nvSpPr>
        <p:spPr>
          <a:xfrm>
            <a:off x="0" y="1404000"/>
            <a:ext cx="11353800" cy="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844442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925A69F-3DA8-4AC1-B987-65665140C2E6}"/>
              </a:ext>
            </a:extLst>
          </p:cNvPr>
          <p:cNvSpPr>
            <a:spLocks noGrp="1"/>
          </p:cNvSpPr>
          <p:nvPr>
            <p:ph type="dt" sz="half" idx="10"/>
          </p:nvPr>
        </p:nvSpPr>
        <p:spPr/>
        <p:txBody>
          <a:bodyPr/>
          <a:lstStyle/>
          <a:p>
            <a:fld id="{F8ABBF76-4F22-5D4E-8632-BFC4A16C2945}" type="datetime1">
              <a:rPr kumimoji="1" lang="ja-JP" altLang="en-US" smtClean="0"/>
              <a:t>2026/5/15</a:t>
            </a:fld>
            <a:endParaRPr kumimoji="1" lang="ja-JP" altLang="en-US"/>
          </a:p>
        </p:txBody>
      </p:sp>
      <p:sp>
        <p:nvSpPr>
          <p:cNvPr id="3" name="フッター プレースホルダー 2">
            <a:extLst>
              <a:ext uri="{FF2B5EF4-FFF2-40B4-BE49-F238E27FC236}">
                <a16:creationId xmlns:a16="http://schemas.microsoft.com/office/drawing/2014/main" id="{2E6F0ABF-D94E-4007-9474-B9E55B7A8272}"/>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4" name="スライド番号プレースホルダー 3">
            <a:extLst>
              <a:ext uri="{FF2B5EF4-FFF2-40B4-BE49-F238E27FC236}">
                <a16:creationId xmlns:a16="http://schemas.microsoft.com/office/drawing/2014/main" id="{83B0907D-2DDE-4152-A622-9DB9F8D3222C}"/>
              </a:ext>
            </a:extLst>
          </p:cNvPr>
          <p:cNvSpPr>
            <a:spLocks noGrp="1"/>
          </p:cNvSpPr>
          <p:nvPr>
            <p:ph type="sldNum" sz="quarter" idx="12"/>
          </p:nvPr>
        </p:nvSpPr>
        <p:spPr/>
        <p:txBody>
          <a:bodyPr/>
          <a:lstStyle/>
          <a:p>
            <a:r>
              <a:rPr lang="en-US" altLang="ja-JP" dirty="0"/>
              <a:t>No. </a:t>
            </a:r>
            <a:fld id="{41B87E3F-77EC-4EFD-94DE-AA3AEB7C7760}" type="slidenum">
              <a:rPr lang="ja-JP" altLang="en-US" smtClean="0"/>
              <a:pPr/>
              <a:t>‹#›</a:t>
            </a:fld>
            <a:endParaRPr kumimoji="1" lang="ja-JP" altLang="en-US" dirty="0"/>
          </a:p>
        </p:txBody>
      </p:sp>
    </p:spTree>
    <p:extLst>
      <p:ext uri="{BB962C8B-B14F-4D97-AF65-F5344CB8AC3E}">
        <p14:creationId xmlns:p14="http://schemas.microsoft.com/office/powerpoint/2010/main" val="2518667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BB780F-8DD0-44CC-8877-361C78F8464D}"/>
              </a:ext>
            </a:extLst>
          </p:cNvPr>
          <p:cNvSpPr>
            <a:spLocks noGrp="1"/>
          </p:cNvSpPr>
          <p:nvPr>
            <p:ph type="title"/>
          </p:nvPr>
        </p:nvSpPr>
        <p:spPr>
          <a:xfrm>
            <a:off x="839788" y="987424"/>
            <a:ext cx="3932237" cy="1069975"/>
          </a:xfrm>
        </p:spPr>
        <p:txBody>
          <a:bodyPr anchor="b"/>
          <a:lstStyle>
            <a:lvl1pPr>
              <a:defRPr sz="3200"/>
            </a:lvl1pPr>
          </a:lstStyle>
          <a:p>
            <a:r>
              <a:rPr kumimoji="1" lang="ja-JP" altLang="en-US"/>
              <a:t>マスター タイトルの書式設定</a:t>
            </a:r>
            <a:endParaRPr kumimoji="1" lang="ja-JP" altLang="en-US" dirty="0"/>
          </a:p>
        </p:txBody>
      </p:sp>
      <p:sp>
        <p:nvSpPr>
          <p:cNvPr id="3" name="コンテンツ プレースホルダー 2">
            <a:extLst>
              <a:ext uri="{FF2B5EF4-FFF2-40B4-BE49-F238E27FC236}">
                <a16:creationId xmlns:a16="http://schemas.microsoft.com/office/drawing/2014/main" id="{BDCA1619-D58D-4DAC-BE36-697BE5A5D7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C233788-DD34-4F7C-B8D7-0AC253E44784}"/>
              </a:ext>
            </a:extLst>
          </p:cNvPr>
          <p:cNvSpPr>
            <a:spLocks noGrp="1"/>
          </p:cNvSpPr>
          <p:nvPr>
            <p:ph type="body" sz="half" idx="2"/>
          </p:nvPr>
        </p:nvSpPr>
        <p:spPr>
          <a:xfrm>
            <a:off x="839788" y="2213002"/>
            <a:ext cx="3932237" cy="36559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C50F814-C041-4310-AEF2-8A371EA20BBB}"/>
              </a:ext>
            </a:extLst>
          </p:cNvPr>
          <p:cNvSpPr>
            <a:spLocks noGrp="1"/>
          </p:cNvSpPr>
          <p:nvPr>
            <p:ph type="dt" sz="half" idx="10"/>
          </p:nvPr>
        </p:nvSpPr>
        <p:spPr/>
        <p:txBody>
          <a:bodyPr/>
          <a:lstStyle/>
          <a:p>
            <a:fld id="{874F4369-5088-1545-9E48-D8DCF7803423}" type="datetime1">
              <a:rPr kumimoji="1" lang="ja-JP" altLang="en-US" smtClean="0"/>
              <a:t>2026/5/15</a:t>
            </a:fld>
            <a:endParaRPr kumimoji="1" lang="ja-JP" altLang="en-US"/>
          </a:p>
        </p:txBody>
      </p:sp>
      <p:sp>
        <p:nvSpPr>
          <p:cNvPr id="6" name="フッター プレースホルダー 5">
            <a:extLst>
              <a:ext uri="{FF2B5EF4-FFF2-40B4-BE49-F238E27FC236}">
                <a16:creationId xmlns:a16="http://schemas.microsoft.com/office/drawing/2014/main" id="{20F9B180-7C7E-45BF-B67D-08E761A772B0}"/>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7" name="スライド番号プレースホルダー 6">
            <a:extLst>
              <a:ext uri="{FF2B5EF4-FFF2-40B4-BE49-F238E27FC236}">
                <a16:creationId xmlns:a16="http://schemas.microsoft.com/office/drawing/2014/main" id="{2060C59F-DE36-4848-A130-BC160A063BE8}"/>
              </a:ext>
            </a:extLst>
          </p:cNvPr>
          <p:cNvSpPr>
            <a:spLocks noGrp="1"/>
          </p:cNvSpPr>
          <p:nvPr>
            <p:ph type="sldNum" sz="quarter" idx="12"/>
          </p:nvPr>
        </p:nvSpPr>
        <p:spPr/>
        <p:txBody>
          <a:bodyPr/>
          <a:lstStyle/>
          <a:p>
            <a:r>
              <a:rPr lang="en-US" altLang="ja-JP" dirty="0"/>
              <a:t>No. </a:t>
            </a:r>
            <a:fld id="{41B87E3F-77EC-4EFD-94DE-AA3AEB7C7760}" type="slidenum">
              <a:rPr lang="ja-JP" altLang="en-US" smtClean="0"/>
              <a:pPr/>
              <a:t>‹#›</a:t>
            </a:fld>
            <a:endParaRPr kumimoji="1" lang="ja-JP" altLang="en-US" dirty="0"/>
          </a:p>
        </p:txBody>
      </p:sp>
      <p:sp>
        <p:nvSpPr>
          <p:cNvPr id="8" name="正方形/長方形 7">
            <a:extLst>
              <a:ext uri="{FF2B5EF4-FFF2-40B4-BE49-F238E27FC236}">
                <a16:creationId xmlns:a16="http://schemas.microsoft.com/office/drawing/2014/main" id="{E7BE7242-B3D1-4080-BB3D-815940CE632D}"/>
              </a:ext>
            </a:extLst>
          </p:cNvPr>
          <p:cNvSpPr/>
          <p:nvPr userDrawn="1"/>
        </p:nvSpPr>
        <p:spPr>
          <a:xfrm>
            <a:off x="0" y="2057399"/>
            <a:ext cx="4772025" cy="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7023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DD4715-351C-421A-9269-3E1A7DBFD3D7}"/>
              </a:ext>
            </a:extLst>
          </p:cNvPr>
          <p:cNvSpPr>
            <a:spLocks noGrp="1"/>
          </p:cNvSpPr>
          <p:nvPr>
            <p:ph type="title"/>
          </p:nvPr>
        </p:nvSpPr>
        <p:spPr>
          <a:xfrm>
            <a:off x="839788" y="987424"/>
            <a:ext cx="3932237" cy="1069975"/>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0F492DF-CAA2-45FF-A127-EE32B3747F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90273914-0AA9-4992-93E8-4BF23AA2D361}"/>
              </a:ext>
            </a:extLst>
          </p:cNvPr>
          <p:cNvSpPr>
            <a:spLocks noGrp="1"/>
          </p:cNvSpPr>
          <p:nvPr>
            <p:ph type="body" sz="half" idx="2"/>
          </p:nvPr>
        </p:nvSpPr>
        <p:spPr>
          <a:xfrm>
            <a:off x="839788" y="2214000"/>
            <a:ext cx="3932237" cy="36576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0CB9086-C32C-4FB1-AFA2-8A8DAA7B1ECF}"/>
              </a:ext>
            </a:extLst>
          </p:cNvPr>
          <p:cNvSpPr>
            <a:spLocks noGrp="1"/>
          </p:cNvSpPr>
          <p:nvPr>
            <p:ph type="dt" sz="half" idx="10"/>
          </p:nvPr>
        </p:nvSpPr>
        <p:spPr/>
        <p:txBody>
          <a:bodyPr/>
          <a:lstStyle/>
          <a:p>
            <a:fld id="{266AAF02-D86D-5941-AFEB-67F9A6281B25}" type="datetime1">
              <a:rPr kumimoji="1" lang="ja-JP" altLang="en-US" smtClean="0"/>
              <a:t>2026/5/15</a:t>
            </a:fld>
            <a:endParaRPr kumimoji="1" lang="ja-JP" altLang="en-US"/>
          </a:p>
        </p:txBody>
      </p:sp>
      <p:sp>
        <p:nvSpPr>
          <p:cNvPr id="6" name="フッター プレースホルダー 5">
            <a:extLst>
              <a:ext uri="{FF2B5EF4-FFF2-40B4-BE49-F238E27FC236}">
                <a16:creationId xmlns:a16="http://schemas.microsoft.com/office/drawing/2014/main" id="{5B80DDF4-F308-4887-BB35-F856D1FC6AC6}"/>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7" name="スライド番号プレースホルダー 6">
            <a:extLst>
              <a:ext uri="{FF2B5EF4-FFF2-40B4-BE49-F238E27FC236}">
                <a16:creationId xmlns:a16="http://schemas.microsoft.com/office/drawing/2014/main" id="{2F9949CC-1C12-4AEC-8FB4-3FA89E2DF6C0}"/>
              </a:ext>
            </a:extLst>
          </p:cNvPr>
          <p:cNvSpPr>
            <a:spLocks noGrp="1"/>
          </p:cNvSpPr>
          <p:nvPr>
            <p:ph type="sldNum" sz="quarter" idx="12"/>
          </p:nvPr>
        </p:nvSpPr>
        <p:spPr/>
        <p:txBody>
          <a:bodyPr/>
          <a:lstStyle/>
          <a:p>
            <a:r>
              <a:rPr lang="en-US" altLang="ja-JP" dirty="0"/>
              <a:t>No. </a:t>
            </a:r>
            <a:fld id="{41B87E3F-77EC-4EFD-94DE-AA3AEB7C7760}" type="slidenum">
              <a:rPr lang="ja-JP" altLang="en-US" smtClean="0"/>
              <a:pPr/>
              <a:t>‹#›</a:t>
            </a:fld>
            <a:endParaRPr kumimoji="1" lang="ja-JP" altLang="en-US" dirty="0"/>
          </a:p>
        </p:txBody>
      </p:sp>
      <p:sp>
        <p:nvSpPr>
          <p:cNvPr id="8" name="正方形/長方形 7">
            <a:extLst>
              <a:ext uri="{FF2B5EF4-FFF2-40B4-BE49-F238E27FC236}">
                <a16:creationId xmlns:a16="http://schemas.microsoft.com/office/drawing/2014/main" id="{AD92FD87-C2D2-46BE-B5B6-6AF2CB389558}"/>
              </a:ext>
            </a:extLst>
          </p:cNvPr>
          <p:cNvSpPr/>
          <p:nvPr userDrawn="1"/>
        </p:nvSpPr>
        <p:spPr>
          <a:xfrm>
            <a:off x="0" y="2057399"/>
            <a:ext cx="4772025" cy="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536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14AAB3-293F-4955-AA01-79CC6FB991D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D52E5E9-A124-4F84-9292-D3EFB452A4F8}"/>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81B2F3D-A097-4D6E-8564-09B7A4D02ADA}"/>
              </a:ext>
            </a:extLst>
          </p:cNvPr>
          <p:cNvSpPr>
            <a:spLocks noGrp="1"/>
          </p:cNvSpPr>
          <p:nvPr>
            <p:ph type="dt" sz="half" idx="10"/>
          </p:nvPr>
        </p:nvSpPr>
        <p:spPr/>
        <p:txBody>
          <a:bodyPr/>
          <a:lstStyle/>
          <a:p>
            <a:fld id="{BEC09B48-8754-E245-964C-555A6F049332}"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C0203EF1-5553-47D7-AD21-CE17B25C2DEA}"/>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D6E2E27C-54A8-45DC-A2D7-7AD192EAE390}"/>
              </a:ext>
            </a:extLst>
          </p:cNvPr>
          <p:cNvSpPr>
            <a:spLocks noGrp="1"/>
          </p:cNvSpPr>
          <p:nvPr>
            <p:ph type="sldNum" sz="quarter" idx="12"/>
          </p:nvPr>
        </p:nvSpPr>
        <p:spPr/>
        <p:txBody>
          <a:bodyPr/>
          <a:lstStyle/>
          <a:p>
            <a:r>
              <a:rPr lang="en-US" altLang="ja-JP" dirty="0"/>
              <a:t>No. </a:t>
            </a:r>
            <a:fld id="{41B87E3F-77EC-4EFD-94DE-AA3AEB7C7760}" type="slidenum">
              <a:rPr lang="ja-JP" altLang="en-US" smtClean="0"/>
              <a:pPr/>
              <a:t>‹#›</a:t>
            </a:fld>
            <a:endParaRPr kumimoji="1" lang="ja-JP" altLang="en-US" dirty="0"/>
          </a:p>
        </p:txBody>
      </p:sp>
      <p:sp>
        <p:nvSpPr>
          <p:cNvPr id="7" name="正方形/長方形 6">
            <a:extLst>
              <a:ext uri="{FF2B5EF4-FFF2-40B4-BE49-F238E27FC236}">
                <a16:creationId xmlns:a16="http://schemas.microsoft.com/office/drawing/2014/main" id="{7851D022-E743-4EE6-A091-3E4B0989D9F3}"/>
              </a:ext>
            </a:extLst>
          </p:cNvPr>
          <p:cNvSpPr/>
          <p:nvPr userDrawn="1"/>
        </p:nvSpPr>
        <p:spPr>
          <a:xfrm>
            <a:off x="0" y="1404000"/>
            <a:ext cx="11353800" cy="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14951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42F4181-2581-4A3F-9A3C-2440587AFEC9}"/>
              </a:ext>
            </a:extLst>
          </p:cNvPr>
          <p:cNvSpPr>
            <a:spLocks noGrp="1"/>
          </p:cNvSpPr>
          <p:nvPr>
            <p:ph type="title" orient="vert"/>
          </p:nvPr>
        </p:nvSpPr>
        <p:spPr>
          <a:xfrm>
            <a:off x="8724900" y="657225"/>
            <a:ext cx="2628900" cy="5519738"/>
          </a:xfrm>
        </p:spPr>
        <p:txBody>
          <a:bodyPr vert="eaVert"/>
          <a:lstStyle/>
          <a:p>
            <a:r>
              <a:rPr kumimoji="1" lang="ja-JP" altLang="en-US"/>
              <a:t>マスター タイトルの書式設定</a:t>
            </a:r>
            <a:endParaRPr kumimoji="1" lang="ja-JP" altLang="en-US" dirty="0"/>
          </a:p>
        </p:txBody>
      </p:sp>
      <p:sp>
        <p:nvSpPr>
          <p:cNvPr id="3" name="縦書きテキスト プレースホルダー 2">
            <a:extLst>
              <a:ext uri="{FF2B5EF4-FFF2-40B4-BE49-F238E27FC236}">
                <a16:creationId xmlns:a16="http://schemas.microsoft.com/office/drawing/2014/main" id="{CCF68684-A461-49EC-9FC9-A5674A0C05D2}"/>
              </a:ext>
            </a:extLst>
          </p:cNvPr>
          <p:cNvSpPr>
            <a:spLocks noGrp="1"/>
          </p:cNvSpPr>
          <p:nvPr>
            <p:ph type="body" orient="vert" idx="1"/>
          </p:nvPr>
        </p:nvSpPr>
        <p:spPr>
          <a:xfrm>
            <a:off x="838200" y="657223"/>
            <a:ext cx="7734300" cy="5519739"/>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4" name="日付プレースホルダー 3">
            <a:extLst>
              <a:ext uri="{FF2B5EF4-FFF2-40B4-BE49-F238E27FC236}">
                <a16:creationId xmlns:a16="http://schemas.microsoft.com/office/drawing/2014/main" id="{43BE9399-127B-4590-BC5B-A6807EC61F38}"/>
              </a:ext>
            </a:extLst>
          </p:cNvPr>
          <p:cNvSpPr>
            <a:spLocks noGrp="1"/>
          </p:cNvSpPr>
          <p:nvPr>
            <p:ph type="dt" sz="half" idx="10"/>
          </p:nvPr>
        </p:nvSpPr>
        <p:spPr/>
        <p:txBody>
          <a:bodyPr/>
          <a:lstStyle/>
          <a:p>
            <a:fld id="{B9C0BCF4-E6E5-9A4F-9B3F-10094D00B000}"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53704593-8546-4AAD-818A-A802623B2B0D}"/>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E23B2F28-5BA7-457E-9C6A-5FF9149FC6BF}"/>
              </a:ext>
            </a:extLst>
          </p:cNvPr>
          <p:cNvSpPr>
            <a:spLocks noGrp="1"/>
          </p:cNvSpPr>
          <p:nvPr>
            <p:ph type="sldNum" sz="quarter" idx="12"/>
          </p:nvPr>
        </p:nvSpPr>
        <p:spPr/>
        <p:txBody>
          <a:bodyPr/>
          <a:lstStyle/>
          <a:p>
            <a:r>
              <a:rPr lang="en-US" altLang="ja-JP" dirty="0"/>
              <a:t>No. </a:t>
            </a:r>
            <a:fld id="{41B87E3F-77EC-4EFD-94DE-AA3AEB7C7760}" type="slidenum">
              <a:rPr lang="ja-JP" altLang="en-US" smtClean="0"/>
              <a:pPr/>
              <a:t>‹#›</a:t>
            </a:fld>
            <a:endParaRPr kumimoji="1" lang="ja-JP" altLang="en-US" dirty="0"/>
          </a:p>
        </p:txBody>
      </p:sp>
    </p:spTree>
    <p:extLst>
      <p:ext uri="{BB962C8B-B14F-4D97-AF65-F5344CB8AC3E}">
        <p14:creationId xmlns:p14="http://schemas.microsoft.com/office/powerpoint/2010/main" val="1892812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72EC1657-6D86-4E3F-BCDD-416500910CC3}"/>
              </a:ext>
            </a:extLst>
          </p:cNvPr>
          <p:cNvSpPr/>
          <p:nvPr userDrawn="1"/>
        </p:nvSpPr>
        <p:spPr>
          <a:xfrm>
            <a:off x="0" y="6426000"/>
            <a:ext cx="12192000" cy="43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タイトル プレースホルダー 1">
            <a:extLst>
              <a:ext uri="{FF2B5EF4-FFF2-40B4-BE49-F238E27FC236}">
                <a16:creationId xmlns:a16="http://schemas.microsoft.com/office/drawing/2014/main" id="{942A5C50-DAA3-4093-80B4-BCDB7C3BBD53}"/>
              </a:ext>
            </a:extLst>
          </p:cNvPr>
          <p:cNvSpPr>
            <a:spLocks noGrp="1"/>
          </p:cNvSpPr>
          <p:nvPr>
            <p:ph type="title"/>
          </p:nvPr>
        </p:nvSpPr>
        <p:spPr>
          <a:xfrm>
            <a:off x="838200" y="504000"/>
            <a:ext cx="10515600" cy="900000"/>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6FEAE0DD-90C7-4914-9727-B86A096D69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3A45B9F3-32B4-44BE-9C14-7529D8E36979}"/>
              </a:ext>
            </a:extLst>
          </p:cNvPr>
          <p:cNvSpPr>
            <a:spLocks noGrp="1"/>
          </p:cNvSpPr>
          <p:nvPr>
            <p:ph type="dt" sz="half" idx="2"/>
          </p:nvPr>
        </p:nvSpPr>
        <p:spPr>
          <a:xfrm>
            <a:off x="72000" y="6498000"/>
            <a:ext cx="2743200" cy="288000"/>
          </a:xfrm>
          <a:prstGeom prst="rect">
            <a:avLst/>
          </a:prstGeom>
        </p:spPr>
        <p:txBody>
          <a:bodyPr vert="horz" lIns="91440" tIns="45720" rIns="91440" bIns="45720" rtlCol="0" anchor="ctr"/>
          <a:lstStyle>
            <a:lvl1pPr algn="l">
              <a:defRPr sz="1200">
                <a:solidFill>
                  <a:schemeClr val="bg1"/>
                </a:solidFill>
              </a:defRPr>
            </a:lvl1pPr>
          </a:lstStyle>
          <a:p>
            <a:fld id="{438D8453-E5B8-6A47-8AE3-C185A57D2735}" type="datetime1">
              <a:rPr lang="ja-JP" altLang="en-US" smtClean="0"/>
              <a:t>2026/5/15</a:t>
            </a:fld>
            <a:endParaRPr lang="ja-JP" altLang="en-US" dirty="0"/>
          </a:p>
        </p:txBody>
      </p:sp>
      <p:sp>
        <p:nvSpPr>
          <p:cNvPr id="5" name="フッター プレースホルダー 4">
            <a:extLst>
              <a:ext uri="{FF2B5EF4-FFF2-40B4-BE49-F238E27FC236}">
                <a16:creationId xmlns:a16="http://schemas.microsoft.com/office/drawing/2014/main" id="{A2600AAD-5893-4453-B567-23A440BBF4B2}"/>
              </a:ext>
            </a:extLst>
          </p:cNvPr>
          <p:cNvSpPr>
            <a:spLocks noGrp="1"/>
          </p:cNvSpPr>
          <p:nvPr>
            <p:ph type="ftr" sz="quarter" idx="3"/>
          </p:nvPr>
        </p:nvSpPr>
        <p:spPr>
          <a:xfrm>
            <a:off x="3000375" y="6498000"/>
            <a:ext cx="6191250" cy="288000"/>
          </a:xfrm>
          <a:prstGeom prst="rect">
            <a:avLst/>
          </a:prstGeom>
        </p:spPr>
        <p:txBody>
          <a:bodyPr vert="horz" lIns="91440" tIns="45720" rIns="91440" bIns="45720" rtlCol="0" anchor="ctr"/>
          <a:lstStyle>
            <a:lvl1pPr algn="ctr">
              <a:defRPr sz="1000">
                <a:solidFill>
                  <a:schemeClr val="bg1"/>
                </a:solidFill>
              </a:defRPr>
            </a:lvl1pPr>
          </a:lstStyle>
          <a:p>
            <a:r>
              <a:rPr lang="en-US" altLang="ja-JP"/>
              <a:t>©2024 </a:t>
            </a:r>
            <a:r>
              <a:rPr lang="ja-JP" altLang="en-US"/>
              <a:t>済生会横浜市東部病院 救急科 </a:t>
            </a:r>
            <a:r>
              <a:rPr lang="en-US" altLang="ja-JP"/>
              <a:t>All rights reserved.</a:t>
            </a:r>
            <a:endParaRPr lang="ja-JP" altLang="en-US" dirty="0"/>
          </a:p>
        </p:txBody>
      </p:sp>
      <p:sp>
        <p:nvSpPr>
          <p:cNvPr id="6" name="スライド番号プレースホルダー 5">
            <a:extLst>
              <a:ext uri="{FF2B5EF4-FFF2-40B4-BE49-F238E27FC236}">
                <a16:creationId xmlns:a16="http://schemas.microsoft.com/office/drawing/2014/main" id="{C8EDA15A-5235-44BA-8C9F-04995F5C0E24}"/>
              </a:ext>
            </a:extLst>
          </p:cNvPr>
          <p:cNvSpPr>
            <a:spLocks noGrp="1"/>
          </p:cNvSpPr>
          <p:nvPr>
            <p:ph type="sldNum" sz="quarter" idx="4"/>
          </p:nvPr>
        </p:nvSpPr>
        <p:spPr>
          <a:xfrm>
            <a:off x="9376800" y="6498000"/>
            <a:ext cx="2743200" cy="288000"/>
          </a:xfrm>
          <a:prstGeom prst="rect">
            <a:avLst/>
          </a:prstGeom>
        </p:spPr>
        <p:txBody>
          <a:bodyPr vert="horz" lIns="91440" tIns="45720" rIns="91440" bIns="45720" rtlCol="0" anchor="ctr"/>
          <a:lstStyle>
            <a:lvl1pPr algn="r">
              <a:defRPr sz="1200">
                <a:solidFill>
                  <a:schemeClr val="bg1"/>
                </a:solidFill>
              </a:defRPr>
            </a:lvl1pPr>
          </a:lstStyle>
          <a:p>
            <a:r>
              <a:rPr lang="en-US" altLang="ja-JP" dirty="0"/>
              <a:t>No. </a:t>
            </a:r>
            <a:fld id="{41B87E3F-77EC-4EFD-94DE-AA3AEB7C7760}" type="slidenum">
              <a:rPr lang="ja-JP" altLang="en-US" smtClean="0"/>
              <a:pPr/>
              <a:t>‹#›</a:t>
            </a:fld>
            <a:endParaRPr lang="ja-JP" altLang="en-US" dirty="0"/>
          </a:p>
        </p:txBody>
      </p:sp>
      <p:sp>
        <p:nvSpPr>
          <p:cNvPr id="7" name="正方形/長方形 6">
            <a:extLst>
              <a:ext uri="{FF2B5EF4-FFF2-40B4-BE49-F238E27FC236}">
                <a16:creationId xmlns:a16="http://schemas.microsoft.com/office/drawing/2014/main" id="{24FD4BB8-7643-40E0-8D76-A1392B17B11F}"/>
              </a:ext>
            </a:extLst>
          </p:cNvPr>
          <p:cNvSpPr/>
          <p:nvPr userDrawn="1"/>
        </p:nvSpPr>
        <p:spPr>
          <a:xfrm>
            <a:off x="0" y="0"/>
            <a:ext cx="12192000" cy="43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9E7D8379-D1DF-4A17-A175-47CFE470D40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2000" y="36000"/>
            <a:ext cx="1094400" cy="360000"/>
          </a:xfrm>
          <a:prstGeom prst="rect">
            <a:avLst/>
          </a:prstGeom>
        </p:spPr>
      </p:pic>
      <p:sp>
        <p:nvSpPr>
          <p:cNvPr id="10" name="テキスト ボックス 9">
            <a:extLst>
              <a:ext uri="{FF2B5EF4-FFF2-40B4-BE49-F238E27FC236}">
                <a16:creationId xmlns:a16="http://schemas.microsoft.com/office/drawing/2014/main" id="{C4AD1E50-29A0-4146-B8D7-A2D90D48F1EB}"/>
              </a:ext>
            </a:extLst>
          </p:cNvPr>
          <p:cNvSpPr txBox="1"/>
          <p:nvPr userDrawn="1"/>
        </p:nvSpPr>
        <p:spPr>
          <a:xfrm>
            <a:off x="1260000" y="53860"/>
            <a:ext cx="3055275" cy="323165"/>
          </a:xfrm>
          <a:prstGeom prst="rect">
            <a:avLst/>
          </a:prstGeom>
          <a:noFill/>
        </p:spPr>
        <p:txBody>
          <a:bodyPr wrap="square" lIns="0" tIns="0" rIns="0" bIns="0" rtlCol="0" anchor="ctr" anchorCtr="0">
            <a:spAutoFit/>
          </a:bodyPr>
          <a:lstStyle/>
          <a:p>
            <a:r>
              <a:rPr kumimoji="1" lang="ja-JP" altLang="en-US" sz="1200" dirty="0">
                <a:solidFill>
                  <a:schemeClr val="bg1"/>
                </a:solidFill>
              </a:rPr>
              <a:t>済生会横浜市東部病院 救急科</a:t>
            </a:r>
            <a:endParaRPr kumimoji="1" lang="en-US" altLang="ja-JP" sz="1200" dirty="0">
              <a:solidFill>
                <a:schemeClr val="bg1"/>
              </a:solidFill>
            </a:endParaRPr>
          </a:p>
          <a:p>
            <a:r>
              <a:rPr kumimoji="1" lang="ja-JP" altLang="en-US" sz="900" dirty="0">
                <a:solidFill>
                  <a:schemeClr val="bg1"/>
                </a:solidFill>
              </a:rPr>
              <a:t>救命救急センター／</a:t>
            </a:r>
            <a:r>
              <a:rPr kumimoji="1" lang="ja-JP" altLang="en-US" sz="900">
                <a:solidFill>
                  <a:schemeClr val="bg1"/>
                </a:solidFill>
              </a:rPr>
              <a:t>横浜市重症外傷センター</a:t>
            </a:r>
            <a:endParaRPr kumimoji="1" lang="ja-JP" altLang="en-US" sz="900" dirty="0">
              <a:solidFill>
                <a:schemeClr val="bg1"/>
              </a:solidFill>
            </a:endParaRPr>
          </a:p>
        </p:txBody>
      </p:sp>
    </p:spTree>
    <p:extLst>
      <p:ext uri="{BB962C8B-B14F-4D97-AF65-F5344CB8AC3E}">
        <p14:creationId xmlns:p14="http://schemas.microsoft.com/office/powerpoint/2010/main" val="933452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kumimoji="1" sz="4400" kern="1200">
          <a:solidFill>
            <a:schemeClr val="accent2"/>
          </a:solidFill>
          <a:effectLst>
            <a:outerShdw blurRad="50800" dist="38100" dir="2700000" algn="tl" rotWithShape="0">
              <a:prstClr val="black">
                <a:alpha val="40000"/>
              </a:prstClr>
            </a:outerShdw>
          </a:effectLst>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diagramLayout" Target="../diagrams/layout3.xml"/><Relationship Id="rId7" Type="http://schemas.openxmlformats.org/officeDocument/2006/relationships/image" Target="../media/image9.emf"/><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emf"/><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2.svg"/></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2.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sv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5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sv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sv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6.sv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図プレースホルダー 1">
            <a:extLst>
              <a:ext uri="{FF2B5EF4-FFF2-40B4-BE49-F238E27FC236}">
                <a16:creationId xmlns:a16="http://schemas.microsoft.com/office/drawing/2014/main" id="{CFB16F6D-0177-8F44-9EA3-05E859A39A26}"/>
              </a:ext>
            </a:extLst>
          </p:cNvPr>
          <p:cNvSpPr>
            <a:spLocks noGrp="1"/>
          </p:cNvSpPr>
          <p:nvPr>
            <p:ph type="pic" sz="quarter" idx="13"/>
          </p:nvPr>
        </p:nvSpPr>
        <p:spPr/>
        <p:txBody>
          <a:bodyPr/>
          <a:lstStyle/>
          <a:p>
            <a:endParaRPr lang="ja-JP" altLang="en-US"/>
          </a:p>
        </p:txBody>
      </p:sp>
      <p:sp>
        <p:nvSpPr>
          <p:cNvPr id="3" name="タイトル 2">
            <a:extLst>
              <a:ext uri="{FF2B5EF4-FFF2-40B4-BE49-F238E27FC236}">
                <a16:creationId xmlns:a16="http://schemas.microsoft.com/office/drawing/2014/main" id="{C8385DB8-F788-254C-A577-3282290CB81B}"/>
              </a:ext>
            </a:extLst>
          </p:cNvPr>
          <p:cNvSpPr>
            <a:spLocks noGrp="1"/>
          </p:cNvSpPr>
          <p:nvPr>
            <p:ph type="ctrTitle"/>
          </p:nvPr>
        </p:nvSpPr>
        <p:spPr/>
        <p:txBody>
          <a:bodyPr/>
          <a:lstStyle/>
          <a:p>
            <a:r>
              <a:rPr kumimoji="1" lang="en-US" altLang="ja-JP" dirty="0"/>
              <a:t>TEG protocol 2024</a:t>
            </a:r>
            <a:r>
              <a:rPr kumimoji="1" lang="ja-JP" altLang="en-US"/>
              <a:t> </a:t>
            </a:r>
          </a:p>
        </p:txBody>
      </p:sp>
      <p:sp>
        <p:nvSpPr>
          <p:cNvPr id="4" name="字幕 3">
            <a:extLst>
              <a:ext uri="{FF2B5EF4-FFF2-40B4-BE49-F238E27FC236}">
                <a16:creationId xmlns:a16="http://schemas.microsoft.com/office/drawing/2014/main" id="{F1A91E9C-563B-C640-9AD2-D01AD1E13609}"/>
              </a:ext>
            </a:extLst>
          </p:cNvPr>
          <p:cNvSpPr>
            <a:spLocks noGrp="1"/>
          </p:cNvSpPr>
          <p:nvPr>
            <p:ph type="subTitle" idx="1"/>
          </p:nvPr>
        </p:nvSpPr>
        <p:spPr/>
        <p:txBody>
          <a:bodyPr>
            <a:normAutofit fontScale="92500" lnSpcReduction="20000"/>
          </a:bodyPr>
          <a:lstStyle/>
          <a:p>
            <a:r>
              <a:rPr kumimoji="1" lang="ja-JP" altLang="en-US"/>
              <a:t>済生会横浜市東部病院救命救急センター　</a:t>
            </a:r>
            <a:endParaRPr lang="en-US" altLang="ja-JP" dirty="0"/>
          </a:p>
          <a:p>
            <a:r>
              <a:rPr kumimoji="1" lang="ja-JP" altLang="en-US"/>
              <a:t>大政　皓聖　</a:t>
            </a:r>
            <a:endParaRPr kumimoji="1" lang="en-US" altLang="ja-JP" dirty="0"/>
          </a:p>
        </p:txBody>
      </p:sp>
      <p:sp>
        <p:nvSpPr>
          <p:cNvPr id="5" name="テキスト プレースホルダー 4">
            <a:extLst>
              <a:ext uri="{FF2B5EF4-FFF2-40B4-BE49-F238E27FC236}">
                <a16:creationId xmlns:a16="http://schemas.microsoft.com/office/drawing/2014/main" id="{66185F53-E8A2-5241-96F6-BCCE10204CF0}"/>
              </a:ext>
            </a:extLst>
          </p:cNvPr>
          <p:cNvSpPr>
            <a:spLocks noGrp="1"/>
          </p:cNvSpPr>
          <p:nvPr>
            <p:ph type="body" sz="quarter" idx="14"/>
          </p:nvPr>
        </p:nvSpPr>
        <p:spPr/>
        <p:txBody>
          <a:bodyPr/>
          <a:lstStyle/>
          <a:p>
            <a:endParaRPr kumimoji="1" lang="ja-JP" altLang="en-US"/>
          </a:p>
        </p:txBody>
      </p:sp>
    </p:spTree>
    <p:extLst>
      <p:ext uri="{BB962C8B-B14F-4D97-AF65-F5344CB8AC3E}">
        <p14:creationId xmlns:p14="http://schemas.microsoft.com/office/powerpoint/2010/main" val="14487028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42F19D96-78B4-6A41-AA10-380A0B96B18E}"/>
              </a:ext>
            </a:extLst>
          </p:cNvPr>
          <p:cNvPicPr>
            <a:picLocks noChangeAspect="1"/>
          </p:cNvPicPr>
          <p:nvPr/>
        </p:nvPicPr>
        <p:blipFill>
          <a:blip r:embed="rId2"/>
          <a:stretch>
            <a:fillRect/>
          </a:stretch>
        </p:blipFill>
        <p:spPr>
          <a:xfrm>
            <a:off x="9448799" y="3610799"/>
            <a:ext cx="2743201" cy="2743201"/>
          </a:xfrm>
          <a:prstGeom prst="rect">
            <a:avLst/>
          </a:prstGeom>
        </p:spPr>
      </p:pic>
      <p:sp>
        <p:nvSpPr>
          <p:cNvPr id="2" name="タイトル 1">
            <a:extLst>
              <a:ext uri="{FF2B5EF4-FFF2-40B4-BE49-F238E27FC236}">
                <a16:creationId xmlns:a16="http://schemas.microsoft.com/office/drawing/2014/main" id="{F68D41A3-D7D0-5545-AE73-0B83990882D7}"/>
              </a:ext>
            </a:extLst>
          </p:cNvPr>
          <p:cNvSpPr>
            <a:spLocks noGrp="1"/>
          </p:cNvSpPr>
          <p:nvPr>
            <p:ph type="title"/>
          </p:nvPr>
        </p:nvSpPr>
        <p:spPr/>
        <p:txBody>
          <a:bodyPr/>
          <a:lstStyle/>
          <a:p>
            <a:r>
              <a:rPr kumimoji="1" lang="en-US" altLang="ja-JP" dirty="0"/>
              <a:t>TEG®︎6s</a:t>
            </a:r>
            <a:r>
              <a:rPr kumimoji="1" lang="ja-JP" altLang="en-US"/>
              <a:t>　</a:t>
            </a:r>
            <a:r>
              <a:rPr kumimoji="1" lang="en-US" altLang="ja-JP" dirty="0"/>
              <a:t> </a:t>
            </a:r>
            <a:endParaRPr kumimoji="1" lang="ja-JP" altLang="en-US"/>
          </a:p>
        </p:txBody>
      </p:sp>
      <p:sp>
        <p:nvSpPr>
          <p:cNvPr id="9" name="テキスト ボックス 8">
            <a:extLst>
              <a:ext uri="{FF2B5EF4-FFF2-40B4-BE49-F238E27FC236}">
                <a16:creationId xmlns:a16="http://schemas.microsoft.com/office/drawing/2014/main" id="{A7E78428-2C68-1141-976D-D99031BFE539}"/>
              </a:ext>
            </a:extLst>
          </p:cNvPr>
          <p:cNvSpPr txBox="1"/>
          <p:nvPr/>
        </p:nvSpPr>
        <p:spPr>
          <a:xfrm>
            <a:off x="71999" y="1971958"/>
            <a:ext cx="11609927" cy="954107"/>
          </a:xfrm>
          <a:prstGeom prst="rect">
            <a:avLst/>
          </a:prstGeom>
          <a:noFill/>
        </p:spPr>
        <p:txBody>
          <a:bodyPr wrap="square" rtlCol="0">
            <a:spAutoFit/>
          </a:bodyPr>
          <a:lstStyle/>
          <a:p>
            <a:r>
              <a:rPr kumimoji="1" lang="ja-JP" altLang="en-US" sz="2800"/>
              <a:t>・血液粘弾性検査（</a:t>
            </a:r>
            <a:r>
              <a:rPr kumimoji="1" lang="en-US" altLang="ja-JP" sz="2800" dirty="0" err="1"/>
              <a:t>Thromboelastgraphy</a:t>
            </a:r>
            <a:r>
              <a:rPr kumimoji="1" lang="en-US" altLang="ja-JP" sz="2800" dirty="0"/>
              <a:t>, TEG</a:t>
            </a:r>
            <a:r>
              <a:rPr kumimoji="1" lang="ja-JP" altLang="en-US" sz="2800"/>
              <a:t>）は全血を用いて出血</a:t>
            </a:r>
            <a:r>
              <a:rPr kumimoji="1" lang="en-US" altLang="ja-JP" sz="2800" dirty="0"/>
              <a:t>, </a:t>
            </a:r>
          </a:p>
          <a:p>
            <a:r>
              <a:rPr kumimoji="1" lang="ja-JP" altLang="en-US" sz="2800"/>
              <a:t>　血栓のリスクを評価し的確な治療を支援するための</a:t>
            </a:r>
            <a:r>
              <a:rPr kumimoji="1" lang="en-US" altLang="ja-JP" sz="2800" dirty="0"/>
              <a:t>Point </a:t>
            </a:r>
            <a:r>
              <a:rPr lang="en-US" altLang="ja-JP" sz="2800" dirty="0"/>
              <a:t>of care</a:t>
            </a:r>
            <a:r>
              <a:rPr lang="ja-JP" altLang="en-US" sz="2800"/>
              <a:t>装置</a:t>
            </a:r>
            <a:r>
              <a:rPr lang="en-US" altLang="ja-JP" sz="2800" dirty="0"/>
              <a:t>.</a:t>
            </a:r>
          </a:p>
        </p:txBody>
      </p:sp>
      <p:sp>
        <p:nvSpPr>
          <p:cNvPr id="7" name="テキスト ボックス 6">
            <a:extLst>
              <a:ext uri="{FF2B5EF4-FFF2-40B4-BE49-F238E27FC236}">
                <a16:creationId xmlns:a16="http://schemas.microsoft.com/office/drawing/2014/main" id="{29E3AF7E-DD0F-614E-BD4A-8627161F4C62}"/>
              </a:ext>
            </a:extLst>
          </p:cNvPr>
          <p:cNvSpPr txBox="1"/>
          <p:nvPr/>
        </p:nvSpPr>
        <p:spPr>
          <a:xfrm>
            <a:off x="72000" y="3118858"/>
            <a:ext cx="11281800" cy="523220"/>
          </a:xfrm>
          <a:prstGeom prst="rect">
            <a:avLst/>
          </a:prstGeom>
          <a:noFill/>
        </p:spPr>
        <p:txBody>
          <a:bodyPr wrap="square" rtlCol="0">
            <a:spAutoFit/>
          </a:bodyPr>
          <a:lstStyle/>
          <a:p>
            <a:r>
              <a:rPr kumimoji="1" lang="ja-JP" altLang="en-US" sz="2800"/>
              <a:t>・ダイナミックな凝固プロセス</a:t>
            </a:r>
            <a:r>
              <a:rPr kumimoji="1" lang="en-US" altLang="ja-JP" sz="2800" dirty="0"/>
              <a:t>(</a:t>
            </a:r>
            <a:r>
              <a:rPr kumimoji="1" lang="ja-JP" altLang="en-US" sz="2800"/>
              <a:t>凝固→線溶</a:t>
            </a:r>
            <a:r>
              <a:rPr kumimoji="1" lang="en-US" altLang="ja-JP" sz="2800" dirty="0"/>
              <a:t>)</a:t>
            </a:r>
            <a:r>
              <a:rPr kumimoji="1" lang="ja-JP" altLang="en-US" sz="2800"/>
              <a:t>の全体を評価できる</a:t>
            </a:r>
            <a:r>
              <a:rPr kumimoji="1" lang="en-US" altLang="ja-JP" sz="2800" dirty="0"/>
              <a:t>.</a:t>
            </a:r>
            <a:endParaRPr lang="en-US" altLang="ja-JP" sz="2800" dirty="0"/>
          </a:p>
        </p:txBody>
      </p:sp>
      <p:sp>
        <p:nvSpPr>
          <p:cNvPr id="8" name="テキスト ボックス 7">
            <a:extLst>
              <a:ext uri="{FF2B5EF4-FFF2-40B4-BE49-F238E27FC236}">
                <a16:creationId xmlns:a16="http://schemas.microsoft.com/office/drawing/2014/main" id="{C042942F-BC57-6D4F-82D3-FBD4E9AF3989}"/>
              </a:ext>
            </a:extLst>
          </p:cNvPr>
          <p:cNvSpPr txBox="1"/>
          <p:nvPr/>
        </p:nvSpPr>
        <p:spPr>
          <a:xfrm>
            <a:off x="71999" y="3956586"/>
            <a:ext cx="11281800" cy="954107"/>
          </a:xfrm>
          <a:prstGeom prst="rect">
            <a:avLst/>
          </a:prstGeom>
          <a:noFill/>
        </p:spPr>
        <p:txBody>
          <a:bodyPr wrap="square" rtlCol="0">
            <a:spAutoFit/>
          </a:bodyPr>
          <a:lstStyle/>
          <a:p>
            <a:r>
              <a:rPr kumimoji="1" lang="ja-JP" altLang="en-US" sz="2800"/>
              <a:t>・急性外傷性凝固障害を迅速に特定し</a:t>
            </a:r>
            <a:r>
              <a:rPr kumimoji="1" lang="en-US" altLang="ja-JP" sz="2800" dirty="0"/>
              <a:t>, </a:t>
            </a:r>
          </a:p>
          <a:p>
            <a:r>
              <a:rPr lang="ja-JP" altLang="en-US" sz="2800"/>
              <a:t>　</a:t>
            </a:r>
            <a:r>
              <a:rPr kumimoji="1" lang="en-US" altLang="ja-JP" sz="2800" dirty="0"/>
              <a:t>Massive transfusion protocol(MTP)</a:t>
            </a:r>
            <a:r>
              <a:rPr kumimoji="1" lang="ja-JP" altLang="en-US" sz="2800"/>
              <a:t>実施における指標となる</a:t>
            </a:r>
            <a:r>
              <a:rPr kumimoji="1" lang="en-US" altLang="ja-JP" sz="2800" dirty="0"/>
              <a:t>.</a:t>
            </a:r>
            <a:endParaRPr lang="en-US" altLang="ja-JP" sz="2800" dirty="0"/>
          </a:p>
        </p:txBody>
      </p:sp>
      <p:sp>
        <p:nvSpPr>
          <p:cNvPr id="10" name="フッター プレースホルダー 9">
            <a:extLst>
              <a:ext uri="{FF2B5EF4-FFF2-40B4-BE49-F238E27FC236}">
                <a16:creationId xmlns:a16="http://schemas.microsoft.com/office/drawing/2014/main" id="{4E77C5EB-12E1-C72A-B0E3-10B95D1027FD}"/>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11" name="スライド番号プレースホルダー 10">
            <a:extLst>
              <a:ext uri="{FF2B5EF4-FFF2-40B4-BE49-F238E27FC236}">
                <a16:creationId xmlns:a16="http://schemas.microsoft.com/office/drawing/2014/main" id="{AA1F6A33-0060-3B13-4464-1EE80989A2C4}"/>
              </a:ext>
            </a:extLst>
          </p:cNvPr>
          <p:cNvSpPr>
            <a:spLocks noGrp="1"/>
          </p:cNvSpPr>
          <p:nvPr>
            <p:ph type="sldNum" sz="quarter" idx="12"/>
          </p:nvPr>
        </p:nvSpPr>
        <p:spPr/>
        <p:txBody>
          <a:bodyPr/>
          <a:lstStyle/>
          <a:p>
            <a:r>
              <a:rPr lang="en-US" altLang="ja-JP"/>
              <a:t>No. </a:t>
            </a:r>
            <a:fld id="{41B87E3F-77EC-4EFD-94DE-AA3AEB7C7760}" type="slidenum">
              <a:rPr lang="ja-JP" altLang="en-US" smtClean="0"/>
              <a:pPr/>
              <a:t>2</a:t>
            </a:fld>
            <a:endParaRPr kumimoji="1" lang="ja-JP" altLang="en-US" dirty="0"/>
          </a:p>
        </p:txBody>
      </p:sp>
      <p:sp>
        <p:nvSpPr>
          <p:cNvPr id="12" name="日付プレースホルダー 11">
            <a:extLst>
              <a:ext uri="{FF2B5EF4-FFF2-40B4-BE49-F238E27FC236}">
                <a16:creationId xmlns:a16="http://schemas.microsoft.com/office/drawing/2014/main" id="{F6C4DD73-A095-5689-9349-6329E855BCFB}"/>
              </a:ext>
            </a:extLst>
          </p:cNvPr>
          <p:cNvSpPr>
            <a:spLocks noGrp="1"/>
          </p:cNvSpPr>
          <p:nvPr>
            <p:ph type="dt" sz="half" idx="10"/>
          </p:nvPr>
        </p:nvSpPr>
        <p:spPr/>
        <p:txBody>
          <a:bodyPr/>
          <a:lstStyle/>
          <a:p>
            <a:fld id="{9791E18B-32B8-1141-9440-8F54E7793364}" type="datetime1">
              <a:rPr kumimoji="1" lang="ja-JP" altLang="en-US" smtClean="0"/>
              <a:t>2026/5/15</a:t>
            </a:fld>
            <a:endParaRPr kumimoji="1" lang="ja-JP" altLang="en-US"/>
          </a:p>
        </p:txBody>
      </p:sp>
      <p:sp>
        <p:nvSpPr>
          <p:cNvPr id="4" name="テキスト ボックス 3">
            <a:extLst>
              <a:ext uri="{FF2B5EF4-FFF2-40B4-BE49-F238E27FC236}">
                <a16:creationId xmlns:a16="http://schemas.microsoft.com/office/drawing/2014/main" id="{E3751FCE-8C80-42D1-C213-919AA1A298A2}"/>
              </a:ext>
            </a:extLst>
          </p:cNvPr>
          <p:cNvSpPr txBox="1"/>
          <p:nvPr/>
        </p:nvSpPr>
        <p:spPr>
          <a:xfrm>
            <a:off x="71999" y="5054693"/>
            <a:ext cx="11281800" cy="523220"/>
          </a:xfrm>
          <a:prstGeom prst="rect">
            <a:avLst/>
          </a:prstGeom>
          <a:noFill/>
        </p:spPr>
        <p:txBody>
          <a:bodyPr wrap="square" rtlCol="0">
            <a:spAutoFit/>
          </a:bodyPr>
          <a:lstStyle/>
          <a:p>
            <a:r>
              <a:rPr kumimoji="1" lang="ja-JP" altLang="en-US" sz="2800"/>
              <a:t>・</a:t>
            </a:r>
            <a:r>
              <a:rPr kumimoji="1" lang="en-US" altLang="ja-JP" sz="2800" dirty="0"/>
              <a:t>ECMO</a:t>
            </a:r>
            <a:r>
              <a:rPr kumimoji="1" lang="ja-JP" altLang="en-US" sz="2800"/>
              <a:t>中の抗凝固管理の指標となる可能性がある</a:t>
            </a:r>
            <a:r>
              <a:rPr kumimoji="1" lang="en-US" altLang="ja-JP" sz="2800" dirty="0"/>
              <a:t>.</a:t>
            </a:r>
            <a:endParaRPr lang="en-US" altLang="ja-JP" sz="2800" dirty="0"/>
          </a:p>
        </p:txBody>
      </p:sp>
    </p:spTree>
    <p:extLst>
      <p:ext uri="{BB962C8B-B14F-4D97-AF65-F5344CB8AC3E}">
        <p14:creationId xmlns:p14="http://schemas.microsoft.com/office/powerpoint/2010/main" val="1428728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EF6ED2-C3F7-C0CE-903E-AE5F7E58AC39}"/>
              </a:ext>
            </a:extLst>
          </p:cNvPr>
          <p:cNvSpPr>
            <a:spLocks noGrp="1"/>
          </p:cNvSpPr>
          <p:nvPr>
            <p:ph type="title"/>
          </p:nvPr>
        </p:nvSpPr>
        <p:spPr/>
        <p:txBody>
          <a:bodyPr/>
          <a:lstStyle/>
          <a:p>
            <a:r>
              <a:rPr kumimoji="1" lang="en-US" altLang="ja-JP" dirty="0"/>
              <a:t>TEG6s</a:t>
            </a:r>
            <a:r>
              <a:rPr kumimoji="1" lang="ja-JP" altLang="en-US"/>
              <a:t>は何をみているのか？</a:t>
            </a:r>
          </a:p>
        </p:txBody>
      </p:sp>
      <p:sp>
        <p:nvSpPr>
          <p:cNvPr id="7" name="Text Box 6">
            <a:extLst>
              <a:ext uri="{FF2B5EF4-FFF2-40B4-BE49-F238E27FC236}">
                <a16:creationId xmlns:a16="http://schemas.microsoft.com/office/drawing/2014/main" id="{F9E1ADB8-2DF9-AF84-B56C-7F82E1AB36CC}"/>
              </a:ext>
            </a:extLst>
          </p:cNvPr>
          <p:cNvSpPr txBox="1">
            <a:spLocks noChangeArrowheads="1"/>
          </p:cNvSpPr>
          <p:nvPr/>
        </p:nvSpPr>
        <p:spPr bwMode="auto">
          <a:xfrm>
            <a:off x="7351712" y="4837698"/>
            <a:ext cx="184150" cy="457200"/>
          </a:xfrm>
          <a:prstGeom prst="rect">
            <a:avLst/>
          </a:prstGeom>
          <a:noFill/>
          <a:ln w="9525">
            <a:noFill/>
            <a:miter lim="800000"/>
            <a:headEnd/>
            <a:tailEnd/>
          </a:ln>
          <a:effectLst/>
        </p:spPr>
        <p:txBody>
          <a:bodyPr wrap="none">
            <a:spAutoFit/>
          </a:bodyPr>
          <a:lstStyle/>
          <a:p>
            <a:pPr eaLnBrk="0" hangingPunct="0"/>
            <a:endParaRPr lang="en-US" b="1" dirty="0">
              <a:latin typeface="Arial Narrow" pitchFamily="34" charset="0"/>
            </a:endParaRPr>
          </a:p>
        </p:txBody>
      </p:sp>
      <p:grpSp>
        <p:nvGrpSpPr>
          <p:cNvPr id="8" name="グループ化 7">
            <a:extLst>
              <a:ext uri="{FF2B5EF4-FFF2-40B4-BE49-F238E27FC236}">
                <a16:creationId xmlns:a16="http://schemas.microsoft.com/office/drawing/2014/main" id="{A8DA180E-8EB0-D3E9-2677-E6B5834DBF40}"/>
              </a:ext>
            </a:extLst>
          </p:cNvPr>
          <p:cNvGrpSpPr/>
          <p:nvPr/>
        </p:nvGrpSpPr>
        <p:grpSpPr>
          <a:xfrm>
            <a:off x="1418956" y="4467728"/>
            <a:ext cx="9367864" cy="1945609"/>
            <a:chOff x="1418956" y="3058993"/>
            <a:chExt cx="8331200" cy="2161961"/>
          </a:xfrm>
        </p:grpSpPr>
        <p:sp>
          <p:nvSpPr>
            <p:cNvPr id="9" name="Text Box 3">
              <a:extLst>
                <a:ext uri="{FF2B5EF4-FFF2-40B4-BE49-F238E27FC236}">
                  <a16:creationId xmlns:a16="http://schemas.microsoft.com/office/drawing/2014/main" id="{DE20DCAE-8082-7D28-6973-B1D3B2AE25EB}"/>
                </a:ext>
              </a:extLst>
            </p:cNvPr>
            <p:cNvSpPr txBox="1">
              <a:spLocks noChangeArrowheads="1"/>
            </p:cNvSpPr>
            <p:nvPr/>
          </p:nvSpPr>
          <p:spPr bwMode="auto">
            <a:xfrm>
              <a:off x="8159751" y="4210826"/>
              <a:ext cx="700833" cy="400110"/>
            </a:xfrm>
            <a:prstGeom prst="rect">
              <a:avLst/>
            </a:prstGeom>
            <a:noFill/>
            <a:ln w="9525">
              <a:noFill/>
              <a:miter lim="800000"/>
              <a:headEnd/>
              <a:tailEnd/>
            </a:ln>
            <a:effectLst/>
          </p:spPr>
          <p:txBody>
            <a:bodyPr wrap="none">
              <a:spAutoFit/>
            </a:bodyPr>
            <a:lstStyle/>
            <a:p>
              <a:r>
                <a:rPr lang="ja-JP" altLang="en-US" sz="2000" b="1" dirty="0">
                  <a:cs typeface="Arial" charset="0"/>
                </a:rPr>
                <a:t>出血</a:t>
              </a:r>
              <a:endParaRPr lang="en-US" sz="2000" b="1" dirty="0">
                <a:cs typeface="Arial" charset="0"/>
              </a:endParaRPr>
            </a:p>
          </p:txBody>
        </p:sp>
        <p:sp>
          <p:nvSpPr>
            <p:cNvPr id="10" name="Text Box 4">
              <a:extLst>
                <a:ext uri="{FF2B5EF4-FFF2-40B4-BE49-F238E27FC236}">
                  <a16:creationId xmlns:a16="http://schemas.microsoft.com/office/drawing/2014/main" id="{505A043C-BD11-ADC5-19FF-8C0908CF00B0}"/>
                </a:ext>
              </a:extLst>
            </p:cNvPr>
            <p:cNvSpPr txBox="1">
              <a:spLocks noChangeArrowheads="1"/>
            </p:cNvSpPr>
            <p:nvPr/>
          </p:nvSpPr>
          <p:spPr bwMode="auto">
            <a:xfrm>
              <a:off x="2444751" y="4225114"/>
              <a:ext cx="700833" cy="400110"/>
            </a:xfrm>
            <a:prstGeom prst="rect">
              <a:avLst/>
            </a:prstGeom>
            <a:noFill/>
            <a:ln w="9525">
              <a:noFill/>
              <a:miter lim="800000"/>
              <a:headEnd/>
              <a:tailEnd/>
            </a:ln>
            <a:effectLst/>
          </p:spPr>
          <p:txBody>
            <a:bodyPr wrap="none">
              <a:spAutoFit/>
            </a:bodyPr>
            <a:lstStyle/>
            <a:p>
              <a:r>
                <a:rPr lang="ja-JP" altLang="en-US" sz="2000" b="1" dirty="0">
                  <a:cs typeface="Arial" charset="0"/>
                </a:rPr>
                <a:t>血栓</a:t>
              </a:r>
              <a:endParaRPr lang="en-US" sz="2000" b="1" dirty="0">
                <a:cs typeface="Arial" charset="0"/>
              </a:endParaRPr>
            </a:p>
          </p:txBody>
        </p:sp>
        <p:grpSp>
          <p:nvGrpSpPr>
            <p:cNvPr id="11" name="グループ化 10">
              <a:extLst>
                <a:ext uri="{FF2B5EF4-FFF2-40B4-BE49-F238E27FC236}">
                  <a16:creationId xmlns:a16="http://schemas.microsoft.com/office/drawing/2014/main" id="{21E441D2-650F-D8C9-3B1C-51AF361D19C2}"/>
                </a:ext>
              </a:extLst>
            </p:cNvPr>
            <p:cNvGrpSpPr/>
            <p:nvPr/>
          </p:nvGrpSpPr>
          <p:grpSpPr>
            <a:xfrm>
              <a:off x="1418956" y="3058993"/>
              <a:ext cx="8331200" cy="2161961"/>
              <a:chOff x="1930400" y="3721982"/>
              <a:chExt cx="8331200" cy="2161961"/>
            </a:xfrm>
          </p:grpSpPr>
          <p:grpSp>
            <p:nvGrpSpPr>
              <p:cNvPr id="12" name="グループ化 11">
                <a:extLst>
                  <a:ext uri="{FF2B5EF4-FFF2-40B4-BE49-F238E27FC236}">
                    <a16:creationId xmlns:a16="http://schemas.microsoft.com/office/drawing/2014/main" id="{55BC1063-1861-5C00-8C87-6B9217C06B80}"/>
                  </a:ext>
                </a:extLst>
              </p:cNvPr>
              <p:cNvGrpSpPr/>
              <p:nvPr/>
            </p:nvGrpSpPr>
            <p:grpSpPr>
              <a:xfrm>
                <a:off x="1930400" y="3721982"/>
                <a:ext cx="8331200" cy="1233150"/>
                <a:chOff x="1930400" y="3721982"/>
                <a:chExt cx="8331200" cy="1233150"/>
              </a:xfrm>
            </p:grpSpPr>
            <p:sp>
              <p:nvSpPr>
                <p:cNvPr id="15" name="AutoShape 2">
                  <a:extLst>
                    <a:ext uri="{FF2B5EF4-FFF2-40B4-BE49-F238E27FC236}">
                      <a16:creationId xmlns:a16="http://schemas.microsoft.com/office/drawing/2014/main" id="{CDC09A3B-972C-EC4F-F48E-0F28F0CE50BD}"/>
                    </a:ext>
                  </a:extLst>
                </p:cNvPr>
                <p:cNvSpPr>
                  <a:spLocks noChangeArrowheads="1"/>
                </p:cNvSpPr>
                <p:nvPr/>
              </p:nvSpPr>
              <p:spPr bwMode="auto">
                <a:xfrm>
                  <a:off x="1930400" y="3970569"/>
                  <a:ext cx="8331200" cy="917079"/>
                </a:xfrm>
                <a:prstGeom prst="leftRightArrow">
                  <a:avLst>
                    <a:gd name="adj1" fmla="val 50000"/>
                    <a:gd name="adj2" fmla="val 150157"/>
                  </a:avLst>
                </a:prstGeom>
                <a:gradFill rotWithShape="1">
                  <a:gsLst>
                    <a:gs pos="0">
                      <a:srgbClr val="A2A8FC"/>
                    </a:gs>
                    <a:gs pos="100000">
                      <a:srgbClr val="FF0000"/>
                    </a:gs>
                  </a:gsLst>
                  <a:lin ang="0" scaled="1"/>
                </a:gradFill>
                <a:ln w="57150">
                  <a:solidFill>
                    <a:schemeClr val="tx1"/>
                  </a:solidFill>
                  <a:miter lim="800000"/>
                  <a:headEnd/>
                  <a:tailEnd/>
                </a:ln>
                <a:effectLst/>
              </p:spPr>
              <p:txBody>
                <a:bodyPr anchor="ctr">
                  <a:spAutoFit/>
                </a:bodyPr>
                <a:lstStyle/>
                <a:p>
                  <a:endParaRPr lang="en-US" dirty="0"/>
                </a:p>
              </p:txBody>
            </p:sp>
            <p:pic>
              <p:nvPicPr>
                <p:cNvPr id="16" name="Picture 5">
                  <a:extLst>
                    <a:ext uri="{FF2B5EF4-FFF2-40B4-BE49-F238E27FC236}">
                      <a16:creationId xmlns:a16="http://schemas.microsoft.com/office/drawing/2014/main" id="{205DAB1A-CB42-E848-EBE9-C1577372FA36}"/>
                    </a:ext>
                  </a:extLst>
                </p:cNvPr>
                <p:cNvPicPr>
                  <a:picLocks noChangeAspect="1" noChangeArrowheads="1"/>
                </p:cNvPicPr>
                <p:nvPr/>
              </p:nvPicPr>
              <p:blipFill>
                <a:blip r:embed="rId2" cstate="print"/>
                <a:srcRect/>
                <a:stretch>
                  <a:fillRect/>
                </a:stretch>
              </p:blipFill>
              <p:spPr bwMode="auto">
                <a:xfrm>
                  <a:off x="5215317" y="3721982"/>
                  <a:ext cx="1602785" cy="1233150"/>
                </a:xfrm>
                <a:prstGeom prst="rect">
                  <a:avLst/>
                </a:prstGeom>
                <a:noFill/>
                <a:ln w="9525">
                  <a:solidFill>
                    <a:schemeClr val="tx1"/>
                  </a:solidFill>
                  <a:miter lim="800000"/>
                  <a:headEnd/>
                  <a:tailEnd/>
                </a:ln>
              </p:spPr>
            </p:pic>
          </p:grpSp>
          <p:sp>
            <p:nvSpPr>
              <p:cNvPr id="13" name="Line 7">
                <a:extLst>
                  <a:ext uri="{FF2B5EF4-FFF2-40B4-BE49-F238E27FC236}">
                    <a16:creationId xmlns:a16="http://schemas.microsoft.com/office/drawing/2014/main" id="{5629F3F8-4695-CF4B-70E0-C6B01B8FDF46}"/>
                  </a:ext>
                </a:extLst>
              </p:cNvPr>
              <p:cNvSpPr>
                <a:spLocks noChangeShapeType="1"/>
              </p:cNvSpPr>
              <p:nvPr/>
            </p:nvSpPr>
            <p:spPr bwMode="auto">
              <a:xfrm flipH="1" flipV="1">
                <a:off x="6053137" y="4946118"/>
                <a:ext cx="0" cy="457200"/>
              </a:xfrm>
              <a:prstGeom prst="line">
                <a:avLst/>
              </a:prstGeom>
              <a:noFill/>
              <a:ln w="57150">
                <a:solidFill>
                  <a:schemeClr val="tx1"/>
                </a:solidFill>
                <a:round/>
                <a:headEnd/>
                <a:tailEnd type="arrow" w="med" len="med"/>
              </a:ln>
              <a:effectLst/>
            </p:spPr>
            <p:txBody>
              <a:bodyPr>
                <a:spAutoFit/>
              </a:bodyPr>
              <a:lstStyle/>
              <a:p>
                <a:endParaRPr lang="en-US" dirty="0"/>
              </a:p>
            </p:txBody>
          </p:sp>
          <p:sp>
            <p:nvSpPr>
              <p:cNvPr id="14" name="Text Box 10">
                <a:extLst>
                  <a:ext uri="{FF2B5EF4-FFF2-40B4-BE49-F238E27FC236}">
                    <a16:creationId xmlns:a16="http://schemas.microsoft.com/office/drawing/2014/main" id="{58631EC8-76FA-D571-BD26-989EA83704E8}"/>
                  </a:ext>
                </a:extLst>
              </p:cNvPr>
              <p:cNvSpPr txBox="1">
                <a:spLocks noChangeArrowheads="1"/>
              </p:cNvSpPr>
              <p:nvPr/>
            </p:nvSpPr>
            <p:spPr bwMode="auto">
              <a:xfrm>
                <a:off x="5525521" y="5370945"/>
                <a:ext cx="1055231" cy="512998"/>
              </a:xfrm>
              <a:prstGeom prst="rect">
                <a:avLst/>
              </a:prstGeom>
              <a:noFill/>
              <a:ln w="9525" algn="ctr">
                <a:noFill/>
                <a:miter lim="800000"/>
                <a:headEnd/>
                <a:tailEnd/>
              </a:ln>
              <a:effectLst/>
            </p:spPr>
            <p:txBody>
              <a:bodyPr wrap="none" lIns="91436" tIns="45718" rIns="91436" bIns="45718">
                <a:spAutoFit/>
              </a:bodyPr>
              <a:lstStyle/>
              <a:p>
                <a:pPr eaLnBrk="0" hangingPunct="0">
                  <a:spcBef>
                    <a:spcPct val="20000"/>
                  </a:spcBef>
                  <a:buClr>
                    <a:srgbClr val="000099"/>
                  </a:buClr>
                  <a:buFont typeface="Wingdings" pitchFamily="2" charset="2"/>
                  <a:buNone/>
                </a:pPr>
                <a:r>
                  <a:rPr lang="en-US" sz="2400" b="1" dirty="0"/>
                  <a:t>Balance</a:t>
                </a:r>
              </a:p>
            </p:txBody>
          </p:sp>
        </p:grpSp>
      </p:grpSp>
      <p:graphicFrame>
        <p:nvGraphicFramePr>
          <p:cNvPr id="17" name="図表 16">
            <a:extLst>
              <a:ext uri="{FF2B5EF4-FFF2-40B4-BE49-F238E27FC236}">
                <a16:creationId xmlns:a16="http://schemas.microsoft.com/office/drawing/2014/main" id="{2A5534C3-3CCD-4D9C-B084-B453A26F606C}"/>
              </a:ext>
            </a:extLst>
          </p:cNvPr>
          <p:cNvGraphicFramePr/>
          <p:nvPr/>
        </p:nvGraphicFramePr>
        <p:xfrm>
          <a:off x="1987828" y="1754615"/>
          <a:ext cx="8133726" cy="28259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フッター プレースホルダー 2">
            <a:extLst>
              <a:ext uri="{FF2B5EF4-FFF2-40B4-BE49-F238E27FC236}">
                <a16:creationId xmlns:a16="http://schemas.microsoft.com/office/drawing/2014/main" id="{1D4C5DE0-EC78-C5A9-720B-463CC2A64574}"/>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18" name="スライド番号プレースホルダー 17">
            <a:extLst>
              <a:ext uri="{FF2B5EF4-FFF2-40B4-BE49-F238E27FC236}">
                <a16:creationId xmlns:a16="http://schemas.microsoft.com/office/drawing/2014/main" id="{6EE1666C-ADA7-EAE2-37B8-C8309654B561}"/>
              </a:ext>
            </a:extLst>
          </p:cNvPr>
          <p:cNvSpPr>
            <a:spLocks noGrp="1"/>
          </p:cNvSpPr>
          <p:nvPr>
            <p:ph type="sldNum" sz="quarter" idx="12"/>
          </p:nvPr>
        </p:nvSpPr>
        <p:spPr/>
        <p:txBody>
          <a:bodyPr/>
          <a:lstStyle/>
          <a:p>
            <a:r>
              <a:rPr lang="en-US" altLang="ja-JP"/>
              <a:t>No. </a:t>
            </a:r>
            <a:fld id="{41B87E3F-77EC-4EFD-94DE-AA3AEB7C7760}" type="slidenum">
              <a:rPr lang="ja-JP" altLang="en-US" smtClean="0"/>
              <a:pPr/>
              <a:t>3</a:t>
            </a:fld>
            <a:endParaRPr kumimoji="1" lang="ja-JP" altLang="en-US" dirty="0"/>
          </a:p>
        </p:txBody>
      </p:sp>
      <p:sp>
        <p:nvSpPr>
          <p:cNvPr id="19" name="日付プレースホルダー 18">
            <a:extLst>
              <a:ext uri="{FF2B5EF4-FFF2-40B4-BE49-F238E27FC236}">
                <a16:creationId xmlns:a16="http://schemas.microsoft.com/office/drawing/2014/main" id="{3BC57B6C-ABC1-54DC-552E-499DBCF76DAA}"/>
              </a:ext>
            </a:extLst>
          </p:cNvPr>
          <p:cNvSpPr>
            <a:spLocks noGrp="1"/>
          </p:cNvSpPr>
          <p:nvPr>
            <p:ph type="dt" sz="half" idx="10"/>
          </p:nvPr>
        </p:nvSpPr>
        <p:spPr/>
        <p:txBody>
          <a:bodyPr/>
          <a:lstStyle/>
          <a:p>
            <a:fld id="{372EEB74-BA16-F844-87A9-2B1CDC1F62C8}" type="datetime1">
              <a:rPr kumimoji="1" lang="ja-JP" altLang="en-US" smtClean="0"/>
              <a:t>2026/5/15</a:t>
            </a:fld>
            <a:endParaRPr kumimoji="1" lang="ja-JP" altLang="en-US"/>
          </a:p>
        </p:txBody>
      </p:sp>
    </p:spTree>
    <p:extLst>
      <p:ext uri="{BB962C8B-B14F-4D97-AF65-F5344CB8AC3E}">
        <p14:creationId xmlns:p14="http://schemas.microsoft.com/office/powerpoint/2010/main" val="263344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D4075E-E9C5-9B1B-903D-49B76E338222}"/>
              </a:ext>
            </a:extLst>
          </p:cNvPr>
          <p:cNvSpPr>
            <a:spLocks noGrp="1"/>
          </p:cNvSpPr>
          <p:nvPr>
            <p:ph type="title"/>
          </p:nvPr>
        </p:nvSpPr>
        <p:spPr/>
        <p:txBody>
          <a:bodyPr>
            <a:normAutofit/>
          </a:bodyPr>
          <a:lstStyle/>
          <a:p>
            <a:r>
              <a:rPr lang="en-US" altLang="ja-JP" sz="4400" dirty="0"/>
              <a:t>TEG6s</a:t>
            </a:r>
            <a:r>
              <a:rPr lang="ja-JP" altLang="en-US" sz="4400"/>
              <a:t>は何ができるのか？</a:t>
            </a:r>
            <a:endParaRPr kumimoji="1" lang="ja-JP" altLang="en-US"/>
          </a:p>
        </p:txBody>
      </p:sp>
      <p:sp>
        <p:nvSpPr>
          <p:cNvPr id="7" name="Rectangle 3">
            <a:extLst>
              <a:ext uri="{FF2B5EF4-FFF2-40B4-BE49-F238E27FC236}">
                <a16:creationId xmlns:a16="http://schemas.microsoft.com/office/drawing/2014/main" id="{D623F512-C97C-2CBF-6562-480224A8E502}"/>
              </a:ext>
            </a:extLst>
          </p:cNvPr>
          <p:cNvSpPr txBox="1">
            <a:spLocks noChangeArrowheads="1"/>
          </p:cNvSpPr>
          <p:nvPr/>
        </p:nvSpPr>
        <p:spPr>
          <a:xfrm>
            <a:off x="339306" y="1619899"/>
            <a:ext cx="11171237" cy="44705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indent="-457200"/>
            <a:r>
              <a:rPr lang="ja-JP" altLang="en-US" sz="2400"/>
              <a:t>ベッドサイドで</a:t>
            </a:r>
            <a:r>
              <a:rPr lang="ja-JP" altLang="en-US" sz="2400" u="sng">
                <a:solidFill>
                  <a:srgbClr val="FF0000"/>
                </a:solidFill>
              </a:rPr>
              <a:t>簡便</a:t>
            </a:r>
            <a:r>
              <a:rPr lang="en-US" altLang="ja-JP" sz="2400" u="sng" dirty="0">
                <a:solidFill>
                  <a:srgbClr val="FF0000"/>
                </a:solidFill>
              </a:rPr>
              <a:t>, </a:t>
            </a:r>
            <a:r>
              <a:rPr lang="ja-JP" altLang="en-US" sz="2400" u="sng">
                <a:solidFill>
                  <a:srgbClr val="FF0000"/>
                </a:solidFill>
              </a:rPr>
              <a:t>迅速</a:t>
            </a:r>
            <a:r>
              <a:rPr lang="ja-JP" altLang="en-US" sz="2400"/>
              <a:t>に測定が行える</a:t>
            </a:r>
            <a:r>
              <a:rPr lang="en-US" altLang="ja-JP" sz="2400" u="sng" dirty="0">
                <a:solidFill>
                  <a:srgbClr val="FF0000"/>
                </a:solidFill>
              </a:rPr>
              <a:t>Point of Care</a:t>
            </a:r>
            <a:r>
              <a:rPr lang="ja-JP" altLang="en-US" sz="2400"/>
              <a:t>装置</a:t>
            </a:r>
            <a:endParaRPr lang="en-US" altLang="ja-JP" sz="2400" dirty="0"/>
          </a:p>
          <a:p>
            <a:pPr marL="457200" indent="-457200"/>
            <a:endParaRPr lang="en-US" altLang="ja-JP" sz="2400" dirty="0"/>
          </a:p>
          <a:p>
            <a:pPr marL="457200" indent="-457200">
              <a:lnSpc>
                <a:spcPct val="110000"/>
              </a:lnSpc>
            </a:pPr>
            <a:r>
              <a:rPr lang="ja-JP" altLang="en-US" sz="2400" u="sng">
                <a:solidFill>
                  <a:srgbClr val="FF0000"/>
                </a:solidFill>
              </a:rPr>
              <a:t>凝固時間</a:t>
            </a:r>
            <a:r>
              <a:rPr lang="ja-JP" altLang="en-US" sz="2400"/>
              <a:t>（凝固因子・ヘパリンの影響）</a:t>
            </a:r>
            <a:br>
              <a:rPr lang="en-US" altLang="ja-JP" sz="2400" dirty="0"/>
            </a:br>
            <a:r>
              <a:rPr lang="ja-JP" altLang="en-US" sz="2400" u="sng">
                <a:solidFill>
                  <a:srgbClr val="FF0000"/>
                </a:solidFill>
              </a:rPr>
              <a:t>フィブリンノゲン</a:t>
            </a:r>
            <a:r>
              <a:rPr lang="en-US" altLang="ja-JP" sz="2400" u="sng" dirty="0">
                <a:solidFill>
                  <a:srgbClr val="FF0000"/>
                </a:solidFill>
              </a:rPr>
              <a:t>, </a:t>
            </a:r>
            <a:r>
              <a:rPr lang="ja-JP" altLang="en-US" sz="2400" u="sng">
                <a:solidFill>
                  <a:srgbClr val="FF0000"/>
                </a:solidFill>
              </a:rPr>
              <a:t>血小板の機能</a:t>
            </a:r>
            <a:r>
              <a:rPr lang="en-US" altLang="ja-JP" sz="2400" u="sng" dirty="0">
                <a:solidFill>
                  <a:srgbClr val="FF0000"/>
                </a:solidFill>
              </a:rPr>
              <a:t>, </a:t>
            </a:r>
            <a:r>
              <a:rPr lang="ja-JP" altLang="en-US" sz="2400" u="sng">
                <a:solidFill>
                  <a:srgbClr val="FF0000"/>
                </a:solidFill>
              </a:rPr>
              <a:t>線溶亢進</a:t>
            </a:r>
            <a:r>
              <a:rPr lang="ja-JP" altLang="en-US" sz="2400"/>
              <a:t>による出血リスク評価</a:t>
            </a:r>
            <a:endParaRPr lang="en-US" altLang="ja-JP" sz="2400" dirty="0"/>
          </a:p>
          <a:p>
            <a:pPr marL="0" indent="0">
              <a:lnSpc>
                <a:spcPct val="110000"/>
              </a:lnSpc>
              <a:buFont typeface="Arial" panose="020B0604020202020204" pitchFamily="34" charset="0"/>
              <a:buNone/>
            </a:pPr>
            <a:endParaRPr lang="en-US" altLang="ja-JP" sz="2400" dirty="0"/>
          </a:p>
          <a:p>
            <a:pPr marL="457200" indent="-457200">
              <a:lnSpc>
                <a:spcPct val="110000"/>
              </a:lnSpc>
            </a:pPr>
            <a:r>
              <a:rPr lang="en-US" altLang="ja-JP" sz="2400" u="sng" dirty="0">
                <a:solidFill>
                  <a:srgbClr val="FF0000"/>
                </a:solidFill>
              </a:rPr>
              <a:t>ADP, AA</a:t>
            </a:r>
            <a:r>
              <a:rPr lang="ja-JP" altLang="en-US" sz="2400" u="sng">
                <a:solidFill>
                  <a:srgbClr val="FF0000"/>
                </a:solidFill>
              </a:rPr>
              <a:t>レセプター</a:t>
            </a:r>
            <a:r>
              <a:rPr lang="ja-JP" altLang="en-US" sz="2400"/>
              <a:t>の特異的な血小板機能と血小板抑制の状態を評価</a:t>
            </a:r>
            <a:endParaRPr lang="en-US" altLang="ja-JP" sz="900" dirty="0"/>
          </a:p>
          <a:p>
            <a:pPr marL="0" indent="0"/>
            <a:endParaRPr lang="en-US" altLang="ja-JP" dirty="0"/>
          </a:p>
          <a:p>
            <a:endParaRPr lang="en-US" altLang="ja-JP" dirty="0"/>
          </a:p>
          <a:p>
            <a:endParaRPr lang="en-US" altLang="ja-JP" dirty="0"/>
          </a:p>
          <a:p>
            <a:endParaRPr lang="en-US" altLang="ja-JP" dirty="0"/>
          </a:p>
        </p:txBody>
      </p:sp>
      <p:sp>
        <p:nvSpPr>
          <p:cNvPr id="8" name="タイトル 10">
            <a:extLst>
              <a:ext uri="{FF2B5EF4-FFF2-40B4-BE49-F238E27FC236}">
                <a16:creationId xmlns:a16="http://schemas.microsoft.com/office/drawing/2014/main" id="{F6E52355-014D-0A26-1EE4-B0AEE4F65087}"/>
              </a:ext>
            </a:extLst>
          </p:cNvPr>
          <p:cNvSpPr txBox="1">
            <a:spLocks/>
          </p:cNvSpPr>
          <p:nvPr/>
        </p:nvSpPr>
        <p:spPr>
          <a:xfrm>
            <a:off x="669760" y="168849"/>
            <a:ext cx="11171237"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u="none" kern="1200">
                <a:solidFill>
                  <a:schemeClr val="accent2"/>
                </a:solidFill>
                <a:effectLst>
                  <a:outerShdw blurRad="50800" dist="38100" dir="2700000" algn="tl" rotWithShape="0">
                    <a:prstClr val="black">
                      <a:alpha val="40000"/>
                    </a:prstClr>
                  </a:outerShdw>
                </a:effectLst>
                <a:latin typeface="+mj-lt"/>
                <a:ea typeface="+mj-ea"/>
                <a:cs typeface="+mj-cs"/>
              </a:defRPr>
            </a:lvl1pPr>
          </a:lstStyle>
          <a:p>
            <a:endParaRPr lang="ja-JP" altLang="en-US" sz="4800" dirty="0"/>
          </a:p>
        </p:txBody>
      </p:sp>
      <p:pic>
        <p:nvPicPr>
          <p:cNvPr id="9" name="Picture 2">
            <a:extLst>
              <a:ext uri="{FF2B5EF4-FFF2-40B4-BE49-F238E27FC236}">
                <a16:creationId xmlns:a16="http://schemas.microsoft.com/office/drawing/2014/main" id="{03E3DE23-FCDB-0D06-FB0C-A740B8CCA4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3593" y="4839204"/>
            <a:ext cx="2323213" cy="1550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3" descr="TEG Tracing">
            <a:extLst>
              <a:ext uri="{FF2B5EF4-FFF2-40B4-BE49-F238E27FC236}">
                <a16:creationId xmlns:a16="http://schemas.microsoft.com/office/drawing/2014/main" id="{8D722748-017C-E170-A765-73BCD2DBAB8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3234" y="4391773"/>
            <a:ext cx="4672902" cy="2006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フッター プレースホルダー 2">
            <a:extLst>
              <a:ext uri="{FF2B5EF4-FFF2-40B4-BE49-F238E27FC236}">
                <a16:creationId xmlns:a16="http://schemas.microsoft.com/office/drawing/2014/main" id="{7C46FFB3-F713-0A34-6E31-CE64EB6F7DC3}"/>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11" name="スライド番号プレースホルダー 10">
            <a:extLst>
              <a:ext uri="{FF2B5EF4-FFF2-40B4-BE49-F238E27FC236}">
                <a16:creationId xmlns:a16="http://schemas.microsoft.com/office/drawing/2014/main" id="{57526272-161F-DC32-8324-1E607F94A6A2}"/>
              </a:ext>
            </a:extLst>
          </p:cNvPr>
          <p:cNvSpPr>
            <a:spLocks noGrp="1"/>
          </p:cNvSpPr>
          <p:nvPr>
            <p:ph type="sldNum" sz="quarter" idx="12"/>
          </p:nvPr>
        </p:nvSpPr>
        <p:spPr/>
        <p:txBody>
          <a:bodyPr/>
          <a:lstStyle/>
          <a:p>
            <a:r>
              <a:rPr lang="en-US" altLang="ja-JP"/>
              <a:t>No. </a:t>
            </a:r>
            <a:fld id="{41B87E3F-77EC-4EFD-94DE-AA3AEB7C7760}" type="slidenum">
              <a:rPr lang="ja-JP" altLang="en-US" smtClean="0"/>
              <a:pPr/>
              <a:t>4</a:t>
            </a:fld>
            <a:endParaRPr kumimoji="1" lang="ja-JP" altLang="en-US" dirty="0"/>
          </a:p>
        </p:txBody>
      </p:sp>
      <p:sp>
        <p:nvSpPr>
          <p:cNvPr id="12" name="日付プレースホルダー 11">
            <a:extLst>
              <a:ext uri="{FF2B5EF4-FFF2-40B4-BE49-F238E27FC236}">
                <a16:creationId xmlns:a16="http://schemas.microsoft.com/office/drawing/2014/main" id="{423FBC88-9CB2-BC6F-810D-527CC9BEDA57}"/>
              </a:ext>
            </a:extLst>
          </p:cNvPr>
          <p:cNvSpPr>
            <a:spLocks noGrp="1"/>
          </p:cNvSpPr>
          <p:nvPr>
            <p:ph type="dt" sz="half" idx="10"/>
          </p:nvPr>
        </p:nvSpPr>
        <p:spPr/>
        <p:txBody>
          <a:bodyPr/>
          <a:lstStyle/>
          <a:p>
            <a:fld id="{FB6E79EF-FE60-7042-8F53-6E0E9E00E08A}" type="datetime1">
              <a:rPr kumimoji="1" lang="ja-JP" altLang="en-US" smtClean="0"/>
              <a:t>2026/5/15</a:t>
            </a:fld>
            <a:endParaRPr kumimoji="1" lang="ja-JP" altLang="en-US"/>
          </a:p>
        </p:txBody>
      </p:sp>
    </p:spTree>
    <p:extLst>
      <p:ext uri="{BB962C8B-B14F-4D97-AF65-F5344CB8AC3E}">
        <p14:creationId xmlns:p14="http://schemas.microsoft.com/office/powerpoint/2010/main" val="502326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A8EFAB-A0EE-24A8-C140-AA6C0AE14619}"/>
              </a:ext>
            </a:extLst>
          </p:cNvPr>
          <p:cNvSpPr>
            <a:spLocks noGrp="1"/>
          </p:cNvSpPr>
          <p:nvPr>
            <p:ph type="title"/>
          </p:nvPr>
        </p:nvSpPr>
        <p:spPr/>
        <p:txBody>
          <a:bodyPr/>
          <a:lstStyle/>
          <a:p>
            <a:r>
              <a:rPr kumimoji="1" lang="en-US" altLang="ja-JP" dirty="0"/>
              <a:t>TEG</a:t>
            </a:r>
            <a:r>
              <a:rPr kumimoji="1" lang="ja-JP" altLang="en-US"/>
              <a:t>の使用領域</a:t>
            </a:r>
          </a:p>
        </p:txBody>
      </p:sp>
      <p:graphicFrame>
        <p:nvGraphicFramePr>
          <p:cNvPr id="10" name="図表 9">
            <a:extLst>
              <a:ext uri="{FF2B5EF4-FFF2-40B4-BE49-F238E27FC236}">
                <a16:creationId xmlns:a16="http://schemas.microsoft.com/office/drawing/2014/main" id="{DF575921-4F58-9E0D-C220-08843F0CA36E}"/>
              </a:ext>
            </a:extLst>
          </p:cNvPr>
          <p:cNvGraphicFramePr/>
          <p:nvPr/>
        </p:nvGraphicFramePr>
        <p:xfrm>
          <a:off x="140425" y="1654676"/>
          <a:ext cx="11648803" cy="40580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フッター プレースホルダー 2">
            <a:extLst>
              <a:ext uri="{FF2B5EF4-FFF2-40B4-BE49-F238E27FC236}">
                <a16:creationId xmlns:a16="http://schemas.microsoft.com/office/drawing/2014/main" id="{8AE3C7EB-3334-6E5F-B79F-E6186F5CFDE4}"/>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7" name="スライド番号プレースホルダー 6">
            <a:extLst>
              <a:ext uri="{FF2B5EF4-FFF2-40B4-BE49-F238E27FC236}">
                <a16:creationId xmlns:a16="http://schemas.microsoft.com/office/drawing/2014/main" id="{7ADAEC3D-B9B8-E098-000D-E921D6400E93}"/>
              </a:ext>
            </a:extLst>
          </p:cNvPr>
          <p:cNvSpPr>
            <a:spLocks noGrp="1"/>
          </p:cNvSpPr>
          <p:nvPr>
            <p:ph type="sldNum" sz="quarter" idx="12"/>
          </p:nvPr>
        </p:nvSpPr>
        <p:spPr/>
        <p:txBody>
          <a:bodyPr/>
          <a:lstStyle/>
          <a:p>
            <a:r>
              <a:rPr lang="en-US" altLang="ja-JP"/>
              <a:t>No. </a:t>
            </a:r>
            <a:fld id="{41B87E3F-77EC-4EFD-94DE-AA3AEB7C7760}" type="slidenum">
              <a:rPr lang="ja-JP" altLang="en-US" smtClean="0"/>
              <a:pPr/>
              <a:t>5</a:t>
            </a:fld>
            <a:endParaRPr kumimoji="1" lang="ja-JP" altLang="en-US" dirty="0"/>
          </a:p>
        </p:txBody>
      </p:sp>
      <p:sp>
        <p:nvSpPr>
          <p:cNvPr id="8" name="日付プレースホルダー 7">
            <a:extLst>
              <a:ext uri="{FF2B5EF4-FFF2-40B4-BE49-F238E27FC236}">
                <a16:creationId xmlns:a16="http://schemas.microsoft.com/office/drawing/2014/main" id="{AC9E6E4D-E2CC-06EC-82AD-C33A5A5CF752}"/>
              </a:ext>
            </a:extLst>
          </p:cNvPr>
          <p:cNvSpPr>
            <a:spLocks noGrp="1"/>
          </p:cNvSpPr>
          <p:nvPr>
            <p:ph type="dt" sz="half" idx="10"/>
          </p:nvPr>
        </p:nvSpPr>
        <p:spPr/>
        <p:txBody>
          <a:bodyPr/>
          <a:lstStyle/>
          <a:p>
            <a:fld id="{4E3501C0-BFE1-F741-8357-9D291FDA1AB4}" type="datetime1">
              <a:rPr kumimoji="1" lang="ja-JP" altLang="en-US" smtClean="0"/>
              <a:t>2026/5/15</a:t>
            </a:fld>
            <a:endParaRPr kumimoji="1" lang="ja-JP" altLang="en-US"/>
          </a:p>
        </p:txBody>
      </p:sp>
    </p:spTree>
    <p:extLst>
      <p:ext uri="{BB962C8B-B14F-4D97-AF65-F5344CB8AC3E}">
        <p14:creationId xmlns:p14="http://schemas.microsoft.com/office/powerpoint/2010/main" val="3779059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AE05D9-3239-564C-99D4-0081BD693EA7}"/>
              </a:ext>
            </a:extLst>
          </p:cNvPr>
          <p:cNvSpPr>
            <a:spLocks noGrp="1"/>
          </p:cNvSpPr>
          <p:nvPr>
            <p:ph type="title"/>
          </p:nvPr>
        </p:nvSpPr>
        <p:spPr/>
        <p:txBody>
          <a:bodyPr/>
          <a:lstStyle/>
          <a:p>
            <a:r>
              <a:rPr kumimoji="1" lang="ja-JP" altLang="en-US"/>
              <a:t>従来の検査</a:t>
            </a:r>
          </a:p>
        </p:txBody>
      </p:sp>
      <p:pic>
        <p:nvPicPr>
          <p:cNvPr id="8" name="コンテンツ プレースホルダー 7" descr="ダイアグラム&#10;&#10;低い精度で自動的に生成された説明">
            <a:extLst>
              <a:ext uri="{FF2B5EF4-FFF2-40B4-BE49-F238E27FC236}">
                <a16:creationId xmlns:a16="http://schemas.microsoft.com/office/drawing/2014/main" id="{C87F6A29-CB00-1A4C-A94B-4E09DBC042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11971" y="504000"/>
            <a:ext cx="7908029" cy="4268722"/>
          </a:xfrm>
        </p:spPr>
      </p:pic>
      <p:sp>
        <p:nvSpPr>
          <p:cNvPr id="9" name="テキスト ボックス 8">
            <a:extLst>
              <a:ext uri="{FF2B5EF4-FFF2-40B4-BE49-F238E27FC236}">
                <a16:creationId xmlns:a16="http://schemas.microsoft.com/office/drawing/2014/main" id="{7177A225-D634-C64D-9F7F-F6B988067790}"/>
              </a:ext>
            </a:extLst>
          </p:cNvPr>
          <p:cNvSpPr txBox="1"/>
          <p:nvPr/>
        </p:nvSpPr>
        <p:spPr>
          <a:xfrm>
            <a:off x="189570" y="1684026"/>
            <a:ext cx="7593981" cy="3477875"/>
          </a:xfrm>
          <a:prstGeom prst="rect">
            <a:avLst/>
          </a:prstGeom>
          <a:noFill/>
        </p:spPr>
        <p:txBody>
          <a:bodyPr wrap="square" rtlCol="0">
            <a:spAutoFit/>
          </a:bodyPr>
          <a:lstStyle/>
          <a:p>
            <a:r>
              <a:rPr kumimoji="1" lang="ja-JP" altLang="en-US" sz="2800"/>
              <a:t>そもそも血液凝固は</a:t>
            </a:r>
            <a:endParaRPr kumimoji="1" lang="en-US" altLang="ja-JP" sz="2800" dirty="0"/>
          </a:p>
          <a:p>
            <a:r>
              <a:rPr kumimoji="1" lang="ja-JP" altLang="en-US" sz="2800"/>
              <a:t>さまざまな因子により</a:t>
            </a:r>
            <a:endParaRPr kumimoji="1" lang="en-US" altLang="ja-JP" sz="2800" dirty="0"/>
          </a:p>
          <a:p>
            <a:r>
              <a:rPr kumimoji="1" lang="ja-JP" altLang="en-US" sz="2800"/>
              <a:t>なされるものだが</a:t>
            </a:r>
            <a:endParaRPr kumimoji="1" lang="en-US" altLang="ja-JP" sz="2800" dirty="0"/>
          </a:p>
          <a:p>
            <a:r>
              <a:rPr lang="en-US" altLang="ja-JP" sz="3600" b="1" dirty="0"/>
              <a:t>PT/APTT</a:t>
            </a:r>
          </a:p>
          <a:p>
            <a:r>
              <a:rPr lang="ja-JP" altLang="en-US" sz="3600" b="1"/>
              <a:t>フィブリノゲン</a:t>
            </a:r>
            <a:endParaRPr lang="en-US" altLang="ja-JP" sz="3600" b="1" dirty="0"/>
          </a:p>
          <a:p>
            <a:r>
              <a:rPr lang="ja-JP" altLang="en-US" sz="3600" b="1"/>
              <a:t>血小板</a:t>
            </a:r>
            <a:endParaRPr lang="en-US" altLang="ja-JP" sz="3600" b="1" dirty="0"/>
          </a:p>
          <a:p>
            <a:r>
              <a:rPr lang="ja-JP" altLang="en-US" sz="2800"/>
              <a:t>を別々に評価する</a:t>
            </a:r>
            <a:endParaRPr lang="en-US" altLang="ja-JP" sz="2800" dirty="0"/>
          </a:p>
        </p:txBody>
      </p:sp>
      <p:sp>
        <p:nvSpPr>
          <p:cNvPr id="3" name="フッター プレースホルダー 2">
            <a:extLst>
              <a:ext uri="{FF2B5EF4-FFF2-40B4-BE49-F238E27FC236}">
                <a16:creationId xmlns:a16="http://schemas.microsoft.com/office/drawing/2014/main" id="{C4B762E2-A631-A1EE-C69E-D4F32B57AD01}"/>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7" name="スライド番号プレースホルダー 6">
            <a:extLst>
              <a:ext uri="{FF2B5EF4-FFF2-40B4-BE49-F238E27FC236}">
                <a16:creationId xmlns:a16="http://schemas.microsoft.com/office/drawing/2014/main" id="{5AFEF25F-9A8A-816E-915C-9A3B61FC5602}"/>
              </a:ext>
            </a:extLst>
          </p:cNvPr>
          <p:cNvSpPr>
            <a:spLocks noGrp="1"/>
          </p:cNvSpPr>
          <p:nvPr>
            <p:ph type="sldNum" sz="quarter" idx="12"/>
          </p:nvPr>
        </p:nvSpPr>
        <p:spPr/>
        <p:txBody>
          <a:bodyPr/>
          <a:lstStyle/>
          <a:p>
            <a:r>
              <a:rPr lang="en-US" altLang="ja-JP"/>
              <a:t>No. </a:t>
            </a:r>
            <a:fld id="{41B87E3F-77EC-4EFD-94DE-AA3AEB7C7760}" type="slidenum">
              <a:rPr lang="ja-JP" altLang="en-US" smtClean="0"/>
              <a:pPr/>
              <a:t>6</a:t>
            </a:fld>
            <a:endParaRPr kumimoji="1" lang="ja-JP" altLang="en-US" dirty="0"/>
          </a:p>
        </p:txBody>
      </p:sp>
      <p:sp>
        <p:nvSpPr>
          <p:cNvPr id="10" name="日付プレースホルダー 9">
            <a:extLst>
              <a:ext uri="{FF2B5EF4-FFF2-40B4-BE49-F238E27FC236}">
                <a16:creationId xmlns:a16="http://schemas.microsoft.com/office/drawing/2014/main" id="{9193B726-BBDB-08F0-04E8-7228FC847655}"/>
              </a:ext>
            </a:extLst>
          </p:cNvPr>
          <p:cNvSpPr>
            <a:spLocks noGrp="1"/>
          </p:cNvSpPr>
          <p:nvPr>
            <p:ph type="dt" sz="half" idx="10"/>
          </p:nvPr>
        </p:nvSpPr>
        <p:spPr/>
        <p:txBody>
          <a:bodyPr/>
          <a:lstStyle/>
          <a:p>
            <a:fld id="{DAF9AF60-0AF1-D540-980F-5550CFA64910}" type="datetime1">
              <a:rPr kumimoji="1" lang="ja-JP" altLang="en-US" smtClean="0"/>
              <a:t>2026/5/15</a:t>
            </a:fld>
            <a:endParaRPr kumimoji="1" lang="ja-JP" altLang="en-US"/>
          </a:p>
        </p:txBody>
      </p:sp>
    </p:spTree>
    <p:extLst>
      <p:ext uri="{BB962C8B-B14F-4D97-AF65-F5344CB8AC3E}">
        <p14:creationId xmlns:p14="http://schemas.microsoft.com/office/powerpoint/2010/main" val="2237311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AE05D9-3239-564C-99D4-0081BD693EA7}"/>
              </a:ext>
            </a:extLst>
          </p:cNvPr>
          <p:cNvSpPr>
            <a:spLocks noGrp="1"/>
          </p:cNvSpPr>
          <p:nvPr>
            <p:ph type="title"/>
          </p:nvPr>
        </p:nvSpPr>
        <p:spPr/>
        <p:txBody>
          <a:bodyPr/>
          <a:lstStyle/>
          <a:p>
            <a:r>
              <a:rPr kumimoji="1" lang="ja-JP" altLang="en-US"/>
              <a:t>従来の検査</a:t>
            </a:r>
          </a:p>
        </p:txBody>
      </p:sp>
      <p:pic>
        <p:nvPicPr>
          <p:cNvPr id="8" name="コンテンツ プレースホルダー 7" descr="ダイアグラム&#10;&#10;低い精度で自動的に生成された説明">
            <a:extLst>
              <a:ext uri="{FF2B5EF4-FFF2-40B4-BE49-F238E27FC236}">
                <a16:creationId xmlns:a16="http://schemas.microsoft.com/office/drawing/2014/main" id="{C87F6A29-CB00-1A4C-A94B-4E09DBC042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11971" y="504000"/>
            <a:ext cx="7908029" cy="4268722"/>
          </a:xfrm>
        </p:spPr>
      </p:pic>
      <p:sp>
        <p:nvSpPr>
          <p:cNvPr id="9" name="テキスト ボックス 8">
            <a:extLst>
              <a:ext uri="{FF2B5EF4-FFF2-40B4-BE49-F238E27FC236}">
                <a16:creationId xmlns:a16="http://schemas.microsoft.com/office/drawing/2014/main" id="{7177A225-D634-C64D-9F7F-F6B988067790}"/>
              </a:ext>
            </a:extLst>
          </p:cNvPr>
          <p:cNvSpPr txBox="1"/>
          <p:nvPr/>
        </p:nvSpPr>
        <p:spPr>
          <a:xfrm>
            <a:off x="189570" y="1684026"/>
            <a:ext cx="7593981" cy="3477875"/>
          </a:xfrm>
          <a:prstGeom prst="rect">
            <a:avLst/>
          </a:prstGeom>
          <a:noFill/>
        </p:spPr>
        <p:txBody>
          <a:bodyPr wrap="square" rtlCol="0">
            <a:spAutoFit/>
          </a:bodyPr>
          <a:lstStyle/>
          <a:p>
            <a:r>
              <a:rPr kumimoji="1" lang="ja-JP" altLang="en-US" sz="2800"/>
              <a:t>そもそも血液凝固は</a:t>
            </a:r>
            <a:endParaRPr kumimoji="1" lang="en-US" altLang="ja-JP" sz="2800" dirty="0"/>
          </a:p>
          <a:p>
            <a:r>
              <a:rPr kumimoji="1" lang="ja-JP" altLang="en-US" sz="2800"/>
              <a:t>さまざまな因子により</a:t>
            </a:r>
            <a:endParaRPr kumimoji="1" lang="en-US" altLang="ja-JP" sz="2800" dirty="0"/>
          </a:p>
          <a:p>
            <a:r>
              <a:rPr kumimoji="1" lang="ja-JP" altLang="en-US" sz="2800"/>
              <a:t>なされるものだが</a:t>
            </a:r>
            <a:endParaRPr kumimoji="1" lang="en-US" altLang="ja-JP" sz="2800" dirty="0"/>
          </a:p>
          <a:p>
            <a:r>
              <a:rPr lang="en-US" altLang="ja-JP" sz="3600" b="1" dirty="0"/>
              <a:t>PT/APTT</a:t>
            </a:r>
          </a:p>
          <a:p>
            <a:r>
              <a:rPr lang="ja-JP" altLang="en-US" sz="3600" b="1"/>
              <a:t>フィブリノゲン</a:t>
            </a:r>
            <a:endParaRPr lang="en-US" altLang="ja-JP" sz="3600" b="1" dirty="0"/>
          </a:p>
          <a:p>
            <a:r>
              <a:rPr lang="ja-JP" altLang="en-US" sz="3600" b="1"/>
              <a:t>血小板</a:t>
            </a:r>
            <a:endParaRPr lang="en-US" altLang="ja-JP" sz="3600" b="1" dirty="0"/>
          </a:p>
          <a:p>
            <a:r>
              <a:rPr lang="ja-JP" altLang="en-US" sz="2800"/>
              <a:t>を別々に評価する</a:t>
            </a:r>
            <a:endParaRPr lang="en-US" altLang="ja-JP" sz="2800" dirty="0"/>
          </a:p>
        </p:txBody>
      </p:sp>
      <p:sp>
        <p:nvSpPr>
          <p:cNvPr id="3" name="右矢印 2">
            <a:extLst>
              <a:ext uri="{FF2B5EF4-FFF2-40B4-BE49-F238E27FC236}">
                <a16:creationId xmlns:a16="http://schemas.microsoft.com/office/drawing/2014/main" id="{60F30112-6188-CA4C-8061-69032F1B3EC9}"/>
              </a:ext>
            </a:extLst>
          </p:cNvPr>
          <p:cNvSpPr/>
          <p:nvPr/>
        </p:nvSpPr>
        <p:spPr>
          <a:xfrm>
            <a:off x="267629" y="5441927"/>
            <a:ext cx="613317" cy="5241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43943E6F-B2FB-BF4D-856B-B35099B43D5E}"/>
              </a:ext>
            </a:extLst>
          </p:cNvPr>
          <p:cNvSpPr txBox="1"/>
          <p:nvPr/>
        </p:nvSpPr>
        <p:spPr>
          <a:xfrm>
            <a:off x="1059367" y="5184067"/>
            <a:ext cx="11965258" cy="1200329"/>
          </a:xfrm>
          <a:prstGeom prst="rect">
            <a:avLst/>
          </a:prstGeom>
          <a:noFill/>
        </p:spPr>
        <p:txBody>
          <a:bodyPr wrap="square" rtlCol="0">
            <a:spAutoFit/>
          </a:bodyPr>
          <a:lstStyle/>
          <a:p>
            <a:r>
              <a:rPr kumimoji="1" lang="ja-JP" altLang="en-US" sz="4000">
                <a:solidFill>
                  <a:schemeClr val="tx2">
                    <a:lumMod val="50000"/>
                    <a:lumOff val="50000"/>
                  </a:schemeClr>
                </a:solidFill>
              </a:rPr>
              <a:t>個々の力</a:t>
            </a:r>
            <a:r>
              <a:rPr kumimoji="1" lang="ja-JP" altLang="en-US" sz="3200"/>
              <a:t>はわかるが</a:t>
            </a:r>
            <a:r>
              <a:rPr kumimoji="1" lang="ja-JP" altLang="en-US" sz="4000">
                <a:solidFill>
                  <a:srgbClr val="FF0000"/>
                </a:solidFill>
              </a:rPr>
              <a:t>総合力</a:t>
            </a:r>
            <a:r>
              <a:rPr lang="en-US" altLang="ja-JP" sz="4000" dirty="0">
                <a:solidFill>
                  <a:srgbClr val="FF0000"/>
                </a:solidFill>
              </a:rPr>
              <a:t>(</a:t>
            </a:r>
            <a:r>
              <a:rPr lang="ja-JP" altLang="en-US" sz="4000">
                <a:solidFill>
                  <a:srgbClr val="FF0000"/>
                </a:solidFill>
              </a:rPr>
              <a:t>凝固の全体像</a:t>
            </a:r>
            <a:r>
              <a:rPr lang="en-US" altLang="ja-JP" sz="4000" dirty="0">
                <a:solidFill>
                  <a:srgbClr val="FF0000"/>
                </a:solidFill>
              </a:rPr>
              <a:t>)</a:t>
            </a:r>
            <a:r>
              <a:rPr lang="ja-JP" altLang="en-US" sz="3200"/>
              <a:t>は</a:t>
            </a:r>
            <a:endParaRPr lang="en-US" altLang="ja-JP" sz="3200" dirty="0"/>
          </a:p>
          <a:p>
            <a:r>
              <a:rPr lang="ja-JP" altLang="en-US" sz="3200" b="1"/>
              <a:t>わからない</a:t>
            </a:r>
            <a:endParaRPr kumimoji="1" lang="ja-JP" altLang="en-US" sz="3200" b="1"/>
          </a:p>
        </p:txBody>
      </p:sp>
      <p:sp>
        <p:nvSpPr>
          <p:cNvPr id="10" name="フッター プレースホルダー 9">
            <a:extLst>
              <a:ext uri="{FF2B5EF4-FFF2-40B4-BE49-F238E27FC236}">
                <a16:creationId xmlns:a16="http://schemas.microsoft.com/office/drawing/2014/main" id="{9551F211-E46E-0313-1506-0B73ADB7788A}"/>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11" name="スライド番号プレースホルダー 10">
            <a:extLst>
              <a:ext uri="{FF2B5EF4-FFF2-40B4-BE49-F238E27FC236}">
                <a16:creationId xmlns:a16="http://schemas.microsoft.com/office/drawing/2014/main" id="{D4F8FC2F-0AE3-DC78-77BB-EE3070059F5D}"/>
              </a:ext>
            </a:extLst>
          </p:cNvPr>
          <p:cNvSpPr>
            <a:spLocks noGrp="1"/>
          </p:cNvSpPr>
          <p:nvPr>
            <p:ph type="sldNum" sz="quarter" idx="12"/>
          </p:nvPr>
        </p:nvSpPr>
        <p:spPr/>
        <p:txBody>
          <a:bodyPr/>
          <a:lstStyle/>
          <a:p>
            <a:r>
              <a:rPr lang="en-US" altLang="ja-JP"/>
              <a:t>No. </a:t>
            </a:r>
            <a:fld id="{41B87E3F-77EC-4EFD-94DE-AA3AEB7C7760}" type="slidenum">
              <a:rPr lang="ja-JP" altLang="en-US" smtClean="0"/>
              <a:pPr/>
              <a:t>7</a:t>
            </a:fld>
            <a:endParaRPr kumimoji="1" lang="ja-JP" altLang="en-US" dirty="0"/>
          </a:p>
        </p:txBody>
      </p:sp>
      <p:sp>
        <p:nvSpPr>
          <p:cNvPr id="12" name="日付プレースホルダー 11">
            <a:extLst>
              <a:ext uri="{FF2B5EF4-FFF2-40B4-BE49-F238E27FC236}">
                <a16:creationId xmlns:a16="http://schemas.microsoft.com/office/drawing/2014/main" id="{A7C003E1-C37B-1D04-0B2F-AF9AA198C16A}"/>
              </a:ext>
            </a:extLst>
          </p:cNvPr>
          <p:cNvSpPr>
            <a:spLocks noGrp="1"/>
          </p:cNvSpPr>
          <p:nvPr>
            <p:ph type="dt" sz="half" idx="10"/>
          </p:nvPr>
        </p:nvSpPr>
        <p:spPr/>
        <p:txBody>
          <a:bodyPr/>
          <a:lstStyle/>
          <a:p>
            <a:fld id="{344F509B-2627-3A4C-AC37-E3E3CBC6182A}" type="datetime1">
              <a:rPr kumimoji="1" lang="ja-JP" altLang="en-US" smtClean="0"/>
              <a:t>2026/5/15</a:t>
            </a:fld>
            <a:endParaRPr kumimoji="1" lang="ja-JP" altLang="en-US"/>
          </a:p>
        </p:txBody>
      </p:sp>
    </p:spTree>
    <p:extLst>
      <p:ext uri="{BB962C8B-B14F-4D97-AF65-F5344CB8AC3E}">
        <p14:creationId xmlns:p14="http://schemas.microsoft.com/office/powerpoint/2010/main" val="1194731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73E3ED-6648-4D0C-AD34-6690535E5AF7}"/>
              </a:ext>
            </a:extLst>
          </p:cNvPr>
          <p:cNvSpPr>
            <a:spLocks noGrp="1"/>
          </p:cNvSpPr>
          <p:nvPr>
            <p:ph type="title"/>
          </p:nvPr>
        </p:nvSpPr>
        <p:spPr/>
        <p:txBody>
          <a:bodyPr/>
          <a:lstStyle/>
          <a:p>
            <a:r>
              <a:rPr kumimoji="1" lang="ja-JP" altLang="en-US"/>
              <a:t>カートリッジの種類</a:t>
            </a:r>
          </a:p>
        </p:txBody>
      </p:sp>
      <p:sp>
        <p:nvSpPr>
          <p:cNvPr id="4" name="日付プレースホルダー 3">
            <a:extLst>
              <a:ext uri="{FF2B5EF4-FFF2-40B4-BE49-F238E27FC236}">
                <a16:creationId xmlns:a16="http://schemas.microsoft.com/office/drawing/2014/main" id="{2E2D5347-3EF3-8C32-459C-F4C3509AC813}"/>
              </a:ext>
            </a:extLst>
          </p:cNvPr>
          <p:cNvSpPr>
            <a:spLocks noGrp="1"/>
          </p:cNvSpPr>
          <p:nvPr>
            <p:ph type="dt" sz="half" idx="10"/>
          </p:nvPr>
        </p:nvSpPr>
        <p:spPr/>
        <p:txBody>
          <a:bodyPr/>
          <a:lstStyle/>
          <a:p>
            <a:fld id="{F84F287F-D1FF-9C43-92A5-88FA9E646D78}"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5AE54D1C-AB7D-A5AD-E181-8D9B76A92D4E}"/>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F7592BAF-1B92-CA79-6454-63BFC3BEF37B}"/>
              </a:ext>
            </a:extLst>
          </p:cNvPr>
          <p:cNvSpPr>
            <a:spLocks noGrp="1"/>
          </p:cNvSpPr>
          <p:nvPr>
            <p:ph type="sldNum" sz="quarter" idx="12"/>
          </p:nvPr>
        </p:nvSpPr>
        <p:spPr/>
        <p:txBody>
          <a:bodyPr/>
          <a:lstStyle/>
          <a:p>
            <a:r>
              <a:rPr lang="en-US" altLang="ja-JP"/>
              <a:t>No. </a:t>
            </a:r>
            <a:fld id="{41B87E3F-77EC-4EFD-94DE-AA3AEB7C7760}" type="slidenum">
              <a:rPr lang="ja-JP" altLang="en-US" smtClean="0"/>
              <a:pPr/>
              <a:t>8</a:t>
            </a:fld>
            <a:endParaRPr kumimoji="1" lang="ja-JP" altLang="en-US" dirty="0"/>
          </a:p>
        </p:txBody>
      </p:sp>
      <p:graphicFrame>
        <p:nvGraphicFramePr>
          <p:cNvPr id="7" name="図表 6">
            <a:extLst>
              <a:ext uri="{FF2B5EF4-FFF2-40B4-BE49-F238E27FC236}">
                <a16:creationId xmlns:a16="http://schemas.microsoft.com/office/drawing/2014/main" id="{3CF45E3A-5094-4F81-2502-B4395FDA792C}"/>
              </a:ext>
            </a:extLst>
          </p:cNvPr>
          <p:cNvGraphicFramePr/>
          <p:nvPr>
            <p:extLst>
              <p:ext uri="{D42A27DB-BD31-4B8C-83A1-F6EECF244321}">
                <p14:modId xmlns:p14="http://schemas.microsoft.com/office/powerpoint/2010/main" val="2855691677"/>
              </p:ext>
            </p:extLst>
          </p:nvPr>
        </p:nvGraphicFramePr>
        <p:xfrm>
          <a:off x="463118" y="1521138"/>
          <a:ext cx="9529736" cy="48597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図 7">
            <a:extLst>
              <a:ext uri="{FF2B5EF4-FFF2-40B4-BE49-F238E27FC236}">
                <a16:creationId xmlns:a16="http://schemas.microsoft.com/office/drawing/2014/main" id="{EEF75394-987D-5CFD-398E-DDBD1D23217A}"/>
              </a:ext>
            </a:extLst>
          </p:cNvPr>
          <p:cNvPicPr>
            <a:picLocks noChangeAspect="1"/>
          </p:cNvPicPr>
          <p:nvPr/>
        </p:nvPicPr>
        <p:blipFill>
          <a:blip r:embed="rId7"/>
          <a:stretch>
            <a:fillRect/>
          </a:stretch>
        </p:blipFill>
        <p:spPr>
          <a:xfrm rot="5400000">
            <a:off x="10016140" y="2584532"/>
            <a:ext cx="1540607" cy="570321"/>
          </a:xfrm>
          <a:prstGeom prst="rect">
            <a:avLst/>
          </a:prstGeom>
        </p:spPr>
      </p:pic>
      <p:pic>
        <p:nvPicPr>
          <p:cNvPr id="9" name="図 8">
            <a:extLst>
              <a:ext uri="{FF2B5EF4-FFF2-40B4-BE49-F238E27FC236}">
                <a16:creationId xmlns:a16="http://schemas.microsoft.com/office/drawing/2014/main" id="{D5471B70-2AD5-9EF2-EC95-C2E9066001E2}"/>
              </a:ext>
            </a:extLst>
          </p:cNvPr>
          <p:cNvPicPr>
            <a:picLocks noChangeAspect="1"/>
          </p:cNvPicPr>
          <p:nvPr/>
        </p:nvPicPr>
        <p:blipFill>
          <a:blip r:embed="rId8"/>
          <a:stretch>
            <a:fillRect/>
          </a:stretch>
        </p:blipFill>
        <p:spPr>
          <a:xfrm rot="5400000">
            <a:off x="10117387" y="4917318"/>
            <a:ext cx="1338115" cy="360532"/>
          </a:xfrm>
          <a:prstGeom prst="rect">
            <a:avLst/>
          </a:prstGeom>
        </p:spPr>
      </p:pic>
      <p:sp>
        <p:nvSpPr>
          <p:cNvPr id="10" name="テキスト ボックス 9">
            <a:extLst>
              <a:ext uri="{FF2B5EF4-FFF2-40B4-BE49-F238E27FC236}">
                <a16:creationId xmlns:a16="http://schemas.microsoft.com/office/drawing/2014/main" id="{84E8740A-40AE-18ED-BCE5-581E7E2BD1BB}"/>
              </a:ext>
            </a:extLst>
          </p:cNvPr>
          <p:cNvSpPr txBox="1"/>
          <p:nvPr/>
        </p:nvSpPr>
        <p:spPr>
          <a:xfrm>
            <a:off x="9951208" y="2099389"/>
            <a:ext cx="2240792" cy="276999"/>
          </a:xfrm>
          <a:prstGeom prst="rect">
            <a:avLst/>
          </a:prstGeom>
          <a:noFill/>
        </p:spPr>
        <p:txBody>
          <a:bodyPr wrap="square" rtlCol="0">
            <a:spAutoFit/>
          </a:bodyPr>
          <a:lstStyle/>
          <a:p>
            <a:pPr>
              <a:buClr>
                <a:schemeClr val="accent4"/>
              </a:buClr>
            </a:pPr>
            <a:r>
              <a:rPr lang="en-US" sz="1200" b="1" dirty="0"/>
              <a:t>3.2</a:t>
            </a:r>
            <a:r>
              <a:rPr lang="en-US" altLang="ja-JP" sz="1200" b="1" dirty="0"/>
              <a:t>%</a:t>
            </a:r>
            <a:r>
              <a:rPr lang="ja-JP" altLang="en-US" sz="1100" b="1" dirty="0"/>
              <a:t>クエン酸スピッツ</a:t>
            </a:r>
            <a:endParaRPr lang="en-US" sz="1100" b="1" dirty="0"/>
          </a:p>
        </p:txBody>
      </p:sp>
      <p:sp>
        <p:nvSpPr>
          <p:cNvPr id="11" name="テキスト ボックス 10">
            <a:extLst>
              <a:ext uri="{FF2B5EF4-FFF2-40B4-BE49-F238E27FC236}">
                <a16:creationId xmlns:a16="http://schemas.microsoft.com/office/drawing/2014/main" id="{2F04C44E-47BB-CABB-3861-85AD6545DF78}"/>
              </a:ext>
            </a:extLst>
          </p:cNvPr>
          <p:cNvSpPr txBox="1"/>
          <p:nvPr/>
        </p:nvSpPr>
        <p:spPr>
          <a:xfrm>
            <a:off x="9992854" y="4164279"/>
            <a:ext cx="1947715" cy="307777"/>
          </a:xfrm>
          <a:prstGeom prst="rect">
            <a:avLst/>
          </a:prstGeom>
          <a:noFill/>
        </p:spPr>
        <p:txBody>
          <a:bodyPr wrap="square" rtlCol="0">
            <a:spAutoFit/>
          </a:bodyPr>
          <a:lstStyle/>
          <a:p>
            <a:pPr>
              <a:buClr>
                <a:schemeClr val="accent4"/>
              </a:buClr>
            </a:pPr>
            <a:r>
              <a:rPr lang="ja-JP" altLang="en-US" sz="1400" b="1" dirty="0"/>
              <a:t>ヘパリンスピッツ</a:t>
            </a:r>
            <a:endParaRPr lang="en-US" sz="1400" b="1" dirty="0"/>
          </a:p>
        </p:txBody>
      </p:sp>
    </p:spTree>
    <p:extLst>
      <p:ext uri="{BB962C8B-B14F-4D97-AF65-F5344CB8AC3E}">
        <p14:creationId xmlns:p14="http://schemas.microsoft.com/office/powerpoint/2010/main" val="3853342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14CBB2-5BA1-2218-DB6E-340E2A92E88A}"/>
              </a:ext>
            </a:extLst>
          </p:cNvPr>
          <p:cNvSpPr>
            <a:spLocks noGrp="1"/>
          </p:cNvSpPr>
          <p:nvPr>
            <p:ph type="title"/>
          </p:nvPr>
        </p:nvSpPr>
        <p:spPr/>
        <p:txBody>
          <a:bodyPr/>
          <a:lstStyle/>
          <a:p>
            <a:r>
              <a:rPr kumimoji="1" lang="en-US" altLang="ja-JP" dirty="0"/>
              <a:t>TEG Global hemostasis : TEG GH</a:t>
            </a:r>
            <a:endParaRPr kumimoji="1" lang="ja-JP" altLang="en-US"/>
          </a:p>
        </p:txBody>
      </p:sp>
      <p:sp>
        <p:nvSpPr>
          <p:cNvPr id="4" name="日付プレースホルダー 3">
            <a:extLst>
              <a:ext uri="{FF2B5EF4-FFF2-40B4-BE49-F238E27FC236}">
                <a16:creationId xmlns:a16="http://schemas.microsoft.com/office/drawing/2014/main" id="{576F5665-64AA-6C12-9EDF-377A15AF1396}"/>
              </a:ext>
            </a:extLst>
          </p:cNvPr>
          <p:cNvSpPr>
            <a:spLocks noGrp="1"/>
          </p:cNvSpPr>
          <p:nvPr>
            <p:ph type="dt" sz="half" idx="10"/>
          </p:nvPr>
        </p:nvSpPr>
        <p:spPr/>
        <p:txBody>
          <a:bodyPr/>
          <a:lstStyle/>
          <a:p>
            <a:fld id="{18F57E2C-0527-F94F-A4BC-016708E1FF7C}"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D28E94D0-819E-B20E-9611-325E47AD3F83}"/>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33293446-79C6-0B38-AAA3-51A72999DD72}"/>
              </a:ext>
            </a:extLst>
          </p:cNvPr>
          <p:cNvSpPr>
            <a:spLocks noGrp="1"/>
          </p:cNvSpPr>
          <p:nvPr>
            <p:ph type="sldNum" sz="quarter" idx="12"/>
          </p:nvPr>
        </p:nvSpPr>
        <p:spPr/>
        <p:txBody>
          <a:bodyPr/>
          <a:lstStyle/>
          <a:p>
            <a:r>
              <a:rPr lang="en-US" altLang="ja-JP"/>
              <a:t>No. </a:t>
            </a:r>
            <a:fld id="{41B87E3F-77EC-4EFD-94DE-AA3AEB7C7760}" type="slidenum">
              <a:rPr lang="ja-JP" altLang="en-US" smtClean="0"/>
              <a:pPr/>
              <a:t>9</a:t>
            </a:fld>
            <a:endParaRPr kumimoji="1" lang="ja-JP" altLang="en-US" dirty="0"/>
          </a:p>
        </p:txBody>
      </p:sp>
      <p:sp>
        <p:nvSpPr>
          <p:cNvPr id="7" name="コンテンツ プレースホルダー 1">
            <a:extLst>
              <a:ext uri="{FF2B5EF4-FFF2-40B4-BE49-F238E27FC236}">
                <a16:creationId xmlns:a16="http://schemas.microsoft.com/office/drawing/2014/main" id="{F81DBF34-89A3-BBA5-106F-A3216FB13B83}"/>
              </a:ext>
            </a:extLst>
          </p:cNvPr>
          <p:cNvSpPr txBox="1">
            <a:spLocks/>
          </p:cNvSpPr>
          <p:nvPr/>
        </p:nvSpPr>
        <p:spPr>
          <a:xfrm>
            <a:off x="1114135" y="4307024"/>
            <a:ext cx="12807390" cy="1167649"/>
          </a:xfrm>
          <a:prstGeom prst="rect">
            <a:avLst/>
          </a:prstGeom>
          <a:noFill/>
        </p:spPr>
        <p:txBody>
          <a:bodyPr vert="horz" lIns="0" tIns="0" rIns="0" bIns="0" numCol="2" rtlCol="0">
            <a:noAutofit/>
          </a:bodyPr>
          <a:lstStyle>
            <a:lvl1pPr marL="361950" indent="-361950" algn="l" defTabSz="609585" rtl="0" eaLnBrk="1" latinLnBrk="0" hangingPunct="1">
              <a:spcBef>
                <a:spcPct val="20000"/>
              </a:spcBef>
              <a:buClr>
                <a:srgbClr val="C60C30"/>
              </a:buClr>
              <a:buFont typeface="Wingdings" pitchFamily="2" charset="2"/>
              <a:buChar char="§"/>
              <a:defRPr sz="2800" b="0" kern="1200">
                <a:solidFill>
                  <a:schemeClr val="tx1"/>
                </a:solidFill>
                <a:latin typeface="+mn-lt"/>
                <a:ea typeface="+mn-ea"/>
                <a:cs typeface="+mn-cs"/>
              </a:defRPr>
            </a:lvl1pPr>
            <a:lvl2pPr marL="990575" indent="-380990" algn="l" defTabSz="609585" rtl="0" eaLnBrk="1" latinLnBrk="0" hangingPunct="1">
              <a:spcBef>
                <a:spcPct val="20000"/>
              </a:spcBef>
              <a:buClr>
                <a:srgbClr val="C60C30"/>
              </a:buClr>
              <a:buFont typeface="Wingdings" charset="2"/>
              <a:buChar char="§"/>
              <a:defRPr sz="2800" kern="1200">
                <a:solidFill>
                  <a:schemeClr val="tx1"/>
                </a:solidFill>
                <a:latin typeface="+mn-lt"/>
                <a:ea typeface="+mn-ea"/>
                <a:cs typeface="+mn-cs"/>
              </a:defRPr>
            </a:lvl2pPr>
            <a:lvl3pPr marL="1523962" indent="-304792" algn="l" defTabSz="609585" rtl="0" eaLnBrk="1" latinLnBrk="0" hangingPunct="1">
              <a:spcBef>
                <a:spcPct val="20000"/>
              </a:spcBef>
              <a:buClr>
                <a:srgbClr val="C60C30"/>
              </a:buClr>
              <a:buFont typeface="Wingdings" charset="2"/>
              <a:buChar char="§"/>
              <a:defRPr sz="2400" kern="1200">
                <a:solidFill>
                  <a:schemeClr val="tx1"/>
                </a:solidFill>
                <a:latin typeface="+mn-lt"/>
                <a:ea typeface="+mn-ea"/>
                <a:cs typeface="+mn-cs"/>
              </a:defRPr>
            </a:lvl3pPr>
            <a:lvl4pPr marL="2133547" indent="-304792" algn="l" defTabSz="609585" rtl="0" eaLnBrk="1" latinLnBrk="0" hangingPunct="1">
              <a:spcBef>
                <a:spcPct val="20000"/>
              </a:spcBef>
              <a:buClr>
                <a:srgbClr val="C60C30"/>
              </a:buClr>
              <a:buFont typeface="Wingdings" charset="2"/>
              <a:buChar char="§"/>
              <a:defRPr sz="2400" kern="1200">
                <a:solidFill>
                  <a:schemeClr val="tx1"/>
                </a:solidFill>
                <a:latin typeface="+mn-lt"/>
                <a:ea typeface="+mn-ea"/>
                <a:cs typeface="+mn-cs"/>
              </a:defRPr>
            </a:lvl4pPr>
            <a:lvl5pPr marL="2743131" indent="-304792" algn="l" defTabSz="609585" rtl="0" eaLnBrk="1" latinLnBrk="0" hangingPunct="1">
              <a:spcBef>
                <a:spcPct val="20000"/>
              </a:spcBef>
              <a:buClr>
                <a:srgbClr val="C60C30"/>
              </a:buClr>
              <a:buFont typeface="Wingdings" charset="2"/>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Clr>
                <a:srgbClr val="C60C30"/>
              </a:buClr>
              <a:buFont typeface="Wingdings" charset="2"/>
              <a:buNone/>
              <a:defRPr sz="1867" kern="1200" baseline="0">
                <a:solidFill>
                  <a:schemeClr val="tx1"/>
                </a:solidFill>
                <a:latin typeface="+mn-lt"/>
                <a:ea typeface="+mn-ea"/>
                <a:cs typeface="+mn-cs"/>
              </a:defRPr>
            </a:lvl6pPr>
            <a:lvl7pPr marL="3962301" indent="-304792" algn="l" defTabSz="609585" rtl="0" eaLnBrk="1" latinLnBrk="0" hangingPunct="1">
              <a:spcBef>
                <a:spcPct val="20000"/>
              </a:spcBef>
              <a:buClr>
                <a:srgbClr val="C60C30"/>
              </a:buClr>
              <a:buFont typeface="Wingdings" charset="2"/>
              <a:buNone/>
              <a:defRPr sz="1867" kern="1200">
                <a:solidFill>
                  <a:schemeClr val="tx1"/>
                </a:solidFill>
                <a:latin typeface="+mn-lt"/>
                <a:ea typeface="+mn-ea"/>
                <a:cs typeface="+mn-cs"/>
              </a:defRPr>
            </a:lvl7pPr>
            <a:lvl8pPr marL="4571886" indent="-304792" algn="l" defTabSz="609585" rtl="0" eaLnBrk="1" latinLnBrk="0" hangingPunct="1">
              <a:spcBef>
                <a:spcPct val="20000"/>
              </a:spcBef>
              <a:buClr>
                <a:srgbClr val="C60C30"/>
              </a:buClr>
              <a:buFont typeface="Wingdings" charset="2"/>
              <a:buChar char="§"/>
              <a:defRPr sz="1867" kern="1200" baseline="0">
                <a:solidFill>
                  <a:schemeClr val="tx1"/>
                </a:solidFill>
                <a:latin typeface="+mn-lt"/>
                <a:ea typeface="+mn-ea"/>
                <a:cs typeface="+mn-cs"/>
              </a:defRPr>
            </a:lvl8pPr>
            <a:lvl9pPr marL="5181470" indent="-304792" algn="l" defTabSz="609585" rtl="0" eaLnBrk="1" latinLnBrk="0" hangingPunct="1">
              <a:spcBef>
                <a:spcPct val="20000"/>
              </a:spcBef>
              <a:buClr>
                <a:srgbClr val="C60C30"/>
              </a:buClr>
              <a:buFont typeface="Wingdings" charset="2"/>
              <a:buChar char="§"/>
              <a:defRPr sz="1867" kern="1200" baseline="0">
                <a:solidFill>
                  <a:schemeClr val="tx1"/>
                </a:solidFill>
                <a:latin typeface="+mn-lt"/>
                <a:ea typeface="+mn-ea"/>
                <a:cs typeface="+mn-cs"/>
              </a:defRPr>
            </a:lvl9pPr>
          </a:lstStyle>
          <a:p>
            <a:pPr marL="457200" lvl="1" indent="0">
              <a:buFont typeface="Wingdings" charset="2"/>
              <a:buNone/>
            </a:pPr>
            <a:r>
              <a:rPr lang="ja-JP" altLang="en-US" sz="1400" b="1" dirty="0">
                <a:latin typeface="メイリオ" panose="020B0604030504040204" pitchFamily="50" charset="-128"/>
                <a:ea typeface="メイリオ" panose="020B0604030504040204" pitchFamily="50" charset="-128"/>
              </a:rPr>
              <a:t>　　</a:t>
            </a:r>
            <a:endParaRPr lang="en-US" altLang="ja-JP" sz="1600" b="1" dirty="0">
              <a:latin typeface="メイリオ" panose="020B0604030504040204" pitchFamily="50" charset="-128"/>
              <a:ea typeface="メイリオ" panose="020B0604030504040204" pitchFamily="50" charset="-128"/>
            </a:endParaRPr>
          </a:p>
          <a:p>
            <a:pPr marL="1143000" lvl="2" indent="-285750">
              <a:lnSpc>
                <a:spcPts val="1900"/>
              </a:lnSpc>
              <a:buFont typeface="Wingdings" panose="05000000000000000000" pitchFamily="2" charset="2"/>
              <a:buChar char="ü"/>
            </a:pPr>
            <a:r>
              <a:rPr lang="ja-JP" altLang="en-US" sz="1600" b="1" u="sng" dirty="0">
                <a:latin typeface="メイリオ" panose="020B0604030504040204" pitchFamily="50" charset="-128"/>
                <a:ea typeface="メイリオ" panose="020B0604030504040204" pitchFamily="50" charset="-128"/>
              </a:rPr>
              <a:t>内因系</a:t>
            </a:r>
            <a:r>
              <a:rPr lang="ja-JP" altLang="en-US" sz="1600" dirty="0">
                <a:latin typeface="メイリオ" panose="020B0604030504040204" pitchFamily="50" charset="-128"/>
                <a:ea typeface="メイリオ" panose="020B0604030504040204" pitchFamily="50" charset="-128"/>
              </a:rPr>
              <a:t>の活性＋</a:t>
            </a:r>
            <a:r>
              <a:rPr lang="ja-JP" altLang="en-US" sz="1600" b="1" u="sng" dirty="0">
                <a:latin typeface="メイリオ" panose="020B0604030504040204" pitchFamily="50" charset="-128"/>
                <a:ea typeface="メイリオ" panose="020B0604030504040204" pitchFamily="50" charset="-128"/>
              </a:rPr>
              <a:t>ﾍﾊﾟﾘﾅｰｾﾞ</a:t>
            </a:r>
            <a:r>
              <a:rPr lang="ja-JP" altLang="en-US" sz="1600" dirty="0">
                <a:latin typeface="メイリオ" panose="020B0604030504040204" pitchFamily="50" charset="-128"/>
                <a:ea typeface="メイリオ" panose="020B0604030504040204" pitchFamily="50" charset="-128"/>
              </a:rPr>
              <a:t>（</a:t>
            </a:r>
            <a:r>
              <a:rPr lang="ja-JP" altLang="en-US" sz="1600" b="1" u="sng" dirty="0">
                <a:latin typeface="メイリオ" panose="020B0604030504040204" pitchFamily="50" charset="-128"/>
                <a:ea typeface="メイリオ" panose="020B0604030504040204" pitchFamily="50" charset="-128"/>
              </a:rPr>
              <a:t>ﾍﾊﾟﾘﾝの影響を除外</a:t>
            </a:r>
            <a:r>
              <a:rPr lang="ja-JP" altLang="en-US" sz="1600" dirty="0">
                <a:latin typeface="メイリオ" panose="020B0604030504040204" pitchFamily="50" charset="-128"/>
                <a:ea typeface="メイリオ" panose="020B0604030504040204" pitchFamily="50" charset="-128"/>
              </a:rPr>
              <a:t>）</a:t>
            </a:r>
            <a:endParaRPr lang="en-US" altLang="ja-JP" sz="1600" dirty="0">
              <a:latin typeface="メイリオ" panose="020B0604030504040204" pitchFamily="50" charset="-128"/>
              <a:ea typeface="メイリオ" panose="020B0604030504040204" pitchFamily="50" charset="-128"/>
            </a:endParaRPr>
          </a:p>
          <a:p>
            <a:pPr marL="1143000" lvl="2" indent="-285750">
              <a:lnSpc>
                <a:spcPts val="1900"/>
              </a:lnSpc>
              <a:buFont typeface="Wingdings" panose="05000000000000000000" pitchFamily="2" charset="2"/>
              <a:buChar char="ü"/>
            </a:pPr>
            <a:r>
              <a:rPr lang="en-US" altLang="ja-JP" sz="1600" b="1" u="sng" dirty="0">
                <a:latin typeface="メイリオ" panose="020B0604030504040204" pitchFamily="50" charset="-128"/>
                <a:ea typeface="メイリオ" panose="020B0604030504040204" pitchFamily="50" charset="-128"/>
              </a:rPr>
              <a:t>CK</a:t>
            </a:r>
            <a:r>
              <a:rPr lang="ja-JP" altLang="en-US" sz="1600" b="1" u="sng" dirty="0">
                <a:latin typeface="メイリオ" panose="020B0604030504040204" pitchFamily="50" charset="-128"/>
                <a:ea typeface="メイリオ" panose="020B0604030504040204" pitchFamily="50" charset="-128"/>
              </a:rPr>
              <a:t>と比較してﾍﾊﾟﾘﾝの影響を見ることも可能</a:t>
            </a:r>
            <a:endParaRPr lang="en-US" altLang="ja-JP" sz="1600" b="1" u="sng" dirty="0">
              <a:latin typeface="メイリオ" panose="020B0604030504040204" pitchFamily="50" charset="-128"/>
              <a:ea typeface="メイリオ" panose="020B0604030504040204" pitchFamily="50" charset="-128"/>
            </a:endParaRPr>
          </a:p>
          <a:p>
            <a:pPr marL="457200" lvl="1" indent="0">
              <a:buFont typeface="Wingdings" charset="2"/>
              <a:buNone/>
            </a:pPr>
            <a:endParaRPr lang="en-US" altLang="ja-JP" sz="1400" b="1" dirty="0">
              <a:latin typeface="メイリオ" panose="020B0604030504040204" pitchFamily="50" charset="-128"/>
              <a:ea typeface="メイリオ" panose="020B0604030504040204" pitchFamily="50" charset="-128"/>
            </a:endParaRPr>
          </a:p>
        </p:txBody>
      </p:sp>
      <p:sp>
        <p:nvSpPr>
          <p:cNvPr id="8" name="コンテンツ プレースホルダー 1">
            <a:extLst>
              <a:ext uri="{FF2B5EF4-FFF2-40B4-BE49-F238E27FC236}">
                <a16:creationId xmlns:a16="http://schemas.microsoft.com/office/drawing/2014/main" id="{A685BCFE-A9FC-7B22-0338-9A6F4B710B78}"/>
              </a:ext>
            </a:extLst>
          </p:cNvPr>
          <p:cNvSpPr txBox="1">
            <a:spLocks/>
          </p:cNvSpPr>
          <p:nvPr/>
        </p:nvSpPr>
        <p:spPr>
          <a:xfrm>
            <a:off x="646997" y="1816103"/>
            <a:ext cx="11804650" cy="1133475"/>
          </a:xfrm>
          <a:prstGeom prst="rect">
            <a:avLst/>
          </a:prstGeom>
          <a:noFill/>
        </p:spPr>
        <p:txBody>
          <a:bodyPr vert="horz" lIns="91440" tIns="45720" rIns="91440" bIns="45720" numCol="2"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lvl="1" indent="0">
              <a:buFont typeface="Arial" panose="020B0604020202020204" pitchFamily="34" charset="0"/>
              <a:buNone/>
            </a:pPr>
            <a:endParaRPr lang="en-US" altLang="ja-JP" sz="1600" b="1" dirty="0">
              <a:latin typeface="メイリオ" panose="020B0604030504040204" pitchFamily="50" charset="-128"/>
              <a:ea typeface="メイリオ" panose="020B0604030504040204" pitchFamily="50" charset="-128"/>
            </a:endParaRPr>
          </a:p>
          <a:p>
            <a:pPr marL="1200150" lvl="2" indent="-285750">
              <a:lnSpc>
                <a:spcPct val="110000"/>
              </a:lnSpc>
              <a:buFont typeface="Wingdings" panose="05000000000000000000" pitchFamily="2" charset="2"/>
              <a:buChar char="ü"/>
            </a:pPr>
            <a:r>
              <a:rPr lang="ja-JP" altLang="en-US" sz="1600" b="1" u="sng">
                <a:latin typeface="メイリオ" panose="020B0604030504040204" pitchFamily="50" charset="-128"/>
                <a:ea typeface="メイリオ" panose="020B0604030504040204" pitchFamily="50" charset="-128"/>
              </a:rPr>
              <a:t>内因系</a:t>
            </a:r>
            <a:r>
              <a:rPr lang="ja-JP" altLang="en-US" sz="1600">
                <a:latin typeface="メイリオ" panose="020B0604030504040204" pitchFamily="50" charset="-128"/>
                <a:ea typeface="メイリオ" panose="020B0604030504040204" pitchFamily="50" charset="-128"/>
              </a:rPr>
              <a:t>の活性</a:t>
            </a:r>
            <a:endParaRPr lang="en-US" altLang="ja-JP" sz="1600" dirty="0">
              <a:latin typeface="メイリオ" panose="020B0604030504040204" pitchFamily="50" charset="-128"/>
              <a:ea typeface="メイリオ" panose="020B0604030504040204" pitchFamily="50" charset="-128"/>
            </a:endParaRPr>
          </a:p>
          <a:p>
            <a:pPr marL="1200150" lvl="2" indent="-285750">
              <a:lnSpc>
                <a:spcPct val="110000"/>
              </a:lnSpc>
              <a:buFont typeface="Wingdings" panose="05000000000000000000" pitchFamily="2" charset="2"/>
              <a:buChar char="ü"/>
            </a:pPr>
            <a:r>
              <a:rPr lang="ja-JP" altLang="en-US" sz="1600">
                <a:latin typeface="メイリオ" panose="020B0604030504040204" pitchFamily="50" charset="-128"/>
                <a:ea typeface="メイリオ" panose="020B0604030504040204" pitchFamily="50" charset="-128"/>
              </a:rPr>
              <a:t>ﾄﾛﾝﾋﾞﾝ産生による凝固能</a:t>
            </a:r>
            <a:endParaRPr lang="en-US" altLang="ja-JP" sz="1600" dirty="0">
              <a:latin typeface="メイリオ" panose="020B0604030504040204" pitchFamily="50" charset="-128"/>
              <a:ea typeface="メイリオ" panose="020B0604030504040204" pitchFamily="50" charset="-128"/>
            </a:endParaRPr>
          </a:p>
          <a:p>
            <a:pPr marL="457200" lvl="1" indent="0">
              <a:buFont typeface="Arial" panose="020B0604020202020204" pitchFamily="34" charset="0"/>
              <a:buNone/>
            </a:pPr>
            <a:r>
              <a:rPr lang="ja-JP" altLang="en-US" sz="1400" b="1">
                <a:latin typeface="メイリオ" panose="020B0604030504040204" pitchFamily="50" charset="-128"/>
                <a:ea typeface="メイリオ" panose="020B0604030504040204" pitchFamily="50" charset="-128"/>
              </a:rPr>
              <a:t>　</a:t>
            </a:r>
            <a:endParaRPr lang="en-US" altLang="ja-JP" sz="1400" b="1" dirty="0">
              <a:latin typeface="メイリオ" panose="020B0604030504040204" pitchFamily="50" charset="-128"/>
              <a:ea typeface="メイリオ" panose="020B0604030504040204" pitchFamily="50" charset="-128"/>
            </a:endParaRPr>
          </a:p>
          <a:p>
            <a:pPr marL="457200" lvl="1" indent="0">
              <a:buFont typeface="Arial" panose="020B0604020202020204" pitchFamily="34" charset="0"/>
              <a:buNone/>
            </a:pPr>
            <a:r>
              <a:rPr lang="en-US" altLang="ja-JP" sz="1400" b="1" dirty="0">
                <a:latin typeface="メイリオ" panose="020B0604030504040204" pitchFamily="50" charset="-128"/>
                <a:ea typeface="メイリオ" panose="020B0604030504040204" pitchFamily="50" charset="-128"/>
              </a:rPr>
              <a:t>    </a:t>
            </a:r>
            <a:r>
              <a:rPr lang="ja-JP" altLang="en-US" sz="1400" b="1">
                <a:latin typeface="メイリオ" panose="020B0604030504040204" pitchFamily="50" charset="-128"/>
                <a:ea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rPr>
              <a:t> </a:t>
            </a:r>
          </a:p>
          <a:p>
            <a:pPr marL="457200" lvl="1" indent="0">
              <a:buFont typeface="Arial" panose="020B0604020202020204" pitchFamily="34" charset="0"/>
              <a:buNone/>
            </a:pPr>
            <a:r>
              <a:rPr lang="ja-JP" altLang="en-US" sz="1400" b="1">
                <a:latin typeface="メイリオ" panose="020B0604030504040204" pitchFamily="50" charset="-128"/>
                <a:ea typeface="メイリオ" panose="020B0604030504040204" pitchFamily="50" charset="-128"/>
              </a:rPr>
              <a:t>　</a:t>
            </a:r>
            <a:r>
              <a:rPr lang="en-US" altLang="ja-JP" sz="1400" b="1" dirty="0">
                <a:latin typeface="メイリオ" panose="020B0604030504040204" pitchFamily="50" charset="-128"/>
                <a:ea typeface="メイリオ" panose="020B0604030504040204" pitchFamily="50" charset="-128"/>
              </a:rPr>
              <a:t>    </a:t>
            </a:r>
            <a:r>
              <a:rPr lang="ja-JP" altLang="en-US" sz="1400" b="1">
                <a:latin typeface="メイリオ" panose="020B0604030504040204" pitchFamily="50" charset="-128"/>
                <a:ea typeface="メイリオ" panose="020B0604030504040204" pitchFamily="50" charset="-128"/>
              </a:rPr>
              <a:t>　</a:t>
            </a:r>
            <a:endParaRPr lang="ja-JP" altLang="en-US" sz="1600" dirty="0"/>
          </a:p>
        </p:txBody>
      </p:sp>
      <p:pic>
        <p:nvPicPr>
          <p:cNvPr id="9" name="Picture 3">
            <a:extLst>
              <a:ext uri="{FF2B5EF4-FFF2-40B4-BE49-F238E27FC236}">
                <a16:creationId xmlns:a16="http://schemas.microsoft.com/office/drawing/2014/main" id="{87EB4A87-C307-B4E5-CE42-12E50D3284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521" b="16381"/>
          <a:stretch/>
        </p:blipFill>
        <p:spPr bwMode="auto">
          <a:xfrm>
            <a:off x="7078941" y="3711610"/>
            <a:ext cx="4833772" cy="2701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角丸四角形吹き出し 9">
            <a:extLst>
              <a:ext uri="{FF2B5EF4-FFF2-40B4-BE49-F238E27FC236}">
                <a16:creationId xmlns:a16="http://schemas.microsoft.com/office/drawing/2014/main" id="{F2A65BF0-0AA6-866D-6643-4FAD9AF46EDF}"/>
              </a:ext>
            </a:extLst>
          </p:cNvPr>
          <p:cNvSpPr/>
          <p:nvPr/>
        </p:nvSpPr>
        <p:spPr>
          <a:xfrm>
            <a:off x="10696709" y="3578253"/>
            <a:ext cx="1057813" cy="366729"/>
          </a:xfrm>
          <a:prstGeom prst="wedgeRoundRectCallout">
            <a:avLst>
              <a:gd name="adj1" fmla="val -92833"/>
              <a:gd name="adj2" fmla="val 241329"/>
              <a:gd name="adj3" fmla="val 16667"/>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600" b="1" dirty="0"/>
              <a:t>基準値</a:t>
            </a:r>
          </a:p>
        </p:txBody>
      </p:sp>
      <p:sp>
        <p:nvSpPr>
          <p:cNvPr id="11" name="角丸四角形吹き出し 10">
            <a:extLst>
              <a:ext uri="{FF2B5EF4-FFF2-40B4-BE49-F238E27FC236}">
                <a16:creationId xmlns:a16="http://schemas.microsoft.com/office/drawing/2014/main" id="{2EE5C30A-6DC1-5097-594A-19E8D051ACDA}"/>
              </a:ext>
            </a:extLst>
          </p:cNvPr>
          <p:cNvSpPr/>
          <p:nvPr/>
        </p:nvSpPr>
        <p:spPr>
          <a:xfrm>
            <a:off x="10509393" y="5919961"/>
            <a:ext cx="1125300" cy="465285"/>
          </a:xfrm>
          <a:prstGeom prst="wedgeRoundRectCallout">
            <a:avLst>
              <a:gd name="adj1" fmla="val -1325"/>
              <a:gd name="adj2" fmla="val -200262"/>
              <a:gd name="adj3" fmla="val 16667"/>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b="1" dirty="0"/>
              <a:t>基準値外</a:t>
            </a:r>
            <a:endParaRPr kumimoji="1" lang="en-US" altLang="ja-JP" sz="1400" b="1" dirty="0"/>
          </a:p>
          <a:p>
            <a:pPr algn="ctr"/>
            <a:r>
              <a:rPr lang="ja-JP" altLang="en-US" sz="1000" dirty="0"/>
              <a:t>（ハイライト）</a:t>
            </a:r>
            <a:endParaRPr kumimoji="1" lang="ja-JP" altLang="en-US" sz="1000" dirty="0"/>
          </a:p>
        </p:txBody>
      </p:sp>
      <p:sp>
        <p:nvSpPr>
          <p:cNvPr id="12" name="角丸四角形 11">
            <a:extLst>
              <a:ext uri="{FF2B5EF4-FFF2-40B4-BE49-F238E27FC236}">
                <a16:creationId xmlns:a16="http://schemas.microsoft.com/office/drawing/2014/main" id="{A5FBD4DE-80C9-085D-2BEE-493FF7CDF059}"/>
              </a:ext>
            </a:extLst>
          </p:cNvPr>
          <p:cNvSpPr/>
          <p:nvPr/>
        </p:nvSpPr>
        <p:spPr>
          <a:xfrm>
            <a:off x="1998431" y="1771831"/>
            <a:ext cx="3124364" cy="272717"/>
          </a:xfrm>
          <a:prstGeom prst="roundRect">
            <a:avLst/>
          </a:prstGeom>
          <a:solidFill>
            <a:srgbClr val="F33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600" b="1" dirty="0">
                <a:solidFill>
                  <a:schemeClr val="bg1"/>
                </a:solidFill>
                <a:latin typeface="メイリオ" panose="020B0604030504040204" pitchFamily="50" charset="-128"/>
                <a:ea typeface="メイリオ" panose="020B0604030504040204" pitchFamily="50" charset="-128"/>
              </a:rPr>
              <a:t>ヘパリンの影響</a:t>
            </a:r>
            <a:endParaRPr lang="en-US" sz="1600" b="1" dirty="0">
              <a:solidFill>
                <a:schemeClr val="bg1"/>
              </a:solidFill>
              <a:latin typeface="メイリオ" panose="020B0604030504040204" pitchFamily="50" charset="-128"/>
              <a:ea typeface="メイリオ" panose="020B0604030504040204" pitchFamily="50" charset="-128"/>
            </a:endParaRPr>
          </a:p>
        </p:txBody>
      </p:sp>
      <p:sp>
        <p:nvSpPr>
          <p:cNvPr id="13" name="角丸四角形 12">
            <a:extLst>
              <a:ext uri="{FF2B5EF4-FFF2-40B4-BE49-F238E27FC236}">
                <a16:creationId xmlns:a16="http://schemas.microsoft.com/office/drawing/2014/main" id="{D85053F2-E3D9-947B-B889-7599F9B5B0F5}"/>
              </a:ext>
            </a:extLst>
          </p:cNvPr>
          <p:cNvSpPr/>
          <p:nvPr/>
        </p:nvSpPr>
        <p:spPr>
          <a:xfrm>
            <a:off x="1998430" y="2973170"/>
            <a:ext cx="3124363" cy="259867"/>
          </a:xfrm>
          <a:prstGeom prst="roundRect">
            <a:avLst/>
          </a:prstGeom>
          <a:solidFill>
            <a:schemeClr val="accent3">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600" b="1" dirty="0">
                <a:solidFill>
                  <a:schemeClr val="bg1"/>
                </a:solidFill>
                <a:latin typeface="メイリオ" panose="020B0604030504040204" pitchFamily="50" charset="-128"/>
                <a:ea typeface="メイリオ" panose="020B0604030504040204" pitchFamily="50" charset="-128"/>
              </a:rPr>
              <a:t>凝固能のベースライン</a:t>
            </a:r>
            <a:endParaRPr lang="en-US" sz="1600" b="1" dirty="0">
              <a:solidFill>
                <a:schemeClr val="bg1"/>
              </a:solidFill>
              <a:latin typeface="メイリオ" panose="020B0604030504040204" pitchFamily="50" charset="-128"/>
              <a:ea typeface="メイリオ" panose="020B0604030504040204" pitchFamily="50" charset="-128"/>
            </a:endParaRPr>
          </a:p>
        </p:txBody>
      </p:sp>
      <p:pic>
        <p:nvPicPr>
          <p:cNvPr id="14" name="Picture 2">
            <a:extLst>
              <a:ext uri="{FF2B5EF4-FFF2-40B4-BE49-F238E27FC236}">
                <a16:creationId xmlns:a16="http://schemas.microsoft.com/office/drawing/2014/main" id="{390ADBA2-B502-9356-CC0B-3D38C833A970}"/>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2722" b="16926"/>
          <a:stretch/>
        </p:blipFill>
        <p:spPr bwMode="auto">
          <a:xfrm>
            <a:off x="7420634" y="1353088"/>
            <a:ext cx="3998859" cy="2209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正方形/長方形 14">
            <a:extLst>
              <a:ext uri="{FF2B5EF4-FFF2-40B4-BE49-F238E27FC236}">
                <a16:creationId xmlns:a16="http://schemas.microsoft.com/office/drawing/2014/main" id="{0EF5478F-4703-77D2-360A-C6EE4511DE7A}"/>
              </a:ext>
            </a:extLst>
          </p:cNvPr>
          <p:cNvSpPr/>
          <p:nvPr/>
        </p:nvSpPr>
        <p:spPr>
          <a:xfrm>
            <a:off x="430303" y="1784301"/>
            <a:ext cx="1188632" cy="771310"/>
          </a:xfrm>
          <a:prstGeom prst="rect">
            <a:avLst/>
          </a:prstGeom>
          <a:solidFill>
            <a:srgbClr val="ED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ja-JP" sz="2000" b="1" dirty="0">
                <a:solidFill>
                  <a:schemeClr val="tx1"/>
                </a:solidFill>
              </a:rPr>
              <a:t>CK</a:t>
            </a:r>
          </a:p>
          <a:p>
            <a:pPr algn="ctr"/>
            <a:r>
              <a:rPr kumimoji="1" lang="ja-JP" altLang="en-US" sz="1100" b="1" dirty="0">
                <a:solidFill>
                  <a:schemeClr val="tx1"/>
                </a:solidFill>
              </a:rPr>
              <a:t>カオリン</a:t>
            </a:r>
            <a:endParaRPr kumimoji="1" lang="en-US" altLang="ja-JP" sz="1100" b="1" dirty="0">
              <a:solidFill>
                <a:schemeClr val="tx1"/>
              </a:solidFill>
            </a:endParaRPr>
          </a:p>
        </p:txBody>
      </p:sp>
      <p:sp>
        <p:nvSpPr>
          <p:cNvPr id="16" name="正方形/長方形 15">
            <a:extLst>
              <a:ext uri="{FF2B5EF4-FFF2-40B4-BE49-F238E27FC236}">
                <a16:creationId xmlns:a16="http://schemas.microsoft.com/office/drawing/2014/main" id="{26A4C35C-0A7E-EFB2-48B3-178F47D2981C}"/>
              </a:ext>
            </a:extLst>
          </p:cNvPr>
          <p:cNvSpPr/>
          <p:nvPr/>
        </p:nvSpPr>
        <p:spPr>
          <a:xfrm>
            <a:off x="396358" y="2973636"/>
            <a:ext cx="1188632" cy="738310"/>
          </a:xfrm>
          <a:prstGeom prst="rect">
            <a:avLst/>
          </a:prstGeom>
          <a:solidFill>
            <a:srgbClr val="A88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000" b="1" dirty="0">
                <a:solidFill>
                  <a:schemeClr val="tx1"/>
                </a:solidFill>
              </a:rPr>
              <a:t>CRT</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Rapid TEG</a:t>
            </a:r>
            <a:endParaRPr kumimoji="1" lang="ja-JP" altLang="en-US" sz="1100" b="1" dirty="0">
              <a:solidFill>
                <a:schemeClr val="tx1"/>
              </a:solidFill>
            </a:endParaRPr>
          </a:p>
        </p:txBody>
      </p:sp>
      <p:sp>
        <p:nvSpPr>
          <p:cNvPr id="17" name="正方形/長方形 16">
            <a:extLst>
              <a:ext uri="{FF2B5EF4-FFF2-40B4-BE49-F238E27FC236}">
                <a16:creationId xmlns:a16="http://schemas.microsoft.com/office/drawing/2014/main" id="{B043334F-AABE-1181-10AF-489B3C6DA927}"/>
              </a:ext>
            </a:extLst>
          </p:cNvPr>
          <p:cNvSpPr/>
          <p:nvPr/>
        </p:nvSpPr>
        <p:spPr>
          <a:xfrm>
            <a:off x="430303" y="5432399"/>
            <a:ext cx="1188632" cy="733749"/>
          </a:xfrm>
          <a:prstGeom prst="rect">
            <a:avLst/>
          </a:prstGeom>
          <a:solidFill>
            <a:srgbClr val="A2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000" b="1" dirty="0">
                <a:solidFill>
                  <a:schemeClr val="tx1"/>
                </a:solidFill>
              </a:rPr>
              <a:t>CFF</a:t>
            </a:r>
          </a:p>
          <a:p>
            <a:pPr algn="ctr"/>
            <a:r>
              <a:rPr kumimoji="1" lang="en-US" altLang="ja-JP" sz="1100" b="1" dirty="0">
                <a:solidFill>
                  <a:schemeClr val="tx1"/>
                </a:solidFill>
              </a:rPr>
              <a:t>Functional Fibrinogen</a:t>
            </a:r>
            <a:endParaRPr kumimoji="1" lang="ja-JP" altLang="en-US" sz="1100" b="1" dirty="0">
              <a:solidFill>
                <a:schemeClr val="tx1"/>
              </a:solidFill>
            </a:endParaRPr>
          </a:p>
        </p:txBody>
      </p:sp>
      <p:sp>
        <p:nvSpPr>
          <p:cNvPr id="18" name="正方形/長方形 17">
            <a:extLst>
              <a:ext uri="{FF2B5EF4-FFF2-40B4-BE49-F238E27FC236}">
                <a16:creationId xmlns:a16="http://schemas.microsoft.com/office/drawing/2014/main" id="{B6307679-1106-C0C6-070F-846BB4E089CF}"/>
              </a:ext>
            </a:extLst>
          </p:cNvPr>
          <p:cNvSpPr/>
          <p:nvPr/>
        </p:nvSpPr>
        <p:spPr>
          <a:xfrm>
            <a:off x="765376" y="5672805"/>
            <a:ext cx="6096000" cy="683264"/>
          </a:xfrm>
          <a:prstGeom prst="rect">
            <a:avLst/>
          </a:prstGeom>
        </p:spPr>
        <p:txBody>
          <a:bodyPr>
            <a:spAutoFit/>
          </a:bodyPr>
          <a:lstStyle/>
          <a:p>
            <a:pPr marL="1200150" lvl="2" indent="-342900">
              <a:lnSpc>
                <a:spcPct val="120000"/>
              </a:lnSpc>
              <a:buClr>
                <a:schemeClr val="accent1"/>
              </a:buClr>
              <a:buFont typeface="Wingdings" panose="05000000000000000000" pitchFamily="2" charset="2"/>
              <a:buChar char="ü"/>
            </a:pPr>
            <a:r>
              <a:rPr lang="ja-JP" altLang="en-US" sz="1600" b="1" u="sng" dirty="0">
                <a:latin typeface="メイリオ" panose="020B0604030504040204" pitchFamily="50" charset="-128"/>
                <a:ea typeface="メイリオ" panose="020B0604030504040204" pitchFamily="50" charset="-128"/>
              </a:rPr>
              <a:t>血小板機能を阻害</a:t>
            </a:r>
            <a:r>
              <a:rPr lang="en-US" altLang="ja-JP" sz="1600" dirty="0"/>
              <a:t>(</a:t>
            </a:r>
            <a:r>
              <a:rPr lang="en-US" altLang="ja-JP" sz="1600" dirty="0" err="1"/>
              <a:t>G</a:t>
            </a:r>
            <a:r>
              <a:rPr lang="en-US" altLang="ja-JP" sz="1600" dirty="0" err="1">
                <a:sym typeface="Symbol" pitchFamily="18" charset="2"/>
              </a:rPr>
              <a:t>PIIb</a:t>
            </a:r>
            <a:r>
              <a:rPr lang="en-US" altLang="ja-JP" sz="1600" dirty="0">
                <a:sym typeface="Symbol" pitchFamily="18" charset="2"/>
              </a:rPr>
              <a:t>/</a:t>
            </a:r>
            <a:r>
              <a:rPr lang="en-US" altLang="ja-JP" sz="1600" dirty="0" err="1">
                <a:sym typeface="Symbol" pitchFamily="18" charset="2"/>
              </a:rPr>
              <a:t>IIIa</a:t>
            </a:r>
            <a:r>
              <a:rPr lang="en-US" altLang="ja-JP" sz="1600" dirty="0">
                <a:sym typeface="Symbol" pitchFamily="18" charset="2"/>
              </a:rPr>
              <a:t> </a:t>
            </a:r>
            <a:r>
              <a:rPr lang="ja-JP" altLang="en-US" sz="1600" dirty="0">
                <a:sym typeface="Symbol" pitchFamily="18" charset="2"/>
              </a:rPr>
              <a:t>ｲﾝﾋﾋﾞﾀｰ</a:t>
            </a:r>
            <a:r>
              <a:rPr lang="en-US" altLang="ja-JP" sz="1600" dirty="0">
                <a:sym typeface="Symbol" pitchFamily="18" charset="2"/>
              </a:rPr>
              <a:t>)</a:t>
            </a:r>
            <a:r>
              <a:rPr lang="ja-JP" altLang="en-US" sz="1600" dirty="0">
                <a:latin typeface="メイリオ" panose="020B0604030504040204" pitchFamily="50" charset="-128"/>
                <a:ea typeface="メイリオ" panose="020B0604030504040204" pitchFamily="50" charset="-128"/>
                <a:sym typeface="Symbol" pitchFamily="18" charset="2"/>
              </a:rPr>
              <a:t>することで</a:t>
            </a:r>
            <a:endParaRPr lang="en-US" altLang="ja-JP" sz="1600" dirty="0">
              <a:latin typeface="メイリオ" panose="020B0604030504040204" pitchFamily="50" charset="-128"/>
              <a:ea typeface="メイリオ" panose="020B0604030504040204" pitchFamily="50" charset="-128"/>
              <a:sym typeface="Symbol" pitchFamily="18" charset="2"/>
            </a:endParaRPr>
          </a:p>
          <a:p>
            <a:pPr marL="857250" lvl="2" indent="0">
              <a:lnSpc>
                <a:spcPct val="120000"/>
              </a:lnSpc>
              <a:buNone/>
            </a:pPr>
            <a:r>
              <a:rPr lang="en-US" altLang="ja-JP" sz="1600" b="1" dirty="0">
                <a:latin typeface="メイリオ" panose="020B0604030504040204" pitchFamily="50" charset="-128"/>
                <a:ea typeface="メイリオ" panose="020B0604030504040204" pitchFamily="50" charset="-128"/>
                <a:sym typeface="Symbol" pitchFamily="18" charset="2"/>
              </a:rPr>
              <a:t>     </a:t>
            </a:r>
            <a:r>
              <a:rPr lang="ja-JP" altLang="en-US" sz="1600" b="1" u="sng" dirty="0">
                <a:latin typeface="メイリオ" panose="020B0604030504040204" pitchFamily="50" charset="-128"/>
                <a:ea typeface="メイリオ" panose="020B0604030504040204" pitchFamily="50" charset="-128"/>
                <a:sym typeface="Symbol" pitchFamily="18" charset="2"/>
              </a:rPr>
              <a:t>ﾌｨﾌﾞﾘﾉｹﾞﾝによる血餅強度</a:t>
            </a:r>
            <a:r>
              <a:rPr lang="ja-JP" altLang="en-US" sz="1600" dirty="0">
                <a:latin typeface="メイリオ" panose="020B0604030504040204" pitchFamily="50" charset="-128"/>
                <a:ea typeface="メイリオ" panose="020B0604030504040204" pitchFamily="50" charset="-128"/>
                <a:sym typeface="Symbol" pitchFamily="18" charset="2"/>
              </a:rPr>
              <a:t>を測定</a:t>
            </a:r>
            <a:endParaRPr lang="ja-JP" altLang="en-US" sz="1600" dirty="0">
              <a:latin typeface="メイリオ" panose="020B0604030504040204" pitchFamily="50" charset="-128"/>
              <a:ea typeface="メイリオ" panose="020B0604030504040204" pitchFamily="50" charset="-128"/>
            </a:endParaRPr>
          </a:p>
        </p:txBody>
      </p:sp>
      <p:sp>
        <p:nvSpPr>
          <p:cNvPr id="19" name="角丸四角形 18">
            <a:extLst>
              <a:ext uri="{FF2B5EF4-FFF2-40B4-BE49-F238E27FC236}">
                <a16:creationId xmlns:a16="http://schemas.microsoft.com/office/drawing/2014/main" id="{96547F37-B568-022B-1418-60995D7E7401}"/>
              </a:ext>
            </a:extLst>
          </p:cNvPr>
          <p:cNvSpPr/>
          <p:nvPr/>
        </p:nvSpPr>
        <p:spPr>
          <a:xfrm>
            <a:off x="1998430" y="5427827"/>
            <a:ext cx="3154844" cy="276919"/>
          </a:xfrm>
          <a:prstGeom prst="round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600" b="1" dirty="0">
                <a:solidFill>
                  <a:schemeClr val="bg1"/>
                </a:solidFill>
                <a:latin typeface="メイリオ" panose="020B0604030504040204" pitchFamily="50" charset="-128"/>
                <a:ea typeface="メイリオ" panose="020B0604030504040204" pitchFamily="50" charset="-128"/>
              </a:rPr>
              <a:t>フィブリノゲン機能</a:t>
            </a:r>
            <a:endParaRPr lang="en-US" sz="1600" b="1" dirty="0">
              <a:solidFill>
                <a:schemeClr val="bg1"/>
              </a:solidFill>
              <a:latin typeface="メイリオ" panose="020B0604030504040204" pitchFamily="50" charset="-128"/>
              <a:ea typeface="メイリオ" panose="020B0604030504040204" pitchFamily="50" charset="-128"/>
            </a:endParaRPr>
          </a:p>
        </p:txBody>
      </p:sp>
      <p:sp>
        <p:nvSpPr>
          <p:cNvPr id="20" name="角丸四角形 19">
            <a:extLst>
              <a:ext uri="{FF2B5EF4-FFF2-40B4-BE49-F238E27FC236}">
                <a16:creationId xmlns:a16="http://schemas.microsoft.com/office/drawing/2014/main" id="{FBE0717B-39EF-8698-BC6E-D834DC257DB4}"/>
              </a:ext>
            </a:extLst>
          </p:cNvPr>
          <p:cNvSpPr/>
          <p:nvPr/>
        </p:nvSpPr>
        <p:spPr>
          <a:xfrm>
            <a:off x="1998431" y="4197704"/>
            <a:ext cx="3124363" cy="290955"/>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600" b="1" dirty="0">
                <a:solidFill>
                  <a:schemeClr val="bg1"/>
                </a:solidFill>
                <a:latin typeface="メイリオ" panose="020B0604030504040204" pitchFamily="50" charset="-128"/>
                <a:ea typeface="メイリオ" panose="020B0604030504040204" pitchFamily="50" charset="-128"/>
              </a:rPr>
              <a:t>ヘパリンの影響・凝固因子</a:t>
            </a:r>
            <a:endParaRPr lang="en-US" sz="1600" b="1" dirty="0">
              <a:solidFill>
                <a:schemeClr val="bg1"/>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18BD749C-1F37-02AE-C5A5-3508D350DD90}"/>
              </a:ext>
            </a:extLst>
          </p:cNvPr>
          <p:cNvSpPr/>
          <p:nvPr/>
        </p:nvSpPr>
        <p:spPr>
          <a:xfrm>
            <a:off x="430303" y="4197704"/>
            <a:ext cx="1189370" cy="748938"/>
          </a:xfrm>
          <a:prstGeom prst="rect">
            <a:avLst/>
          </a:prstGeom>
          <a:solidFill>
            <a:srgbClr val="82E0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000" b="1" dirty="0">
                <a:solidFill>
                  <a:schemeClr val="tx1"/>
                </a:solidFill>
              </a:rPr>
              <a:t>CKH</a:t>
            </a:r>
          </a:p>
          <a:p>
            <a:pPr algn="ctr"/>
            <a:r>
              <a:rPr kumimoji="1" lang="ja-JP" altLang="en-US" sz="1100" b="1" dirty="0">
                <a:solidFill>
                  <a:schemeClr val="tx1"/>
                </a:solidFill>
              </a:rPr>
              <a:t>ヘパリナーゼ</a:t>
            </a:r>
            <a:endParaRPr kumimoji="1" lang="en-US" altLang="ja-JP" sz="1100" b="1" dirty="0">
              <a:solidFill>
                <a:schemeClr val="tx1"/>
              </a:solidFill>
            </a:endParaRPr>
          </a:p>
          <a:p>
            <a:pPr algn="ctr"/>
            <a:r>
              <a:rPr kumimoji="1" lang="ja-JP" altLang="en-US" sz="1100" b="1" dirty="0">
                <a:solidFill>
                  <a:schemeClr val="tx1"/>
                </a:solidFill>
              </a:rPr>
              <a:t>カオリン</a:t>
            </a:r>
          </a:p>
        </p:txBody>
      </p:sp>
      <p:sp>
        <p:nvSpPr>
          <p:cNvPr id="22" name="正方形/長方形 21">
            <a:extLst>
              <a:ext uri="{FF2B5EF4-FFF2-40B4-BE49-F238E27FC236}">
                <a16:creationId xmlns:a16="http://schemas.microsoft.com/office/drawing/2014/main" id="{9C21EEB1-BCB0-A580-7D43-D04C708DFCA4}"/>
              </a:ext>
            </a:extLst>
          </p:cNvPr>
          <p:cNvSpPr/>
          <p:nvPr/>
        </p:nvSpPr>
        <p:spPr>
          <a:xfrm>
            <a:off x="772507" y="3245081"/>
            <a:ext cx="6096000" cy="634020"/>
          </a:xfrm>
          <a:prstGeom prst="rect">
            <a:avLst/>
          </a:prstGeom>
        </p:spPr>
        <p:txBody>
          <a:bodyPr>
            <a:spAutoFit/>
          </a:bodyPr>
          <a:lstStyle/>
          <a:p>
            <a:pPr marL="1143000" lvl="2" indent="-285750">
              <a:lnSpc>
                <a:spcPct val="110000"/>
              </a:lnSpc>
              <a:buClr>
                <a:schemeClr val="accent1"/>
              </a:buClr>
              <a:buFont typeface="Wingdings" panose="05000000000000000000" pitchFamily="2" charset="2"/>
              <a:buChar char="ü"/>
            </a:pPr>
            <a:r>
              <a:rPr kumimoji="1" lang="ja-JP" altLang="en-US" sz="1600" b="1" u="sng" dirty="0">
                <a:latin typeface="メイリオ" panose="020B0604030504040204" pitchFamily="50" charset="-128"/>
                <a:ea typeface="メイリオ" panose="020B0604030504040204" pitchFamily="50" charset="-128"/>
              </a:rPr>
              <a:t>内因系</a:t>
            </a:r>
            <a:r>
              <a:rPr kumimoji="1" lang="ja-JP" altLang="en-US" sz="1600" b="1" dirty="0">
                <a:latin typeface="メイリオ" panose="020B0604030504040204" pitchFamily="50" charset="-128"/>
                <a:ea typeface="メイリオ" panose="020B0604030504040204" pitchFamily="50" charset="-128"/>
              </a:rPr>
              <a:t>（ｶｵﾘﾝ）と</a:t>
            </a:r>
            <a:r>
              <a:rPr kumimoji="1" lang="ja-JP" altLang="en-US" sz="1600" b="1" u="sng" dirty="0">
                <a:latin typeface="メイリオ" panose="020B0604030504040204" pitchFamily="50" charset="-128"/>
                <a:ea typeface="メイリオ" panose="020B0604030504040204" pitchFamily="50" charset="-128"/>
              </a:rPr>
              <a:t>外因系</a:t>
            </a:r>
            <a:r>
              <a:rPr kumimoji="1" lang="ja-JP" altLang="en-US" sz="1600" b="1" dirty="0">
                <a:latin typeface="メイリオ" panose="020B0604030504040204" pitchFamily="50" charset="-128"/>
                <a:ea typeface="メイリオ" panose="020B0604030504040204" pitchFamily="50" charset="-128"/>
              </a:rPr>
              <a:t>（組織因子）</a:t>
            </a:r>
            <a:r>
              <a:rPr kumimoji="1" lang="ja-JP" altLang="en-US" sz="1600" dirty="0">
                <a:latin typeface="メイリオ" panose="020B0604030504040204" pitchFamily="50" charset="-128"/>
                <a:ea typeface="メイリオ" panose="020B0604030504040204" pitchFamily="50" charset="-128"/>
              </a:rPr>
              <a:t>を活性</a:t>
            </a:r>
            <a:endParaRPr kumimoji="1" lang="en-US" altLang="ja-JP" sz="1600" dirty="0">
              <a:latin typeface="メイリオ" panose="020B0604030504040204" pitchFamily="50" charset="-128"/>
              <a:ea typeface="メイリオ" panose="020B0604030504040204" pitchFamily="50" charset="-128"/>
            </a:endParaRPr>
          </a:p>
          <a:p>
            <a:pPr marL="1143000" lvl="2" indent="-285750">
              <a:lnSpc>
                <a:spcPct val="110000"/>
              </a:lnSpc>
              <a:buClr>
                <a:schemeClr val="accent1"/>
              </a:buClr>
              <a:buFont typeface="Wingdings" panose="05000000000000000000" pitchFamily="2" charset="2"/>
              <a:buChar char="ü"/>
            </a:pPr>
            <a:r>
              <a:rPr lang="ja-JP" altLang="en-US" sz="1600" dirty="0">
                <a:latin typeface="メイリオ" panose="020B0604030504040204" pitchFamily="50" charset="-128"/>
                <a:ea typeface="メイリオ" panose="020B0604030504040204" pitchFamily="50" charset="-128"/>
              </a:rPr>
              <a:t>血餅形成までの時間が早く、迅速に評価が可能</a:t>
            </a:r>
            <a:endParaRPr lang="en-US" altLang="ja-JP" sz="1800" b="1" dirty="0">
              <a:latin typeface="メイリオ" panose="020B0604030504040204" pitchFamily="50" charset="-128"/>
              <a:ea typeface="メイリオ" panose="020B0604030504040204" pitchFamily="50" charset="-128"/>
            </a:endParaRPr>
          </a:p>
        </p:txBody>
      </p:sp>
      <p:sp>
        <p:nvSpPr>
          <p:cNvPr id="23" name="角丸四角形 22">
            <a:extLst>
              <a:ext uri="{FF2B5EF4-FFF2-40B4-BE49-F238E27FC236}">
                <a16:creationId xmlns:a16="http://schemas.microsoft.com/office/drawing/2014/main" id="{4F537E7A-8BB5-13B9-5D0C-57E2DE5D8CAA}"/>
              </a:ext>
            </a:extLst>
          </p:cNvPr>
          <p:cNvSpPr/>
          <p:nvPr/>
        </p:nvSpPr>
        <p:spPr>
          <a:xfrm>
            <a:off x="7148437" y="4398162"/>
            <a:ext cx="3818196" cy="442057"/>
          </a:xfrm>
          <a:prstGeom prst="roundRect">
            <a:avLst/>
          </a:prstGeom>
          <a:solidFill>
            <a:srgbClr val="C60C30">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角丸四角形 23">
            <a:extLst>
              <a:ext uri="{FF2B5EF4-FFF2-40B4-BE49-F238E27FC236}">
                <a16:creationId xmlns:a16="http://schemas.microsoft.com/office/drawing/2014/main" id="{8493BB65-1E56-60C2-4354-2F4AB57B129B}"/>
              </a:ext>
            </a:extLst>
          </p:cNvPr>
          <p:cNvSpPr/>
          <p:nvPr/>
        </p:nvSpPr>
        <p:spPr>
          <a:xfrm>
            <a:off x="7148437" y="5871664"/>
            <a:ext cx="3233404" cy="419927"/>
          </a:xfrm>
          <a:prstGeom prst="roundRect">
            <a:avLst/>
          </a:prstGeom>
          <a:solidFill>
            <a:schemeClr val="accent6">
              <a:lumMod val="25000"/>
              <a:lumOff val="75000"/>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 name="角丸四角形 24">
            <a:extLst>
              <a:ext uri="{FF2B5EF4-FFF2-40B4-BE49-F238E27FC236}">
                <a16:creationId xmlns:a16="http://schemas.microsoft.com/office/drawing/2014/main" id="{2ED520E4-E5FF-752B-E6CA-A9AB0D441128}"/>
              </a:ext>
            </a:extLst>
          </p:cNvPr>
          <p:cNvSpPr/>
          <p:nvPr/>
        </p:nvSpPr>
        <p:spPr>
          <a:xfrm>
            <a:off x="7148437" y="4901307"/>
            <a:ext cx="3818196" cy="430274"/>
          </a:xfrm>
          <a:prstGeom prst="roundRect">
            <a:avLst/>
          </a:prstGeom>
          <a:solidFill>
            <a:srgbClr val="7030A0">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角丸四角形 25">
            <a:extLst>
              <a:ext uri="{FF2B5EF4-FFF2-40B4-BE49-F238E27FC236}">
                <a16:creationId xmlns:a16="http://schemas.microsoft.com/office/drawing/2014/main" id="{651A68ED-B509-EC34-9876-0BB3A1615CDC}"/>
              </a:ext>
            </a:extLst>
          </p:cNvPr>
          <p:cNvSpPr/>
          <p:nvPr/>
        </p:nvSpPr>
        <p:spPr>
          <a:xfrm>
            <a:off x="7148436" y="5404452"/>
            <a:ext cx="3233405" cy="395777"/>
          </a:xfrm>
          <a:prstGeom prst="roundRect">
            <a:avLst/>
          </a:prstGeom>
          <a:solidFill>
            <a:srgbClr val="92D050">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3481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F0424B-7423-1583-A2DC-11E8EE8E4EC4}"/>
              </a:ext>
            </a:extLst>
          </p:cNvPr>
          <p:cNvSpPr>
            <a:spLocks noGrp="1"/>
          </p:cNvSpPr>
          <p:nvPr>
            <p:ph type="title"/>
          </p:nvPr>
        </p:nvSpPr>
        <p:spPr/>
        <p:txBody>
          <a:bodyPr>
            <a:normAutofit fontScale="90000"/>
          </a:bodyPr>
          <a:lstStyle/>
          <a:p>
            <a:r>
              <a:rPr kumimoji="1" lang="en-US" altLang="ja-JP" dirty="0"/>
              <a:t>TEG GH</a:t>
            </a:r>
            <a:r>
              <a:rPr lang="ja-JP" altLang="en-US"/>
              <a:t>の結果</a:t>
            </a:r>
            <a:r>
              <a:rPr lang="en-US" altLang="ja-JP" sz="2200" dirty="0"/>
              <a:t>〜</a:t>
            </a:r>
            <a:r>
              <a:rPr kumimoji="1" lang="ja-JP" altLang="en-US" sz="2200">
                <a:latin typeface="メイリオ" panose="020B0604030504040204" pitchFamily="50" charset="-128"/>
                <a:ea typeface="メイリオ" panose="020B0604030504040204" pitchFamily="50" charset="-128"/>
                <a:cs typeface="メイリオ" panose="020B0604030504040204" pitchFamily="50" charset="-128"/>
              </a:rPr>
              <a:t>凝固因子･フィブリノゲン･血小板･線溶亢進を一括で評価</a:t>
            </a:r>
            <a:r>
              <a:rPr lang="en-US" altLang="ja-JP" sz="2200" dirty="0"/>
              <a:t>〜</a:t>
            </a:r>
            <a:endParaRPr kumimoji="1" lang="ja-JP" altLang="en-US"/>
          </a:p>
        </p:txBody>
      </p:sp>
      <p:grpSp>
        <p:nvGrpSpPr>
          <p:cNvPr id="18" name="グループ化 17">
            <a:extLst>
              <a:ext uri="{FF2B5EF4-FFF2-40B4-BE49-F238E27FC236}">
                <a16:creationId xmlns:a16="http://schemas.microsoft.com/office/drawing/2014/main" id="{4398FED6-4E87-C1D3-181C-FC8EC1361F85}"/>
              </a:ext>
            </a:extLst>
          </p:cNvPr>
          <p:cNvGrpSpPr/>
          <p:nvPr/>
        </p:nvGrpSpPr>
        <p:grpSpPr>
          <a:xfrm>
            <a:off x="656475" y="1555154"/>
            <a:ext cx="11203293" cy="4932365"/>
            <a:chOff x="284116" y="1447800"/>
            <a:chExt cx="9136648" cy="5062155"/>
          </a:xfrm>
        </p:grpSpPr>
        <p:pic>
          <p:nvPicPr>
            <p:cNvPr id="19" name="Picture 3" descr="TEG Tracing">
              <a:extLst>
                <a:ext uri="{FF2B5EF4-FFF2-40B4-BE49-F238E27FC236}">
                  <a16:creationId xmlns:a16="http://schemas.microsoft.com/office/drawing/2014/main" id="{1636A35E-D786-A5A7-1DA1-83E0DD8B8CE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8063" y="1455738"/>
              <a:ext cx="8102600" cy="318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Oval 4">
              <a:extLst>
                <a:ext uri="{FF2B5EF4-FFF2-40B4-BE49-F238E27FC236}">
                  <a16:creationId xmlns:a16="http://schemas.microsoft.com/office/drawing/2014/main" id="{57727353-AB5C-B5F9-8BFD-BA42D9DA9C08}"/>
                </a:ext>
              </a:extLst>
            </p:cNvPr>
            <p:cNvSpPr>
              <a:spLocks noChangeArrowheads="1"/>
            </p:cNvSpPr>
            <p:nvPr/>
          </p:nvSpPr>
          <p:spPr bwMode="auto">
            <a:xfrm>
              <a:off x="1681161" y="3657600"/>
              <a:ext cx="487363" cy="574675"/>
            </a:xfrm>
            <a:prstGeom prst="ellipse">
              <a:avLst/>
            </a:prstGeom>
            <a:noFill/>
            <a:ln w="25400">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rgbClr val="DC002E"/>
                </a:buClr>
                <a:buFont typeface="Wingdings" pitchFamily="2" charset="2"/>
                <a:buChar char="§"/>
                <a:defRPr kumimoji="1" sz="2400">
                  <a:solidFill>
                    <a:schemeClr val="tx1"/>
                  </a:solidFill>
                  <a:latin typeface="Arial" pitchFamily="34" charset="0"/>
                  <a:ea typeface="ヒラギノ角ゴ Pro W3"/>
                  <a:cs typeface="ヒラギノ角ゴ Pro W3"/>
                </a:defRPr>
              </a:lvl1pPr>
              <a:lvl2pPr marL="742950" indent="-285750" eaLnBrk="0" hangingPunct="0">
                <a:spcBef>
                  <a:spcPct val="20000"/>
                </a:spcBef>
                <a:buClr>
                  <a:srgbClr val="DC002E"/>
                </a:buClr>
                <a:buFont typeface="Wingdings" pitchFamily="2" charset="2"/>
                <a:buChar char="§"/>
                <a:defRPr kumimoji="1" sz="2000">
                  <a:solidFill>
                    <a:schemeClr val="tx1"/>
                  </a:solidFill>
                  <a:latin typeface="Arial" pitchFamily="34" charset="0"/>
                  <a:ea typeface="ヒラギノ角ゴ Pro W3"/>
                  <a:cs typeface="ヒラギノ角ゴ Pro W3"/>
                </a:defRPr>
              </a:lvl2pPr>
              <a:lvl3pPr marL="1143000" indent="-228600" eaLnBrk="0" hangingPunct="0">
                <a:spcBef>
                  <a:spcPct val="20000"/>
                </a:spcBef>
                <a:buClr>
                  <a:srgbClr val="DC002E"/>
                </a:buClr>
                <a:buFont typeface="Wingdings" pitchFamily="2" charset="2"/>
                <a:buChar char="§"/>
                <a:defRPr kumimoji="1" sz="2000">
                  <a:solidFill>
                    <a:schemeClr val="tx1"/>
                  </a:solidFill>
                  <a:latin typeface="Arial" pitchFamily="34" charset="0"/>
                  <a:ea typeface="ヒラギノ角ゴ Pro W3"/>
                  <a:cs typeface="ヒラギノ角ゴ Pro W3"/>
                </a:defRPr>
              </a:lvl3pPr>
              <a:lvl4pPr marL="1600200" indent="-228600" eaLnBrk="0" hangingPunct="0">
                <a:spcBef>
                  <a:spcPct val="20000"/>
                </a:spcBef>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4pPr>
              <a:lvl5pPr marL="2057400" indent="-228600" eaLnBrk="0" hangingPunct="0">
                <a:spcBef>
                  <a:spcPct val="20000"/>
                </a:spcBef>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5pPr>
              <a:lvl6pPr marL="25146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6pPr>
              <a:lvl7pPr marL="29718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7pPr>
              <a:lvl8pPr marL="34290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8pPr>
              <a:lvl9pPr marL="38862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9pPr>
            </a:lstStyle>
            <a:p>
              <a:pPr eaLnBrk="1" hangingPunct="1">
                <a:spcBef>
                  <a:spcPct val="0"/>
                </a:spcBef>
                <a:buClrTx/>
                <a:buFontTx/>
                <a:buNone/>
              </a:pPr>
              <a:endParaRPr lang="en-US" altLang="ja-JP" sz="2000">
                <a:solidFill>
                  <a:srgbClr val="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1" name="Line 6">
              <a:extLst>
                <a:ext uri="{FF2B5EF4-FFF2-40B4-BE49-F238E27FC236}">
                  <a16:creationId xmlns:a16="http://schemas.microsoft.com/office/drawing/2014/main" id="{7F5594FB-DC2B-782E-A055-F9CB389AE25E}"/>
                </a:ext>
              </a:extLst>
            </p:cNvPr>
            <p:cNvSpPr>
              <a:spLocks noChangeShapeType="1"/>
            </p:cNvSpPr>
            <p:nvPr/>
          </p:nvSpPr>
          <p:spPr bwMode="auto">
            <a:xfrm flipH="1">
              <a:off x="1789113" y="4232275"/>
              <a:ext cx="0" cy="762000"/>
            </a:xfrm>
            <a:prstGeom prst="line">
              <a:avLst/>
            </a:prstGeom>
            <a:noFill/>
            <a:ln w="25400">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ja-JP" altLang="en-US">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2" name="Oval 10">
              <a:extLst>
                <a:ext uri="{FF2B5EF4-FFF2-40B4-BE49-F238E27FC236}">
                  <a16:creationId xmlns:a16="http://schemas.microsoft.com/office/drawing/2014/main" id="{CB42BD7D-A302-764D-F242-93149D33C2EA}"/>
                </a:ext>
              </a:extLst>
            </p:cNvPr>
            <p:cNvSpPr>
              <a:spLocks noChangeArrowheads="1"/>
            </p:cNvSpPr>
            <p:nvPr/>
          </p:nvSpPr>
          <p:spPr bwMode="auto">
            <a:xfrm>
              <a:off x="3851261" y="3709469"/>
              <a:ext cx="584200" cy="533400"/>
            </a:xfrm>
            <a:prstGeom prst="ellipse">
              <a:avLst/>
            </a:prstGeom>
            <a:noFill/>
            <a:ln w="25400">
              <a:solidFill>
                <a:srgbClr val="CC66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rgbClr val="DC002E"/>
                </a:buClr>
                <a:buFont typeface="Wingdings" pitchFamily="2" charset="2"/>
                <a:buChar char="§"/>
                <a:defRPr kumimoji="1" sz="2400">
                  <a:solidFill>
                    <a:schemeClr val="tx1"/>
                  </a:solidFill>
                  <a:latin typeface="Arial" pitchFamily="34" charset="0"/>
                  <a:ea typeface="ヒラギノ角ゴ Pro W3"/>
                  <a:cs typeface="ヒラギノ角ゴ Pro W3"/>
                </a:defRPr>
              </a:lvl1pPr>
              <a:lvl2pPr marL="742950" indent="-285750" eaLnBrk="0" hangingPunct="0">
                <a:spcBef>
                  <a:spcPct val="20000"/>
                </a:spcBef>
                <a:buClr>
                  <a:srgbClr val="DC002E"/>
                </a:buClr>
                <a:buFont typeface="Wingdings" pitchFamily="2" charset="2"/>
                <a:buChar char="§"/>
                <a:defRPr kumimoji="1" sz="2000">
                  <a:solidFill>
                    <a:schemeClr val="tx1"/>
                  </a:solidFill>
                  <a:latin typeface="Arial" pitchFamily="34" charset="0"/>
                  <a:ea typeface="ヒラギノ角ゴ Pro W3"/>
                  <a:cs typeface="ヒラギノ角ゴ Pro W3"/>
                </a:defRPr>
              </a:lvl2pPr>
              <a:lvl3pPr marL="1143000" indent="-228600" eaLnBrk="0" hangingPunct="0">
                <a:spcBef>
                  <a:spcPct val="20000"/>
                </a:spcBef>
                <a:buClr>
                  <a:srgbClr val="DC002E"/>
                </a:buClr>
                <a:buFont typeface="Wingdings" pitchFamily="2" charset="2"/>
                <a:buChar char="§"/>
                <a:defRPr kumimoji="1" sz="2000">
                  <a:solidFill>
                    <a:schemeClr val="tx1"/>
                  </a:solidFill>
                  <a:latin typeface="Arial" pitchFamily="34" charset="0"/>
                  <a:ea typeface="ヒラギノ角ゴ Pro W3"/>
                  <a:cs typeface="ヒラギノ角ゴ Pro W3"/>
                </a:defRPr>
              </a:lvl3pPr>
              <a:lvl4pPr marL="1600200" indent="-228600" eaLnBrk="0" hangingPunct="0">
                <a:spcBef>
                  <a:spcPct val="20000"/>
                </a:spcBef>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4pPr>
              <a:lvl5pPr marL="2057400" indent="-228600" eaLnBrk="0" hangingPunct="0">
                <a:spcBef>
                  <a:spcPct val="20000"/>
                </a:spcBef>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5pPr>
              <a:lvl6pPr marL="25146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6pPr>
              <a:lvl7pPr marL="29718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7pPr>
              <a:lvl8pPr marL="34290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8pPr>
              <a:lvl9pPr marL="38862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9pPr>
            </a:lstStyle>
            <a:p>
              <a:pPr eaLnBrk="1" hangingPunct="1">
                <a:spcBef>
                  <a:spcPct val="0"/>
                </a:spcBef>
                <a:buClrTx/>
                <a:buFontTx/>
                <a:buNone/>
              </a:pPr>
              <a:endParaRPr lang="en-US" altLang="ja-JP" sz="2000">
                <a:solidFill>
                  <a:srgbClr val="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3" name="Oval 11">
              <a:extLst>
                <a:ext uri="{FF2B5EF4-FFF2-40B4-BE49-F238E27FC236}">
                  <a16:creationId xmlns:a16="http://schemas.microsoft.com/office/drawing/2014/main" id="{1A541F5B-0ECF-FE73-E6A8-0CECD1B530F9}"/>
                </a:ext>
              </a:extLst>
            </p:cNvPr>
            <p:cNvSpPr>
              <a:spLocks noChangeArrowheads="1"/>
            </p:cNvSpPr>
            <p:nvPr/>
          </p:nvSpPr>
          <p:spPr bwMode="auto">
            <a:xfrm>
              <a:off x="2839353" y="3763963"/>
              <a:ext cx="381000" cy="457200"/>
            </a:xfrm>
            <a:prstGeom prst="ellipse">
              <a:avLst/>
            </a:prstGeom>
            <a:noFill/>
            <a:ln w="25400">
              <a:solidFill>
                <a:srgbClr val="33CC3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rgbClr val="DC002E"/>
                </a:buClr>
                <a:buFont typeface="Wingdings" pitchFamily="2" charset="2"/>
                <a:buChar char="§"/>
                <a:defRPr kumimoji="1" sz="2400">
                  <a:solidFill>
                    <a:schemeClr val="tx1"/>
                  </a:solidFill>
                  <a:latin typeface="Arial" pitchFamily="34" charset="0"/>
                  <a:ea typeface="ヒラギノ角ゴ Pro W3"/>
                  <a:cs typeface="ヒラギノ角ゴ Pro W3"/>
                </a:defRPr>
              </a:lvl1pPr>
              <a:lvl2pPr marL="742950" indent="-285750" eaLnBrk="0" hangingPunct="0">
                <a:spcBef>
                  <a:spcPct val="20000"/>
                </a:spcBef>
                <a:buClr>
                  <a:srgbClr val="DC002E"/>
                </a:buClr>
                <a:buFont typeface="Wingdings" pitchFamily="2" charset="2"/>
                <a:buChar char="§"/>
                <a:defRPr kumimoji="1" sz="2000">
                  <a:solidFill>
                    <a:schemeClr val="tx1"/>
                  </a:solidFill>
                  <a:latin typeface="Arial" pitchFamily="34" charset="0"/>
                  <a:ea typeface="ヒラギノ角ゴ Pro W3"/>
                  <a:cs typeface="ヒラギノ角ゴ Pro W3"/>
                </a:defRPr>
              </a:lvl2pPr>
              <a:lvl3pPr marL="1143000" indent="-228600" eaLnBrk="0" hangingPunct="0">
                <a:spcBef>
                  <a:spcPct val="20000"/>
                </a:spcBef>
                <a:buClr>
                  <a:srgbClr val="DC002E"/>
                </a:buClr>
                <a:buFont typeface="Wingdings" pitchFamily="2" charset="2"/>
                <a:buChar char="§"/>
                <a:defRPr kumimoji="1" sz="2000">
                  <a:solidFill>
                    <a:schemeClr val="tx1"/>
                  </a:solidFill>
                  <a:latin typeface="Arial" pitchFamily="34" charset="0"/>
                  <a:ea typeface="ヒラギノ角ゴ Pro W3"/>
                  <a:cs typeface="ヒラギノ角ゴ Pro W3"/>
                </a:defRPr>
              </a:lvl3pPr>
              <a:lvl4pPr marL="1600200" indent="-228600" eaLnBrk="0" hangingPunct="0">
                <a:spcBef>
                  <a:spcPct val="20000"/>
                </a:spcBef>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4pPr>
              <a:lvl5pPr marL="2057400" indent="-228600" eaLnBrk="0" hangingPunct="0">
                <a:spcBef>
                  <a:spcPct val="20000"/>
                </a:spcBef>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5pPr>
              <a:lvl6pPr marL="25146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6pPr>
              <a:lvl7pPr marL="29718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7pPr>
              <a:lvl8pPr marL="34290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8pPr>
              <a:lvl9pPr marL="38862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9pPr>
            </a:lstStyle>
            <a:p>
              <a:pPr eaLnBrk="1" hangingPunct="1">
                <a:spcBef>
                  <a:spcPct val="0"/>
                </a:spcBef>
                <a:buClrTx/>
                <a:buFontTx/>
                <a:buNone/>
              </a:pPr>
              <a:endParaRPr lang="en-US" altLang="ja-JP" sz="2000">
                <a:solidFill>
                  <a:srgbClr val="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4" name="Line 14">
              <a:extLst>
                <a:ext uri="{FF2B5EF4-FFF2-40B4-BE49-F238E27FC236}">
                  <a16:creationId xmlns:a16="http://schemas.microsoft.com/office/drawing/2014/main" id="{E36123BE-4AD4-34E1-F62C-612672AC81A5}"/>
                </a:ext>
              </a:extLst>
            </p:cNvPr>
            <p:cNvSpPr>
              <a:spLocks noChangeShapeType="1"/>
            </p:cNvSpPr>
            <p:nvPr/>
          </p:nvSpPr>
          <p:spPr bwMode="auto">
            <a:xfrm>
              <a:off x="4340395" y="4177006"/>
              <a:ext cx="758460" cy="889723"/>
            </a:xfrm>
            <a:prstGeom prst="line">
              <a:avLst/>
            </a:prstGeom>
            <a:noFill/>
            <a:ln w="25400">
              <a:solidFill>
                <a:srgbClr val="CC66FF"/>
              </a:solidFill>
              <a:round/>
              <a:headEnd/>
              <a:tailEnd type="triangle" w="med" len="med"/>
            </a:ln>
            <a:extLst>
              <a:ext uri="{909E8E84-426E-40DD-AFC4-6F175D3DCCD1}">
                <a14:hiddenFill xmlns:a14="http://schemas.microsoft.com/office/drawing/2010/main">
                  <a:noFill/>
                </a14:hiddenFill>
              </a:ext>
            </a:extLst>
          </p:spPr>
          <p:txBody>
            <a:bodyPr/>
            <a:lstStyle/>
            <a:p>
              <a:endParaRPr lang="ja-JP" altLang="en-US">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5" name="Line 15">
              <a:extLst>
                <a:ext uri="{FF2B5EF4-FFF2-40B4-BE49-F238E27FC236}">
                  <a16:creationId xmlns:a16="http://schemas.microsoft.com/office/drawing/2014/main" id="{2C887879-FC3F-77EA-9211-0808874F346D}"/>
                </a:ext>
              </a:extLst>
            </p:cNvPr>
            <p:cNvSpPr>
              <a:spLocks noChangeShapeType="1"/>
            </p:cNvSpPr>
            <p:nvPr/>
          </p:nvSpPr>
          <p:spPr bwMode="auto">
            <a:xfrm flipH="1">
              <a:off x="3725934" y="3133724"/>
              <a:ext cx="7864" cy="1794021"/>
            </a:xfrm>
            <a:prstGeom prst="line">
              <a:avLst/>
            </a:prstGeom>
            <a:noFill/>
            <a:ln w="25400">
              <a:solidFill>
                <a:srgbClr val="3399FF"/>
              </a:solidFill>
              <a:round/>
              <a:headEnd/>
              <a:tailEnd type="triangle" w="med" len="med"/>
            </a:ln>
            <a:extLst>
              <a:ext uri="{909E8E84-426E-40DD-AFC4-6F175D3DCCD1}">
                <a14:hiddenFill xmlns:a14="http://schemas.microsoft.com/office/drawing/2010/main">
                  <a:noFill/>
                </a14:hiddenFill>
              </a:ext>
            </a:extLst>
          </p:spPr>
          <p:txBody>
            <a:bodyPr/>
            <a:lstStyle/>
            <a:p>
              <a:endParaRPr lang="ja-JP" altLang="en-US">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6" name="Line 16">
              <a:extLst>
                <a:ext uri="{FF2B5EF4-FFF2-40B4-BE49-F238E27FC236}">
                  <a16:creationId xmlns:a16="http://schemas.microsoft.com/office/drawing/2014/main" id="{C1D5E832-8948-B069-2B72-77B619BE88CB}"/>
                </a:ext>
              </a:extLst>
            </p:cNvPr>
            <p:cNvSpPr>
              <a:spLocks noChangeShapeType="1"/>
            </p:cNvSpPr>
            <p:nvPr/>
          </p:nvSpPr>
          <p:spPr bwMode="auto">
            <a:xfrm>
              <a:off x="4905375" y="2251075"/>
              <a:ext cx="0" cy="21336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ja-JP" altLang="en-US">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7" name="Text Box 17">
              <a:extLst>
                <a:ext uri="{FF2B5EF4-FFF2-40B4-BE49-F238E27FC236}">
                  <a16:creationId xmlns:a16="http://schemas.microsoft.com/office/drawing/2014/main" id="{EE6C4189-F47A-F3FD-6B34-51D5E2E2A5E0}"/>
                </a:ext>
              </a:extLst>
            </p:cNvPr>
            <p:cNvSpPr txBox="1">
              <a:spLocks noChangeArrowheads="1"/>
            </p:cNvSpPr>
            <p:nvPr/>
          </p:nvSpPr>
          <p:spPr bwMode="auto">
            <a:xfrm>
              <a:off x="4543424" y="3127374"/>
              <a:ext cx="895351" cy="427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rgbClr val="DC002E"/>
                </a:buClr>
                <a:buFont typeface="Wingdings" pitchFamily="2" charset="2"/>
                <a:buChar char="§"/>
                <a:defRPr kumimoji="1" sz="2400">
                  <a:solidFill>
                    <a:schemeClr val="tx1"/>
                  </a:solidFill>
                  <a:latin typeface="Arial" pitchFamily="34" charset="0"/>
                  <a:ea typeface="ヒラギノ角ゴ Pro W3"/>
                  <a:cs typeface="ヒラギノ角ゴ Pro W3"/>
                </a:defRPr>
              </a:lvl1pPr>
              <a:lvl2pPr marL="742950" indent="-285750" eaLnBrk="0" hangingPunct="0">
                <a:spcBef>
                  <a:spcPct val="20000"/>
                </a:spcBef>
                <a:buClr>
                  <a:srgbClr val="DC002E"/>
                </a:buClr>
                <a:buFont typeface="Wingdings" pitchFamily="2" charset="2"/>
                <a:buChar char="§"/>
                <a:defRPr kumimoji="1" sz="2000">
                  <a:solidFill>
                    <a:schemeClr val="tx1"/>
                  </a:solidFill>
                  <a:latin typeface="Arial" pitchFamily="34" charset="0"/>
                  <a:ea typeface="ヒラギノ角ゴ Pro W3"/>
                  <a:cs typeface="ヒラギノ角ゴ Pro W3"/>
                </a:defRPr>
              </a:lvl2pPr>
              <a:lvl3pPr marL="1143000" indent="-228600" eaLnBrk="0" hangingPunct="0">
                <a:spcBef>
                  <a:spcPct val="20000"/>
                </a:spcBef>
                <a:buClr>
                  <a:srgbClr val="DC002E"/>
                </a:buClr>
                <a:buFont typeface="Wingdings" pitchFamily="2" charset="2"/>
                <a:buChar char="§"/>
                <a:defRPr kumimoji="1" sz="2000">
                  <a:solidFill>
                    <a:schemeClr val="tx1"/>
                  </a:solidFill>
                  <a:latin typeface="Arial" pitchFamily="34" charset="0"/>
                  <a:ea typeface="ヒラギノ角ゴ Pro W3"/>
                  <a:cs typeface="ヒラギノ角ゴ Pro W3"/>
                </a:defRPr>
              </a:lvl3pPr>
              <a:lvl4pPr marL="1600200" indent="-228600" eaLnBrk="0" hangingPunct="0">
                <a:spcBef>
                  <a:spcPct val="20000"/>
                </a:spcBef>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4pPr>
              <a:lvl5pPr marL="2057400" indent="-228600" eaLnBrk="0" hangingPunct="0">
                <a:spcBef>
                  <a:spcPct val="20000"/>
                </a:spcBef>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5pPr>
              <a:lvl6pPr marL="25146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6pPr>
              <a:lvl7pPr marL="29718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7pPr>
              <a:lvl8pPr marL="34290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8pPr>
              <a:lvl9pPr marL="38862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9pPr>
            </a:lstStyle>
            <a:p>
              <a:pPr eaLnBrk="1" hangingPunct="1">
                <a:spcBef>
                  <a:spcPct val="0"/>
                </a:spcBef>
                <a:buClrTx/>
                <a:buFontTx/>
                <a:buNone/>
              </a:pPr>
              <a:r>
                <a:rPr lang="en-US" altLang="ja-JP" b="1"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LY30</a:t>
              </a:r>
            </a:p>
          </p:txBody>
        </p:sp>
        <p:sp>
          <p:nvSpPr>
            <p:cNvPr id="28" name="Oval 18">
              <a:extLst>
                <a:ext uri="{FF2B5EF4-FFF2-40B4-BE49-F238E27FC236}">
                  <a16:creationId xmlns:a16="http://schemas.microsoft.com/office/drawing/2014/main" id="{1C505925-1DB7-6885-F0BD-1CABF93D96EE}"/>
                </a:ext>
              </a:extLst>
            </p:cNvPr>
            <p:cNvSpPr>
              <a:spLocks noChangeArrowheads="1"/>
            </p:cNvSpPr>
            <p:nvPr/>
          </p:nvSpPr>
          <p:spPr bwMode="auto">
            <a:xfrm>
              <a:off x="4448175" y="3013075"/>
              <a:ext cx="990600" cy="533400"/>
            </a:xfrm>
            <a:prstGeom prst="ellipse">
              <a:avLst/>
            </a:prstGeom>
            <a:noFill/>
            <a:ln w="254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rgbClr val="DC002E"/>
                </a:buClr>
                <a:buFont typeface="Wingdings" pitchFamily="2" charset="2"/>
                <a:buChar char="§"/>
                <a:defRPr kumimoji="1" sz="2400">
                  <a:solidFill>
                    <a:schemeClr val="tx1"/>
                  </a:solidFill>
                  <a:latin typeface="Arial" pitchFamily="34" charset="0"/>
                  <a:ea typeface="ヒラギノ角ゴ Pro W3"/>
                  <a:cs typeface="ヒラギノ角ゴ Pro W3"/>
                </a:defRPr>
              </a:lvl1pPr>
              <a:lvl2pPr marL="742950" indent="-285750" eaLnBrk="0" hangingPunct="0">
                <a:spcBef>
                  <a:spcPct val="20000"/>
                </a:spcBef>
                <a:buClr>
                  <a:srgbClr val="DC002E"/>
                </a:buClr>
                <a:buFont typeface="Wingdings" pitchFamily="2" charset="2"/>
                <a:buChar char="§"/>
                <a:defRPr kumimoji="1" sz="2000">
                  <a:solidFill>
                    <a:schemeClr val="tx1"/>
                  </a:solidFill>
                  <a:latin typeface="Arial" pitchFamily="34" charset="0"/>
                  <a:ea typeface="ヒラギノ角ゴ Pro W3"/>
                  <a:cs typeface="ヒラギノ角ゴ Pro W3"/>
                </a:defRPr>
              </a:lvl2pPr>
              <a:lvl3pPr marL="1143000" indent="-228600" eaLnBrk="0" hangingPunct="0">
                <a:spcBef>
                  <a:spcPct val="20000"/>
                </a:spcBef>
                <a:buClr>
                  <a:srgbClr val="DC002E"/>
                </a:buClr>
                <a:buFont typeface="Wingdings" pitchFamily="2" charset="2"/>
                <a:buChar char="§"/>
                <a:defRPr kumimoji="1" sz="2000">
                  <a:solidFill>
                    <a:schemeClr val="tx1"/>
                  </a:solidFill>
                  <a:latin typeface="Arial" pitchFamily="34" charset="0"/>
                  <a:ea typeface="ヒラギノ角ゴ Pro W3"/>
                  <a:cs typeface="ヒラギノ角ゴ Pro W3"/>
                </a:defRPr>
              </a:lvl3pPr>
              <a:lvl4pPr marL="1600200" indent="-228600" eaLnBrk="0" hangingPunct="0">
                <a:spcBef>
                  <a:spcPct val="20000"/>
                </a:spcBef>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4pPr>
              <a:lvl5pPr marL="2057400" indent="-228600" eaLnBrk="0" hangingPunct="0">
                <a:spcBef>
                  <a:spcPct val="20000"/>
                </a:spcBef>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5pPr>
              <a:lvl6pPr marL="25146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6pPr>
              <a:lvl7pPr marL="29718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7pPr>
              <a:lvl8pPr marL="34290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8pPr>
              <a:lvl9pPr marL="38862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9pPr>
            </a:lstStyle>
            <a:p>
              <a:pPr eaLnBrk="1" hangingPunct="1">
                <a:spcBef>
                  <a:spcPct val="0"/>
                </a:spcBef>
                <a:buClrTx/>
                <a:buFontTx/>
                <a:buNone/>
              </a:pPr>
              <a:endParaRPr lang="en-US" altLang="ja-JP" sz="2000">
                <a:solidFill>
                  <a:srgbClr val="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9" name="Line 20">
              <a:extLst>
                <a:ext uri="{FF2B5EF4-FFF2-40B4-BE49-F238E27FC236}">
                  <a16:creationId xmlns:a16="http://schemas.microsoft.com/office/drawing/2014/main" id="{4B3928F5-8BF7-263E-AE9C-6A6409806644}"/>
                </a:ext>
              </a:extLst>
            </p:cNvPr>
            <p:cNvSpPr>
              <a:spLocks noChangeShapeType="1"/>
            </p:cNvSpPr>
            <p:nvPr/>
          </p:nvSpPr>
          <p:spPr bwMode="auto">
            <a:xfrm>
              <a:off x="5133973" y="3546475"/>
              <a:ext cx="1382428" cy="762001"/>
            </a:xfrm>
            <a:prstGeom prst="line">
              <a:avLst/>
            </a:prstGeom>
            <a:noFill/>
            <a:ln w="254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ja-JP" altLang="en-US">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テキスト ボックス 29">
              <a:extLst>
                <a:ext uri="{FF2B5EF4-FFF2-40B4-BE49-F238E27FC236}">
                  <a16:creationId xmlns:a16="http://schemas.microsoft.com/office/drawing/2014/main" id="{7601AA82-0B89-74A8-AECD-D3F015DDAAAE}"/>
                </a:ext>
              </a:extLst>
            </p:cNvPr>
            <p:cNvSpPr txBox="1"/>
            <p:nvPr/>
          </p:nvSpPr>
          <p:spPr>
            <a:xfrm>
              <a:off x="1681162" y="1447800"/>
              <a:ext cx="1785937" cy="427887"/>
            </a:xfrm>
            <a:prstGeom prst="rect">
              <a:avLst/>
            </a:prstGeom>
            <a:solidFill>
              <a:schemeClr val="bg1"/>
            </a:solidFill>
          </p:spPr>
          <p:txBody>
            <a:bodyPr>
              <a:spAutoFit/>
            </a:bodyPr>
            <a:lstStyle/>
            <a:p>
              <a:pPr algn="ctr">
                <a:buClr>
                  <a:schemeClr val="accent4"/>
                </a:buClr>
                <a:defRPr/>
              </a:pPr>
              <a:r>
                <a:rPr lang="ja-JP" altLang="en-US" b="1" dirty="0">
                  <a:latin typeface="メイリオ" panose="020B0604030504040204" pitchFamily="50" charset="-128"/>
                  <a:ea typeface="メイリオ" panose="020B0604030504040204" pitchFamily="50" charset="-128"/>
                  <a:cs typeface="メイリオ" panose="020B0604030504040204" pitchFamily="50" charset="-128"/>
                </a:rPr>
                <a:t>凝固系</a:t>
              </a:r>
            </a:p>
          </p:txBody>
        </p:sp>
        <p:sp>
          <p:nvSpPr>
            <p:cNvPr id="31" name="テキスト ボックス 30">
              <a:extLst>
                <a:ext uri="{FF2B5EF4-FFF2-40B4-BE49-F238E27FC236}">
                  <a16:creationId xmlns:a16="http://schemas.microsoft.com/office/drawing/2014/main" id="{EF329E0A-E6AE-95F8-203B-78321C14D48A}"/>
                </a:ext>
              </a:extLst>
            </p:cNvPr>
            <p:cNvSpPr txBox="1"/>
            <p:nvPr/>
          </p:nvSpPr>
          <p:spPr>
            <a:xfrm>
              <a:off x="5538788" y="1447800"/>
              <a:ext cx="1785937" cy="427887"/>
            </a:xfrm>
            <a:prstGeom prst="rect">
              <a:avLst/>
            </a:prstGeom>
            <a:solidFill>
              <a:schemeClr val="bg1"/>
            </a:solidFill>
          </p:spPr>
          <p:txBody>
            <a:bodyPr>
              <a:spAutoFit/>
            </a:bodyPr>
            <a:lstStyle/>
            <a:p>
              <a:pPr algn="ctr">
                <a:buClr>
                  <a:schemeClr val="accent4"/>
                </a:buClr>
                <a:defRPr/>
              </a:pPr>
              <a:r>
                <a:rPr lang="ja-JP" altLang="en-US" b="1" dirty="0">
                  <a:latin typeface="メイリオ" panose="020B0604030504040204" pitchFamily="50" charset="-128"/>
                  <a:ea typeface="メイリオ" panose="020B0604030504040204" pitchFamily="50" charset="-128"/>
                  <a:cs typeface="メイリオ" panose="020B0604030504040204" pitchFamily="50" charset="-128"/>
                </a:rPr>
                <a:t>線溶系</a:t>
              </a:r>
            </a:p>
          </p:txBody>
        </p:sp>
        <p:sp>
          <p:nvSpPr>
            <p:cNvPr id="32" name="テキスト ボックス 31">
              <a:extLst>
                <a:ext uri="{FF2B5EF4-FFF2-40B4-BE49-F238E27FC236}">
                  <a16:creationId xmlns:a16="http://schemas.microsoft.com/office/drawing/2014/main" id="{C918AE02-56E4-60FA-E7F7-814F80B59182}"/>
                </a:ext>
              </a:extLst>
            </p:cNvPr>
            <p:cNvSpPr txBox="1"/>
            <p:nvPr/>
          </p:nvSpPr>
          <p:spPr>
            <a:xfrm>
              <a:off x="4984717" y="4950523"/>
              <a:ext cx="3857659" cy="1105564"/>
            </a:xfrm>
            <a:prstGeom prst="rect">
              <a:avLst/>
            </a:prstGeom>
            <a:noFill/>
          </p:spPr>
          <p:txBody>
            <a:bodyPr wrap="square">
              <a:spAutoFit/>
            </a:bodyPr>
            <a:lstStyle/>
            <a:p>
              <a:pPr>
                <a:buClr>
                  <a:schemeClr val="accent4"/>
                </a:buClr>
                <a:buFont typeface="Wingdings" charset="2"/>
                <a:buChar char="§"/>
                <a:defRPr/>
              </a:pPr>
              <a:r>
                <a:rPr lang="en-US" altLang="ja-JP" sz="28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Maximum Amplitude</a:t>
              </a:r>
            </a:p>
            <a:p>
              <a:pPr>
                <a:buClr>
                  <a:schemeClr val="accent4"/>
                </a:buClr>
                <a:defRPr/>
              </a:pP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（最大血餅強度）</a:t>
              </a:r>
              <a:endParaRPr lang="en-US" altLang="ja-JP" sz="1600" dirty="0">
                <a:latin typeface="メイリオ" panose="020B0604030504040204" pitchFamily="50" charset="-128"/>
                <a:ea typeface="メイリオ" panose="020B0604030504040204" pitchFamily="50" charset="-128"/>
                <a:cs typeface="メイリオ" panose="020B0604030504040204" pitchFamily="50" charset="-128"/>
              </a:endParaRPr>
            </a:p>
            <a:p>
              <a:pPr>
                <a:buClr>
                  <a:schemeClr val="accent4"/>
                </a:buClr>
                <a:defRPr/>
              </a:pPr>
              <a:r>
                <a:rPr lang="ja-JP" altLang="en-US" sz="100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2000" b="1">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フィブリノゲン</a:t>
              </a:r>
              <a:r>
                <a:rPr lang="en-US" altLang="ja-JP" sz="20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2000" b="1">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血小板</a:t>
              </a:r>
              <a:r>
                <a:rPr lang="ja-JP" altLang="en-US" sz="20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機能の総合力</a:t>
              </a:r>
            </a:p>
          </p:txBody>
        </p:sp>
        <p:sp>
          <p:nvSpPr>
            <p:cNvPr id="33" name="テキスト ボックス 32">
              <a:extLst>
                <a:ext uri="{FF2B5EF4-FFF2-40B4-BE49-F238E27FC236}">
                  <a16:creationId xmlns:a16="http://schemas.microsoft.com/office/drawing/2014/main" id="{5DA8385F-2EEB-C352-B904-1E76BA145052}"/>
                </a:ext>
              </a:extLst>
            </p:cNvPr>
            <p:cNvSpPr txBox="1"/>
            <p:nvPr/>
          </p:nvSpPr>
          <p:spPr>
            <a:xfrm>
              <a:off x="496125" y="4976602"/>
              <a:ext cx="1988281" cy="941351"/>
            </a:xfrm>
            <a:prstGeom prst="rect">
              <a:avLst/>
            </a:prstGeom>
            <a:solidFill>
              <a:schemeClr val="bg1"/>
            </a:solidFill>
          </p:spPr>
          <p:txBody>
            <a:bodyPr wrap="square">
              <a:spAutoFit/>
            </a:bodyPr>
            <a:lstStyle/>
            <a:p>
              <a:pPr>
                <a:buClr>
                  <a:schemeClr val="accent4"/>
                </a:buClr>
                <a:buFont typeface="Wingdings" charset="2"/>
                <a:buChar char="§"/>
                <a:defRPr/>
              </a:pPr>
              <a:r>
                <a:rPr lang="en-US" altLang="ja-JP"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Reaction time</a:t>
              </a: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（凝固時間）</a:t>
              </a:r>
              <a:endParaRPr lang="en-US" altLang="ja-JP" sz="1600" dirty="0">
                <a:latin typeface="メイリオ" panose="020B0604030504040204" pitchFamily="50" charset="-128"/>
                <a:ea typeface="メイリオ" panose="020B0604030504040204" pitchFamily="50" charset="-128"/>
                <a:cs typeface="メイリオ" panose="020B0604030504040204" pitchFamily="50" charset="-128"/>
              </a:endParaRPr>
            </a:p>
            <a:p>
              <a:pPr>
                <a:buClr>
                  <a:schemeClr val="accent4"/>
                </a:buClr>
                <a:defRPr/>
              </a:pPr>
              <a:r>
                <a:rPr lang="ja-JP" altLang="en-US" sz="1100" b="1"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20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凝固因子の評価</a:t>
              </a:r>
            </a:p>
          </p:txBody>
        </p:sp>
        <p:sp>
          <p:nvSpPr>
            <p:cNvPr id="34" name="テキスト ボックス 33">
              <a:extLst>
                <a:ext uri="{FF2B5EF4-FFF2-40B4-BE49-F238E27FC236}">
                  <a16:creationId xmlns:a16="http://schemas.microsoft.com/office/drawing/2014/main" id="{62FE0C84-4CBF-1607-E24B-18A05E12EDF4}"/>
                </a:ext>
              </a:extLst>
            </p:cNvPr>
            <p:cNvSpPr txBox="1"/>
            <p:nvPr/>
          </p:nvSpPr>
          <p:spPr>
            <a:xfrm>
              <a:off x="2398316" y="4984173"/>
              <a:ext cx="2735656" cy="941351"/>
            </a:xfrm>
            <a:prstGeom prst="rect">
              <a:avLst/>
            </a:prstGeom>
            <a:solidFill>
              <a:schemeClr val="bg1"/>
            </a:solidFill>
          </p:spPr>
          <p:txBody>
            <a:bodyPr wrap="square">
              <a:spAutoFit/>
            </a:bodyPr>
            <a:lstStyle/>
            <a:p>
              <a:pPr>
                <a:buClr>
                  <a:schemeClr val="accent4"/>
                </a:buClr>
                <a:buFont typeface="Wingdings" charset="2"/>
                <a:buChar char="§"/>
                <a:defRPr/>
              </a:pPr>
              <a:r>
                <a:rPr lang="en-US" altLang="ja-JP"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Kinetics</a:t>
              </a:r>
              <a:r>
                <a:rPr lang="ja-JP" altLang="en-US"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en-US" altLang="ja-JP"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Angle</a:t>
              </a:r>
            </a:p>
            <a:p>
              <a:pPr>
                <a:buClr>
                  <a:schemeClr val="accent4"/>
                </a:buClr>
                <a:defRPr/>
              </a:pP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（血餅形成の速度）</a:t>
              </a:r>
              <a:endParaRPr lang="en-US" altLang="ja-JP" sz="1600" dirty="0">
                <a:latin typeface="メイリオ" panose="020B0604030504040204" pitchFamily="50" charset="-128"/>
                <a:ea typeface="メイリオ" panose="020B0604030504040204" pitchFamily="50" charset="-128"/>
                <a:cs typeface="メイリオ" panose="020B0604030504040204" pitchFamily="50" charset="-128"/>
              </a:endParaRPr>
            </a:p>
            <a:p>
              <a:pPr>
                <a:buClr>
                  <a:schemeClr val="accent4"/>
                </a:buClr>
                <a:defRPr/>
              </a:pPr>
              <a:r>
                <a:rPr lang="ja-JP" altLang="en-US" sz="20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フィブリノゲン機能の評価</a:t>
              </a:r>
              <a:endParaRPr lang="en-US" altLang="ja-JP" sz="20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5" name="テキスト ボックス 34">
              <a:extLst>
                <a:ext uri="{FF2B5EF4-FFF2-40B4-BE49-F238E27FC236}">
                  <a16:creationId xmlns:a16="http://schemas.microsoft.com/office/drawing/2014/main" id="{D71B8AFA-AC96-38AF-1C5E-43C776548C8F}"/>
                </a:ext>
              </a:extLst>
            </p:cNvPr>
            <p:cNvSpPr txBox="1"/>
            <p:nvPr/>
          </p:nvSpPr>
          <p:spPr>
            <a:xfrm>
              <a:off x="6516400" y="3965574"/>
              <a:ext cx="2904364" cy="941351"/>
            </a:xfrm>
            <a:prstGeom prst="rect">
              <a:avLst/>
            </a:prstGeom>
            <a:solidFill>
              <a:schemeClr val="bg1"/>
            </a:solidFill>
          </p:spPr>
          <p:txBody>
            <a:bodyPr wrap="square">
              <a:spAutoFit/>
            </a:bodyPr>
            <a:lstStyle/>
            <a:p>
              <a:pPr>
                <a:buClr>
                  <a:schemeClr val="accent4"/>
                </a:buClr>
                <a:buFont typeface="Wingdings" charset="2"/>
                <a:buChar char="§"/>
                <a:defRPr/>
              </a:pPr>
              <a:r>
                <a:rPr lang="en-US" altLang="ja-JP"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Lysis</a:t>
              </a:r>
            </a:p>
            <a:p>
              <a:pPr>
                <a:buClr>
                  <a:schemeClr val="accent4"/>
                </a:buClr>
                <a:defRPr/>
              </a:pP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（線溶）</a:t>
              </a:r>
              <a:endParaRPr lang="en-US" altLang="ja-JP" sz="1600" dirty="0">
                <a:latin typeface="メイリオ" panose="020B0604030504040204" pitchFamily="50" charset="-128"/>
                <a:ea typeface="メイリオ" panose="020B0604030504040204" pitchFamily="50" charset="-128"/>
                <a:cs typeface="メイリオ" panose="020B0604030504040204" pitchFamily="50" charset="-128"/>
              </a:endParaRPr>
            </a:p>
            <a:p>
              <a:pPr>
                <a:buClr>
                  <a:schemeClr val="accent4"/>
                </a:buClr>
                <a:defRPr/>
              </a:pPr>
              <a:r>
                <a:rPr lang="ja-JP" altLang="en-US" sz="1000" b="1"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20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MA</a:t>
              </a:r>
              <a:r>
                <a:rPr lang="ja-JP" altLang="en-US" sz="20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から</a:t>
              </a:r>
              <a:r>
                <a:rPr lang="en-US" altLang="ja-JP" sz="20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30</a:t>
              </a:r>
              <a:r>
                <a:rPr lang="ja-JP" altLang="en-US" sz="20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分後の血餅減退率</a:t>
              </a:r>
              <a:endParaRPr lang="en-US" altLang="ja-JP" sz="20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36" name="直線矢印コネクタ 35">
              <a:extLst>
                <a:ext uri="{FF2B5EF4-FFF2-40B4-BE49-F238E27FC236}">
                  <a16:creationId xmlns:a16="http://schemas.microsoft.com/office/drawing/2014/main" id="{37565C0D-D650-293F-2328-70769EC5C5ED}"/>
                </a:ext>
              </a:extLst>
            </p:cNvPr>
            <p:cNvCxnSpPr/>
            <p:nvPr/>
          </p:nvCxnSpPr>
          <p:spPr>
            <a:xfrm flipV="1">
              <a:off x="815975" y="1989138"/>
              <a:ext cx="15875" cy="1311275"/>
            </a:xfrm>
            <a:prstGeom prst="straightConnector1">
              <a:avLst/>
            </a:prstGeom>
            <a:ln w="76200">
              <a:solidFill>
                <a:schemeClr val="accent1">
                  <a:lumMod val="75000"/>
                  <a:lumOff val="25000"/>
                </a:schemeClr>
              </a:solidFill>
              <a:tailEnd type="arrow"/>
            </a:ln>
            <a:effectLst/>
          </p:spPr>
          <p:style>
            <a:lnRef idx="2">
              <a:schemeClr val="accent1"/>
            </a:lnRef>
            <a:fillRef idx="0">
              <a:schemeClr val="accent1"/>
            </a:fillRef>
            <a:effectRef idx="1">
              <a:schemeClr val="accent1"/>
            </a:effectRef>
            <a:fontRef idx="minor">
              <a:schemeClr val="tx1"/>
            </a:fontRef>
          </p:style>
        </p:cxnSp>
        <p:sp>
          <p:nvSpPr>
            <p:cNvPr id="37" name="テキスト ボックス 36">
              <a:extLst>
                <a:ext uri="{FF2B5EF4-FFF2-40B4-BE49-F238E27FC236}">
                  <a16:creationId xmlns:a16="http://schemas.microsoft.com/office/drawing/2014/main" id="{51666129-B470-531E-C6E2-F01FC7725DBE}"/>
                </a:ext>
              </a:extLst>
            </p:cNvPr>
            <p:cNvSpPr txBox="1"/>
            <p:nvPr/>
          </p:nvSpPr>
          <p:spPr>
            <a:xfrm>
              <a:off x="284116" y="2571750"/>
              <a:ext cx="439784" cy="1508125"/>
            </a:xfrm>
            <a:prstGeom prst="rect">
              <a:avLst/>
            </a:prstGeom>
            <a:solidFill>
              <a:srgbClr val="FCB9C5"/>
            </a:solidFill>
          </p:spPr>
          <p:txBody>
            <a:bodyPr vert="eaVert">
              <a:spAutoFit/>
            </a:bodyPr>
            <a:lstStyle/>
            <a:p>
              <a:pPr algn="ctr">
                <a:buClr>
                  <a:schemeClr val="accent4"/>
                </a:buClr>
                <a:defRPr/>
              </a:pPr>
              <a:r>
                <a:rPr lang="ja-JP" altLang="en-US"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凝固の強さ</a:t>
              </a:r>
            </a:p>
          </p:txBody>
        </p:sp>
        <p:cxnSp>
          <p:nvCxnSpPr>
            <p:cNvPr id="38" name="直線矢印コネクタ 37">
              <a:extLst>
                <a:ext uri="{FF2B5EF4-FFF2-40B4-BE49-F238E27FC236}">
                  <a16:creationId xmlns:a16="http://schemas.microsoft.com/office/drawing/2014/main" id="{F63104D8-9434-A28B-0A42-EADEFBDBA5E0}"/>
                </a:ext>
              </a:extLst>
            </p:cNvPr>
            <p:cNvCxnSpPr/>
            <p:nvPr/>
          </p:nvCxnSpPr>
          <p:spPr>
            <a:xfrm>
              <a:off x="815975" y="3300413"/>
              <a:ext cx="15875" cy="1447800"/>
            </a:xfrm>
            <a:prstGeom prst="straightConnector1">
              <a:avLst/>
            </a:prstGeom>
            <a:ln w="76200">
              <a:solidFill>
                <a:schemeClr val="accent1">
                  <a:lumMod val="75000"/>
                  <a:lumOff val="2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9" name="直線矢印コネクタ 38">
              <a:extLst>
                <a:ext uri="{FF2B5EF4-FFF2-40B4-BE49-F238E27FC236}">
                  <a16:creationId xmlns:a16="http://schemas.microsoft.com/office/drawing/2014/main" id="{91FF0C96-E499-4AA6-2E6B-15C2DB9781F0}"/>
                </a:ext>
              </a:extLst>
            </p:cNvPr>
            <p:cNvCxnSpPr/>
            <p:nvPr/>
          </p:nvCxnSpPr>
          <p:spPr>
            <a:xfrm flipV="1">
              <a:off x="798512" y="5985449"/>
              <a:ext cx="8043864" cy="72463"/>
            </a:xfrm>
            <a:prstGeom prst="straightConnector1">
              <a:avLst/>
            </a:prstGeom>
            <a:ln w="76200">
              <a:solidFill>
                <a:schemeClr val="accent1">
                  <a:lumMod val="75000"/>
                  <a:lumOff val="25000"/>
                </a:schemeClr>
              </a:solidFill>
              <a:tailEnd type="arrow"/>
            </a:ln>
            <a:effectLst/>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8EFAFF4B-D325-A21E-230F-E1A1A810DDB6}"/>
                </a:ext>
              </a:extLst>
            </p:cNvPr>
            <p:cNvSpPr txBox="1"/>
            <p:nvPr/>
          </p:nvSpPr>
          <p:spPr>
            <a:xfrm>
              <a:off x="4210832" y="6082068"/>
              <a:ext cx="1017587" cy="427887"/>
            </a:xfrm>
            <a:prstGeom prst="rect">
              <a:avLst/>
            </a:prstGeom>
            <a:noFill/>
          </p:spPr>
          <p:txBody>
            <a:bodyPr wrap="square">
              <a:spAutoFit/>
            </a:bodyPr>
            <a:lstStyle/>
            <a:p>
              <a:pPr algn="ctr">
                <a:buClr>
                  <a:schemeClr val="accent4"/>
                </a:buClr>
                <a:defRPr/>
              </a:pPr>
              <a:r>
                <a:rPr lang="ja-JP" altLang="en-US"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時間</a:t>
              </a:r>
            </a:p>
          </p:txBody>
        </p:sp>
        <p:sp>
          <p:nvSpPr>
            <p:cNvPr id="41" name="Oval 12">
              <a:extLst>
                <a:ext uri="{FF2B5EF4-FFF2-40B4-BE49-F238E27FC236}">
                  <a16:creationId xmlns:a16="http://schemas.microsoft.com/office/drawing/2014/main" id="{D9B7BEC6-E6B5-F468-15F1-604AF8EA4523}"/>
                </a:ext>
              </a:extLst>
            </p:cNvPr>
            <p:cNvSpPr>
              <a:spLocks noChangeArrowheads="1"/>
            </p:cNvSpPr>
            <p:nvPr/>
          </p:nvSpPr>
          <p:spPr bwMode="auto">
            <a:xfrm>
              <a:off x="3238500" y="2600325"/>
              <a:ext cx="990600" cy="533400"/>
            </a:xfrm>
            <a:prstGeom prst="ellipse">
              <a:avLst/>
            </a:prstGeom>
            <a:noFill/>
            <a:ln w="25400">
              <a:solidFill>
                <a:srgbClr val="3399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rgbClr val="DC002E"/>
                </a:buClr>
                <a:buFont typeface="Wingdings" pitchFamily="2" charset="2"/>
                <a:buChar char="§"/>
                <a:defRPr kumimoji="1" sz="2400">
                  <a:solidFill>
                    <a:schemeClr val="tx1"/>
                  </a:solidFill>
                  <a:latin typeface="Arial" pitchFamily="34" charset="0"/>
                  <a:ea typeface="ヒラギノ角ゴ Pro W3"/>
                  <a:cs typeface="ヒラギノ角ゴ Pro W3"/>
                </a:defRPr>
              </a:lvl1pPr>
              <a:lvl2pPr marL="742950" indent="-285750" eaLnBrk="0" hangingPunct="0">
                <a:spcBef>
                  <a:spcPct val="20000"/>
                </a:spcBef>
                <a:buClr>
                  <a:srgbClr val="DC002E"/>
                </a:buClr>
                <a:buFont typeface="Wingdings" pitchFamily="2" charset="2"/>
                <a:buChar char="§"/>
                <a:defRPr kumimoji="1" sz="2000">
                  <a:solidFill>
                    <a:schemeClr val="tx1"/>
                  </a:solidFill>
                  <a:latin typeface="Arial" pitchFamily="34" charset="0"/>
                  <a:ea typeface="ヒラギノ角ゴ Pro W3"/>
                  <a:cs typeface="ヒラギノ角ゴ Pro W3"/>
                </a:defRPr>
              </a:lvl2pPr>
              <a:lvl3pPr marL="1143000" indent="-228600" eaLnBrk="0" hangingPunct="0">
                <a:spcBef>
                  <a:spcPct val="20000"/>
                </a:spcBef>
                <a:buClr>
                  <a:srgbClr val="DC002E"/>
                </a:buClr>
                <a:buFont typeface="Wingdings" pitchFamily="2" charset="2"/>
                <a:buChar char="§"/>
                <a:defRPr kumimoji="1" sz="2000">
                  <a:solidFill>
                    <a:schemeClr val="tx1"/>
                  </a:solidFill>
                  <a:latin typeface="Arial" pitchFamily="34" charset="0"/>
                  <a:ea typeface="ヒラギノ角ゴ Pro W3"/>
                  <a:cs typeface="ヒラギノ角ゴ Pro W3"/>
                </a:defRPr>
              </a:lvl3pPr>
              <a:lvl4pPr marL="1600200" indent="-228600" eaLnBrk="0" hangingPunct="0">
                <a:spcBef>
                  <a:spcPct val="20000"/>
                </a:spcBef>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4pPr>
              <a:lvl5pPr marL="2057400" indent="-228600" eaLnBrk="0" hangingPunct="0">
                <a:spcBef>
                  <a:spcPct val="20000"/>
                </a:spcBef>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5pPr>
              <a:lvl6pPr marL="25146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6pPr>
              <a:lvl7pPr marL="29718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7pPr>
              <a:lvl8pPr marL="34290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8pPr>
              <a:lvl9pPr marL="3886200" indent="-228600" eaLnBrk="0" fontAlgn="base" hangingPunct="0">
                <a:spcBef>
                  <a:spcPct val="20000"/>
                </a:spcBef>
                <a:spcAft>
                  <a:spcPct val="0"/>
                </a:spcAft>
                <a:buClr>
                  <a:srgbClr val="DC002E"/>
                </a:buClr>
                <a:buFont typeface="Wingdings" pitchFamily="2" charset="2"/>
                <a:buChar char="§"/>
                <a:defRPr kumimoji="1">
                  <a:solidFill>
                    <a:schemeClr val="tx1"/>
                  </a:solidFill>
                  <a:latin typeface="Arial" pitchFamily="34" charset="0"/>
                  <a:ea typeface="ヒラギノ角ゴ Pro W3"/>
                  <a:cs typeface="ヒラギノ角ゴ Pro W3"/>
                </a:defRPr>
              </a:lvl9pPr>
            </a:lstStyle>
            <a:p>
              <a:pPr eaLnBrk="1" hangingPunct="1">
                <a:spcBef>
                  <a:spcPct val="0"/>
                </a:spcBef>
                <a:buClrTx/>
                <a:buFontTx/>
                <a:buNone/>
              </a:pPr>
              <a:endParaRPr lang="en-US" altLang="ja-JP" sz="2000">
                <a:solidFill>
                  <a:srgbClr val="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2" name="Line 13">
              <a:extLst>
                <a:ext uri="{FF2B5EF4-FFF2-40B4-BE49-F238E27FC236}">
                  <a16:creationId xmlns:a16="http://schemas.microsoft.com/office/drawing/2014/main" id="{6DA3BED5-92D8-2AD2-CD39-B9024FECFB48}"/>
                </a:ext>
              </a:extLst>
            </p:cNvPr>
            <p:cNvSpPr>
              <a:spLocks noChangeShapeType="1"/>
            </p:cNvSpPr>
            <p:nvPr/>
          </p:nvSpPr>
          <p:spPr bwMode="auto">
            <a:xfrm>
              <a:off x="3148014" y="4207739"/>
              <a:ext cx="0" cy="720005"/>
            </a:xfrm>
            <a:prstGeom prst="line">
              <a:avLst/>
            </a:prstGeom>
            <a:noFill/>
            <a:ln w="25400">
              <a:solidFill>
                <a:srgbClr val="33CC33"/>
              </a:solidFill>
              <a:round/>
              <a:headEnd/>
              <a:tailEnd type="triangle" w="med" len="med"/>
            </a:ln>
            <a:extLst>
              <a:ext uri="{909E8E84-426E-40DD-AFC4-6F175D3DCCD1}">
                <a14:hiddenFill xmlns:a14="http://schemas.microsoft.com/office/drawing/2010/main">
                  <a:noFill/>
                </a14:hiddenFill>
              </a:ext>
            </a:extLst>
          </p:spPr>
          <p:txBody>
            <a:bodyPr/>
            <a:lstStyle/>
            <a:p>
              <a:endParaRPr lang="ja-JP" altLang="en-US">
                <a:latin typeface="メイリオ" panose="020B0604030504040204" pitchFamily="50" charset="-128"/>
                <a:ea typeface="メイリオ" panose="020B0604030504040204" pitchFamily="50" charset="-128"/>
                <a:cs typeface="メイリオ" panose="020B0604030504040204" pitchFamily="50" charset="-128"/>
              </a:endParaRPr>
            </a:p>
          </p:txBody>
        </p:sp>
      </p:grpSp>
      <p:sp>
        <p:nvSpPr>
          <p:cNvPr id="3" name="フッター プレースホルダー 2">
            <a:extLst>
              <a:ext uri="{FF2B5EF4-FFF2-40B4-BE49-F238E27FC236}">
                <a16:creationId xmlns:a16="http://schemas.microsoft.com/office/drawing/2014/main" id="{E15115BD-B89C-58B8-98B2-56101A24F023}"/>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7" name="スライド番号プレースホルダー 6">
            <a:extLst>
              <a:ext uri="{FF2B5EF4-FFF2-40B4-BE49-F238E27FC236}">
                <a16:creationId xmlns:a16="http://schemas.microsoft.com/office/drawing/2014/main" id="{FE833CA7-179D-79C6-108B-3ACECD4A010D}"/>
              </a:ext>
            </a:extLst>
          </p:cNvPr>
          <p:cNvSpPr>
            <a:spLocks noGrp="1"/>
          </p:cNvSpPr>
          <p:nvPr>
            <p:ph type="sldNum" sz="quarter" idx="12"/>
          </p:nvPr>
        </p:nvSpPr>
        <p:spPr/>
        <p:txBody>
          <a:bodyPr/>
          <a:lstStyle/>
          <a:p>
            <a:r>
              <a:rPr lang="en-US" altLang="ja-JP"/>
              <a:t>No. </a:t>
            </a:r>
            <a:fld id="{41B87E3F-77EC-4EFD-94DE-AA3AEB7C7760}" type="slidenum">
              <a:rPr lang="ja-JP" altLang="en-US" smtClean="0"/>
              <a:pPr/>
              <a:t>10</a:t>
            </a:fld>
            <a:endParaRPr kumimoji="1" lang="ja-JP" altLang="en-US" dirty="0"/>
          </a:p>
        </p:txBody>
      </p:sp>
      <p:sp>
        <p:nvSpPr>
          <p:cNvPr id="8" name="日付プレースホルダー 7">
            <a:extLst>
              <a:ext uri="{FF2B5EF4-FFF2-40B4-BE49-F238E27FC236}">
                <a16:creationId xmlns:a16="http://schemas.microsoft.com/office/drawing/2014/main" id="{2F2232ED-EF47-A3C1-82B1-98C114A934FC}"/>
              </a:ext>
            </a:extLst>
          </p:cNvPr>
          <p:cNvSpPr>
            <a:spLocks noGrp="1"/>
          </p:cNvSpPr>
          <p:nvPr>
            <p:ph type="dt" sz="half" idx="10"/>
          </p:nvPr>
        </p:nvSpPr>
        <p:spPr/>
        <p:txBody>
          <a:bodyPr/>
          <a:lstStyle/>
          <a:p>
            <a:fld id="{06AF3942-4B8B-784F-9F24-864E584164B4}" type="datetime1">
              <a:rPr kumimoji="1" lang="ja-JP" altLang="en-US" smtClean="0"/>
              <a:t>2026/5/15</a:t>
            </a:fld>
            <a:endParaRPr kumimoji="1" lang="ja-JP" altLang="en-US"/>
          </a:p>
        </p:txBody>
      </p:sp>
    </p:spTree>
    <p:extLst>
      <p:ext uri="{BB962C8B-B14F-4D97-AF65-F5344CB8AC3E}">
        <p14:creationId xmlns:p14="http://schemas.microsoft.com/office/powerpoint/2010/main" val="279097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A8298F-C6D5-60E7-4280-6EDED9D96270}"/>
              </a:ext>
            </a:extLst>
          </p:cNvPr>
          <p:cNvSpPr>
            <a:spLocks noGrp="1"/>
          </p:cNvSpPr>
          <p:nvPr>
            <p:ph type="title"/>
          </p:nvPr>
        </p:nvSpPr>
        <p:spPr/>
        <p:txBody>
          <a:bodyPr/>
          <a:lstStyle/>
          <a:p>
            <a:r>
              <a:rPr lang="en-US" altLang="ja-JP" dirty="0"/>
              <a:t>Reaction time</a:t>
            </a:r>
            <a:r>
              <a:rPr lang="ja-JP" altLang="en-US"/>
              <a:t>解釈</a:t>
            </a:r>
            <a:endParaRPr kumimoji="1" lang="ja-JP" altLang="en-US"/>
          </a:p>
        </p:txBody>
      </p:sp>
      <p:sp>
        <p:nvSpPr>
          <p:cNvPr id="4" name="日付プレースホルダー 3">
            <a:extLst>
              <a:ext uri="{FF2B5EF4-FFF2-40B4-BE49-F238E27FC236}">
                <a16:creationId xmlns:a16="http://schemas.microsoft.com/office/drawing/2014/main" id="{102E17C1-CA03-785B-76B9-D4C7809AC6AB}"/>
              </a:ext>
            </a:extLst>
          </p:cNvPr>
          <p:cNvSpPr>
            <a:spLocks noGrp="1"/>
          </p:cNvSpPr>
          <p:nvPr>
            <p:ph type="dt" sz="half" idx="10"/>
          </p:nvPr>
        </p:nvSpPr>
        <p:spPr/>
        <p:txBody>
          <a:bodyPr/>
          <a:lstStyle/>
          <a:p>
            <a:fld id="{30BC5A2A-ED7F-8844-AB81-A2696E8AE1E7}"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B2B3F071-1368-CB19-192A-724FD0E2C875}"/>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E1E4B178-43BE-F76D-1E30-1BB07BCC17BB}"/>
              </a:ext>
            </a:extLst>
          </p:cNvPr>
          <p:cNvSpPr>
            <a:spLocks noGrp="1"/>
          </p:cNvSpPr>
          <p:nvPr>
            <p:ph type="sldNum" sz="quarter" idx="12"/>
          </p:nvPr>
        </p:nvSpPr>
        <p:spPr/>
        <p:txBody>
          <a:bodyPr/>
          <a:lstStyle/>
          <a:p>
            <a:r>
              <a:rPr lang="en-US" altLang="ja-JP"/>
              <a:t>No. </a:t>
            </a:r>
            <a:fld id="{41B87E3F-77EC-4EFD-94DE-AA3AEB7C7760}" type="slidenum">
              <a:rPr lang="ja-JP" altLang="en-US" smtClean="0"/>
              <a:pPr/>
              <a:t>11</a:t>
            </a:fld>
            <a:endParaRPr kumimoji="1" lang="ja-JP" altLang="en-US" dirty="0"/>
          </a:p>
        </p:txBody>
      </p:sp>
      <p:sp>
        <p:nvSpPr>
          <p:cNvPr id="7" name="コンテンツ プレースホルダー 1">
            <a:extLst>
              <a:ext uri="{FF2B5EF4-FFF2-40B4-BE49-F238E27FC236}">
                <a16:creationId xmlns:a16="http://schemas.microsoft.com/office/drawing/2014/main" id="{479573C1-EDE3-5F2A-3886-20228291E5E1}"/>
              </a:ext>
            </a:extLst>
          </p:cNvPr>
          <p:cNvSpPr txBox="1">
            <a:spLocks/>
          </p:cNvSpPr>
          <p:nvPr/>
        </p:nvSpPr>
        <p:spPr>
          <a:xfrm>
            <a:off x="879132" y="1781283"/>
            <a:ext cx="10768865" cy="4727671"/>
          </a:xfrm>
          <a:prstGeom prst="rect">
            <a:avLst/>
          </a:prstGeom>
        </p:spPr>
        <p:txBody>
          <a:bodyPr vert="horz" lIns="0" tIns="0" rIns="0" bIns="0" rtlCol="0">
            <a:normAutofit/>
          </a:bodyPr>
          <a:lstStyle>
            <a:lvl1pPr marL="361950" indent="-361950" algn="l" defTabSz="609585" rtl="0" eaLnBrk="1" latinLnBrk="0" hangingPunct="1">
              <a:spcBef>
                <a:spcPct val="20000"/>
              </a:spcBef>
              <a:buClr>
                <a:srgbClr val="C60C30"/>
              </a:buClr>
              <a:buFont typeface="Wingdings" pitchFamily="2" charset="2"/>
              <a:buChar char="§"/>
              <a:defRPr sz="2800" b="0" kern="1200">
                <a:solidFill>
                  <a:schemeClr val="tx1"/>
                </a:solidFill>
                <a:latin typeface="+mn-lt"/>
                <a:ea typeface="+mn-ea"/>
                <a:cs typeface="+mn-cs"/>
              </a:defRPr>
            </a:lvl1pPr>
            <a:lvl2pPr marL="990575" indent="-380990" algn="l" defTabSz="609585" rtl="0" eaLnBrk="1" latinLnBrk="0" hangingPunct="1">
              <a:spcBef>
                <a:spcPct val="20000"/>
              </a:spcBef>
              <a:buClr>
                <a:srgbClr val="C60C30"/>
              </a:buClr>
              <a:buFont typeface="Wingdings" charset="2"/>
              <a:buChar char="§"/>
              <a:defRPr sz="2800" kern="1200">
                <a:solidFill>
                  <a:schemeClr val="tx1"/>
                </a:solidFill>
                <a:latin typeface="+mn-lt"/>
                <a:ea typeface="+mn-ea"/>
                <a:cs typeface="+mn-cs"/>
              </a:defRPr>
            </a:lvl2pPr>
            <a:lvl3pPr marL="1523962" indent="-304792" algn="l" defTabSz="609585" rtl="0" eaLnBrk="1" latinLnBrk="0" hangingPunct="1">
              <a:spcBef>
                <a:spcPct val="20000"/>
              </a:spcBef>
              <a:buClr>
                <a:srgbClr val="C60C30"/>
              </a:buClr>
              <a:buFont typeface="Wingdings" charset="2"/>
              <a:buChar char="§"/>
              <a:defRPr sz="2400" kern="1200">
                <a:solidFill>
                  <a:schemeClr val="tx1"/>
                </a:solidFill>
                <a:latin typeface="+mn-lt"/>
                <a:ea typeface="+mn-ea"/>
                <a:cs typeface="+mn-cs"/>
              </a:defRPr>
            </a:lvl3pPr>
            <a:lvl4pPr marL="2133547" indent="-304792" algn="l" defTabSz="609585" rtl="0" eaLnBrk="1" latinLnBrk="0" hangingPunct="1">
              <a:spcBef>
                <a:spcPct val="20000"/>
              </a:spcBef>
              <a:buClr>
                <a:srgbClr val="C60C30"/>
              </a:buClr>
              <a:buFont typeface="Wingdings" charset="2"/>
              <a:buChar char="§"/>
              <a:defRPr sz="2400" kern="1200">
                <a:solidFill>
                  <a:schemeClr val="tx1"/>
                </a:solidFill>
                <a:latin typeface="+mn-lt"/>
                <a:ea typeface="+mn-ea"/>
                <a:cs typeface="+mn-cs"/>
              </a:defRPr>
            </a:lvl4pPr>
            <a:lvl5pPr marL="2743131" indent="-304792" algn="l" defTabSz="609585" rtl="0" eaLnBrk="1" latinLnBrk="0" hangingPunct="1">
              <a:spcBef>
                <a:spcPct val="20000"/>
              </a:spcBef>
              <a:buClr>
                <a:srgbClr val="C60C30"/>
              </a:buClr>
              <a:buFont typeface="Wingdings" charset="2"/>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Clr>
                <a:srgbClr val="C60C30"/>
              </a:buClr>
              <a:buFont typeface="Wingdings" charset="2"/>
              <a:buNone/>
              <a:defRPr sz="1867" kern="1200" baseline="0">
                <a:solidFill>
                  <a:schemeClr val="tx1"/>
                </a:solidFill>
                <a:latin typeface="+mn-lt"/>
                <a:ea typeface="+mn-ea"/>
                <a:cs typeface="+mn-cs"/>
              </a:defRPr>
            </a:lvl6pPr>
            <a:lvl7pPr marL="3962301" indent="-304792" algn="l" defTabSz="609585" rtl="0" eaLnBrk="1" latinLnBrk="0" hangingPunct="1">
              <a:spcBef>
                <a:spcPct val="20000"/>
              </a:spcBef>
              <a:buClr>
                <a:srgbClr val="C60C30"/>
              </a:buClr>
              <a:buFont typeface="Wingdings" charset="2"/>
              <a:buNone/>
              <a:defRPr sz="1867" kern="1200">
                <a:solidFill>
                  <a:schemeClr val="tx1"/>
                </a:solidFill>
                <a:latin typeface="+mn-lt"/>
                <a:ea typeface="+mn-ea"/>
                <a:cs typeface="+mn-cs"/>
              </a:defRPr>
            </a:lvl7pPr>
            <a:lvl8pPr marL="4571886" indent="-304792" algn="l" defTabSz="609585" rtl="0" eaLnBrk="1" latinLnBrk="0" hangingPunct="1">
              <a:spcBef>
                <a:spcPct val="20000"/>
              </a:spcBef>
              <a:buClr>
                <a:srgbClr val="C60C30"/>
              </a:buClr>
              <a:buFont typeface="Wingdings" charset="2"/>
              <a:buChar char="§"/>
              <a:defRPr sz="1867" kern="1200" baseline="0">
                <a:solidFill>
                  <a:schemeClr val="tx1"/>
                </a:solidFill>
                <a:latin typeface="+mn-lt"/>
                <a:ea typeface="+mn-ea"/>
                <a:cs typeface="+mn-cs"/>
              </a:defRPr>
            </a:lvl8pPr>
            <a:lvl9pPr marL="5181470" indent="-304792" algn="l" defTabSz="609585" rtl="0" eaLnBrk="1" latinLnBrk="0" hangingPunct="1">
              <a:spcBef>
                <a:spcPct val="20000"/>
              </a:spcBef>
              <a:buClr>
                <a:srgbClr val="C60C30"/>
              </a:buClr>
              <a:buFont typeface="Wingdings" charset="2"/>
              <a:buChar char="§"/>
              <a:defRPr sz="1867" kern="1200" baseline="0">
                <a:solidFill>
                  <a:schemeClr val="tx1"/>
                </a:solidFill>
                <a:latin typeface="+mn-lt"/>
                <a:ea typeface="+mn-ea"/>
                <a:cs typeface="+mn-cs"/>
              </a:defRPr>
            </a:lvl9pPr>
          </a:lstStyle>
          <a:p>
            <a:pPr marL="361950" marR="0" lvl="0" indent="-361950" algn="l" defTabSz="609585" rtl="0" eaLnBrk="1" fontAlgn="auto" latinLnBrk="0" hangingPunct="1">
              <a:lnSpc>
                <a:spcPct val="220000"/>
              </a:lnSpc>
              <a:spcBef>
                <a:spcPct val="20000"/>
              </a:spcBef>
              <a:spcAft>
                <a:spcPts val="0"/>
              </a:spcAft>
              <a:buClr>
                <a:srgbClr val="C60C30"/>
              </a:buClr>
              <a:buSzTx/>
              <a:buFont typeface="Wingdings" pitchFamily="2" charset="2"/>
              <a:buChar char="§"/>
              <a:tabLst/>
              <a:defRPr/>
            </a:pPr>
            <a:endParaRPr kumimoji="0" lang="en-US" altLang="ja-JP" sz="2400" b="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n-cs"/>
            </a:endParaRPr>
          </a:p>
        </p:txBody>
      </p:sp>
      <p:graphicFrame>
        <p:nvGraphicFramePr>
          <p:cNvPr id="8" name="表 7">
            <a:extLst>
              <a:ext uri="{FF2B5EF4-FFF2-40B4-BE49-F238E27FC236}">
                <a16:creationId xmlns:a16="http://schemas.microsoft.com/office/drawing/2014/main" id="{613C594B-80FD-29E1-5CBB-845945CF87A9}"/>
              </a:ext>
            </a:extLst>
          </p:cNvPr>
          <p:cNvGraphicFramePr>
            <a:graphicFrameLocks noGrp="1"/>
          </p:cNvGraphicFramePr>
          <p:nvPr>
            <p:extLst>
              <p:ext uri="{D42A27DB-BD31-4B8C-83A1-F6EECF244321}">
                <p14:modId xmlns:p14="http://schemas.microsoft.com/office/powerpoint/2010/main" val="3041028319"/>
              </p:ext>
            </p:extLst>
          </p:nvPr>
        </p:nvGraphicFramePr>
        <p:xfrm>
          <a:off x="2815200" y="1692612"/>
          <a:ext cx="8777199" cy="4503403"/>
        </p:xfrm>
        <a:graphic>
          <a:graphicData uri="http://schemas.openxmlformats.org/drawingml/2006/table">
            <a:tbl>
              <a:tblPr firstRow="1" bandRow="1">
                <a:tableStyleId>{5940675A-B579-460E-94D1-54222C63F5DA}</a:tableStyleId>
              </a:tblPr>
              <a:tblGrid>
                <a:gridCol w="2949616">
                  <a:extLst>
                    <a:ext uri="{9D8B030D-6E8A-4147-A177-3AD203B41FA5}">
                      <a16:colId xmlns:a16="http://schemas.microsoft.com/office/drawing/2014/main" val="3479790063"/>
                    </a:ext>
                  </a:extLst>
                </a:gridCol>
                <a:gridCol w="3319812">
                  <a:extLst>
                    <a:ext uri="{9D8B030D-6E8A-4147-A177-3AD203B41FA5}">
                      <a16:colId xmlns:a16="http://schemas.microsoft.com/office/drawing/2014/main" val="1612386211"/>
                    </a:ext>
                  </a:extLst>
                </a:gridCol>
                <a:gridCol w="2507771">
                  <a:extLst>
                    <a:ext uri="{9D8B030D-6E8A-4147-A177-3AD203B41FA5}">
                      <a16:colId xmlns:a16="http://schemas.microsoft.com/office/drawing/2014/main" val="719543945"/>
                    </a:ext>
                  </a:extLst>
                </a:gridCol>
              </a:tblGrid>
              <a:tr h="1531562">
                <a:tc>
                  <a:txBody>
                    <a:bodyPr/>
                    <a:lstStyle/>
                    <a:p>
                      <a:pPr marL="0" marR="0" lvl="0" indent="0" algn="ctr" defTabSz="609585"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lang="ja-JP" altLang="en-US" sz="1800" b="1" dirty="0">
                          <a:latin typeface="メイリオ" panose="020B0604030504040204" pitchFamily="50" charset="-128"/>
                          <a:ea typeface="メイリオ" panose="020B0604030504040204" pitchFamily="50" charset="-128"/>
                        </a:rPr>
                        <a:t>ヘパリンの影響</a:t>
                      </a:r>
                      <a:endParaRPr lang="en-US" altLang="ja-JP" sz="1800" b="1" dirty="0">
                        <a:latin typeface="メイリオ" panose="020B0604030504040204" pitchFamily="50" charset="-128"/>
                        <a:ea typeface="メイリオ" panose="020B0604030504040204" pitchFamily="50" charset="-128"/>
                      </a:endParaRPr>
                    </a:p>
                    <a:p>
                      <a:pPr marL="0" marR="0" lvl="0" indent="0" algn="ctr" defTabSz="609585"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1" lang="en-US" altLang="ja-JP" sz="1800" b="0" dirty="0">
                          <a:solidFill>
                            <a:srgbClr val="FF0000"/>
                          </a:solidFill>
                          <a:latin typeface="メイリオ" panose="020B0604030504040204" pitchFamily="50" charset="-128"/>
                          <a:ea typeface="メイリオ" panose="020B0604030504040204" pitchFamily="50" charset="-128"/>
                        </a:rPr>
                        <a:t>CK-R</a:t>
                      </a:r>
                      <a:r>
                        <a:rPr kumimoji="1" lang="ja-JP" altLang="en-US" sz="1800" b="0" dirty="0">
                          <a:latin typeface="メイリオ" panose="020B0604030504040204" pitchFamily="50" charset="-128"/>
                          <a:ea typeface="メイリオ" panose="020B0604030504040204" pitchFamily="50" charset="-128"/>
                        </a:rPr>
                        <a:t>＞</a:t>
                      </a:r>
                      <a:r>
                        <a:rPr kumimoji="1" lang="en-US" altLang="ja-JP" sz="1800" b="0" dirty="0">
                          <a:solidFill>
                            <a:srgbClr val="00B050"/>
                          </a:solidFill>
                          <a:latin typeface="メイリオ" panose="020B0604030504040204" pitchFamily="50" charset="-128"/>
                          <a:ea typeface="メイリオ" panose="020B0604030504040204" pitchFamily="50" charset="-128"/>
                        </a:rPr>
                        <a:t>CKH-R</a:t>
                      </a:r>
                      <a:endParaRPr kumimoji="1" lang="ja-JP" altLang="en-US" sz="1800" b="0" dirty="0">
                        <a:solidFill>
                          <a:srgbClr val="00B050"/>
                        </a:solidFill>
                        <a:latin typeface="メイリオ" panose="020B0604030504040204" pitchFamily="50" charset="-128"/>
                        <a:ea typeface="メイリオ" panose="020B0604030504040204" pitchFamily="50" charset="-128"/>
                      </a:endParaRPr>
                    </a:p>
                  </a:txBody>
                  <a:tcPr anchor="ctr">
                    <a:solidFill>
                      <a:schemeClr val="bg1"/>
                    </a:solidFill>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lang="en-US" sz="1800" dirty="0"/>
                    </a:p>
                  </a:txBody>
                  <a:tcPr anchor="ctr">
                    <a:solidFill>
                      <a:schemeClr val="bg1"/>
                    </a:solidFill>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ja-JP" altLang="en-US" sz="1800" b="1" dirty="0">
                          <a:solidFill>
                            <a:srgbClr val="C00000"/>
                          </a:solidFill>
                          <a:latin typeface="メイリオ" panose="020B0604030504040204" pitchFamily="50" charset="-128"/>
                          <a:ea typeface="メイリオ" panose="020B0604030504040204" pitchFamily="50" charset="-128"/>
                        </a:rPr>
                        <a:t>⇒プロタミン</a:t>
                      </a:r>
                      <a:endParaRPr lang="en-US" sz="1800" dirty="0"/>
                    </a:p>
                  </a:txBody>
                  <a:tcPr anchor="ctr">
                    <a:solidFill>
                      <a:schemeClr val="bg1"/>
                    </a:solidFill>
                  </a:tcPr>
                </a:tc>
                <a:extLst>
                  <a:ext uri="{0D108BD9-81ED-4DB2-BD59-A6C34878D82A}">
                    <a16:rowId xmlns:a16="http://schemas.microsoft.com/office/drawing/2014/main" val="862973831"/>
                  </a:ext>
                </a:extLst>
              </a:tr>
              <a:tr h="1441470">
                <a:tc>
                  <a:txBody>
                    <a:bodyPr/>
                    <a:lstStyle/>
                    <a:p>
                      <a:pPr marL="0" marR="0" lvl="0" indent="0" algn="ctr" defTabSz="609585"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lang="ja-JP" altLang="en-US" sz="1800" b="1" dirty="0">
                          <a:latin typeface="メイリオ" panose="020B0604030504040204" pitchFamily="50" charset="-128"/>
                          <a:ea typeface="メイリオ" panose="020B0604030504040204" pitchFamily="50" charset="-128"/>
                        </a:rPr>
                        <a:t>凝固因子（のみ）欠乏</a:t>
                      </a:r>
                      <a:endParaRPr lang="en-US" altLang="ja-JP" sz="1800" b="1" dirty="0">
                        <a:latin typeface="メイリオ" panose="020B0604030504040204" pitchFamily="50" charset="-128"/>
                        <a:ea typeface="メイリオ" panose="020B0604030504040204" pitchFamily="50" charset="-128"/>
                      </a:endParaRPr>
                    </a:p>
                    <a:p>
                      <a:pPr marL="0" marR="0" lvl="0" indent="0" algn="ctr" defTabSz="609585"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1" lang="en-US" altLang="ja-JP" sz="1600" b="0" dirty="0">
                          <a:solidFill>
                            <a:srgbClr val="FF0000"/>
                          </a:solidFill>
                          <a:latin typeface="メイリオ" panose="020B0604030504040204" pitchFamily="50" charset="-128"/>
                          <a:ea typeface="メイリオ" panose="020B0604030504040204" pitchFamily="50" charset="-128"/>
                        </a:rPr>
                        <a:t>CK-R</a:t>
                      </a:r>
                      <a:r>
                        <a:rPr kumimoji="1" lang="ja-JP" altLang="en-US" sz="1600" b="0" dirty="0">
                          <a:latin typeface="メイリオ" panose="020B0604030504040204" pitchFamily="50" charset="-128"/>
                          <a:ea typeface="メイリオ" panose="020B0604030504040204" pitchFamily="50" charset="-128"/>
                        </a:rPr>
                        <a:t>延長</a:t>
                      </a:r>
                      <a:r>
                        <a:rPr kumimoji="1" lang="ja-JP" altLang="en-US" sz="1600" b="0" dirty="0">
                          <a:solidFill>
                            <a:schemeClr val="accent1"/>
                          </a:solidFill>
                          <a:latin typeface="メイリオ" panose="020B0604030504040204" pitchFamily="50" charset="-128"/>
                          <a:ea typeface="メイリオ" panose="020B0604030504040204" pitchFamily="50" charset="-128"/>
                        </a:rPr>
                        <a:t>↑</a:t>
                      </a:r>
                      <a:r>
                        <a:rPr kumimoji="1" lang="ja-JP" altLang="en-US" sz="1600" b="0" dirty="0">
                          <a:solidFill>
                            <a:schemeClr val="tx1"/>
                          </a:solidFill>
                          <a:latin typeface="メイリオ" panose="020B0604030504040204" pitchFamily="50" charset="-128"/>
                          <a:ea typeface="メイリオ" panose="020B0604030504040204" pitchFamily="50" charset="-128"/>
                        </a:rPr>
                        <a:t>、</a:t>
                      </a:r>
                      <a:r>
                        <a:rPr kumimoji="1" lang="en-US" altLang="ja-JP" sz="1600" b="0" dirty="0">
                          <a:solidFill>
                            <a:srgbClr val="00B050"/>
                          </a:solidFill>
                          <a:latin typeface="メイリオ" panose="020B0604030504040204" pitchFamily="50" charset="-128"/>
                          <a:ea typeface="メイリオ" panose="020B0604030504040204" pitchFamily="50" charset="-128"/>
                        </a:rPr>
                        <a:t>CKH-R</a:t>
                      </a:r>
                      <a:r>
                        <a:rPr kumimoji="1" lang="ja-JP" altLang="en-US" sz="1600" b="0" dirty="0">
                          <a:latin typeface="メイリオ" panose="020B0604030504040204" pitchFamily="50" charset="-128"/>
                          <a:ea typeface="メイリオ" panose="020B0604030504040204" pitchFamily="50" charset="-128"/>
                        </a:rPr>
                        <a:t>延長</a:t>
                      </a:r>
                      <a:r>
                        <a:rPr kumimoji="1" lang="ja-JP" altLang="en-US" sz="1600" b="0" dirty="0">
                          <a:solidFill>
                            <a:schemeClr val="accent1"/>
                          </a:solidFill>
                          <a:latin typeface="メイリオ" panose="020B0604030504040204" pitchFamily="50" charset="-128"/>
                          <a:ea typeface="メイリオ" panose="020B0604030504040204" pitchFamily="50" charset="-128"/>
                        </a:rPr>
                        <a:t>↑</a:t>
                      </a:r>
                      <a:endParaRPr kumimoji="1" lang="en-US" altLang="ja-JP" sz="1600" b="0" dirty="0">
                        <a:solidFill>
                          <a:schemeClr val="accent1"/>
                        </a:solidFill>
                        <a:latin typeface="メイリオ" panose="020B0604030504040204" pitchFamily="50" charset="-128"/>
                        <a:ea typeface="メイリオ" panose="020B0604030504040204" pitchFamily="50" charset="-128"/>
                      </a:endParaRPr>
                    </a:p>
                  </a:txBody>
                  <a:tcPr anchor="ctr">
                    <a:solidFill>
                      <a:schemeClr val="bg1"/>
                    </a:solidFill>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lang="en-US" sz="1800" dirty="0"/>
                    </a:p>
                  </a:txBody>
                  <a:tcPr anchor="ctr">
                    <a:solidFill>
                      <a:schemeClr val="bg1"/>
                    </a:solidFill>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ja-JP" altLang="en-US" sz="1800" b="1" dirty="0">
                          <a:solidFill>
                            <a:srgbClr val="C00000"/>
                          </a:solidFill>
                          <a:latin typeface="メイリオ" panose="020B0604030504040204" pitchFamily="50" charset="-128"/>
                          <a:ea typeface="メイリオ" panose="020B0604030504040204" pitchFamily="50" charset="-128"/>
                        </a:rPr>
                        <a:t>⇒</a:t>
                      </a:r>
                      <a:r>
                        <a:rPr lang="en-US" altLang="ja-JP" sz="1800" b="1" dirty="0">
                          <a:solidFill>
                            <a:srgbClr val="C00000"/>
                          </a:solidFill>
                          <a:latin typeface="メイリオ" panose="020B0604030504040204" pitchFamily="50" charset="-128"/>
                          <a:ea typeface="メイリオ" panose="020B0604030504040204" pitchFamily="50" charset="-128"/>
                        </a:rPr>
                        <a:t>FFP</a:t>
                      </a:r>
                      <a:endParaRPr lang="en-US" sz="1800" dirty="0"/>
                    </a:p>
                  </a:txBody>
                  <a:tcPr anchor="ctr">
                    <a:solidFill>
                      <a:schemeClr val="bg1"/>
                    </a:solidFill>
                  </a:tcPr>
                </a:tc>
                <a:extLst>
                  <a:ext uri="{0D108BD9-81ED-4DB2-BD59-A6C34878D82A}">
                    <a16:rowId xmlns:a16="http://schemas.microsoft.com/office/drawing/2014/main" val="4174385990"/>
                  </a:ext>
                </a:extLst>
              </a:tr>
              <a:tr h="1530371">
                <a:tc>
                  <a:txBody>
                    <a:bodyPr/>
                    <a:lstStyle/>
                    <a:p>
                      <a:pPr marL="0" marR="0" lvl="0" indent="0" algn="ctr" defTabSz="609585"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lang="ja-JP" altLang="en-US" sz="1800" b="1" kern="1200" dirty="0">
                          <a:solidFill>
                            <a:schemeClr val="tx1"/>
                          </a:solidFill>
                          <a:latin typeface="メイリオ" panose="020B0604030504040204" pitchFamily="50" charset="-128"/>
                          <a:ea typeface="メイリオ" panose="020B0604030504040204" pitchFamily="50" charset="-128"/>
                          <a:cs typeface="+mn-cs"/>
                        </a:rPr>
                        <a:t>凝固因子欠乏＋ヘパリン</a:t>
                      </a:r>
                      <a:endParaRPr lang="en-US" altLang="ja-JP" sz="1800" b="1" kern="1200" dirty="0">
                        <a:solidFill>
                          <a:schemeClr val="tx1"/>
                        </a:solidFill>
                        <a:latin typeface="メイリオ" panose="020B0604030504040204" pitchFamily="50" charset="-128"/>
                        <a:ea typeface="メイリオ" panose="020B0604030504040204" pitchFamily="50" charset="-128"/>
                        <a:cs typeface="+mn-cs"/>
                      </a:endParaRPr>
                    </a:p>
                    <a:p>
                      <a:pPr marL="0" marR="0" lvl="0" indent="0" algn="ctr" defTabSz="609585"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1" lang="en-US" altLang="ja-JP" sz="1600" b="0" dirty="0">
                          <a:solidFill>
                            <a:srgbClr val="FF0000"/>
                          </a:solidFill>
                          <a:latin typeface="メイリオ" panose="020B0604030504040204" pitchFamily="50" charset="-128"/>
                          <a:ea typeface="メイリオ" panose="020B0604030504040204" pitchFamily="50" charset="-128"/>
                        </a:rPr>
                        <a:t>CK-R</a:t>
                      </a:r>
                      <a:r>
                        <a:rPr kumimoji="1" lang="ja-JP" altLang="en-US" sz="1600" b="0" dirty="0">
                          <a:latin typeface="メイリオ" panose="020B0604030504040204" pitchFamily="50" charset="-128"/>
                          <a:ea typeface="メイリオ" panose="020B0604030504040204" pitchFamily="50" charset="-128"/>
                        </a:rPr>
                        <a:t>延長</a:t>
                      </a:r>
                      <a:r>
                        <a:rPr kumimoji="1" lang="ja-JP" altLang="en-US" sz="1600" b="0" dirty="0">
                          <a:solidFill>
                            <a:schemeClr val="accent1"/>
                          </a:solidFill>
                          <a:latin typeface="メイリオ" panose="020B0604030504040204" pitchFamily="50" charset="-128"/>
                          <a:ea typeface="メイリオ" panose="020B0604030504040204" pitchFamily="50" charset="-128"/>
                        </a:rPr>
                        <a:t>↑</a:t>
                      </a:r>
                      <a:r>
                        <a:rPr kumimoji="1" lang="ja-JP" altLang="en-US" sz="1600" b="0" dirty="0">
                          <a:solidFill>
                            <a:schemeClr val="tx1"/>
                          </a:solidFill>
                          <a:latin typeface="メイリオ" panose="020B0604030504040204" pitchFamily="50" charset="-128"/>
                          <a:ea typeface="メイリオ" panose="020B0604030504040204" pitchFamily="50" charset="-128"/>
                        </a:rPr>
                        <a:t>、</a:t>
                      </a:r>
                      <a:r>
                        <a:rPr kumimoji="1" lang="en-US" altLang="ja-JP" sz="1600" b="0" dirty="0">
                          <a:solidFill>
                            <a:srgbClr val="00B050"/>
                          </a:solidFill>
                          <a:latin typeface="メイリオ" panose="020B0604030504040204" pitchFamily="50" charset="-128"/>
                          <a:ea typeface="メイリオ" panose="020B0604030504040204" pitchFamily="50" charset="-128"/>
                        </a:rPr>
                        <a:t>CKH-R</a:t>
                      </a:r>
                      <a:r>
                        <a:rPr kumimoji="1" lang="ja-JP" altLang="en-US" sz="1600" b="0" dirty="0">
                          <a:latin typeface="メイリオ" panose="020B0604030504040204" pitchFamily="50" charset="-128"/>
                          <a:ea typeface="メイリオ" panose="020B0604030504040204" pitchFamily="50" charset="-128"/>
                        </a:rPr>
                        <a:t>延長</a:t>
                      </a:r>
                      <a:r>
                        <a:rPr kumimoji="1" lang="ja-JP" altLang="en-US" sz="1600" b="0" dirty="0">
                          <a:solidFill>
                            <a:schemeClr val="accent1"/>
                          </a:solidFill>
                          <a:latin typeface="メイリオ" panose="020B0604030504040204" pitchFamily="50" charset="-128"/>
                          <a:ea typeface="メイリオ" panose="020B0604030504040204" pitchFamily="50" charset="-128"/>
                        </a:rPr>
                        <a:t>↑</a:t>
                      </a:r>
                      <a:endParaRPr kumimoji="1" lang="en-US" altLang="ja-JP" sz="1600" b="0" dirty="0">
                        <a:solidFill>
                          <a:schemeClr val="accent1"/>
                        </a:solidFill>
                        <a:latin typeface="メイリオ" panose="020B0604030504040204" pitchFamily="50" charset="-128"/>
                        <a:ea typeface="メイリオ" panose="020B0604030504040204" pitchFamily="50" charset="-128"/>
                      </a:endParaRPr>
                    </a:p>
                    <a:p>
                      <a:pPr marL="0" marR="0" lvl="0" indent="0" algn="ctr" defTabSz="609585"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1" lang="en-US" altLang="ja-JP" sz="1600" b="0" dirty="0">
                          <a:solidFill>
                            <a:srgbClr val="FF0000"/>
                          </a:solidFill>
                          <a:latin typeface="メイリオ" panose="020B0604030504040204" pitchFamily="50" charset="-128"/>
                          <a:ea typeface="メイリオ" panose="020B0604030504040204" pitchFamily="50" charset="-128"/>
                        </a:rPr>
                        <a:t>CK-R</a:t>
                      </a:r>
                      <a:r>
                        <a:rPr kumimoji="1" lang="ja-JP" altLang="en-US" sz="1600" b="0" dirty="0">
                          <a:latin typeface="メイリオ" panose="020B0604030504040204" pitchFamily="50" charset="-128"/>
                          <a:ea typeface="メイリオ" panose="020B0604030504040204" pitchFamily="50" charset="-128"/>
                        </a:rPr>
                        <a:t>＞</a:t>
                      </a:r>
                      <a:r>
                        <a:rPr kumimoji="1" lang="en-US" altLang="ja-JP" sz="1600" b="0" dirty="0">
                          <a:solidFill>
                            <a:srgbClr val="00B050"/>
                          </a:solidFill>
                          <a:latin typeface="メイリオ" panose="020B0604030504040204" pitchFamily="50" charset="-128"/>
                          <a:ea typeface="メイリオ" panose="020B0604030504040204" pitchFamily="50" charset="-128"/>
                        </a:rPr>
                        <a:t>CKH-R</a:t>
                      </a:r>
                      <a:endParaRPr kumimoji="1" lang="ja-JP" altLang="en-US" sz="1600" b="0" dirty="0">
                        <a:solidFill>
                          <a:srgbClr val="00B050"/>
                        </a:solidFill>
                        <a:latin typeface="メイリオ" panose="020B0604030504040204" pitchFamily="50" charset="-128"/>
                        <a:ea typeface="メイリオ" panose="020B0604030504040204" pitchFamily="50" charset="-128"/>
                      </a:endParaRPr>
                    </a:p>
                  </a:txBody>
                  <a:tcPr anchor="ctr">
                    <a:solidFill>
                      <a:schemeClr val="bg1"/>
                    </a:solidFill>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lang="en-US" sz="1800" dirty="0"/>
                    </a:p>
                  </a:txBody>
                  <a:tcPr anchor="ctr">
                    <a:solidFill>
                      <a:schemeClr val="bg1"/>
                    </a:solidFill>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ja-JP" altLang="en-US" sz="1800" b="1" dirty="0">
                          <a:solidFill>
                            <a:srgbClr val="C00000"/>
                          </a:solidFill>
                          <a:latin typeface="メイリオ" panose="020B0604030504040204" pitchFamily="50" charset="-128"/>
                          <a:ea typeface="メイリオ" panose="020B0604030504040204" pitchFamily="50" charset="-128"/>
                        </a:rPr>
                        <a:t>⇒プロタミン＋</a:t>
                      </a:r>
                      <a:r>
                        <a:rPr lang="en-US" altLang="ja-JP" sz="1800" b="1" dirty="0">
                          <a:solidFill>
                            <a:srgbClr val="C00000"/>
                          </a:solidFill>
                          <a:latin typeface="メイリオ" panose="020B0604030504040204" pitchFamily="50" charset="-128"/>
                          <a:ea typeface="メイリオ" panose="020B0604030504040204" pitchFamily="50" charset="-128"/>
                        </a:rPr>
                        <a:t>FFP</a:t>
                      </a:r>
                      <a:endParaRPr lang="en-US" sz="1800" dirty="0"/>
                    </a:p>
                  </a:txBody>
                  <a:tcPr anchor="ctr">
                    <a:solidFill>
                      <a:schemeClr val="bg1"/>
                    </a:solidFill>
                  </a:tcPr>
                </a:tc>
                <a:extLst>
                  <a:ext uri="{0D108BD9-81ED-4DB2-BD59-A6C34878D82A}">
                    <a16:rowId xmlns:a16="http://schemas.microsoft.com/office/drawing/2014/main" val="3742996384"/>
                  </a:ext>
                </a:extLst>
              </a:tr>
            </a:tbl>
          </a:graphicData>
        </a:graphic>
      </p:graphicFrame>
      <p:pic>
        <p:nvPicPr>
          <p:cNvPr id="9" name="図 8">
            <a:extLst>
              <a:ext uri="{FF2B5EF4-FFF2-40B4-BE49-F238E27FC236}">
                <a16:creationId xmlns:a16="http://schemas.microsoft.com/office/drawing/2014/main" id="{C87F9E8A-C802-4E37-7CA2-C10B1518D684}"/>
              </a:ext>
            </a:extLst>
          </p:cNvPr>
          <p:cNvPicPr>
            <a:picLocks noChangeAspect="1"/>
          </p:cNvPicPr>
          <p:nvPr/>
        </p:nvPicPr>
        <p:blipFill>
          <a:blip r:embed="rId2"/>
          <a:stretch>
            <a:fillRect/>
          </a:stretch>
        </p:blipFill>
        <p:spPr>
          <a:xfrm>
            <a:off x="225323" y="2434587"/>
            <a:ext cx="2285648" cy="2580787"/>
          </a:xfrm>
          <a:prstGeom prst="rect">
            <a:avLst/>
          </a:prstGeom>
        </p:spPr>
      </p:pic>
      <p:pic>
        <p:nvPicPr>
          <p:cNvPr id="10" name="図 9">
            <a:extLst>
              <a:ext uri="{FF2B5EF4-FFF2-40B4-BE49-F238E27FC236}">
                <a16:creationId xmlns:a16="http://schemas.microsoft.com/office/drawing/2014/main" id="{B05E141A-E34F-0231-CA11-1FAA9850C3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7600" y="1768067"/>
            <a:ext cx="2364592" cy="1358661"/>
          </a:xfrm>
          <a:prstGeom prst="rect">
            <a:avLst/>
          </a:prstGeom>
        </p:spPr>
      </p:pic>
      <p:pic>
        <p:nvPicPr>
          <p:cNvPr id="11" name="図 10">
            <a:extLst>
              <a:ext uri="{FF2B5EF4-FFF2-40B4-BE49-F238E27FC236}">
                <a16:creationId xmlns:a16="http://schemas.microsoft.com/office/drawing/2014/main" id="{1DD5A7B3-56A9-A70B-6849-6A3A4362306B}"/>
              </a:ext>
            </a:extLst>
          </p:cNvPr>
          <p:cNvPicPr>
            <a:picLocks noChangeAspect="1"/>
          </p:cNvPicPr>
          <p:nvPr/>
        </p:nvPicPr>
        <p:blipFill rotWithShape="1">
          <a:blip r:embed="rId4">
            <a:extLst>
              <a:ext uri="{28A0092B-C50C-407E-A947-70E740481C1C}">
                <a14:useLocalDpi xmlns:a14="http://schemas.microsoft.com/office/drawing/2010/main" val="0"/>
              </a:ext>
            </a:extLst>
          </a:blip>
          <a:srcRect b="1903"/>
          <a:stretch/>
        </p:blipFill>
        <p:spPr>
          <a:xfrm>
            <a:off x="6191881" y="3302498"/>
            <a:ext cx="2413853" cy="1280821"/>
          </a:xfrm>
          <a:prstGeom prst="rect">
            <a:avLst/>
          </a:prstGeom>
        </p:spPr>
      </p:pic>
      <p:pic>
        <p:nvPicPr>
          <p:cNvPr id="12" name="図 11">
            <a:extLst>
              <a:ext uri="{FF2B5EF4-FFF2-40B4-BE49-F238E27FC236}">
                <a16:creationId xmlns:a16="http://schemas.microsoft.com/office/drawing/2014/main" id="{D24F89F5-ADE9-5115-BB59-16C2E01CE22C}"/>
              </a:ext>
            </a:extLst>
          </p:cNvPr>
          <p:cNvPicPr>
            <a:picLocks noChangeAspect="1"/>
          </p:cNvPicPr>
          <p:nvPr/>
        </p:nvPicPr>
        <p:blipFill rotWithShape="1">
          <a:blip r:embed="rId5">
            <a:extLst>
              <a:ext uri="{28A0092B-C50C-407E-A947-70E740481C1C}">
                <a14:useLocalDpi xmlns:a14="http://schemas.microsoft.com/office/drawing/2010/main" val="0"/>
              </a:ext>
            </a:extLst>
          </a:blip>
          <a:srcRect t="3927"/>
          <a:stretch/>
        </p:blipFill>
        <p:spPr>
          <a:xfrm>
            <a:off x="6220842" y="4802226"/>
            <a:ext cx="2370378" cy="1316515"/>
          </a:xfrm>
          <a:prstGeom prst="rect">
            <a:avLst/>
          </a:prstGeom>
        </p:spPr>
      </p:pic>
    </p:spTree>
    <p:extLst>
      <p:ext uri="{BB962C8B-B14F-4D97-AF65-F5344CB8AC3E}">
        <p14:creationId xmlns:p14="http://schemas.microsoft.com/office/powerpoint/2010/main" val="3938135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E5EAD0-0A7F-3B83-3BDC-1F64B28D6E2C}"/>
              </a:ext>
            </a:extLst>
          </p:cNvPr>
          <p:cNvSpPr>
            <a:spLocks noGrp="1"/>
          </p:cNvSpPr>
          <p:nvPr>
            <p:ph type="title"/>
          </p:nvPr>
        </p:nvSpPr>
        <p:spPr/>
        <p:txBody>
          <a:bodyPr>
            <a:normAutofit/>
          </a:bodyPr>
          <a:lstStyle/>
          <a:p>
            <a:r>
              <a:rPr kumimoji="1" lang="en-US" altLang="ja-JP" dirty="0"/>
              <a:t>Maximum Amplitude</a:t>
            </a:r>
            <a:r>
              <a:rPr kumimoji="1" lang="ja-JP" altLang="en-US"/>
              <a:t>解釈</a:t>
            </a:r>
          </a:p>
        </p:txBody>
      </p:sp>
      <p:sp>
        <p:nvSpPr>
          <p:cNvPr id="4" name="日付プレースホルダー 3">
            <a:extLst>
              <a:ext uri="{FF2B5EF4-FFF2-40B4-BE49-F238E27FC236}">
                <a16:creationId xmlns:a16="http://schemas.microsoft.com/office/drawing/2014/main" id="{C9C13397-3672-4F69-5738-7CB6E3C9CBA5}"/>
              </a:ext>
            </a:extLst>
          </p:cNvPr>
          <p:cNvSpPr>
            <a:spLocks noGrp="1"/>
          </p:cNvSpPr>
          <p:nvPr>
            <p:ph type="dt" sz="half" idx="10"/>
          </p:nvPr>
        </p:nvSpPr>
        <p:spPr/>
        <p:txBody>
          <a:bodyPr/>
          <a:lstStyle/>
          <a:p>
            <a:fld id="{548B1AB9-C3F9-274B-83F9-0CFF96EC17F8}"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7380ED36-992C-F9F1-DF6C-926F2768AC27}"/>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C3825E12-051C-E6AF-2BBA-5A1F89AAFA88}"/>
              </a:ext>
            </a:extLst>
          </p:cNvPr>
          <p:cNvSpPr>
            <a:spLocks noGrp="1"/>
          </p:cNvSpPr>
          <p:nvPr>
            <p:ph type="sldNum" sz="quarter" idx="12"/>
          </p:nvPr>
        </p:nvSpPr>
        <p:spPr/>
        <p:txBody>
          <a:bodyPr/>
          <a:lstStyle/>
          <a:p>
            <a:r>
              <a:rPr lang="en-US" altLang="ja-JP"/>
              <a:t>No. </a:t>
            </a:r>
            <a:fld id="{41B87E3F-77EC-4EFD-94DE-AA3AEB7C7760}" type="slidenum">
              <a:rPr lang="ja-JP" altLang="en-US" smtClean="0"/>
              <a:pPr/>
              <a:t>12</a:t>
            </a:fld>
            <a:endParaRPr kumimoji="1" lang="ja-JP" altLang="en-US" dirty="0"/>
          </a:p>
        </p:txBody>
      </p:sp>
      <p:sp>
        <p:nvSpPr>
          <p:cNvPr id="7" name="コンテンツ プレースホルダー 1">
            <a:extLst>
              <a:ext uri="{FF2B5EF4-FFF2-40B4-BE49-F238E27FC236}">
                <a16:creationId xmlns:a16="http://schemas.microsoft.com/office/drawing/2014/main" id="{12BF2BDD-DE55-524C-5461-B981A312DF27}"/>
              </a:ext>
            </a:extLst>
          </p:cNvPr>
          <p:cNvSpPr txBox="1">
            <a:spLocks/>
          </p:cNvSpPr>
          <p:nvPr/>
        </p:nvSpPr>
        <p:spPr>
          <a:xfrm>
            <a:off x="879132" y="1781283"/>
            <a:ext cx="10768865" cy="4727671"/>
          </a:xfrm>
          <a:prstGeom prst="rect">
            <a:avLst/>
          </a:prstGeom>
        </p:spPr>
        <p:txBody>
          <a:bodyPr vert="horz" lIns="0" tIns="0" rIns="0" bIns="0" rtlCol="0">
            <a:normAutofit/>
          </a:bodyPr>
          <a:lstStyle>
            <a:lvl1pPr marL="361950" indent="-361950" algn="l" defTabSz="609585" rtl="0" eaLnBrk="1" latinLnBrk="0" hangingPunct="1">
              <a:spcBef>
                <a:spcPct val="20000"/>
              </a:spcBef>
              <a:buClr>
                <a:srgbClr val="C60C30"/>
              </a:buClr>
              <a:buFont typeface="Wingdings" pitchFamily="2" charset="2"/>
              <a:buChar char="§"/>
              <a:defRPr sz="2800" b="0" kern="1200">
                <a:solidFill>
                  <a:schemeClr val="tx1"/>
                </a:solidFill>
                <a:latin typeface="+mn-lt"/>
                <a:ea typeface="+mn-ea"/>
                <a:cs typeface="+mn-cs"/>
              </a:defRPr>
            </a:lvl1pPr>
            <a:lvl2pPr marL="990575" indent="-380990" algn="l" defTabSz="609585" rtl="0" eaLnBrk="1" latinLnBrk="0" hangingPunct="1">
              <a:spcBef>
                <a:spcPct val="20000"/>
              </a:spcBef>
              <a:buClr>
                <a:srgbClr val="C60C30"/>
              </a:buClr>
              <a:buFont typeface="Wingdings" charset="2"/>
              <a:buChar char="§"/>
              <a:defRPr sz="2800" kern="1200">
                <a:solidFill>
                  <a:schemeClr val="tx1"/>
                </a:solidFill>
                <a:latin typeface="+mn-lt"/>
                <a:ea typeface="+mn-ea"/>
                <a:cs typeface="+mn-cs"/>
              </a:defRPr>
            </a:lvl2pPr>
            <a:lvl3pPr marL="1523962" indent="-304792" algn="l" defTabSz="609585" rtl="0" eaLnBrk="1" latinLnBrk="0" hangingPunct="1">
              <a:spcBef>
                <a:spcPct val="20000"/>
              </a:spcBef>
              <a:buClr>
                <a:srgbClr val="C60C30"/>
              </a:buClr>
              <a:buFont typeface="Wingdings" charset="2"/>
              <a:buChar char="§"/>
              <a:defRPr sz="2400" kern="1200">
                <a:solidFill>
                  <a:schemeClr val="tx1"/>
                </a:solidFill>
                <a:latin typeface="+mn-lt"/>
                <a:ea typeface="+mn-ea"/>
                <a:cs typeface="+mn-cs"/>
              </a:defRPr>
            </a:lvl3pPr>
            <a:lvl4pPr marL="2133547" indent="-304792" algn="l" defTabSz="609585" rtl="0" eaLnBrk="1" latinLnBrk="0" hangingPunct="1">
              <a:spcBef>
                <a:spcPct val="20000"/>
              </a:spcBef>
              <a:buClr>
                <a:srgbClr val="C60C30"/>
              </a:buClr>
              <a:buFont typeface="Wingdings" charset="2"/>
              <a:buChar char="§"/>
              <a:defRPr sz="2400" kern="1200">
                <a:solidFill>
                  <a:schemeClr val="tx1"/>
                </a:solidFill>
                <a:latin typeface="+mn-lt"/>
                <a:ea typeface="+mn-ea"/>
                <a:cs typeface="+mn-cs"/>
              </a:defRPr>
            </a:lvl4pPr>
            <a:lvl5pPr marL="2743131" indent="-304792" algn="l" defTabSz="609585" rtl="0" eaLnBrk="1" latinLnBrk="0" hangingPunct="1">
              <a:spcBef>
                <a:spcPct val="20000"/>
              </a:spcBef>
              <a:buClr>
                <a:srgbClr val="C60C30"/>
              </a:buClr>
              <a:buFont typeface="Wingdings" charset="2"/>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Clr>
                <a:srgbClr val="C60C30"/>
              </a:buClr>
              <a:buFont typeface="Wingdings" charset="2"/>
              <a:buNone/>
              <a:defRPr sz="1867" kern="1200" baseline="0">
                <a:solidFill>
                  <a:schemeClr val="tx1"/>
                </a:solidFill>
                <a:latin typeface="+mn-lt"/>
                <a:ea typeface="+mn-ea"/>
                <a:cs typeface="+mn-cs"/>
              </a:defRPr>
            </a:lvl6pPr>
            <a:lvl7pPr marL="3962301" indent="-304792" algn="l" defTabSz="609585" rtl="0" eaLnBrk="1" latinLnBrk="0" hangingPunct="1">
              <a:spcBef>
                <a:spcPct val="20000"/>
              </a:spcBef>
              <a:buClr>
                <a:srgbClr val="C60C30"/>
              </a:buClr>
              <a:buFont typeface="Wingdings" charset="2"/>
              <a:buNone/>
              <a:defRPr sz="1867" kern="1200">
                <a:solidFill>
                  <a:schemeClr val="tx1"/>
                </a:solidFill>
                <a:latin typeface="+mn-lt"/>
                <a:ea typeface="+mn-ea"/>
                <a:cs typeface="+mn-cs"/>
              </a:defRPr>
            </a:lvl7pPr>
            <a:lvl8pPr marL="4571886" indent="-304792" algn="l" defTabSz="609585" rtl="0" eaLnBrk="1" latinLnBrk="0" hangingPunct="1">
              <a:spcBef>
                <a:spcPct val="20000"/>
              </a:spcBef>
              <a:buClr>
                <a:srgbClr val="C60C30"/>
              </a:buClr>
              <a:buFont typeface="Wingdings" charset="2"/>
              <a:buChar char="§"/>
              <a:defRPr sz="1867" kern="1200" baseline="0">
                <a:solidFill>
                  <a:schemeClr val="tx1"/>
                </a:solidFill>
                <a:latin typeface="+mn-lt"/>
                <a:ea typeface="+mn-ea"/>
                <a:cs typeface="+mn-cs"/>
              </a:defRPr>
            </a:lvl8pPr>
            <a:lvl9pPr marL="5181470" indent="-304792" algn="l" defTabSz="609585" rtl="0" eaLnBrk="1" latinLnBrk="0" hangingPunct="1">
              <a:spcBef>
                <a:spcPct val="20000"/>
              </a:spcBef>
              <a:buClr>
                <a:srgbClr val="C60C30"/>
              </a:buClr>
              <a:buFont typeface="Wingdings" charset="2"/>
              <a:buChar char="§"/>
              <a:defRPr sz="1867" kern="1200" baseline="0">
                <a:solidFill>
                  <a:schemeClr val="tx1"/>
                </a:solidFill>
                <a:latin typeface="+mn-lt"/>
                <a:ea typeface="+mn-ea"/>
                <a:cs typeface="+mn-cs"/>
              </a:defRPr>
            </a:lvl9pPr>
          </a:lstStyle>
          <a:p>
            <a:pPr marL="361950" marR="0" lvl="0" indent="-361950" algn="l" defTabSz="609585" rtl="0" eaLnBrk="1" fontAlgn="auto" latinLnBrk="0" hangingPunct="1">
              <a:lnSpc>
                <a:spcPct val="220000"/>
              </a:lnSpc>
              <a:spcBef>
                <a:spcPct val="20000"/>
              </a:spcBef>
              <a:spcAft>
                <a:spcPts val="0"/>
              </a:spcAft>
              <a:buClr>
                <a:srgbClr val="C60C30"/>
              </a:buClr>
              <a:buSzTx/>
              <a:buFont typeface="Wingdings" pitchFamily="2" charset="2"/>
              <a:buChar char="§"/>
              <a:tabLst/>
              <a:defRPr/>
            </a:pPr>
            <a:endParaRPr kumimoji="0" lang="en-US" altLang="ja-JP" sz="2400" b="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mn-cs"/>
            </a:endParaRPr>
          </a:p>
        </p:txBody>
      </p:sp>
      <p:graphicFrame>
        <p:nvGraphicFramePr>
          <p:cNvPr id="8" name="表 7">
            <a:extLst>
              <a:ext uri="{FF2B5EF4-FFF2-40B4-BE49-F238E27FC236}">
                <a16:creationId xmlns:a16="http://schemas.microsoft.com/office/drawing/2014/main" id="{4F35E8CD-85C1-4A05-1456-BBA1576F2DED}"/>
              </a:ext>
            </a:extLst>
          </p:cNvPr>
          <p:cNvGraphicFramePr>
            <a:graphicFrameLocks noGrp="1"/>
          </p:cNvGraphicFramePr>
          <p:nvPr>
            <p:extLst>
              <p:ext uri="{D42A27DB-BD31-4B8C-83A1-F6EECF244321}">
                <p14:modId xmlns:p14="http://schemas.microsoft.com/office/powerpoint/2010/main" val="199275586"/>
              </p:ext>
            </p:extLst>
          </p:nvPr>
        </p:nvGraphicFramePr>
        <p:xfrm>
          <a:off x="2583998" y="1669670"/>
          <a:ext cx="9536002" cy="4614757"/>
        </p:xfrm>
        <a:graphic>
          <a:graphicData uri="http://schemas.openxmlformats.org/drawingml/2006/table">
            <a:tbl>
              <a:tblPr firstRow="1" bandRow="1">
                <a:tableStyleId>{5940675A-B579-460E-94D1-54222C63F5DA}</a:tableStyleId>
              </a:tblPr>
              <a:tblGrid>
                <a:gridCol w="3204615">
                  <a:extLst>
                    <a:ext uri="{9D8B030D-6E8A-4147-A177-3AD203B41FA5}">
                      <a16:colId xmlns:a16="http://schemas.microsoft.com/office/drawing/2014/main" val="3479790063"/>
                    </a:ext>
                  </a:extLst>
                </a:gridCol>
                <a:gridCol w="3606815">
                  <a:extLst>
                    <a:ext uri="{9D8B030D-6E8A-4147-A177-3AD203B41FA5}">
                      <a16:colId xmlns:a16="http://schemas.microsoft.com/office/drawing/2014/main" val="1612386211"/>
                    </a:ext>
                  </a:extLst>
                </a:gridCol>
                <a:gridCol w="2724572">
                  <a:extLst>
                    <a:ext uri="{9D8B030D-6E8A-4147-A177-3AD203B41FA5}">
                      <a16:colId xmlns:a16="http://schemas.microsoft.com/office/drawing/2014/main" val="719543945"/>
                    </a:ext>
                  </a:extLst>
                </a:gridCol>
              </a:tblGrid>
              <a:tr h="1569433">
                <a:tc>
                  <a:txBody>
                    <a:bodyPr/>
                    <a:lstStyle/>
                    <a:p>
                      <a:pPr marL="0" marR="0" lvl="0" indent="0" algn="ctr" defTabSz="609585"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lang="ja-JP" altLang="en-US" sz="1800" b="1" dirty="0">
                          <a:latin typeface="メイリオ" panose="020B0604030504040204" pitchFamily="50" charset="-128"/>
                          <a:ea typeface="メイリオ" panose="020B0604030504040204" pitchFamily="50" charset="-128"/>
                        </a:rPr>
                        <a:t>血小板不足</a:t>
                      </a:r>
                      <a:endParaRPr lang="en-US" altLang="ja-JP" sz="1800" b="1" dirty="0">
                        <a:latin typeface="メイリオ" panose="020B0604030504040204" pitchFamily="50" charset="-128"/>
                        <a:ea typeface="メイリオ" panose="020B0604030504040204" pitchFamily="50" charset="-128"/>
                      </a:endParaRPr>
                    </a:p>
                    <a:p>
                      <a:pPr marL="0" marR="0" lvl="0" indent="0" algn="ctr" defTabSz="609585" rtl="0" eaLnBrk="1" fontAlgn="auto" latinLnBrk="0" hangingPunct="1">
                        <a:lnSpc>
                          <a:spcPct val="100000"/>
                        </a:lnSpc>
                        <a:spcBef>
                          <a:spcPts val="0"/>
                        </a:spcBef>
                        <a:spcAft>
                          <a:spcPts val="0"/>
                        </a:spcAft>
                        <a:buClr>
                          <a:schemeClr val="accent4"/>
                        </a:buClr>
                        <a:buSzTx/>
                        <a:buFontTx/>
                        <a:buNone/>
                        <a:tabLst/>
                        <a:defRPr/>
                      </a:pPr>
                      <a:r>
                        <a:rPr kumimoji="1" lang="en-US" altLang="ja-JP" sz="1600" b="0" dirty="0">
                          <a:solidFill>
                            <a:srgbClr val="7030A0"/>
                          </a:solidFill>
                          <a:latin typeface="メイリオ" panose="020B0604030504040204" pitchFamily="50" charset="-128"/>
                          <a:ea typeface="メイリオ" panose="020B0604030504040204" pitchFamily="50" charset="-128"/>
                        </a:rPr>
                        <a:t>CRT-MA</a:t>
                      </a:r>
                      <a:r>
                        <a:rPr kumimoji="1" lang="ja-JP" altLang="en-US" sz="1600" b="0" dirty="0">
                          <a:latin typeface="メイリオ" panose="020B0604030504040204" pitchFamily="50" charset="-128"/>
                          <a:ea typeface="メイリオ" panose="020B0604030504040204" pitchFamily="50" charset="-128"/>
                        </a:rPr>
                        <a:t>低値</a:t>
                      </a:r>
                      <a:r>
                        <a:rPr kumimoji="1" lang="ja-JP" altLang="en-US" sz="1600" b="0" dirty="0">
                          <a:solidFill>
                            <a:srgbClr val="340EBE"/>
                          </a:solidFill>
                          <a:latin typeface="メイリオ" panose="020B0604030504040204" pitchFamily="50" charset="-128"/>
                          <a:ea typeface="メイリオ" panose="020B0604030504040204" pitchFamily="50" charset="-128"/>
                        </a:rPr>
                        <a:t>↓</a:t>
                      </a:r>
                      <a:endParaRPr kumimoji="1" lang="en-US" altLang="ja-JP" sz="1600" b="0" dirty="0">
                        <a:solidFill>
                          <a:srgbClr val="340EBE"/>
                        </a:solidFill>
                        <a:latin typeface="メイリオ" panose="020B0604030504040204" pitchFamily="50" charset="-128"/>
                        <a:ea typeface="メイリオ" panose="020B0604030504040204" pitchFamily="50" charset="-128"/>
                      </a:endParaRPr>
                    </a:p>
                    <a:p>
                      <a:pPr marL="0" marR="0" lvl="0" indent="0" algn="ctr" defTabSz="609585" rtl="0" eaLnBrk="1" fontAlgn="auto" latinLnBrk="0" hangingPunct="1">
                        <a:lnSpc>
                          <a:spcPct val="100000"/>
                        </a:lnSpc>
                        <a:spcBef>
                          <a:spcPts val="0"/>
                        </a:spcBef>
                        <a:spcAft>
                          <a:spcPts val="0"/>
                        </a:spcAft>
                        <a:buClr>
                          <a:schemeClr val="accent4"/>
                        </a:buClr>
                        <a:buSzTx/>
                        <a:buFontTx/>
                        <a:buNone/>
                        <a:tabLst/>
                        <a:defRPr/>
                      </a:pPr>
                      <a:r>
                        <a:rPr lang="en-US" altLang="ja-JP" sz="1600" b="0" dirty="0">
                          <a:solidFill>
                            <a:srgbClr val="00B0F0"/>
                          </a:solidFill>
                          <a:latin typeface="メイリオ" panose="020B0604030504040204" pitchFamily="50" charset="-128"/>
                          <a:ea typeface="メイリオ" panose="020B0604030504040204" pitchFamily="50" charset="-128"/>
                        </a:rPr>
                        <a:t>CFF-MA</a:t>
                      </a:r>
                      <a:r>
                        <a:rPr lang="ja-JP" altLang="en-US" sz="1600" b="0" dirty="0">
                          <a:latin typeface="メイリオ" panose="020B0604030504040204" pitchFamily="50" charset="-128"/>
                          <a:ea typeface="メイリオ" panose="020B0604030504040204" pitchFamily="50" charset="-128"/>
                        </a:rPr>
                        <a:t>基準値</a:t>
                      </a:r>
                      <a:endParaRPr kumimoji="1" lang="ja-JP" altLang="en-US" sz="1600" b="0" dirty="0">
                        <a:latin typeface="メイリオ" panose="020B0604030504040204" pitchFamily="50" charset="-128"/>
                        <a:ea typeface="メイリオ" panose="020B0604030504040204" pitchFamily="50" charset="-128"/>
                      </a:endParaRPr>
                    </a:p>
                  </a:txBody>
                  <a:tcPr anchor="ctr">
                    <a:solidFill>
                      <a:schemeClr val="bg1"/>
                    </a:solidFill>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lang="en-US" sz="1800" dirty="0"/>
                    </a:p>
                  </a:txBody>
                  <a:tcPr anchor="ctr">
                    <a:solidFill>
                      <a:schemeClr val="bg1"/>
                    </a:solidFill>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ja-JP" altLang="en-US" sz="1800" b="1" dirty="0">
                          <a:solidFill>
                            <a:srgbClr val="C00000"/>
                          </a:solidFill>
                          <a:latin typeface="メイリオ" panose="020B0604030504040204" pitchFamily="50" charset="-128"/>
                          <a:ea typeface="メイリオ" panose="020B0604030504040204" pitchFamily="50" charset="-128"/>
                        </a:rPr>
                        <a:t>⇒血小板</a:t>
                      </a:r>
                      <a:endParaRPr lang="en-US" sz="1800" dirty="0"/>
                    </a:p>
                  </a:txBody>
                  <a:tcPr anchor="ctr">
                    <a:solidFill>
                      <a:schemeClr val="bg1"/>
                    </a:solidFill>
                  </a:tcPr>
                </a:tc>
                <a:extLst>
                  <a:ext uri="{0D108BD9-81ED-4DB2-BD59-A6C34878D82A}">
                    <a16:rowId xmlns:a16="http://schemas.microsoft.com/office/drawing/2014/main" val="862973831"/>
                  </a:ext>
                </a:extLst>
              </a:tr>
              <a:tr h="1477112">
                <a:tc>
                  <a:txBody>
                    <a:bodyPr/>
                    <a:lstStyle/>
                    <a:p>
                      <a:pPr marL="0" marR="0" lvl="0" indent="0" algn="ctr" defTabSz="609585"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lang="ja-JP" altLang="en-US" sz="1800" b="1" dirty="0">
                          <a:latin typeface="メイリオ" panose="020B0604030504040204" pitchFamily="50" charset="-128"/>
                          <a:ea typeface="メイリオ" panose="020B0604030504040204" pitchFamily="50" charset="-128"/>
                        </a:rPr>
                        <a:t>フィブリノゲン不足</a:t>
                      </a:r>
                      <a:endParaRPr lang="en-US" altLang="ja-JP" sz="1800" b="1" dirty="0">
                        <a:latin typeface="メイリオ" panose="020B0604030504040204" pitchFamily="50" charset="-128"/>
                        <a:ea typeface="メイリオ" panose="020B0604030504040204" pitchFamily="50" charset="-128"/>
                      </a:endParaRPr>
                    </a:p>
                    <a:p>
                      <a:pPr marL="0" marR="0" lvl="0" indent="0" algn="ctr" defTabSz="609585"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lang="en-US" altLang="ja-JP" sz="1600" b="0" dirty="0">
                          <a:solidFill>
                            <a:srgbClr val="00B0F0"/>
                          </a:solidFill>
                          <a:latin typeface="メイリオ" panose="020B0604030504040204" pitchFamily="50" charset="-128"/>
                          <a:ea typeface="メイリオ" panose="020B0604030504040204" pitchFamily="50" charset="-128"/>
                        </a:rPr>
                        <a:t>CFF-MA</a:t>
                      </a:r>
                      <a:r>
                        <a:rPr lang="ja-JP" altLang="en-US" sz="1600" b="0" dirty="0">
                          <a:latin typeface="メイリオ" panose="020B0604030504040204" pitchFamily="50" charset="-128"/>
                          <a:ea typeface="メイリオ" panose="020B0604030504040204" pitchFamily="50" charset="-128"/>
                        </a:rPr>
                        <a:t>低値</a:t>
                      </a:r>
                      <a:r>
                        <a:rPr lang="ja-JP" altLang="en-US" sz="1600" b="0" dirty="0">
                          <a:solidFill>
                            <a:srgbClr val="340EBE"/>
                          </a:solidFill>
                          <a:latin typeface="メイリオ" panose="020B0604030504040204" pitchFamily="50" charset="-128"/>
                          <a:ea typeface="メイリオ" panose="020B0604030504040204" pitchFamily="50" charset="-128"/>
                        </a:rPr>
                        <a:t>↓</a:t>
                      </a:r>
                      <a:endParaRPr kumimoji="1" lang="ja-JP" altLang="en-US" sz="1600" b="0" dirty="0">
                        <a:solidFill>
                          <a:srgbClr val="340EBE"/>
                        </a:solidFill>
                        <a:latin typeface="メイリオ" panose="020B0604030504040204" pitchFamily="50" charset="-128"/>
                        <a:ea typeface="メイリオ" panose="020B0604030504040204" pitchFamily="50" charset="-128"/>
                      </a:endParaRPr>
                    </a:p>
                  </a:txBody>
                  <a:tcPr anchor="ctr">
                    <a:solidFill>
                      <a:schemeClr val="bg1"/>
                    </a:solidFill>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lang="en-US" sz="1800" dirty="0"/>
                    </a:p>
                  </a:txBody>
                  <a:tcPr anchor="ctr">
                    <a:solidFill>
                      <a:schemeClr val="bg1"/>
                    </a:solidFill>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ja-JP" altLang="en-US" sz="1800" b="1" dirty="0">
                          <a:solidFill>
                            <a:srgbClr val="C00000"/>
                          </a:solidFill>
                          <a:latin typeface="メイリオ" panose="020B0604030504040204" pitchFamily="50" charset="-128"/>
                          <a:ea typeface="メイリオ" panose="020B0604030504040204" pitchFamily="50" charset="-128"/>
                        </a:rPr>
                        <a:t>⇒</a:t>
                      </a:r>
                      <a:r>
                        <a:rPr lang="en-US" altLang="ja-JP" sz="1800" b="1" dirty="0">
                          <a:solidFill>
                            <a:srgbClr val="C00000"/>
                          </a:solidFill>
                          <a:latin typeface="メイリオ" panose="020B0604030504040204" pitchFamily="50" charset="-128"/>
                          <a:ea typeface="メイリオ" panose="020B0604030504040204" pitchFamily="50" charset="-128"/>
                        </a:rPr>
                        <a:t>FFP</a:t>
                      </a:r>
                    </a:p>
                    <a:p>
                      <a:pPr marL="0" marR="0" lvl="0" indent="0" algn="l" defTabSz="609585" rtl="0" eaLnBrk="1" fontAlgn="auto" latinLnBrk="0" hangingPunct="1">
                        <a:lnSpc>
                          <a:spcPct val="100000"/>
                        </a:lnSpc>
                        <a:spcBef>
                          <a:spcPts val="0"/>
                        </a:spcBef>
                        <a:spcAft>
                          <a:spcPts val="0"/>
                        </a:spcAft>
                        <a:buClrTx/>
                        <a:buSzTx/>
                        <a:buFontTx/>
                        <a:buNone/>
                        <a:tabLst/>
                        <a:defRPr/>
                      </a:pPr>
                      <a:r>
                        <a:rPr lang="en-US" altLang="ja-JP" sz="1800" b="1" dirty="0">
                          <a:solidFill>
                            <a:srgbClr val="C00000"/>
                          </a:solidFill>
                          <a:latin typeface="メイリオ" panose="020B0604030504040204" pitchFamily="50" charset="-128"/>
                          <a:ea typeface="メイリオ" panose="020B0604030504040204" pitchFamily="50" charset="-128"/>
                        </a:rPr>
                        <a:t>(</a:t>
                      </a:r>
                      <a:r>
                        <a:rPr lang="ja-JP" altLang="en-US" sz="1800" b="1" dirty="0">
                          <a:solidFill>
                            <a:srgbClr val="C00000"/>
                          </a:solidFill>
                          <a:latin typeface="メイリオ" panose="020B0604030504040204" pitchFamily="50" charset="-128"/>
                          <a:ea typeface="メイリオ" panose="020B0604030504040204" pitchFamily="50" charset="-128"/>
                        </a:rPr>
                        <a:t>クリオ</a:t>
                      </a:r>
                      <a:r>
                        <a:rPr lang="en-US" altLang="ja-JP" sz="1800" b="1" dirty="0">
                          <a:solidFill>
                            <a:srgbClr val="C00000"/>
                          </a:solidFill>
                          <a:latin typeface="メイリオ" panose="020B0604030504040204" pitchFamily="50" charset="-128"/>
                          <a:ea typeface="メイリオ" panose="020B0604030504040204" pitchFamily="50" charset="-128"/>
                        </a:rPr>
                        <a:t>or Fib</a:t>
                      </a:r>
                      <a:r>
                        <a:rPr lang="ja-JP" altLang="en-US" sz="1800" b="1" dirty="0">
                          <a:solidFill>
                            <a:srgbClr val="C00000"/>
                          </a:solidFill>
                          <a:latin typeface="メイリオ" panose="020B0604030504040204" pitchFamily="50" charset="-128"/>
                          <a:ea typeface="メイリオ" panose="020B0604030504040204" pitchFamily="50" charset="-128"/>
                        </a:rPr>
                        <a:t>製剤</a:t>
                      </a:r>
                      <a:r>
                        <a:rPr lang="en-US" altLang="ja-JP" sz="1800" b="1" dirty="0">
                          <a:solidFill>
                            <a:srgbClr val="C00000"/>
                          </a:solidFill>
                          <a:latin typeface="メイリオ" panose="020B0604030504040204" pitchFamily="50" charset="-128"/>
                          <a:ea typeface="メイリオ" panose="020B0604030504040204" pitchFamily="50" charset="-128"/>
                        </a:rPr>
                        <a:t>)</a:t>
                      </a:r>
                    </a:p>
                  </a:txBody>
                  <a:tcPr anchor="ctr">
                    <a:solidFill>
                      <a:schemeClr val="bg1"/>
                    </a:solidFill>
                  </a:tcPr>
                </a:tc>
                <a:extLst>
                  <a:ext uri="{0D108BD9-81ED-4DB2-BD59-A6C34878D82A}">
                    <a16:rowId xmlns:a16="http://schemas.microsoft.com/office/drawing/2014/main" val="4174385990"/>
                  </a:ext>
                </a:extLst>
              </a:tr>
              <a:tr h="1568212">
                <a:tc>
                  <a:txBody>
                    <a:bodyPr/>
                    <a:lstStyle/>
                    <a:p>
                      <a:pPr marL="0" marR="0" lvl="0" indent="0" algn="ctr" defTabSz="609585"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lang="ja-JP" altLang="en-US" sz="1800" b="1" kern="1200" dirty="0">
                          <a:solidFill>
                            <a:schemeClr val="tx1"/>
                          </a:solidFill>
                          <a:latin typeface="メイリオ" panose="020B0604030504040204" pitchFamily="50" charset="-128"/>
                          <a:ea typeface="メイリオ" panose="020B0604030504040204" pitchFamily="50" charset="-128"/>
                          <a:cs typeface="+mn-cs"/>
                        </a:rPr>
                        <a:t>血小板＋フィブリノゲン不足</a:t>
                      </a:r>
                      <a:endParaRPr lang="en-US" altLang="ja-JP" sz="1800" b="1" kern="1200" dirty="0">
                        <a:solidFill>
                          <a:schemeClr val="tx1"/>
                        </a:solidFill>
                        <a:latin typeface="メイリオ" panose="020B0604030504040204" pitchFamily="50" charset="-128"/>
                        <a:ea typeface="メイリオ" panose="020B0604030504040204" pitchFamily="50" charset="-128"/>
                        <a:cs typeface="+mn-cs"/>
                      </a:endParaRPr>
                    </a:p>
                    <a:p>
                      <a:pPr marL="0" marR="0" lvl="0" indent="0" algn="ctr" defTabSz="609585" rtl="0" eaLnBrk="1" fontAlgn="auto" latinLnBrk="0" hangingPunct="1">
                        <a:lnSpc>
                          <a:spcPct val="100000"/>
                        </a:lnSpc>
                        <a:spcBef>
                          <a:spcPts val="0"/>
                        </a:spcBef>
                        <a:spcAft>
                          <a:spcPts val="0"/>
                        </a:spcAft>
                        <a:buClr>
                          <a:schemeClr val="accent4"/>
                        </a:buClr>
                        <a:buSzTx/>
                        <a:buFontTx/>
                        <a:buNone/>
                        <a:tabLst/>
                        <a:defRPr/>
                      </a:pPr>
                      <a:r>
                        <a:rPr kumimoji="1" lang="en-US" altLang="ja-JP" sz="1600" b="0" dirty="0">
                          <a:solidFill>
                            <a:srgbClr val="7030A0"/>
                          </a:solidFill>
                          <a:latin typeface="メイリオ" panose="020B0604030504040204" pitchFamily="50" charset="-128"/>
                          <a:ea typeface="メイリオ" panose="020B0604030504040204" pitchFamily="50" charset="-128"/>
                        </a:rPr>
                        <a:t>CRT-MA</a:t>
                      </a:r>
                      <a:r>
                        <a:rPr kumimoji="1" lang="ja-JP" altLang="en-US" sz="1600" b="0" dirty="0">
                          <a:latin typeface="メイリオ" panose="020B0604030504040204" pitchFamily="50" charset="-128"/>
                          <a:ea typeface="メイリオ" panose="020B0604030504040204" pitchFamily="50" charset="-128"/>
                        </a:rPr>
                        <a:t>低値</a:t>
                      </a:r>
                      <a:r>
                        <a:rPr kumimoji="1" lang="ja-JP" altLang="en-US" sz="1600" b="0" dirty="0">
                          <a:solidFill>
                            <a:srgbClr val="340EBE"/>
                          </a:solidFill>
                          <a:latin typeface="メイリオ" panose="020B0604030504040204" pitchFamily="50" charset="-128"/>
                          <a:ea typeface="メイリオ" panose="020B0604030504040204" pitchFamily="50" charset="-128"/>
                        </a:rPr>
                        <a:t>↓</a:t>
                      </a:r>
                      <a:endParaRPr kumimoji="1" lang="en-US" altLang="ja-JP" sz="1600" b="0" dirty="0">
                        <a:solidFill>
                          <a:srgbClr val="340EBE"/>
                        </a:solidFill>
                        <a:latin typeface="メイリオ" panose="020B0604030504040204" pitchFamily="50" charset="-128"/>
                        <a:ea typeface="メイリオ" panose="020B0604030504040204" pitchFamily="50" charset="-128"/>
                      </a:endParaRPr>
                    </a:p>
                    <a:p>
                      <a:pPr marL="0" marR="0" lvl="0" indent="0" algn="ctr" defTabSz="609585" rtl="0" eaLnBrk="1" fontAlgn="auto" latinLnBrk="0" hangingPunct="1">
                        <a:lnSpc>
                          <a:spcPct val="100000"/>
                        </a:lnSpc>
                        <a:spcBef>
                          <a:spcPts val="0"/>
                        </a:spcBef>
                        <a:spcAft>
                          <a:spcPts val="0"/>
                        </a:spcAft>
                        <a:buClr>
                          <a:schemeClr val="accent4"/>
                        </a:buClr>
                        <a:buSzTx/>
                        <a:buFontTx/>
                        <a:buNone/>
                        <a:tabLst/>
                        <a:defRPr/>
                      </a:pPr>
                      <a:r>
                        <a:rPr lang="en-US" altLang="ja-JP" sz="1600" b="0" dirty="0">
                          <a:solidFill>
                            <a:srgbClr val="00B0F0"/>
                          </a:solidFill>
                          <a:latin typeface="メイリオ" panose="020B0604030504040204" pitchFamily="50" charset="-128"/>
                          <a:ea typeface="メイリオ" panose="020B0604030504040204" pitchFamily="50" charset="-128"/>
                        </a:rPr>
                        <a:t>CFF-MA</a:t>
                      </a:r>
                      <a:r>
                        <a:rPr lang="ja-JP" altLang="en-US" sz="1600" b="0" dirty="0">
                          <a:solidFill>
                            <a:schemeClr val="tx1"/>
                          </a:solidFill>
                          <a:latin typeface="メイリオ" panose="020B0604030504040204" pitchFamily="50" charset="-128"/>
                          <a:ea typeface="メイリオ" panose="020B0604030504040204" pitchFamily="50" charset="-128"/>
                        </a:rPr>
                        <a:t>低値</a:t>
                      </a:r>
                      <a:r>
                        <a:rPr lang="ja-JP" altLang="en-US" sz="1600" b="0" dirty="0">
                          <a:solidFill>
                            <a:srgbClr val="340EBE"/>
                          </a:solidFill>
                          <a:latin typeface="メイリオ" panose="020B0604030504040204" pitchFamily="50" charset="-128"/>
                          <a:ea typeface="メイリオ" panose="020B0604030504040204" pitchFamily="50" charset="-128"/>
                        </a:rPr>
                        <a:t>↓</a:t>
                      </a:r>
                      <a:endParaRPr kumimoji="1" lang="ja-JP" altLang="en-US" sz="1600" b="0" dirty="0">
                        <a:solidFill>
                          <a:srgbClr val="340EBE"/>
                        </a:solidFill>
                        <a:latin typeface="メイリオ" panose="020B0604030504040204" pitchFamily="50" charset="-128"/>
                        <a:ea typeface="メイリオ" panose="020B0604030504040204" pitchFamily="50" charset="-128"/>
                      </a:endParaRPr>
                    </a:p>
                    <a:p>
                      <a:pPr marL="0" marR="0" lvl="0" indent="0" algn="ctr" defTabSz="609585"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1" lang="en-US" altLang="ja-JP" sz="1600" b="0" dirty="0">
                        <a:solidFill>
                          <a:schemeClr val="accent1"/>
                        </a:solidFill>
                        <a:latin typeface="メイリオ" panose="020B0604030504040204" pitchFamily="50" charset="-128"/>
                        <a:ea typeface="メイリオ" panose="020B0604030504040204" pitchFamily="50" charset="-128"/>
                      </a:endParaRPr>
                    </a:p>
                  </a:txBody>
                  <a:tcPr anchor="ctr">
                    <a:solidFill>
                      <a:schemeClr val="bg1"/>
                    </a:solidFill>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lang="en-US" sz="1800" dirty="0"/>
                    </a:p>
                  </a:txBody>
                  <a:tcPr anchor="ctr">
                    <a:solidFill>
                      <a:schemeClr val="bg1"/>
                    </a:solidFill>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ja-JP" altLang="en-US" sz="1800" b="1" dirty="0">
                          <a:solidFill>
                            <a:srgbClr val="C00000"/>
                          </a:solidFill>
                          <a:latin typeface="メイリオ" panose="020B0604030504040204" pitchFamily="50" charset="-128"/>
                          <a:ea typeface="メイリオ" panose="020B0604030504040204" pitchFamily="50" charset="-128"/>
                        </a:rPr>
                        <a:t>⇒血小板＋</a:t>
                      </a:r>
                      <a:r>
                        <a:rPr lang="en-US" altLang="ja-JP" sz="1800" b="1" dirty="0">
                          <a:solidFill>
                            <a:srgbClr val="C00000"/>
                          </a:solidFill>
                          <a:latin typeface="メイリオ" panose="020B0604030504040204" pitchFamily="50" charset="-128"/>
                          <a:ea typeface="メイリオ" panose="020B0604030504040204" pitchFamily="50" charset="-128"/>
                        </a:rPr>
                        <a:t>FFP</a:t>
                      </a:r>
                    </a:p>
                    <a:p>
                      <a:pPr marL="0" marR="0" lvl="0" indent="0" algn="l" defTabSz="609585" rtl="0" eaLnBrk="1" fontAlgn="auto" latinLnBrk="0" hangingPunct="1">
                        <a:lnSpc>
                          <a:spcPct val="100000"/>
                        </a:lnSpc>
                        <a:spcBef>
                          <a:spcPts val="0"/>
                        </a:spcBef>
                        <a:spcAft>
                          <a:spcPts val="0"/>
                        </a:spcAft>
                        <a:buClrTx/>
                        <a:buSzTx/>
                        <a:buFontTx/>
                        <a:buNone/>
                        <a:tabLst/>
                        <a:defRPr/>
                      </a:pPr>
                      <a:r>
                        <a:rPr lang="en-US" altLang="ja-JP" sz="1800" b="1" dirty="0">
                          <a:solidFill>
                            <a:srgbClr val="C00000"/>
                          </a:solidFill>
                          <a:latin typeface="メイリオ" panose="020B0604030504040204" pitchFamily="50" charset="-128"/>
                          <a:ea typeface="メイリオ" panose="020B0604030504040204" pitchFamily="50" charset="-128"/>
                        </a:rPr>
                        <a:t>(</a:t>
                      </a:r>
                      <a:r>
                        <a:rPr lang="ja-JP" altLang="en-US" sz="1800" b="1" dirty="0">
                          <a:solidFill>
                            <a:srgbClr val="C00000"/>
                          </a:solidFill>
                          <a:latin typeface="メイリオ" panose="020B0604030504040204" pitchFamily="50" charset="-128"/>
                          <a:ea typeface="メイリオ" panose="020B0604030504040204" pitchFamily="50" charset="-128"/>
                        </a:rPr>
                        <a:t>クリオ</a:t>
                      </a:r>
                      <a:r>
                        <a:rPr lang="en-US" altLang="ja-JP" sz="1800" b="1" dirty="0">
                          <a:solidFill>
                            <a:srgbClr val="C00000"/>
                          </a:solidFill>
                          <a:latin typeface="メイリオ" panose="020B0604030504040204" pitchFamily="50" charset="-128"/>
                          <a:ea typeface="メイリオ" panose="020B0604030504040204" pitchFamily="50" charset="-128"/>
                        </a:rPr>
                        <a:t>or Fib</a:t>
                      </a:r>
                      <a:r>
                        <a:rPr lang="ja-JP" altLang="en-US" sz="1800" b="1" dirty="0">
                          <a:solidFill>
                            <a:srgbClr val="C00000"/>
                          </a:solidFill>
                          <a:latin typeface="メイリオ" panose="020B0604030504040204" pitchFamily="50" charset="-128"/>
                          <a:ea typeface="メイリオ" panose="020B0604030504040204" pitchFamily="50" charset="-128"/>
                        </a:rPr>
                        <a:t>製剤</a:t>
                      </a:r>
                      <a:r>
                        <a:rPr lang="en-US" altLang="ja-JP" sz="1800" b="1" dirty="0">
                          <a:solidFill>
                            <a:srgbClr val="C00000"/>
                          </a:solidFill>
                          <a:latin typeface="メイリオ" panose="020B0604030504040204" pitchFamily="50" charset="-128"/>
                          <a:ea typeface="メイリオ" panose="020B0604030504040204" pitchFamily="50" charset="-128"/>
                        </a:rPr>
                        <a:t>)</a:t>
                      </a:r>
                    </a:p>
                  </a:txBody>
                  <a:tcPr anchor="ctr">
                    <a:solidFill>
                      <a:schemeClr val="bg1"/>
                    </a:solidFill>
                  </a:tcPr>
                </a:tc>
                <a:extLst>
                  <a:ext uri="{0D108BD9-81ED-4DB2-BD59-A6C34878D82A}">
                    <a16:rowId xmlns:a16="http://schemas.microsoft.com/office/drawing/2014/main" val="3742996384"/>
                  </a:ext>
                </a:extLst>
              </a:tr>
            </a:tbl>
          </a:graphicData>
        </a:graphic>
      </p:graphicFrame>
      <p:pic>
        <p:nvPicPr>
          <p:cNvPr id="9" name="図 8">
            <a:extLst>
              <a:ext uri="{FF2B5EF4-FFF2-40B4-BE49-F238E27FC236}">
                <a16:creationId xmlns:a16="http://schemas.microsoft.com/office/drawing/2014/main" id="{E5BC326C-AD5B-8D4D-1768-9D9C7CE7EC74}"/>
              </a:ext>
            </a:extLst>
          </p:cNvPr>
          <p:cNvPicPr>
            <a:picLocks noChangeAspect="1"/>
          </p:cNvPicPr>
          <p:nvPr/>
        </p:nvPicPr>
        <p:blipFill>
          <a:blip r:embed="rId2"/>
          <a:stretch>
            <a:fillRect/>
          </a:stretch>
        </p:blipFill>
        <p:spPr>
          <a:xfrm>
            <a:off x="473013" y="1731684"/>
            <a:ext cx="1531641" cy="2149900"/>
          </a:xfrm>
          <a:prstGeom prst="rect">
            <a:avLst/>
          </a:prstGeom>
        </p:spPr>
      </p:pic>
      <p:pic>
        <p:nvPicPr>
          <p:cNvPr id="11" name="図 10">
            <a:extLst>
              <a:ext uri="{FF2B5EF4-FFF2-40B4-BE49-F238E27FC236}">
                <a16:creationId xmlns:a16="http://schemas.microsoft.com/office/drawing/2014/main" id="{616E1C2B-025B-EF55-4457-A719AA3D30FF}"/>
              </a:ext>
            </a:extLst>
          </p:cNvPr>
          <p:cNvPicPr>
            <a:picLocks noChangeAspect="1"/>
          </p:cNvPicPr>
          <p:nvPr/>
        </p:nvPicPr>
        <p:blipFill>
          <a:blip r:embed="rId3"/>
          <a:stretch>
            <a:fillRect/>
          </a:stretch>
        </p:blipFill>
        <p:spPr>
          <a:xfrm>
            <a:off x="478971" y="4168951"/>
            <a:ext cx="1525683" cy="2063379"/>
          </a:xfrm>
          <a:prstGeom prst="rect">
            <a:avLst/>
          </a:prstGeom>
        </p:spPr>
      </p:pic>
      <p:sp>
        <p:nvSpPr>
          <p:cNvPr id="13" name="正方形/長方形 12">
            <a:extLst>
              <a:ext uri="{FF2B5EF4-FFF2-40B4-BE49-F238E27FC236}">
                <a16:creationId xmlns:a16="http://schemas.microsoft.com/office/drawing/2014/main" id="{129E51C4-1502-1195-F720-9FDA8F5CB9E6}"/>
              </a:ext>
            </a:extLst>
          </p:cNvPr>
          <p:cNvSpPr/>
          <p:nvPr/>
        </p:nvSpPr>
        <p:spPr>
          <a:xfrm>
            <a:off x="970211" y="1825282"/>
            <a:ext cx="697627" cy="369332"/>
          </a:xfrm>
          <a:prstGeom prst="rect">
            <a:avLst/>
          </a:prstGeom>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ja-JP" altLang="en-US" sz="1800" b="1" i="0" u="none" strike="noStrike" kern="1200" cap="none" spc="-1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ＭＳ Ｐゴシック"/>
              </a:rPr>
              <a:t>正常</a:t>
            </a: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4" name="正方形/長方形 13">
            <a:extLst>
              <a:ext uri="{FF2B5EF4-FFF2-40B4-BE49-F238E27FC236}">
                <a16:creationId xmlns:a16="http://schemas.microsoft.com/office/drawing/2014/main" id="{D34A5F5A-8D83-3194-C2AE-93B8A9B947B9}"/>
              </a:ext>
            </a:extLst>
          </p:cNvPr>
          <p:cNvSpPr/>
          <p:nvPr/>
        </p:nvSpPr>
        <p:spPr>
          <a:xfrm>
            <a:off x="970211" y="4281770"/>
            <a:ext cx="697627" cy="369332"/>
          </a:xfrm>
          <a:prstGeom prst="rect">
            <a:avLst/>
          </a:prstGeom>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ja-JP" altLang="en-US" sz="1800" b="1" i="0" u="none" strike="noStrike" kern="1200" cap="none" spc="-1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cs typeface="ＭＳ Ｐゴシック"/>
              </a:rPr>
              <a:t>正常</a:t>
            </a: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pic>
        <p:nvPicPr>
          <p:cNvPr id="15" name="図 14">
            <a:extLst>
              <a:ext uri="{FF2B5EF4-FFF2-40B4-BE49-F238E27FC236}">
                <a16:creationId xmlns:a16="http://schemas.microsoft.com/office/drawing/2014/main" id="{8CF104BF-872D-A6A6-FE2E-2E97F5E377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74725" y="1781283"/>
            <a:ext cx="2398406" cy="1355621"/>
          </a:xfrm>
          <a:prstGeom prst="rect">
            <a:avLst/>
          </a:prstGeom>
        </p:spPr>
      </p:pic>
      <p:pic>
        <p:nvPicPr>
          <p:cNvPr id="16" name="図 15">
            <a:extLst>
              <a:ext uri="{FF2B5EF4-FFF2-40B4-BE49-F238E27FC236}">
                <a16:creationId xmlns:a16="http://schemas.microsoft.com/office/drawing/2014/main" id="{1857B19A-AEF8-D3A1-D858-A51E7498A2A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83112" y="4857916"/>
            <a:ext cx="2372280" cy="1334407"/>
          </a:xfrm>
          <a:prstGeom prst="rect">
            <a:avLst/>
          </a:prstGeom>
        </p:spPr>
      </p:pic>
      <p:pic>
        <p:nvPicPr>
          <p:cNvPr id="17" name="図 16">
            <a:extLst>
              <a:ext uri="{FF2B5EF4-FFF2-40B4-BE49-F238E27FC236}">
                <a16:creationId xmlns:a16="http://schemas.microsoft.com/office/drawing/2014/main" id="{23F4E78E-ACF9-3377-544A-6ADECD3A829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92406" y="3306092"/>
            <a:ext cx="2337180" cy="1279382"/>
          </a:xfrm>
          <a:prstGeom prst="rect">
            <a:avLst/>
          </a:prstGeom>
        </p:spPr>
      </p:pic>
    </p:spTree>
    <p:extLst>
      <p:ext uri="{BB962C8B-B14F-4D97-AF65-F5344CB8AC3E}">
        <p14:creationId xmlns:p14="http://schemas.microsoft.com/office/powerpoint/2010/main" val="3026891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794B37-598B-10FA-70B1-199365C677F1}"/>
              </a:ext>
            </a:extLst>
          </p:cNvPr>
          <p:cNvSpPr>
            <a:spLocks noGrp="1"/>
          </p:cNvSpPr>
          <p:nvPr>
            <p:ph type="title"/>
          </p:nvPr>
        </p:nvSpPr>
        <p:spPr/>
        <p:txBody>
          <a:bodyPr/>
          <a:lstStyle/>
          <a:p>
            <a:r>
              <a:rPr kumimoji="1" lang="en-US" altLang="ja-JP" dirty="0"/>
              <a:t>TEG GH</a:t>
            </a:r>
            <a:r>
              <a:rPr kumimoji="1" lang="ja-JP" altLang="en-US"/>
              <a:t>基準値</a:t>
            </a:r>
          </a:p>
        </p:txBody>
      </p:sp>
      <p:sp>
        <p:nvSpPr>
          <p:cNvPr id="4" name="日付プレースホルダー 3">
            <a:extLst>
              <a:ext uri="{FF2B5EF4-FFF2-40B4-BE49-F238E27FC236}">
                <a16:creationId xmlns:a16="http://schemas.microsoft.com/office/drawing/2014/main" id="{15FF236C-1A66-2CA2-F9B8-39DCB5EE7BF0}"/>
              </a:ext>
            </a:extLst>
          </p:cNvPr>
          <p:cNvSpPr>
            <a:spLocks noGrp="1"/>
          </p:cNvSpPr>
          <p:nvPr>
            <p:ph type="dt" sz="half" idx="10"/>
          </p:nvPr>
        </p:nvSpPr>
        <p:spPr/>
        <p:txBody>
          <a:bodyPr/>
          <a:lstStyle/>
          <a:p>
            <a:fld id="{79AD3872-138F-924D-9551-111B9A49BCC5}"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6672394E-C152-B3ED-B030-C6738C71123E}"/>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983EA69F-44A2-294B-3DB5-73F36CB58F05}"/>
              </a:ext>
            </a:extLst>
          </p:cNvPr>
          <p:cNvSpPr>
            <a:spLocks noGrp="1"/>
          </p:cNvSpPr>
          <p:nvPr>
            <p:ph type="sldNum" sz="quarter" idx="12"/>
          </p:nvPr>
        </p:nvSpPr>
        <p:spPr/>
        <p:txBody>
          <a:bodyPr/>
          <a:lstStyle/>
          <a:p>
            <a:r>
              <a:rPr lang="en-US" altLang="ja-JP"/>
              <a:t>No. </a:t>
            </a:r>
            <a:fld id="{41B87E3F-77EC-4EFD-94DE-AA3AEB7C7760}" type="slidenum">
              <a:rPr lang="ja-JP" altLang="en-US" smtClean="0"/>
              <a:pPr/>
              <a:t>13</a:t>
            </a:fld>
            <a:endParaRPr kumimoji="1" lang="ja-JP" altLang="en-US" dirty="0"/>
          </a:p>
        </p:txBody>
      </p:sp>
      <p:sp>
        <p:nvSpPr>
          <p:cNvPr id="8" name="角丸四角形 7">
            <a:extLst>
              <a:ext uri="{FF2B5EF4-FFF2-40B4-BE49-F238E27FC236}">
                <a16:creationId xmlns:a16="http://schemas.microsoft.com/office/drawing/2014/main" id="{08AFBDFB-182A-0DCC-169D-3DAB66CBA942}"/>
              </a:ext>
            </a:extLst>
          </p:cNvPr>
          <p:cNvSpPr/>
          <p:nvPr/>
        </p:nvSpPr>
        <p:spPr>
          <a:xfrm>
            <a:off x="567946" y="1739749"/>
            <a:ext cx="1704813" cy="526943"/>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4400" b="1" dirty="0"/>
              <a:t>CK-R</a:t>
            </a:r>
            <a:endParaRPr kumimoji="1" lang="ja-JP" altLang="en-US" sz="4400" b="1"/>
          </a:p>
        </p:txBody>
      </p:sp>
      <p:sp>
        <p:nvSpPr>
          <p:cNvPr id="9" name="角丸四角形 8">
            <a:extLst>
              <a:ext uri="{FF2B5EF4-FFF2-40B4-BE49-F238E27FC236}">
                <a16:creationId xmlns:a16="http://schemas.microsoft.com/office/drawing/2014/main" id="{F93747BA-7480-EB1A-13B3-7EEE1522C583}"/>
              </a:ext>
            </a:extLst>
          </p:cNvPr>
          <p:cNvSpPr/>
          <p:nvPr/>
        </p:nvSpPr>
        <p:spPr>
          <a:xfrm>
            <a:off x="567944" y="2583490"/>
            <a:ext cx="1704813" cy="526943"/>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4400" b="1" dirty="0"/>
              <a:t>CKH-R</a:t>
            </a:r>
            <a:endParaRPr kumimoji="1" lang="ja-JP" altLang="en-US" sz="4400" b="1"/>
          </a:p>
        </p:txBody>
      </p:sp>
      <p:sp>
        <p:nvSpPr>
          <p:cNvPr id="10" name="角丸四角形 9">
            <a:extLst>
              <a:ext uri="{FF2B5EF4-FFF2-40B4-BE49-F238E27FC236}">
                <a16:creationId xmlns:a16="http://schemas.microsoft.com/office/drawing/2014/main" id="{CC78D91D-56EE-3E4F-EA8D-2150FC756D27}"/>
              </a:ext>
            </a:extLst>
          </p:cNvPr>
          <p:cNvSpPr/>
          <p:nvPr/>
        </p:nvSpPr>
        <p:spPr>
          <a:xfrm>
            <a:off x="567944" y="3480859"/>
            <a:ext cx="2247256" cy="52694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4400" b="1" dirty="0"/>
              <a:t>CRT-MA</a:t>
            </a:r>
            <a:endParaRPr kumimoji="1" lang="ja-JP" altLang="en-US" sz="4400" b="1"/>
          </a:p>
        </p:txBody>
      </p:sp>
      <p:sp>
        <p:nvSpPr>
          <p:cNvPr id="11" name="角丸四角形 10">
            <a:extLst>
              <a:ext uri="{FF2B5EF4-FFF2-40B4-BE49-F238E27FC236}">
                <a16:creationId xmlns:a16="http://schemas.microsoft.com/office/drawing/2014/main" id="{BF8A5853-C656-CFAB-AC84-79C825E8B9DB}"/>
              </a:ext>
            </a:extLst>
          </p:cNvPr>
          <p:cNvSpPr/>
          <p:nvPr/>
        </p:nvSpPr>
        <p:spPr>
          <a:xfrm>
            <a:off x="567944" y="4378228"/>
            <a:ext cx="2247256" cy="526943"/>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4400" b="1" dirty="0"/>
              <a:t>CFF-MA</a:t>
            </a:r>
            <a:endParaRPr kumimoji="1" lang="ja-JP" altLang="en-US" sz="4400" b="1"/>
          </a:p>
        </p:txBody>
      </p:sp>
      <p:sp>
        <p:nvSpPr>
          <p:cNvPr id="12" name="テキスト ボックス 11">
            <a:extLst>
              <a:ext uri="{FF2B5EF4-FFF2-40B4-BE49-F238E27FC236}">
                <a16:creationId xmlns:a16="http://schemas.microsoft.com/office/drawing/2014/main" id="{18BFE919-881A-1542-21A7-4AD48D32CD3B}"/>
              </a:ext>
            </a:extLst>
          </p:cNvPr>
          <p:cNvSpPr txBox="1"/>
          <p:nvPr/>
        </p:nvSpPr>
        <p:spPr>
          <a:xfrm>
            <a:off x="5731790" y="3186375"/>
            <a:ext cx="12507132" cy="1569660"/>
          </a:xfrm>
          <a:prstGeom prst="rect">
            <a:avLst/>
          </a:prstGeom>
          <a:noFill/>
        </p:spPr>
        <p:txBody>
          <a:bodyPr wrap="square" rtlCol="0">
            <a:spAutoFit/>
          </a:bodyPr>
          <a:lstStyle/>
          <a:p>
            <a:r>
              <a:rPr kumimoji="1" lang="ja-JP" altLang="en-US" sz="3200" b="1"/>
              <a:t>慣れてくれば</a:t>
            </a:r>
            <a:r>
              <a:rPr kumimoji="1" lang="ja-JP" altLang="en-US" sz="3200" b="1">
                <a:solidFill>
                  <a:schemeClr val="tx2">
                    <a:lumMod val="50000"/>
                    <a:lumOff val="50000"/>
                  </a:schemeClr>
                </a:solidFill>
              </a:rPr>
              <a:t>値よりも波形の形</a:t>
            </a:r>
            <a:r>
              <a:rPr kumimoji="1" lang="ja-JP" altLang="en-US" sz="3200" b="1"/>
              <a:t>で</a:t>
            </a:r>
            <a:endParaRPr kumimoji="1" lang="en-US" altLang="ja-JP" sz="3200" b="1" dirty="0"/>
          </a:p>
          <a:p>
            <a:r>
              <a:rPr kumimoji="1" lang="ja-JP" altLang="en-US" sz="3200" b="1"/>
              <a:t>いろいろ判断することが</a:t>
            </a:r>
            <a:endParaRPr kumimoji="1" lang="en-US" altLang="ja-JP" sz="3200" b="1" dirty="0"/>
          </a:p>
          <a:p>
            <a:r>
              <a:rPr kumimoji="1" lang="ja-JP" altLang="en-US" sz="3200" b="1"/>
              <a:t>できるようになる</a:t>
            </a:r>
          </a:p>
        </p:txBody>
      </p:sp>
      <p:sp>
        <p:nvSpPr>
          <p:cNvPr id="14" name="角丸四角形 13">
            <a:extLst>
              <a:ext uri="{FF2B5EF4-FFF2-40B4-BE49-F238E27FC236}">
                <a16:creationId xmlns:a16="http://schemas.microsoft.com/office/drawing/2014/main" id="{A4249D67-24E4-19BE-07AD-54F6F03CA25D}"/>
              </a:ext>
            </a:extLst>
          </p:cNvPr>
          <p:cNvSpPr/>
          <p:nvPr/>
        </p:nvSpPr>
        <p:spPr>
          <a:xfrm>
            <a:off x="567943" y="5135281"/>
            <a:ext cx="1704813" cy="52694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4400" b="1" dirty="0"/>
              <a:t>LY30</a:t>
            </a:r>
            <a:endParaRPr kumimoji="1" lang="ja-JP" altLang="en-US" sz="4400" b="1"/>
          </a:p>
        </p:txBody>
      </p:sp>
      <p:sp>
        <p:nvSpPr>
          <p:cNvPr id="15" name="テキスト ボックス 14">
            <a:extLst>
              <a:ext uri="{FF2B5EF4-FFF2-40B4-BE49-F238E27FC236}">
                <a16:creationId xmlns:a16="http://schemas.microsoft.com/office/drawing/2014/main" id="{60114536-E015-D0BA-A459-D36397399F2A}"/>
              </a:ext>
            </a:extLst>
          </p:cNvPr>
          <p:cNvSpPr txBox="1"/>
          <p:nvPr/>
        </p:nvSpPr>
        <p:spPr>
          <a:xfrm>
            <a:off x="3000375" y="2540044"/>
            <a:ext cx="3161654" cy="646331"/>
          </a:xfrm>
          <a:prstGeom prst="rect">
            <a:avLst/>
          </a:prstGeom>
          <a:noFill/>
        </p:spPr>
        <p:txBody>
          <a:bodyPr wrap="square" rtlCol="0">
            <a:spAutoFit/>
          </a:bodyPr>
          <a:lstStyle/>
          <a:p>
            <a:r>
              <a:rPr kumimoji="1" lang="en-US" altLang="ja-JP" sz="3600" b="1" dirty="0"/>
              <a:t>10</a:t>
            </a:r>
            <a:r>
              <a:rPr kumimoji="1" lang="ja-JP" altLang="en-US" sz="3600" b="1"/>
              <a:t>分以内</a:t>
            </a:r>
          </a:p>
        </p:txBody>
      </p:sp>
      <p:sp>
        <p:nvSpPr>
          <p:cNvPr id="16" name="テキスト ボックス 15">
            <a:extLst>
              <a:ext uri="{FF2B5EF4-FFF2-40B4-BE49-F238E27FC236}">
                <a16:creationId xmlns:a16="http://schemas.microsoft.com/office/drawing/2014/main" id="{79E15A49-09B1-DE85-851F-4EA99AC32656}"/>
              </a:ext>
            </a:extLst>
          </p:cNvPr>
          <p:cNvSpPr txBox="1"/>
          <p:nvPr/>
        </p:nvSpPr>
        <p:spPr>
          <a:xfrm>
            <a:off x="3000375" y="1680054"/>
            <a:ext cx="7817442" cy="646331"/>
          </a:xfrm>
          <a:prstGeom prst="rect">
            <a:avLst/>
          </a:prstGeom>
          <a:noFill/>
        </p:spPr>
        <p:txBody>
          <a:bodyPr wrap="square" rtlCol="0">
            <a:spAutoFit/>
          </a:bodyPr>
          <a:lstStyle/>
          <a:p>
            <a:r>
              <a:rPr kumimoji="1" lang="en-US" altLang="ja-JP" sz="3600" b="1" dirty="0"/>
              <a:t>10</a:t>
            </a:r>
            <a:r>
              <a:rPr kumimoji="1" lang="ja-JP" altLang="en-US" sz="3600" b="1"/>
              <a:t>分以内　</a:t>
            </a:r>
            <a:r>
              <a:rPr kumimoji="1" lang="ja-JP" altLang="en-US" sz="3600" b="1">
                <a:solidFill>
                  <a:srgbClr val="FF0000"/>
                </a:solidFill>
              </a:rPr>
              <a:t>ヘパリン使用時</a:t>
            </a:r>
            <a:r>
              <a:rPr lang="ja-JP" altLang="en-US" sz="3600" b="1" dirty="0">
                <a:solidFill>
                  <a:srgbClr val="FF0000"/>
                </a:solidFill>
              </a:rPr>
              <a:t>　</a:t>
            </a:r>
            <a:r>
              <a:rPr kumimoji="1" lang="en-US" altLang="ja-JP" sz="3600" b="1" dirty="0">
                <a:solidFill>
                  <a:srgbClr val="FF0000"/>
                </a:solidFill>
              </a:rPr>
              <a:t>16−24</a:t>
            </a:r>
            <a:r>
              <a:rPr kumimoji="1" lang="ja-JP" altLang="en-US" sz="3600" b="1">
                <a:solidFill>
                  <a:srgbClr val="FF0000"/>
                </a:solidFill>
              </a:rPr>
              <a:t>分</a:t>
            </a:r>
          </a:p>
        </p:txBody>
      </p:sp>
      <p:sp>
        <p:nvSpPr>
          <p:cNvPr id="17" name="テキスト ボックス 16">
            <a:extLst>
              <a:ext uri="{FF2B5EF4-FFF2-40B4-BE49-F238E27FC236}">
                <a16:creationId xmlns:a16="http://schemas.microsoft.com/office/drawing/2014/main" id="{58B4CF54-5E9C-C769-265E-72BE46EF1FDC}"/>
              </a:ext>
            </a:extLst>
          </p:cNvPr>
          <p:cNvSpPr txBox="1"/>
          <p:nvPr/>
        </p:nvSpPr>
        <p:spPr>
          <a:xfrm>
            <a:off x="3000375" y="3444945"/>
            <a:ext cx="3161654" cy="646331"/>
          </a:xfrm>
          <a:prstGeom prst="rect">
            <a:avLst/>
          </a:prstGeom>
          <a:noFill/>
        </p:spPr>
        <p:txBody>
          <a:bodyPr wrap="square" rtlCol="0">
            <a:spAutoFit/>
          </a:bodyPr>
          <a:lstStyle/>
          <a:p>
            <a:r>
              <a:rPr kumimoji="1" lang="en-US" altLang="ja-JP" sz="3600" b="1" dirty="0"/>
              <a:t>50mm</a:t>
            </a:r>
            <a:r>
              <a:rPr kumimoji="1" lang="ja-JP" altLang="en-US" sz="3600" b="1"/>
              <a:t>以上</a:t>
            </a:r>
          </a:p>
        </p:txBody>
      </p:sp>
      <p:sp>
        <p:nvSpPr>
          <p:cNvPr id="18" name="テキスト ボックス 17">
            <a:extLst>
              <a:ext uri="{FF2B5EF4-FFF2-40B4-BE49-F238E27FC236}">
                <a16:creationId xmlns:a16="http://schemas.microsoft.com/office/drawing/2014/main" id="{3481AF3E-7CA1-43D2-428F-D5A7810E7A37}"/>
              </a:ext>
            </a:extLst>
          </p:cNvPr>
          <p:cNvSpPr txBox="1"/>
          <p:nvPr/>
        </p:nvSpPr>
        <p:spPr>
          <a:xfrm>
            <a:off x="3000375" y="4354395"/>
            <a:ext cx="3161654" cy="646331"/>
          </a:xfrm>
          <a:prstGeom prst="rect">
            <a:avLst/>
          </a:prstGeom>
          <a:noFill/>
        </p:spPr>
        <p:txBody>
          <a:bodyPr wrap="square" rtlCol="0">
            <a:spAutoFit/>
          </a:bodyPr>
          <a:lstStyle/>
          <a:p>
            <a:r>
              <a:rPr lang="en-US" altLang="ja-JP" sz="3600" b="1" dirty="0"/>
              <a:t>15</a:t>
            </a:r>
            <a:r>
              <a:rPr kumimoji="1" lang="en-US" altLang="ja-JP" sz="3600" b="1" dirty="0"/>
              <a:t>mm</a:t>
            </a:r>
            <a:r>
              <a:rPr kumimoji="1" lang="ja-JP" altLang="en-US" sz="3600" b="1"/>
              <a:t>以上</a:t>
            </a:r>
          </a:p>
        </p:txBody>
      </p:sp>
      <p:sp>
        <p:nvSpPr>
          <p:cNvPr id="19" name="テキスト ボックス 18">
            <a:extLst>
              <a:ext uri="{FF2B5EF4-FFF2-40B4-BE49-F238E27FC236}">
                <a16:creationId xmlns:a16="http://schemas.microsoft.com/office/drawing/2014/main" id="{1E210C54-75F4-5D24-ADC7-75540CAB7FFF}"/>
              </a:ext>
            </a:extLst>
          </p:cNvPr>
          <p:cNvSpPr txBox="1"/>
          <p:nvPr/>
        </p:nvSpPr>
        <p:spPr>
          <a:xfrm>
            <a:off x="3000375" y="5075586"/>
            <a:ext cx="3161654" cy="646331"/>
          </a:xfrm>
          <a:prstGeom prst="rect">
            <a:avLst/>
          </a:prstGeom>
          <a:noFill/>
        </p:spPr>
        <p:txBody>
          <a:bodyPr wrap="square" rtlCol="0">
            <a:spAutoFit/>
          </a:bodyPr>
          <a:lstStyle/>
          <a:p>
            <a:r>
              <a:rPr kumimoji="1" lang="en-US" altLang="ja-JP" sz="3600" b="1" dirty="0"/>
              <a:t>3</a:t>
            </a:r>
            <a:r>
              <a:rPr kumimoji="1" lang="ja-JP" altLang="en-US" sz="3600" b="1"/>
              <a:t>％以内</a:t>
            </a:r>
          </a:p>
        </p:txBody>
      </p:sp>
    </p:spTree>
    <p:extLst>
      <p:ext uri="{BB962C8B-B14F-4D97-AF65-F5344CB8AC3E}">
        <p14:creationId xmlns:p14="http://schemas.microsoft.com/office/powerpoint/2010/main" val="4244418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036F41-CDD0-A255-009C-4A9D5742348B}"/>
              </a:ext>
            </a:extLst>
          </p:cNvPr>
          <p:cNvSpPr>
            <a:spLocks noGrp="1"/>
          </p:cNvSpPr>
          <p:nvPr>
            <p:ph type="title"/>
          </p:nvPr>
        </p:nvSpPr>
        <p:spPr/>
        <p:txBody>
          <a:bodyPr/>
          <a:lstStyle/>
          <a:p>
            <a:r>
              <a:rPr kumimoji="1" lang="en-US" altLang="ja-JP" dirty="0"/>
              <a:t>TEG platelet mapping : TEG PM</a:t>
            </a:r>
            <a:endParaRPr kumimoji="1" lang="ja-JP" altLang="en-US"/>
          </a:p>
        </p:txBody>
      </p:sp>
      <p:sp>
        <p:nvSpPr>
          <p:cNvPr id="4" name="日付プレースホルダー 3">
            <a:extLst>
              <a:ext uri="{FF2B5EF4-FFF2-40B4-BE49-F238E27FC236}">
                <a16:creationId xmlns:a16="http://schemas.microsoft.com/office/drawing/2014/main" id="{3F3576D8-E468-72A9-4575-566FFFE71A0A}"/>
              </a:ext>
            </a:extLst>
          </p:cNvPr>
          <p:cNvSpPr>
            <a:spLocks noGrp="1"/>
          </p:cNvSpPr>
          <p:nvPr>
            <p:ph type="dt" sz="half" idx="10"/>
          </p:nvPr>
        </p:nvSpPr>
        <p:spPr/>
        <p:txBody>
          <a:bodyPr/>
          <a:lstStyle/>
          <a:p>
            <a:fld id="{4B01A45A-244C-4646-A229-86FB0E1D7FFC}"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518B7A9B-50B2-EE15-5AF9-D74A422E93FC}"/>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4BA978CD-B9C3-9C10-C94E-8BFAFDA6EC90}"/>
              </a:ext>
            </a:extLst>
          </p:cNvPr>
          <p:cNvSpPr>
            <a:spLocks noGrp="1"/>
          </p:cNvSpPr>
          <p:nvPr>
            <p:ph type="sldNum" sz="quarter" idx="12"/>
          </p:nvPr>
        </p:nvSpPr>
        <p:spPr/>
        <p:txBody>
          <a:bodyPr/>
          <a:lstStyle/>
          <a:p>
            <a:r>
              <a:rPr lang="en-US" altLang="ja-JP"/>
              <a:t>No. </a:t>
            </a:r>
            <a:fld id="{41B87E3F-77EC-4EFD-94DE-AA3AEB7C7760}" type="slidenum">
              <a:rPr lang="ja-JP" altLang="en-US" smtClean="0"/>
              <a:pPr/>
              <a:t>14</a:t>
            </a:fld>
            <a:endParaRPr kumimoji="1" lang="ja-JP" altLang="en-US" dirty="0"/>
          </a:p>
        </p:txBody>
      </p:sp>
      <p:sp>
        <p:nvSpPr>
          <p:cNvPr id="7" name="正方形/長方形 6">
            <a:extLst>
              <a:ext uri="{FF2B5EF4-FFF2-40B4-BE49-F238E27FC236}">
                <a16:creationId xmlns:a16="http://schemas.microsoft.com/office/drawing/2014/main" id="{D9B08011-70B7-08F1-BEE5-9D35B9071C97}"/>
              </a:ext>
            </a:extLst>
          </p:cNvPr>
          <p:cNvSpPr/>
          <p:nvPr/>
        </p:nvSpPr>
        <p:spPr>
          <a:xfrm>
            <a:off x="103044" y="1926449"/>
            <a:ext cx="11757098" cy="892552"/>
          </a:xfrm>
          <a:prstGeom prst="rect">
            <a:avLst/>
          </a:prstGeom>
        </p:spPr>
        <p:txBody>
          <a:bodyPr wrap="square">
            <a:spAutoFit/>
          </a:bodyPr>
          <a:lstStyle/>
          <a:p>
            <a:r>
              <a:rPr lang="ja-JP" altLang="en-US" sz="2600" dirty="0">
                <a:latin typeface="+mn-ea"/>
                <a:cs typeface="Tahoma" panose="020B0604030504040204" pitchFamily="34" charset="0"/>
              </a:rPr>
              <a:t>血小板機能を正しく理解することで、出血リスク・血栓・虚血性イベント等のリスクを正確に把握することができ、より的確な治療選択をサポート</a:t>
            </a:r>
            <a:endParaRPr lang="en-US" sz="2600" dirty="0">
              <a:latin typeface="+mn-ea"/>
              <a:cs typeface="Tahoma" panose="020B0604030504040204" pitchFamily="34" charset="0"/>
            </a:endParaRPr>
          </a:p>
        </p:txBody>
      </p:sp>
      <p:pic>
        <p:nvPicPr>
          <p:cNvPr id="8" name="図 7">
            <a:extLst>
              <a:ext uri="{FF2B5EF4-FFF2-40B4-BE49-F238E27FC236}">
                <a16:creationId xmlns:a16="http://schemas.microsoft.com/office/drawing/2014/main" id="{565EA4C9-5847-06C5-4E9C-A74DE2C07158}"/>
              </a:ext>
            </a:extLst>
          </p:cNvPr>
          <p:cNvPicPr>
            <a:picLocks noChangeAspect="1"/>
          </p:cNvPicPr>
          <p:nvPr/>
        </p:nvPicPr>
        <p:blipFill>
          <a:blip r:embed="rId2"/>
          <a:stretch>
            <a:fillRect/>
          </a:stretch>
        </p:blipFill>
        <p:spPr>
          <a:xfrm>
            <a:off x="247461" y="3206045"/>
            <a:ext cx="11697078" cy="2856687"/>
          </a:xfrm>
          <a:prstGeom prst="rect">
            <a:avLst/>
          </a:prstGeom>
        </p:spPr>
      </p:pic>
    </p:spTree>
    <p:extLst>
      <p:ext uri="{BB962C8B-B14F-4D97-AF65-F5344CB8AC3E}">
        <p14:creationId xmlns:p14="http://schemas.microsoft.com/office/powerpoint/2010/main" val="1912841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FD8119BB-8D6A-6727-FB9C-DC5C2D4BC6A1}"/>
              </a:ext>
            </a:extLst>
          </p:cNvPr>
          <p:cNvSpPr>
            <a:spLocks noGrp="1"/>
          </p:cNvSpPr>
          <p:nvPr>
            <p:ph type="dt" sz="half" idx="10"/>
          </p:nvPr>
        </p:nvSpPr>
        <p:spPr/>
        <p:txBody>
          <a:bodyPr/>
          <a:lstStyle/>
          <a:p>
            <a:fld id="{C17FAF59-BD4D-5549-98FE-EAD2DE10E486}"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6B4E3FA1-398A-03C6-62D6-FAE680645FDC}"/>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9E9D67D4-1AAE-040D-0DA4-70C2151610DF}"/>
              </a:ext>
            </a:extLst>
          </p:cNvPr>
          <p:cNvSpPr>
            <a:spLocks noGrp="1"/>
          </p:cNvSpPr>
          <p:nvPr>
            <p:ph type="sldNum" sz="quarter" idx="12"/>
          </p:nvPr>
        </p:nvSpPr>
        <p:spPr/>
        <p:txBody>
          <a:bodyPr/>
          <a:lstStyle/>
          <a:p>
            <a:r>
              <a:rPr lang="en-US" altLang="ja-JP"/>
              <a:t>No. </a:t>
            </a:r>
            <a:fld id="{41B87E3F-77EC-4EFD-94DE-AA3AEB7C7760}" type="slidenum">
              <a:rPr lang="ja-JP" altLang="en-US" smtClean="0"/>
              <a:pPr/>
              <a:t>15</a:t>
            </a:fld>
            <a:endParaRPr kumimoji="1" lang="ja-JP" altLang="en-US" dirty="0"/>
          </a:p>
        </p:txBody>
      </p:sp>
      <p:grpSp>
        <p:nvGrpSpPr>
          <p:cNvPr id="30" name="グループ化 29">
            <a:extLst>
              <a:ext uri="{FF2B5EF4-FFF2-40B4-BE49-F238E27FC236}">
                <a16:creationId xmlns:a16="http://schemas.microsoft.com/office/drawing/2014/main" id="{018EFE06-CE78-6776-A8F6-865FDB0BFB7D}"/>
              </a:ext>
            </a:extLst>
          </p:cNvPr>
          <p:cNvGrpSpPr/>
          <p:nvPr/>
        </p:nvGrpSpPr>
        <p:grpSpPr>
          <a:xfrm>
            <a:off x="1399620" y="1525609"/>
            <a:ext cx="4547575" cy="2933502"/>
            <a:chOff x="248804" y="1844985"/>
            <a:chExt cx="4917557" cy="3452256"/>
          </a:xfrm>
        </p:grpSpPr>
        <p:grpSp>
          <p:nvGrpSpPr>
            <p:cNvPr id="31" name="グループ化 30">
              <a:extLst>
                <a:ext uri="{FF2B5EF4-FFF2-40B4-BE49-F238E27FC236}">
                  <a16:creationId xmlns:a16="http://schemas.microsoft.com/office/drawing/2014/main" id="{E7927685-FD87-102E-D9AE-E040D2857C67}"/>
                </a:ext>
              </a:extLst>
            </p:cNvPr>
            <p:cNvGrpSpPr/>
            <p:nvPr/>
          </p:nvGrpSpPr>
          <p:grpSpPr>
            <a:xfrm>
              <a:off x="248804" y="1844985"/>
              <a:ext cx="4759706" cy="3452256"/>
              <a:chOff x="254254" y="1844985"/>
              <a:chExt cx="4693295" cy="3452256"/>
            </a:xfrm>
          </p:grpSpPr>
          <p:pic>
            <p:nvPicPr>
              <p:cNvPr id="35" name="Picture 21">
                <a:extLst>
                  <a:ext uri="{FF2B5EF4-FFF2-40B4-BE49-F238E27FC236}">
                    <a16:creationId xmlns:a16="http://schemas.microsoft.com/office/drawing/2014/main" id="{E675DFA7-85C5-E523-582F-0DE4BAA912D8}"/>
                  </a:ext>
                </a:extLst>
              </p:cNvPr>
              <p:cNvPicPr>
                <a:picLocks noChangeAspect="1"/>
              </p:cNvPicPr>
              <p:nvPr/>
            </p:nvPicPr>
            <p:blipFill>
              <a:blip r:embed="rId2"/>
              <a:stretch>
                <a:fillRect/>
              </a:stretch>
            </p:blipFill>
            <p:spPr>
              <a:xfrm>
                <a:off x="254254" y="1844985"/>
                <a:ext cx="4693295" cy="3452256"/>
              </a:xfrm>
              <a:prstGeom prst="rect">
                <a:avLst/>
              </a:prstGeom>
            </p:spPr>
          </p:pic>
          <p:cxnSp>
            <p:nvCxnSpPr>
              <p:cNvPr id="36" name="直線矢印コネクタ 35">
                <a:extLst>
                  <a:ext uri="{FF2B5EF4-FFF2-40B4-BE49-F238E27FC236}">
                    <a16:creationId xmlns:a16="http://schemas.microsoft.com/office/drawing/2014/main" id="{CC2EE8E4-67FA-E5FC-823B-3EE4FE7A0C60}"/>
                  </a:ext>
                </a:extLst>
              </p:cNvPr>
              <p:cNvCxnSpPr/>
              <p:nvPr/>
            </p:nvCxnSpPr>
            <p:spPr>
              <a:xfrm flipH="1">
                <a:off x="1280160" y="2347415"/>
                <a:ext cx="2730" cy="1223698"/>
              </a:xfrm>
              <a:prstGeom prst="straightConnector1">
                <a:avLst/>
              </a:prstGeom>
              <a:ln w="44450">
                <a:solidFill>
                  <a:schemeClr val="accent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7" name="直線矢印コネクタ 36">
                <a:extLst>
                  <a:ext uri="{FF2B5EF4-FFF2-40B4-BE49-F238E27FC236}">
                    <a16:creationId xmlns:a16="http://schemas.microsoft.com/office/drawing/2014/main" id="{F86A7EB1-6AC9-4268-F5EE-6F5214A074B1}"/>
                  </a:ext>
                </a:extLst>
              </p:cNvPr>
              <p:cNvCxnSpPr/>
              <p:nvPr/>
            </p:nvCxnSpPr>
            <p:spPr>
              <a:xfrm>
                <a:off x="1770570" y="2347415"/>
                <a:ext cx="12510" cy="1223698"/>
              </a:xfrm>
              <a:prstGeom prst="straightConnector1">
                <a:avLst/>
              </a:prstGeom>
              <a:ln w="44450">
                <a:solidFill>
                  <a:srgbClr val="00B050"/>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8" name="直線矢印コネクタ 37">
                <a:extLst>
                  <a:ext uri="{FF2B5EF4-FFF2-40B4-BE49-F238E27FC236}">
                    <a16:creationId xmlns:a16="http://schemas.microsoft.com/office/drawing/2014/main" id="{9C9A01F5-9C2F-339E-8C43-601B4FA9A509}"/>
                  </a:ext>
                </a:extLst>
              </p:cNvPr>
              <p:cNvCxnSpPr/>
              <p:nvPr/>
            </p:nvCxnSpPr>
            <p:spPr>
              <a:xfrm>
                <a:off x="932221" y="2773680"/>
                <a:ext cx="4206" cy="396240"/>
              </a:xfrm>
              <a:prstGeom prst="straightConnector1">
                <a:avLst/>
              </a:prstGeom>
              <a:ln w="44450">
                <a:solidFill>
                  <a:srgbClr val="7030A0"/>
                </a:solidFill>
                <a:headEnd type="triangle"/>
                <a:tailEnd type="triangle"/>
              </a:ln>
              <a:effectLst/>
            </p:spPr>
            <p:style>
              <a:lnRef idx="2">
                <a:schemeClr val="accent1"/>
              </a:lnRef>
              <a:fillRef idx="0">
                <a:schemeClr val="accent1"/>
              </a:fillRef>
              <a:effectRef idx="1">
                <a:schemeClr val="accent1"/>
              </a:effectRef>
              <a:fontRef idx="minor">
                <a:schemeClr val="tx1"/>
              </a:fontRef>
            </p:style>
          </p:cxnSp>
        </p:grpSp>
        <p:sp>
          <p:nvSpPr>
            <p:cNvPr id="32" name="Rounded Rectangle 33">
              <a:extLst>
                <a:ext uri="{FF2B5EF4-FFF2-40B4-BE49-F238E27FC236}">
                  <a16:creationId xmlns:a16="http://schemas.microsoft.com/office/drawing/2014/main" id="{18A610FA-23A8-516A-5552-A6AD14E6EFCA}"/>
                </a:ext>
              </a:extLst>
            </p:cNvPr>
            <p:cNvSpPr/>
            <p:nvPr/>
          </p:nvSpPr>
          <p:spPr>
            <a:xfrm>
              <a:off x="3643063" y="4718133"/>
              <a:ext cx="974657" cy="158668"/>
            </a:xfrm>
            <a:prstGeom prst="roundRect">
              <a:avLst/>
            </a:prstGeom>
            <a:solidFill>
              <a:srgbClr val="44B33F"/>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latin typeface="メイリオ" panose="020B0604030504040204" pitchFamily="50" charset="-128"/>
                  <a:ea typeface="メイリオ" panose="020B0604030504040204" pitchFamily="50" charset="-128"/>
                </a:rPr>
                <a:t>MA</a:t>
              </a:r>
              <a:r>
                <a:rPr lang="ja-JP" altLang="en-US" sz="1100" dirty="0">
                  <a:latin typeface="メイリオ" panose="020B0604030504040204" pitchFamily="50" charset="-128"/>
                  <a:ea typeface="メイリオ" panose="020B0604030504040204" pitchFamily="50" charset="-128"/>
                </a:rPr>
                <a:t>－</a:t>
              </a:r>
              <a:r>
                <a:rPr lang="en-US" altLang="ja-JP" sz="1000" dirty="0">
                  <a:latin typeface="メイリオ" panose="020B0604030504040204" pitchFamily="50" charset="-128"/>
                  <a:ea typeface="メイリオ" panose="020B0604030504040204" pitchFamily="50" charset="-128"/>
                </a:rPr>
                <a:t>ADP</a:t>
              </a:r>
              <a:endParaRPr lang="en-US" sz="1100" baseline="-25000" dirty="0">
                <a:latin typeface="メイリオ" panose="020B0604030504040204" pitchFamily="50" charset="-128"/>
                <a:ea typeface="メイリオ" panose="020B0604030504040204" pitchFamily="50" charset="-128"/>
              </a:endParaRPr>
            </a:p>
          </p:txBody>
        </p:sp>
        <p:sp>
          <p:nvSpPr>
            <p:cNvPr id="33" name="角丸四角形 32">
              <a:extLst>
                <a:ext uri="{FF2B5EF4-FFF2-40B4-BE49-F238E27FC236}">
                  <a16:creationId xmlns:a16="http://schemas.microsoft.com/office/drawing/2014/main" id="{CEEAA5DE-C80E-AB48-42DC-B1AD1BF068DF}"/>
                </a:ext>
              </a:extLst>
            </p:cNvPr>
            <p:cNvSpPr/>
            <p:nvPr/>
          </p:nvSpPr>
          <p:spPr>
            <a:xfrm>
              <a:off x="3650129" y="4498506"/>
              <a:ext cx="1516232" cy="189147"/>
            </a:xfrm>
            <a:prstGeom prst="roundRect">
              <a:avLst/>
            </a:prstGeom>
            <a:solidFill>
              <a:schemeClr val="accent3">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000" dirty="0">
                  <a:latin typeface="メイリオ" panose="020B0604030504040204" pitchFamily="50" charset="-128"/>
                  <a:ea typeface="メイリオ" panose="020B0604030504040204" pitchFamily="50" charset="-128"/>
                </a:rPr>
                <a:t>MA</a:t>
              </a:r>
              <a:r>
                <a:rPr lang="ja-JP" altLang="en-US" sz="1000" dirty="0">
                  <a:latin typeface="メイリオ" panose="020B0604030504040204" pitchFamily="50" charset="-128"/>
                  <a:ea typeface="メイリオ" panose="020B0604030504040204" pitchFamily="50" charset="-128"/>
                </a:rPr>
                <a:t>フィブリノゲン</a:t>
              </a:r>
              <a:endParaRPr lang="en-US" sz="1000" dirty="0">
                <a:latin typeface="メイリオ" panose="020B0604030504040204" pitchFamily="50" charset="-128"/>
                <a:ea typeface="メイリオ" panose="020B0604030504040204" pitchFamily="50" charset="-128"/>
              </a:endParaRPr>
            </a:p>
          </p:txBody>
        </p:sp>
        <p:sp>
          <p:nvSpPr>
            <p:cNvPr id="34" name="角丸四角形 33">
              <a:extLst>
                <a:ext uri="{FF2B5EF4-FFF2-40B4-BE49-F238E27FC236}">
                  <a16:creationId xmlns:a16="http://schemas.microsoft.com/office/drawing/2014/main" id="{550CF668-14BA-A0BF-FB8F-B4489102ADF1}"/>
                </a:ext>
              </a:extLst>
            </p:cNvPr>
            <p:cNvSpPr/>
            <p:nvPr/>
          </p:nvSpPr>
          <p:spPr>
            <a:xfrm>
              <a:off x="3643063" y="4291413"/>
              <a:ext cx="1310640" cy="1676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050" dirty="0">
                  <a:latin typeface="メイリオ" panose="020B0604030504040204" pitchFamily="50" charset="-128"/>
                  <a:ea typeface="メイリオ" panose="020B0604030504040204" pitchFamily="50" charset="-128"/>
                </a:rPr>
                <a:t>MA</a:t>
              </a:r>
              <a:r>
                <a:rPr lang="ja-JP" altLang="en-US" sz="1050" dirty="0">
                  <a:latin typeface="メイリオ" panose="020B0604030504040204" pitchFamily="50" charset="-128"/>
                  <a:ea typeface="メイリオ" panose="020B0604030504040204" pitchFamily="50" charset="-128"/>
                </a:rPr>
                <a:t>血小板全体</a:t>
              </a:r>
              <a:endParaRPr lang="en-US" sz="1050" dirty="0">
                <a:latin typeface="メイリオ" panose="020B0604030504040204" pitchFamily="50" charset="-128"/>
                <a:ea typeface="メイリオ" panose="020B0604030504040204" pitchFamily="50" charset="-128"/>
              </a:endParaRPr>
            </a:p>
          </p:txBody>
        </p:sp>
      </p:grpSp>
      <p:grpSp>
        <p:nvGrpSpPr>
          <p:cNvPr id="39" name="グループ化 38">
            <a:extLst>
              <a:ext uri="{FF2B5EF4-FFF2-40B4-BE49-F238E27FC236}">
                <a16:creationId xmlns:a16="http://schemas.microsoft.com/office/drawing/2014/main" id="{585BFA27-416D-C2A7-0DB1-79FC2AEF04CF}"/>
              </a:ext>
            </a:extLst>
          </p:cNvPr>
          <p:cNvGrpSpPr/>
          <p:nvPr/>
        </p:nvGrpSpPr>
        <p:grpSpPr>
          <a:xfrm>
            <a:off x="6629155" y="1525609"/>
            <a:ext cx="4401600" cy="2933502"/>
            <a:chOff x="6789744" y="1906333"/>
            <a:chExt cx="4807897" cy="3390908"/>
          </a:xfrm>
        </p:grpSpPr>
        <p:grpSp>
          <p:nvGrpSpPr>
            <p:cNvPr id="40" name="グループ化 39">
              <a:extLst>
                <a:ext uri="{FF2B5EF4-FFF2-40B4-BE49-F238E27FC236}">
                  <a16:creationId xmlns:a16="http://schemas.microsoft.com/office/drawing/2014/main" id="{41C41319-260D-1773-A6BA-A43B5DD36D3D}"/>
                </a:ext>
              </a:extLst>
            </p:cNvPr>
            <p:cNvGrpSpPr/>
            <p:nvPr/>
          </p:nvGrpSpPr>
          <p:grpSpPr>
            <a:xfrm>
              <a:off x="6789744" y="1906333"/>
              <a:ext cx="4598167" cy="3390908"/>
              <a:chOff x="6835464" y="1906333"/>
              <a:chExt cx="4598167" cy="3390908"/>
            </a:xfrm>
          </p:grpSpPr>
          <p:pic>
            <p:nvPicPr>
              <p:cNvPr id="44" name="Picture 2">
                <a:extLst>
                  <a:ext uri="{FF2B5EF4-FFF2-40B4-BE49-F238E27FC236}">
                    <a16:creationId xmlns:a16="http://schemas.microsoft.com/office/drawing/2014/main" id="{C9FF42F4-A055-A59E-2733-235BDB979C6D}"/>
                  </a:ext>
                </a:extLst>
              </p:cNvPr>
              <p:cNvPicPr>
                <a:picLocks noChangeAspect="1"/>
              </p:cNvPicPr>
              <p:nvPr/>
            </p:nvPicPr>
            <p:blipFill>
              <a:blip r:embed="rId3"/>
              <a:stretch>
                <a:fillRect/>
              </a:stretch>
            </p:blipFill>
            <p:spPr>
              <a:xfrm>
                <a:off x="6835464" y="1906333"/>
                <a:ext cx="4598167" cy="3390908"/>
              </a:xfrm>
              <a:prstGeom prst="rect">
                <a:avLst/>
              </a:prstGeom>
            </p:spPr>
          </p:pic>
          <p:cxnSp>
            <p:nvCxnSpPr>
              <p:cNvPr id="45" name="直線矢印コネクタ 44">
                <a:extLst>
                  <a:ext uri="{FF2B5EF4-FFF2-40B4-BE49-F238E27FC236}">
                    <a16:creationId xmlns:a16="http://schemas.microsoft.com/office/drawing/2014/main" id="{6906DC5E-FF78-9663-368B-A6BAE02B7880}"/>
                  </a:ext>
                </a:extLst>
              </p:cNvPr>
              <p:cNvCxnSpPr/>
              <p:nvPr/>
            </p:nvCxnSpPr>
            <p:spPr>
              <a:xfrm flipH="1">
                <a:off x="7786917" y="2347415"/>
                <a:ext cx="2769" cy="1223698"/>
              </a:xfrm>
              <a:prstGeom prst="straightConnector1">
                <a:avLst/>
              </a:prstGeom>
              <a:ln w="44450">
                <a:solidFill>
                  <a:schemeClr val="accent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46" name="直線矢印コネクタ 45">
                <a:extLst>
                  <a:ext uri="{FF2B5EF4-FFF2-40B4-BE49-F238E27FC236}">
                    <a16:creationId xmlns:a16="http://schemas.microsoft.com/office/drawing/2014/main" id="{FC0E0B76-7A39-35FF-5576-42BB8B1FC25E}"/>
                  </a:ext>
                </a:extLst>
              </p:cNvPr>
              <p:cNvCxnSpPr/>
              <p:nvPr/>
            </p:nvCxnSpPr>
            <p:spPr>
              <a:xfrm flipH="1">
                <a:off x="8122920" y="2682695"/>
                <a:ext cx="8946" cy="563425"/>
              </a:xfrm>
              <a:prstGeom prst="straightConnector1">
                <a:avLst/>
              </a:prstGeom>
              <a:ln w="44450">
                <a:solidFill>
                  <a:srgbClr val="00B050"/>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47" name="直線矢印コネクタ 46">
                <a:extLst>
                  <a:ext uri="{FF2B5EF4-FFF2-40B4-BE49-F238E27FC236}">
                    <a16:creationId xmlns:a16="http://schemas.microsoft.com/office/drawing/2014/main" id="{B7299B73-B804-610B-C717-E61B921D191B}"/>
                  </a:ext>
                </a:extLst>
              </p:cNvPr>
              <p:cNvCxnSpPr/>
              <p:nvPr/>
            </p:nvCxnSpPr>
            <p:spPr>
              <a:xfrm>
                <a:off x="7434054" y="2727960"/>
                <a:ext cx="4266" cy="396240"/>
              </a:xfrm>
              <a:prstGeom prst="straightConnector1">
                <a:avLst/>
              </a:prstGeom>
              <a:ln w="44450">
                <a:solidFill>
                  <a:srgbClr val="7030A0"/>
                </a:solidFill>
                <a:headEnd type="triangle"/>
                <a:tailEnd type="triangle"/>
              </a:ln>
              <a:effectLst/>
            </p:spPr>
            <p:style>
              <a:lnRef idx="2">
                <a:schemeClr val="accent1"/>
              </a:lnRef>
              <a:fillRef idx="0">
                <a:schemeClr val="accent1"/>
              </a:fillRef>
              <a:effectRef idx="1">
                <a:schemeClr val="accent1"/>
              </a:effectRef>
              <a:fontRef idx="minor">
                <a:schemeClr val="tx1"/>
              </a:fontRef>
            </p:style>
          </p:cxnSp>
        </p:grpSp>
        <p:sp>
          <p:nvSpPr>
            <p:cNvPr id="41" name="Rounded Rectangle 33">
              <a:extLst>
                <a:ext uri="{FF2B5EF4-FFF2-40B4-BE49-F238E27FC236}">
                  <a16:creationId xmlns:a16="http://schemas.microsoft.com/office/drawing/2014/main" id="{AD428D88-6133-8B63-5C61-6A0E5C9643C0}"/>
                </a:ext>
              </a:extLst>
            </p:cNvPr>
            <p:cNvSpPr/>
            <p:nvPr/>
          </p:nvSpPr>
          <p:spPr>
            <a:xfrm>
              <a:off x="10074343" y="4702893"/>
              <a:ext cx="974657" cy="158668"/>
            </a:xfrm>
            <a:prstGeom prst="roundRect">
              <a:avLst/>
            </a:prstGeom>
            <a:solidFill>
              <a:srgbClr val="44B33F"/>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latin typeface="メイリオ" panose="020B0604030504040204" pitchFamily="50" charset="-128"/>
                  <a:ea typeface="メイリオ" panose="020B0604030504040204" pitchFamily="50" charset="-128"/>
                </a:rPr>
                <a:t>MA</a:t>
              </a:r>
              <a:r>
                <a:rPr lang="ja-JP" altLang="en-US" sz="1100" dirty="0">
                  <a:latin typeface="メイリオ" panose="020B0604030504040204" pitchFamily="50" charset="-128"/>
                  <a:ea typeface="メイリオ" panose="020B0604030504040204" pitchFamily="50" charset="-128"/>
                </a:rPr>
                <a:t>－</a:t>
              </a:r>
              <a:r>
                <a:rPr lang="en-US" altLang="ja-JP" sz="1000" dirty="0">
                  <a:latin typeface="メイリオ" panose="020B0604030504040204" pitchFamily="50" charset="-128"/>
                  <a:ea typeface="メイリオ" panose="020B0604030504040204" pitchFamily="50" charset="-128"/>
                </a:rPr>
                <a:t>ADP</a:t>
              </a:r>
              <a:endParaRPr lang="en-US" sz="1100" baseline="-25000" dirty="0">
                <a:latin typeface="メイリオ" panose="020B0604030504040204" pitchFamily="50" charset="-128"/>
                <a:ea typeface="メイリオ" panose="020B0604030504040204" pitchFamily="50" charset="-128"/>
              </a:endParaRPr>
            </a:p>
          </p:txBody>
        </p:sp>
        <p:sp>
          <p:nvSpPr>
            <p:cNvPr id="42" name="角丸四角形 41">
              <a:extLst>
                <a:ext uri="{FF2B5EF4-FFF2-40B4-BE49-F238E27FC236}">
                  <a16:creationId xmlns:a16="http://schemas.microsoft.com/office/drawing/2014/main" id="{A5D02AE2-D389-017C-D213-6381B53096CB}"/>
                </a:ext>
              </a:extLst>
            </p:cNvPr>
            <p:cNvSpPr/>
            <p:nvPr/>
          </p:nvSpPr>
          <p:spPr>
            <a:xfrm>
              <a:off x="10081409" y="4483266"/>
              <a:ext cx="1516232" cy="189147"/>
            </a:xfrm>
            <a:prstGeom prst="roundRect">
              <a:avLst/>
            </a:prstGeom>
            <a:solidFill>
              <a:schemeClr val="accent3">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050" dirty="0">
                  <a:latin typeface="メイリオ" panose="020B0604030504040204" pitchFamily="50" charset="-128"/>
                  <a:ea typeface="メイリオ" panose="020B0604030504040204" pitchFamily="50" charset="-128"/>
                </a:rPr>
                <a:t>MA</a:t>
              </a:r>
              <a:r>
                <a:rPr lang="ja-JP" altLang="en-US" sz="1050" dirty="0">
                  <a:latin typeface="メイリオ" panose="020B0604030504040204" pitchFamily="50" charset="-128"/>
                  <a:ea typeface="メイリオ" panose="020B0604030504040204" pitchFamily="50" charset="-128"/>
                </a:rPr>
                <a:t>フィブリノゲン</a:t>
              </a:r>
              <a:endParaRPr lang="en-US" sz="1050" dirty="0">
                <a:latin typeface="メイリオ" panose="020B0604030504040204" pitchFamily="50" charset="-128"/>
                <a:ea typeface="メイリオ" panose="020B0604030504040204" pitchFamily="50" charset="-128"/>
              </a:endParaRPr>
            </a:p>
          </p:txBody>
        </p:sp>
        <p:sp>
          <p:nvSpPr>
            <p:cNvPr id="43" name="角丸四角形 42">
              <a:extLst>
                <a:ext uri="{FF2B5EF4-FFF2-40B4-BE49-F238E27FC236}">
                  <a16:creationId xmlns:a16="http://schemas.microsoft.com/office/drawing/2014/main" id="{70F40B8A-5F8A-5EAA-C1CC-8742C21FDEE0}"/>
                </a:ext>
              </a:extLst>
            </p:cNvPr>
            <p:cNvSpPr/>
            <p:nvPr/>
          </p:nvSpPr>
          <p:spPr>
            <a:xfrm>
              <a:off x="10074343" y="4276173"/>
              <a:ext cx="1310640" cy="1676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050" dirty="0">
                  <a:latin typeface="メイリオ" panose="020B0604030504040204" pitchFamily="50" charset="-128"/>
                  <a:ea typeface="メイリオ" panose="020B0604030504040204" pitchFamily="50" charset="-128"/>
                </a:rPr>
                <a:t>MA</a:t>
              </a:r>
              <a:r>
                <a:rPr lang="ja-JP" altLang="en-US" sz="1050" dirty="0">
                  <a:latin typeface="メイリオ" panose="020B0604030504040204" pitchFamily="50" charset="-128"/>
                  <a:ea typeface="メイリオ" panose="020B0604030504040204" pitchFamily="50" charset="-128"/>
                </a:rPr>
                <a:t>血小板全体</a:t>
              </a:r>
              <a:endParaRPr lang="en-US" sz="1050" dirty="0">
                <a:latin typeface="メイリオ" panose="020B0604030504040204" pitchFamily="50" charset="-128"/>
                <a:ea typeface="メイリオ" panose="020B0604030504040204" pitchFamily="50" charset="-128"/>
              </a:endParaRPr>
            </a:p>
          </p:txBody>
        </p:sp>
      </p:grpSp>
      <p:grpSp>
        <p:nvGrpSpPr>
          <p:cNvPr id="48" name="グループ化 47">
            <a:extLst>
              <a:ext uri="{FF2B5EF4-FFF2-40B4-BE49-F238E27FC236}">
                <a16:creationId xmlns:a16="http://schemas.microsoft.com/office/drawing/2014/main" id="{441CBAF9-FC25-52B9-11E9-ABD717E87749}"/>
              </a:ext>
            </a:extLst>
          </p:cNvPr>
          <p:cNvGrpSpPr/>
          <p:nvPr/>
        </p:nvGrpSpPr>
        <p:grpSpPr>
          <a:xfrm>
            <a:off x="1118139" y="4735808"/>
            <a:ext cx="9955722" cy="1662673"/>
            <a:chOff x="2286480" y="3625734"/>
            <a:chExt cx="7502608" cy="3011563"/>
          </a:xfrm>
        </p:grpSpPr>
        <p:grpSp>
          <p:nvGrpSpPr>
            <p:cNvPr id="49" name="グループ化 48">
              <a:extLst>
                <a:ext uri="{FF2B5EF4-FFF2-40B4-BE49-F238E27FC236}">
                  <a16:creationId xmlns:a16="http://schemas.microsoft.com/office/drawing/2014/main" id="{BF5D653F-7ABA-64AD-3E2B-53BAD3504124}"/>
                </a:ext>
              </a:extLst>
            </p:cNvPr>
            <p:cNvGrpSpPr/>
            <p:nvPr/>
          </p:nvGrpSpPr>
          <p:grpSpPr>
            <a:xfrm>
              <a:off x="2299153" y="3641865"/>
              <a:ext cx="1186771" cy="1939342"/>
              <a:chOff x="1926870" y="2155489"/>
              <a:chExt cx="1186771" cy="1939342"/>
            </a:xfrm>
          </p:grpSpPr>
          <p:pic>
            <p:nvPicPr>
              <p:cNvPr id="66" name="図 65">
                <a:extLst>
                  <a:ext uri="{FF2B5EF4-FFF2-40B4-BE49-F238E27FC236}">
                    <a16:creationId xmlns:a16="http://schemas.microsoft.com/office/drawing/2014/main" id="{755C154C-8CAA-6436-B709-C789E1B4C0BE}"/>
                  </a:ext>
                </a:extLst>
              </p:cNvPr>
              <p:cNvPicPr>
                <a:picLocks noChangeAspect="1"/>
              </p:cNvPicPr>
              <p:nvPr/>
            </p:nvPicPr>
            <p:blipFill>
              <a:blip r:embed="rId4"/>
              <a:stretch>
                <a:fillRect/>
              </a:stretch>
            </p:blipFill>
            <p:spPr>
              <a:xfrm>
                <a:off x="1934869" y="2161498"/>
                <a:ext cx="1142857" cy="1933333"/>
              </a:xfrm>
              <a:prstGeom prst="rect">
                <a:avLst/>
              </a:prstGeom>
              <a:ln>
                <a:solidFill>
                  <a:schemeClr val="tx1"/>
                </a:solidFill>
              </a:ln>
            </p:spPr>
          </p:pic>
          <p:sp>
            <p:nvSpPr>
              <p:cNvPr id="67" name="テキスト ボックス 66">
                <a:extLst>
                  <a:ext uri="{FF2B5EF4-FFF2-40B4-BE49-F238E27FC236}">
                    <a16:creationId xmlns:a16="http://schemas.microsoft.com/office/drawing/2014/main" id="{E615DBF3-E61F-696C-82F9-EC10445E9663}"/>
                  </a:ext>
                </a:extLst>
              </p:cNvPr>
              <p:cNvSpPr txBox="1"/>
              <p:nvPr/>
            </p:nvSpPr>
            <p:spPr>
              <a:xfrm>
                <a:off x="1926870" y="2155489"/>
                <a:ext cx="1186771" cy="412118"/>
              </a:xfrm>
              <a:prstGeom prst="rect">
                <a:avLst/>
              </a:prstGeom>
              <a:noFill/>
              <a:ln>
                <a:noFill/>
              </a:ln>
            </p:spPr>
            <p:txBody>
              <a:bodyPr wrap="square" rtlCol="0">
                <a:spAutoFit/>
              </a:bodyPr>
              <a:lstStyle/>
              <a:p>
                <a:pPr algn="ctr">
                  <a:buClr>
                    <a:schemeClr val="accent4"/>
                  </a:buClr>
                </a:pPr>
                <a:r>
                  <a:rPr lang="en-US" altLang="ja-JP" sz="1200" dirty="0">
                    <a:solidFill>
                      <a:srgbClr val="009800"/>
                    </a:solidFill>
                    <a:latin typeface="メイリオ" panose="020B0604030504040204" pitchFamily="50" charset="-128"/>
                    <a:ea typeface="メイリオ" panose="020B0604030504040204" pitchFamily="50" charset="-128"/>
                  </a:rPr>
                  <a:t>0%</a:t>
                </a:r>
                <a:r>
                  <a:rPr lang="ja-JP" altLang="en-US" sz="1200" dirty="0">
                    <a:solidFill>
                      <a:srgbClr val="009800"/>
                    </a:solidFill>
                    <a:latin typeface="メイリオ" panose="020B0604030504040204" pitchFamily="50" charset="-128"/>
                    <a:ea typeface="メイリオ" panose="020B0604030504040204" pitchFamily="50" charset="-128"/>
                  </a:rPr>
                  <a:t>阻害</a:t>
                </a:r>
              </a:p>
            </p:txBody>
          </p:sp>
        </p:grpSp>
        <p:grpSp>
          <p:nvGrpSpPr>
            <p:cNvPr id="50" name="グループ化 49">
              <a:extLst>
                <a:ext uri="{FF2B5EF4-FFF2-40B4-BE49-F238E27FC236}">
                  <a16:creationId xmlns:a16="http://schemas.microsoft.com/office/drawing/2014/main" id="{A8C7F62A-E7E3-DFE3-6E22-704203E1DFFE}"/>
                </a:ext>
              </a:extLst>
            </p:cNvPr>
            <p:cNvGrpSpPr/>
            <p:nvPr/>
          </p:nvGrpSpPr>
          <p:grpSpPr>
            <a:xfrm>
              <a:off x="3725083" y="3641866"/>
              <a:ext cx="1101793" cy="1939341"/>
              <a:chOff x="3352800" y="2155489"/>
              <a:chExt cx="1101793" cy="1939341"/>
            </a:xfrm>
          </p:grpSpPr>
          <p:pic>
            <p:nvPicPr>
              <p:cNvPr id="64" name="図 63">
                <a:extLst>
                  <a:ext uri="{FF2B5EF4-FFF2-40B4-BE49-F238E27FC236}">
                    <a16:creationId xmlns:a16="http://schemas.microsoft.com/office/drawing/2014/main" id="{2429732F-CEB5-EE68-8CC9-F2EBFF1B9804}"/>
                  </a:ext>
                </a:extLst>
              </p:cNvPr>
              <p:cNvPicPr>
                <a:picLocks noChangeAspect="1"/>
              </p:cNvPicPr>
              <p:nvPr/>
            </p:nvPicPr>
            <p:blipFill>
              <a:blip r:embed="rId5"/>
              <a:stretch>
                <a:fillRect/>
              </a:stretch>
            </p:blipFill>
            <p:spPr>
              <a:xfrm>
                <a:off x="3352800" y="2161497"/>
                <a:ext cx="1076190" cy="1933333"/>
              </a:xfrm>
              <a:prstGeom prst="rect">
                <a:avLst/>
              </a:prstGeom>
              <a:ln>
                <a:solidFill>
                  <a:schemeClr val="tx1"/>
                </a:solidFill>
              </a:ln>
            </p:spPr>
          </p:pic>
          <p:sp>
            <p:nvSpPr>
              <p:cNvPr id="65" name="テキスト ボックス 64">
                <a:extLst>
                  <a:ext uri="{FF2B5EF4-FFF2-40B4-BE49-F238E27FC236}">
                    <a16:creationId xmlns:a16="http://schemas.microsoft.com/office/drawing/2014/main" id="{21E7339C-3B88-A441-25A2-E0778C3001F5}"/>
                  </a:ext>
                </a:extLst>
              </p:cNvPr>
              <p:cNvSpPr txBox="1"/>
              <p:nvPr/>
            </p:nvSpPr>
            <p:spPr>
              <a:xfrm>
                <a:off x="3352801" y="2155489"/>
                <a:ext cx="1101792" cy="412118"/>
              </a:xfrm>
              <a:prstGeom prst="rect">
                <a:avLst/>
              </a:prstGeom>
              <a:noFill/>
              <a:ln>
                <a:noFill/>
              </a:ln>
            </p:spPr>
            <p:txBody>
              <a:bodyPr wrap="square" rtlCol="0">
                <a:spAutoFit/>
              </a:bodyPr>
              <a:lstStyle/>
              <a:p>
                <a:pPr algn="ctr">
                  <a:buClr>
                    <a:schemeClr val="accent4"/>
                  </a:buClr>
                </a:pPr>
                <a:r>
                  <a:rPr lang="en-US" altLang="ja-JP" sz="1200" dirty="0">
                    <a:solidFill>
                      <a:srgbClr val="009800"/>
                    </a:solidFill>
                    <a:latin typeface="メイリオ" panose="020B0604030504040204" pitchFamily="50" charset="-128"/>
                    <a:ea typeface="メイリオ" panose="020B0604030504040204" pitchFamily="50" charset="-128"/>
                  </a:rPr>
                  <a:t>30%</a:t>
                </a:r>
                <a:r>
                  <a:rPr lang="ja-JP" altLang="en-US" sz="1200" dirty="0">
                    <a:solidFill>
                      <a:srgbClr val="009800"/>
                    </a:solidFill>
                    <a:latin typeface="メイリオ" panose="020B0604030504040204" pitchFamily="50" charset="-128"/>
                    <a:ea typeface="メイリオ" panose="020B0604030504040204" pitchFamily="50" charset="-128"/>
                  </a:rPr>
                  <a:t>阻害</a:t>
                </a:r>
              </a:p>
            </p:txBody>
          </p:sp>
        </p:grpSp>
        <p:grpSp>
          <p:nvGrpSpPr>
            <p:cNvPr id="51" name="グループ化 50">
              <a:extLst>
                <a:ext uri="{FF2B5EF4-FFF2-40B4-BE49-F238E27FC236}">
                  <a16:creationId xmlns:a16="http://schemas.microsoft.com/office/drawing/2014/main" id="{9935DF52-DE54-C570-E6D9-23073A69E6F2}"/>
                </a:ext>
              </a:extLst>
            </p:cNvPr>
            <p:cNvGrpSpPr/>
            <p:nvPr/>
          </p:nvGrpSpPr>
          <p:grpSpPr>
            <a:xfrm>
              <a:off x="5320316" y="3648796"/>
              <a:ext cx="1143712" cy="1952381"/>
              <a:chOff x="4948034" y="2162419"/>
              <a:chExt cx="1143712" cy="1952381"/>
            </a:xfrm>
          </p:grpSpPr>
          <p:pic>
            <p:nvPicPr>
              <p:cNvPr id="62" name="図 61">
                <a:extLst>
                  <a:ext uri="{FF2B5EF4-FFF2-40B4-BE49-F238E27FC236}">
                    <a16:creationId xmlns:a16="http://schemas.microsoft.com/office/drawing/2014/main" id="{0C5B8708-9829-D4A1-FA02-FF254DA9F58E}"/>
                  </a:ext>
                </a:extLst>
              </p:cNvPr>
              <p:cNvPicPr>
                <a:picLocks noChangeAspect="1"/>
              </p:cNvPicPr>
              <p:nvPr/>
            </p:nvPicPr>
            <p:blipFill>
              <a:blip r:embed="rId6"/>
              <a:stretch>
                <a:fillRect/>
              </a:stretch>
            </p:blipFill>
            <p:spPr>
              <a:xfrm>
                <a:off x="4953000" y="2162419"/>
                <a:ext cx="1114286" cy="1952381"/>
              </a:xfrm>
              <a:prstGeom prst="rect">
                <a:avLst/>
              </a:prstGeom>
              <a:ln>
                <a:solidFill>
                  <a:schemeClr val="tx1"/>
                </a:solidFill>
              </a:ln>
            </p:spPr>
          </p:pic>
          <p:sp>
            <p:nvSpPr>
              <p:cNvPr id="63" name="テキスト ボックス 62">
                <a:extLst>
                  <a:ext uri="{FF2B5EF4-FFF2-40B4-BE49-F238E27FC236}">
                    <a16:creationId xmlns:a16="http://schemas.microsoft.com/office/drawing/2014/main" id="{3259FF15-3B6E-C68C-FE9A-262748B622CB}"/>
                  </a:ext>
                </a:extLst>
              </p:cNvPr>
              <p:cNvSpPr txBox="1"/>
              <p:nvPr/>
            </p:nvSpPr>
            <p:spPr>
              <a:xfrm>
                <a:off x="4948034" y="2182915"/>
                <a:ext cx="1143712" cy="412118"/>
              </a:xfrm>
              <a:prstGeom prst="rect">
                <a:avLst/>
              </a:prstGeom>
              <a:noFill/>
              <a:ln>
                <a:noFill/>
              </a:ln>
            </p:spPr>
            <p:txBody>
              <a:bodyPr wrap="square" rtlCol="0">
                <a:spAutoFit/>
              </a:bodyPr>
              <a:lstStyle/>
              <a:p>
                <a:pPr algn="ctr">
                  <a:buClr>
                    <a:schemeClr val="accent4"/>
                  </a:buClr>
                </a:pPr>
                <a:r>
                  <a:rPr lang="en-US" altLang="ja-JP" sz="1200" dirty="0">
                    <a:solidFill>
                      <a:srgbClr val="009800"/>
                    </a:solidFill>
                    <a:latin typeface="メイリオ" panose="020B0604030504040204" pitchFamily="50" charset="-128"/>
                    <a:ea typeface="メイリオ" panose="020B0604030504040204" pitchFamily="50" charset="-128"/>
                  </a:rPr>
                  <a:t>50%</a:t>
                </a:r>
                <a:r>
                  <a:rPr lang="ja-JP" altLang="en-US" sz="1200" dirty="0">
                    <a:solidFill>
                      <a:srgbClr val="009800"/>
                    </a:solidFill>
                    <a:latin typeface="メイリオ" panose="020B0604030504040204" pitchFamily="50" charset="-128"/>
                    <a:ea typeface="メイリオ" panose="020B0604030504040204" pitchFamily="50" charset="-128"/>
                  </a:rPr>
                  <a:t>阻害</a:t>
                </a:r>
              </a:p>
            </p:txBody>
          </p:sp>
        </p:grpSp>
        <p:grpSp>
          <p:nvGrpSpPr>
            <p:cNvPr id="52" name="グループ化 51">
              <a:extLst>
                <a:ext uri="{FF2B5EF4-FFF2-40B4-BE49-F238E27FC236}">
                  <a16:creationId xmlns:a16="http://schemas.microsoft.com/office/drawing/2014/main" id="{7025D1EC-5AA9-216C-3B16-FA8ED5C0532E}"/>
                </a:ext>
              </a:extLst>
            </p:cNvPr>
            <p:cNvGrpSpPr/>
            <p:nvPr/>
          </p:nvGrpSpPr>
          <p:grpSpPr>
            <a:xfrm>
              <a:off x="6979893" y="3641866"/>
              <a:ext cx="1141475" cy="1996935"/>
              <a:chOff x="6607610" y="2155489"/>
              <a:chExt cx="1141475" cy="1996935"/>
            </a:xfrm>
          </p:grpSpPr>
          <p:pic>
            <p:nvPicPr>
              <p:cNvPr id="60" name="図 59">
                <a:extLst>
                  <a:ext uri="{FF2B5EF4-FFF2-40B4-BE49-F238E27FC236}">
                    <a16:creationId xmlns:a16="http://schemas.microsoft.com/office/drawing/2014/main" id="{F69E25DB-C984-8BEF-37BF-A71057B7D112}"/>
                  </a:ext>
                </a:extLst>
              </p:cNvPr>
              <p:cNvPicPr>
                <a:picLocks noChangeAspect="1"/>
              </p:cNvPicPr>
              <p:nvPr/>
            </p:nvPicPr>
            <p:blipFill>
              <a:blip r:embed="rId7"/>
              <a:stretch>
                <a:fillRect/>
              </a:stretch>
            </p:blipFill>
            <p:spPr>
              <a:xfrm>
                <a:off x="6615752" y="2171472"/>
                <a:ext cx="1133333" cy="1980952"/>
              </a:xfrm>
              <a:prstGeom prst="rect">
                <a:avLst/>
              </a:prstGeom>
              <a:ln>
                <a:solidFill>
                  <a:schemeClr val="tx1"/>
                </a:solidFill>
              </a:ln>
            </p:spPr>
          </p:pic>
          <p:sp>
            <p:nvSpPr>
              <p:cNvPr id="61" name="テキスト ボックス 60">
                <a:extLst>
                  <a:ext uri="{FF2B5EF4-FFF2-40B4-BE49-F238E27FC236}">
                    <a16:creationId xmlns:a16="http://schemas.microsoft.com/office/drawing/2014/main" id="{C2878FFA-45DE-98C8-B62E-E84B975F2658}"/>
                  </a:ext>
                </a:extLst>
              </p:cNvPr>
              <p:cNvSpPr txBox="1"/>
              <p:nvPr/>
            </p:nvSpPr>
            <p:spPr>
              <a:xfrm>
                <a:off x="6607610" y="2155489"/>
                <a:ext cx="1141475" cy="412118"/>
              </a:xfrm>
              <a:prstGeom prst="rect">
                <a:avLst/>
              </a:prstGeom>
              <a:noFill/>
              <a:ln>
                <a:noFill/>
              </a:ln>
            </p:spPr>
            <p:txBody>
              <a:bodyPr wrap="square" rtlCol="0">
                <a:spAutoFit/>
              </a:bodyPr>
              <a:lstStyle/>
              <a:p>
                <a:pPr algn="ctr">
                  <a:buClr>
                    <a:schemeClr val="accent4"/>
                  </a:buClr>
                </a:pPr>
                <a:r>
                  <a:rPr lang="en-US" altLang="ja-JP" sz="1200" dirty="0">
                    <a:solidFill>
                      <a:srgbClr val="009800"/>
                    </a:solidFill>
                    <a:latin typeface="メイリオ" panose="020B0604030504040204" pitchFamily="50" charset="-128"/>
                    <a:ea typeface="メイリオ" panose="020B0604030504040204" pitchFamily="50" charset="-128"/>
                  </a:rPr>
                  <a:t>70%</a:t>
                </a:r>
                <a:r>
                  <a:rPr lang="ja-JP" altLang="en-US" sz="1200" dirty="0">
                    <a:solidFill>
                      <a:srgbClr val="009800"/>
                    </a:solidFill>
                    <a:latin typeface="メイリオ" panose="020B0604030504040204" pitchFamily="50" charset="-128"/>
                    <a:ea typeface="メイリオ" panose="020B0604030504040204" pitchFamily="50" charset="-128"/>
                  </a:rPr>
                  <a:t>阻害</a:t>
                </a:r>
              </a:p>
            </p:txBody>
          </p:sp>
        </p:grpSp>
        <p:grpSp>
          <p:nvGrpSpPr>
            <p:cNvPr id="53" name="グループ化 52">
              <a:extLst>
                <a:ext uri="{FF2B5EF4-FFF2-40B4-BE49-F238E27FC236}">
                  <a16:creationId xmlns:a16="http://schemas.microsoft.com/office/drawing/2014/main" id="{E9C375B2-AF1D-2C39-2293-2C1B0647DB00}"/>
                </a:ext>
              </a:extLst>
            </p:cNvPr>
            <p:cNvGrpSpPr/>
            <p:nvPr/>
          </p:nvGrpSpPr>
          <p:grpSpPr>
            <a:xfrm>
              <a:off x="8645375" y="3625734"/>
              <a:ext cx="1138747" cy="1954871"/>
              <a:chOff x="8273093" y="2139358"/>
              <a:chExt cx="1138747" cy="1954871"/>
            </a:xfrm>
          </p:grpSpPr>
          <p:pic>
            <p:nvPicPr>
              <p:cNvPr id="58" name="図 57">
                <a:extLst>
                  <a:ext uri="{FF2B5EF4-FFF2-40B4-BE49-F238E27FC236}">
                    <a16:creationId xmlns:a16="http://schemas.microsoft.com/office/drawing/2014/main" id="{17F1173D-328D-D41E-C2F4-200B064D3995}"/>
                  </a:ext>
                </a:extLst>
              </p:cNvPr>
              <p:cNvPicPr>
                <a:picLocks noChangeAspect="1"/>
              </p:cNvPicPr>
              <p:nvPr/>
            </p:nvPicPr>
            <p:blipFill>
              <a:blip r:embed="rId8"/>
              <a:stretch>
                <a:fillRect/>
              </a:stretch>
            </p:blipFill>
            <p:spPr>
              <a:xfrm>
                <a:off x="8280198" y="2160895"/>
                <a:ext cx="1123810" cy="1933334"/>
              </a:xfrm>
              <a:prstGeom prst="rect">
                <a:avLst/>
              </a:prstGeom>
              <a:ln>
                <a:solidFill>
                  <a:schemeClr val="tx1"/>
                </a:solidFill>
              </a:ln>
            </p:spPr>
          </p:pic>
          <p:sp>
            <p:nvSpPr>
              <p:cNvPr id="59" name="テキスト ボックス 58">
                <a:extLst>
                  <a:ext uri="{FF2B5EF4-FFF2-40B4-BE49-F238E27FC236}">
                    <a16:creationId xmlns:a16="http://schemas.microsoft.com/office/drawing/2014/main" id="{70EE3F70-EE38-0AFC-29AB-74F728F9DEAB}"/>
                  </a:ext>
                </a:extLst>
              </p:cNvPr>
              <p:cNvSpPr txBox="1"/>
              <p:nvPr/>
            </p:nvSpPr>
            <p:spPr>
              <a:xfrm>
                <a:off x="8273093" y="2139358"/>
                <a:ext cx="1138747" cy="412118"/>
              </a:xfrm>
              <a:prstGeom prst="rect">
                <a:avLst/>
              </a:prstGeom>
              <a:noFill/>
              <a:ln>
                <a:noFill/>
              </a:ln>
            </p:spPr>
            <p:txBody>
              <a:bodyPr wrap="square" rtlCol="0">
                <a:spAutoFit/>
              </a:bodyPr>
              <a:lstStyle/>
              <a:p>
                <a:pPr algn="ctr">
                  <a:buClr>
                    <a:schemeClr val="accent4"/>
                  </a:buClr>
                </a:pPr>
                <a:r>
                  <a:rPr lang="en-US" altLang="ja-JP" sz="1200" dirty="0">
                    <a:solidFill>
                      <a:srgbClr val="009800"/>
                    </a:solidFill>
                    <a:latin typeface="メイリオ" panose="020B0604030504040204" pitchFamily="50" charset="-128"/>
                    <a:ea typeface="メイリオ" panose="020B0604030504040204" pitchFamily="50" charset="-128"/>
                  </a:rPr>
                  <a:t>100%</a:t>
                </a:r>
                <a:r>
                  <a:rPr lang="ja-JP" altLang="en-US" sz="1200" dirty="0">
                    <a:solidFill>
                      <a:srgbClr val="009800"/>
                    </a:solidFill>
                    <a:latin typeface="メイリオ" panose="020B0604030504040204" pitchFamily="50" charset="-128"/>
                    <a:ea typeface="メイリオ" panose="020B0604030504040204" pitchFamily="50" charset="-128"/>
                  </a:rPr>
                  <a:t>阻害</a:t>
                </a:r>
              </a:p>
            </p:txBody>
          </p:sp>
        </p:grpSp>
        <p:sp>
          <p:nvSpPr>
            <p:cNvPr id="54" name="直角三角形 53">
              <a:extLst>
                <a:ext uri="{FF2B5EF4-FFF2-40B4-BE49-F238E27FC236}">
                  <a16:creationId xmlns:a16="http://schemas.microsoft.com/office/drawing/2014/main" id="{FDF254A0-C0EE-2979-AFB8-4E7ECB560455}"/>
                </a:ext>
              </a:extLst>
            </p:cNvPr>
            <p:cNvSpPr/>
            <p:nvPr/>
          </p:nvSpPr>
          <p:spPr>
            <a:xfrm flipH="1">
              <a:off x="5325281" y="5621611"/>
              <a:ext cx="4463807" cy="1010336"/>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テキスト ボックス 54">
              <a:extLst>
                <a:ext uri="{FF2B5EF4-FFF2-40B4-BE49-F238E27FC236}">
                  <a16:creationId xmlns:a16="http://schemas.microsoft.com/office/drawing/2014/main" id="{6204713A-FAD5-90A9-86B6-EAB2EB5C575A}"/>
                </a:ext>
              </a:extLst>
            </p:cNvPr>
            <p:cNvSpPr txBox="1"/>
            <p:nvPr/>
          </p:nvSpPr>
          <p:spPr>
            <a:xfrm>
              <a:off x="8582327" y="6069303"/>
              <a:ext cx="1193963" cy="503699"/>
            </a:xfrm>
            <a:prstGeom prst="rect">
              <a:avLst/>
            </a:prstGeom>
            <a:noFill/>
          </p:spPr>
          <p:txBody>
            <a:bodyPr wrap="square" rtlCol="0">
              <a:spAutoFit/>
            </a:bodyPr>
            <a:lstStyle/>
            <a:p>
              <a:pPr algn="r"/>
              <a:r>
                <a:rPr lang="ja-JP" altLang="en-US" sz="1600" dirty="0">
                  <a:solidFill>
                    <a:schemeClr val="bg1"/>
                  </a:solidFill>
                  <a:latin typeface="メイリオ" panose="020B0604030504040204" pitchFamily="50" charset="-128"/>
                  <a:ea typeface="メイリオ" panose="020B0604030504040204" pitchFamily="50" charset="-128"/>
                </a:rPr>
                <a:t>出血のリスク</a:t>
              </a:r>
              <a:endParaRPr lang="en-US" sz="1600" dirty="0">
                <a:solidFill>
                  <a:schemeClr val="bg1"/>
                </a:solidFill>
                <a:latin typeface="メイリオ" panose="020B0604030504040204" pitchFamily="50" charset="-128"/>
                <a:ea typeface="メイリオ" panose="020B0604030504040204" pitchFamily="50" charset="-128"/>
              </a:endParaRPr>
            </a:p>
          </p:txBody>
        </p:sp>
        <p:sp>
          <p:nvSpPr>
            <p:cNvPr id="56" name="直角三角形 55">
              <a:extLst>
                <a:ext uri="{FF2B5EF4-FFF2-40B4-BE49-F238E27FC236}">
                  <a16:creationId xmlns:a16="http://schemas.microsoft.com/office/drawing/2014/main" id="{C0FE1C25-DBBE-91BD-14E0-170B86A705E1}"/>
                </a:ext>
              </a:extLst>
            </p:cNvPr>
            <p:cNvSpPr/>
            <p:nvPr/>
          </p:nvSpPr>
          <p:spPr>
            <a:xfrm>
              <a:off x="2299153" y="5612295"/>
              <a:ext cx="4327405" cy="1025002"/>
            </a:xfrm>
            <a:prstGeom prst="rtTriangle">
              <a:avLst/>
            </a:prstGeom>
            <a:solidFill>
              <a:srgbClr val="0070C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テキスト ボックス 56">
              <a:extLst>
                <a:ext uri="{FF2B5EF4-FFF2-40B4-BE49-F238E27FC236}">
                  <a16:creationId xmlns:a16="http://schemas.microsoft.com/office/drawing/2014/main" id="{80218900-8995-AE0A-3CD9-85E093C2419C}"/>
                </a:ext>
              </a:extLst>
            </p:cNvPr>
            <p:cNvSpPr txBox="1"/>
            <p:nvPr/>
          </p:nvSpPr>
          <p:spPr>
            <a:xfrm>
              <a:off x="2286480" y="6069576"/>
              <a:ext cx="2428024" cy="503699"/>
            </a:xfrm>
            <a:prstGeom prst="rect">
              <a:avLst/>
            </a:prstGeom>
            <a:noFill/>
          </p:spPr>
          <p:txBody>
            <a:bodyPr wrap="square" rtlCol="0">
              <a:spAutoFit/>
            </a:bodyPr>
            <a:lstStyle/>
            <a:p>
              <a:r>
                <a:rPr lang="ja-JP" altLang="en-US" sz="1600" dirty="0">
                  <a:solidFill>
                    <a:schemeClr val="bg1"/>
                  </a:solidFill>
                  <a:latin typeface="メイリオ" panose="020B0604030504040204" pitchFamily="50" charset="-128"/>
                  <a:ea typeface="メイリオ" panose="020B0604030504040204" pitchFamily="50" charset="-128"/>
                </a:rPr>
                <a:t>血栓のリスク</a:t>
              </a:r>
              <a:endParaRPr lang="en-US" sz="1600" dirty="0">
                <a:solidFill>
                  <a:schemeClr val="bg1"/>
                </a:solidFill>
                <a:latin typeface="メイリオ" panose="020B0604030504040204" pitchFamily="50" charset="-128"/>
                <a:ea typeface="メイリオ" panose="020B0604030504040204" pitchFamily="50" charset="-128"/>
              </a:endParaRPr>
            </a:p>
          </p:txBody>
        </p:sp>
      </p:grpSp>
      <p:sp>
        <p:nvSpPr>
          <p:cNvPr id="29" name="テキスト ボックス 28">
            <a:extLst>
              <a:ext uri="{FF2B5EF4-FFF2-40B4-BE49-F238E27FC236}">
                <a16:creationId xmlns:a16="http://schemas.microsoft.com/office/drawing/2014/main" id="{63D39804-7E70-8DEE-6456-73D1D945157E}"/>
              </a:ext>
            </a:extLst>
          </p:cNvPr>
          <p:cNvSpPr txBox="1"/>
          <p:nvPr/>
        </p:nvSpPr>
        <p:spPr>
          <a:xfrm>
            <a:off x="7383680" y="1545649"/>
            <a:ext cx="2821049" cy="307777"/>
          </a:xfrm>
          <a:prstGeom prst="rect">
            <a:avLst/>
          </a:prstGeom>
          <a:noFill/>
        </p:spPr>
        <p:txBody>
          <a:bodyPr wrap="square" rtlCol="0">
            <a:spAutoFit/>
          </a:bodyPr>
          <a:lstStyle/>
          <a:p>
            <a:pPr algn="ctr">
              <a:buClr>
                <a:schemeClr val="accent4"/>
              </a:buClr>
            </a:pPr>
            <a:r>
              <a:rPr lang="ja-JP" altLang="en-US" sz="1400" dirty="0">
                <a:solidFill>
                  <a:schemeClr val="bg1"/>
                </a:solidFill>
                <a:latin typeface="メイリオ" panose="020B0604030504040204" pitchFamily="50" charset="-128"/>
                <a:ea typeface="メイリオ" panose="020B0604030504040204" pitchFamily="50" charset="-128"/>
              </a:rPr>
              <a:t>抑制がある波形</a:t>
            </a:r>
            <a:endParaRPr lang="en-US" sz="1400" dirty="0">
              <a:solidFill>
                <a:schemeClr val="bg1"/>
              </a:solidFill>
              <a:latin typeface="メイリオ" panose="020B0604030504040204" pitchFamily="50" charset="-128"/>
              <a:ea typeface="メイリオ" panose="020B0604030504040204" pitchFamily="50" charset="-128"/>
            </a:endParaRPr>
          </a:p>
        </p:txBody>
      </p:sp>
      <p:sp>
        <p:nvSpPr>
          <p:cNvPr id="28" name="テキスト ボックス 27">
            <a:extLst>
              <a:ext uri="{FF2B5EF4-FFF2-40B4-BE49-F238E27FC236}">
                <a16:creationId xmlns:a16="http://schemas.microsoft.com/office/drawing/2014/main" id="{1F7447D8-8229-85F0-0639-35798D35F039}"/>
              </a:ext>
            </a:extLst>
          </p:cNvPr>
          <p:cNvSpPr txBox="1"/>
          <p:nvPr/>
        </p:nvSpPr>
        <p:spPr>
          <a:xfrm>
            <a:off x="2056602" y="1547910"/>
            <a:ext cx="2821049" cy="307777"/>
          </a:xfrm>
          <a:prstGeom prst="rect">
            <a:avLst/>
          </a:prstGeom>
          <a:noFill/>
        </p:spPr>
        <p:txBody>
          <a:bodyPr wrap="square" rtlCol="0">
            <a:spAutoFit/>
          </a:bodyPr>
          <a:lstStyle/>
          <a:p>
            <a:pPr algn="ctr">
              <a:buClr>
                <a:schemeClr val="accent4"/>
              </a:buClr>
            </a:pPr>
            <a:r>
              <a:rPr lang="ja-JP" altLang="en-US" sz="1400" dirty="0">
                <a:solidFill>
                  <a:schemeClr val="bg1"/>
                </a:solidFill>
                <a:latin typeface="メイリオ" panose="020B0604030504040204" pitchFamily="50" charset="-128"/>
                <a:ea typeface="メイリオ" panose="020B0604030504040204" pitchFamily="50" charset="-128"/>
              </a:rPr>
              <a:t>抑制が無い波形</a:t>
            </a:r>
            <a:endParaRPr lang="en-US" sz="1400" dirty="0">
              <a:solidFill>
                <a:schemeClr val="bg1"/>
              </a:solidFill>
              <a:latin typeface="メイリオ" panose="020B0604030504040204" pitchFamily="50" charset="-128"/>
              <a:ea typeface="メイリオ" panose="020B0604030504040204" pitchFamily="50" charset="-128"/>
            </a:endParaRPr>
          </a:p>
        </p:txBody>
      </p:sp>
      <p:sp>
        <p:nvSpPr>
          <p:cNvPr id="68" name="タイトル 1">
            <a:extLst>
              <a:ext uri="{FF2B5EF4-FFF2-40B4-BE49-F238E27FC236}">
                <a16:creationId xmlns:a16="http://schemas.microsoft.com/office/drawing/2014/main" id="{E04BF10A-5920-A8F1-CA47-5880705A382B}"/>
              </a:ext>
            </a:extLst>
          </p:cNvPr>
          <p:cNvSpPr>
            <a:spLocks noGrp="1"/>
          </p:cNvSpPr>
          <p:nvPr>
            <p:ph type="title"/>
          </p:nvPr>
        </p:nvSpPr>
        <p:spPr>
          <a:xfrm>
            <a:off x="838200" y="504000"/>
            <a:ext cx="10515600" cy="900000"/>
          </a:xfrm>
        </p:spPr>
        <p:txBody>
          <a:bodyPr>
            <a:normAutofit/>
          </a:bodyPr>
          <a:lstStyle/>
          <a:p>
            <a:r>
              <a:rPr kumimoji="1" lang="en-US" altLang="ja-JP" dirty="0"/>
              <a:t>TEG PM</a:t>
            </a:r>
            <a:r>
              <a:rPr kumimoji="1" lang="ja-JP" altLang="en-US"/>
              <a:t>波形解釈　</a:t>
            </a:r>
            <a:r>
              <a:rPr kumimoji="1" lang="en-US" altLang="ja-JP" dirty="0"/>
              <a:t>〜</a:t>
            </a:r>
            <a:r>
              <a:rPr lang="ja-JP" altLang="en-US"/>
              <a:t>血小板機能を反映</a:t>
            </a:r>
            <a:r>
              <a:rPr lang="en-US" altLang="ja-JP" dirty="0"/>
              <a:t>〜</a:t>
            </a:r>
            <a:endParaRPr kumimoji="1" lang="ja-JP" altLang="en-US"/>
          </a:p>
        </p:txBody>
      </p:sp>
    </p:spTree>
    <p:extLst>
      <p:ext uri="{BB962C8B-B14F-4D97-AF65-F5344CB8AC3E}">
        <p14:creationId xmlns:p14="http://schemas.microsoft.com/office/powerpoint/2010/main" val="440978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794B37-598B-10FA-70B1-199365C677F1}"/>
              </a:ext>
            </a:extLst>
          </p:cNvPr>
          <p:cNvSpPr>
            <a:spLocks noGrp="1"/>
          </p:cNvSpPr>
          <p:nvPr>
            <p:ph type="title"/>
          </p:nvPr>
        </p:nvSpPr>
        <p:spPr/>
        <p:txBody>
          <a:bodyPr/>
          <a:lstStyle/>
          <a:p>
            <a:r>
              <a:rPr kumimoji="1" lang="en-US" altLang="ja-JP" dirty="0"/>
              <a:t>TEG PM</a:t>
            </a:r>
            <a:r>
              <a:rPr kumimoji="1" lang="ja-JP" altLang="en-US"/>
              <a:t>基準値</a:t>
            </a:r>
          </a:p>
        </p:txBody>
      </p:sp>
      <p:sp>
        <p:nvSpPr>
          <p:cNvPr id="4" name="日付プレースホルダー 3">
            <a:extLst>
              <a:ext uri="{FF2B5EF4-FFF2-40B4-BE49-F238E27FC236}">
                <a16:creationId xmlns:a16="http://schemas.microsoft.com/office/drawing/2014/main" id="{15FF236C-1A66-2CA2-F9B8-39DCB5EE7BF0}"/>
              </a:ext>
            </a:extLst>
          </p:cNvPr>
          <p:cNvSpPr>
            <a:spLocks noGrp="1"/>
          </p:cNvSpPr>
          <p:nvPr>
            <p:ph type="dt" sz="half" idx="10"/>
          </p:nvPr>
        </p:nvSpPr>
        <p:spPr/>
        <p:txBody>
          <a:bodyPr/>
          <a:lstStyle/>
          <a:p>
            <a:fld id="{2E87EB24-935E-8B4B-AE5E-7A94F7E84A74}"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6672394E-C152-B3ED-B030-C6738C71123E}"/>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983EA69F-44A2-294B-3DB5-73F36CB58F05}"/>
              </a:ext>
            </a:extLst>
          </p:cNvPr>
          <p:cNvSpPr>
            <a:spLocks noGrp="1"/>
          </p:cNvSpPr>
          <p:nvPr>
            <p:ph type="sldNum" sz="quarter" idx="12"/>
          </p:nvPr>
        </p:nvSpPr>
        <p:spPr/>
        <p:txBody>
          <a:bodyPr/>
          <a:lstStyle/>
          <a:p>
            <a:r>
              <a:rPr lang="en-US" altLang="ja-JP"/>
              <a:t>No. </a:t>
            </a:r>
            <a:fld id="{41B87E3F-77EC-4EFD-94DE-AA3AEB7C7760}" type="slidenum">
              <a:rPr lang="ja-JP" altLang="en-US" smtClean="0"/>
              <a:pPr/>
              <a:t>16</a:t>
            </a:fld>
            <a:endParaRPr kumimoji="1" lang="ja-JP" altLang="en-US" dirty="0"/>
          </a:p>
        </p:txBody>
      </p:sp>
      <p:sp>
        <p:nvSpPr>
          <p:cNvPr id="7" name="角丸四角形 6">
            <a:extLst>
              <a:ext uri="{FF2B5EF4-FFF2-40B4-BE49-F238E27FC236}">
                <a16:creationId xmlns:a16="http://schemas.microsoft.com/office/drawing/2014/main" id="{1C1F69D7-D1D0-3888-6656-589ED5A3F8D9}"/>
              </a:ext>
            </a:extLst>
          </p:cNvPr>
          <p:cNvSpPr/>
          <p:nvPr/>
        </p:nvSpPr>
        <p:spPr>
          <a:xfrm>
            <a:off x="567946" y="1739749"/>
            <a:ext cx="1989274" cy="526943"/>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4400" b="1" dirty="0"/>
              <a:t>HKH</a:t>
            </a:r>
            <a:r>
              <a:rPr kumimoji="1" lang="en-US" altLang="ja-JP" sz="4400" b="1" dirty="0"/>
              <a:t>-R</a:t>
            </a:r>
            <a:endParaRPr kumimoji="1" lang="ja-JP" altLang="en-US" sz="4400" b="1"/>
          </a:p>
        </p:txBody>
      </p:sp>
      <p:sp>
        <p:nvSpPr>
          <p:cNvPr id="8" name="角丸四角形 7">
            <a:extLst>
              <a:ext uri="{FF2B5EF4-FFF2-40B4-BE49-F238E27FC236}">
                <a16:creationId xmlns:a16="http://schemas.microsoft.com/office/drawing/2014/main" id="{5DF56216-B998-B8D3-7B7C-1186FD9397C0}"/>
              </a:ext>
            </a:extLst>
          </p:cNvPr>
          <p:cNvSpPr/>
          <p:nvPr/>
        </p:nvSpPr>
        <p:spPr>
          <a:xfrm>
            <a:off x="567944" y="2583490"/>
            <a:ext cx="2247256" cy="526943"/>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4400" b="1" dirty="0"/>
              <a:t>HKH-MA</a:t>
            </a:r>
            <a:endParaRPr kumimoji="1" lang="ja-JP" altLang="en-US" sz="4400" b="1"/>
          </a:p>
        </p:txBody>
      </p:sp>
      <p:sp>
        <p:nvSpPr>
          <p:cNvPr id="9" name="角丸四角形 8">
            <a:extLst>
              <a:ext uri="{FF2B5EF4-FFF2-40B4-BE49-F238E27FC236}">
                <a16:creationId xmlns:a16="http://schemas.microsoft.com/office/drawing/2014/main" id="{37D0F412-5111-F649-1EDE-83557AB81C33}"/>
              </a:ext>
            </a:extLst>
          </p:cNvPr>
          <p:cNvSpPr/>
          <p:nvPr/>
        </p:nvSpPr>
        <p:spPr>
          <a:xfrm>
            <a:off x="567944" y="3480859"/>
            <a:ext cx="2432430" cy="52694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4400" b="1" dirty="0" err="1"/>
              <a:t>ActF</a:t>
            </a:r>
            <a:r>
              <a:rPr lang="en-US" altLang="ja-JP" sz="4400" b="1" dirty="0"/>
              <a:t>-MA</a:t>
            </a:r>
            <a:endParaRPr kumimoji="1" lang="ja-JP" altLang="en-US" sz="4400" b="1"/>
          </a:p>
        </p:txBody>
      </p:sp>
      <p:sp>
        <p:nvSpPr>
          <p:cNvPr id="10" name="角丸四角形 9">
            <a:extLst>
              <a:ext uri="{FF2B5EF4-FFF2-40B4-BE49-F238E27FC236}">
                <a16:creationId xmlns:a16="http://schemas.microsoft.com/office/drawing/2014/main" id="{58AC7618-2F9F-73EB-7D2F-BAFF71838BCA}"/>
              </a:ext>
            </a:extLst>
          </p:cNvPr>
          <p:cNvSpPr/>
          <p:nvPr/>
        </p:nvSpPr>
        <p:spPr>
          <a:xfrm>
            <a:off x="567943" y="4378228"/>
            <a:ext cx="3766551" cy="526943"/>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4400" b="1" dirty="0"/>
              <a:t>ADP inhibition</a:t>
            </a:r>
            <a:endParaRPr kumimoji="1" lang="ja-JP" altLang="en-US" sz="4400" b="1"/>
          </a:p>
        </p:txBody>
      </p:sp>
      <p:sp>
        <p:nvSpPr>
          <p:cNvPr id="11" name="角丸四角形 10">
            <a:extLst>
              <a:ext uri="{FF2B5EF4-FFF2-40B4-BE49-F238E27FC236}">
                <a16:creationId xmlns:a16="http://schemas.microsoft.com/office/drawing/2014/main" id="{85AEDBBE-4375-DA44-36E0-73A82FA24937}"/>
              </a:ext>
            </a:extLst>
          </p:cNvPr>
          <p:cNvSpPr/>
          <p:nvPr/>
        </p:nvSpPr>
        <p:spPr>
          <a:xfrm>
            <a:off x="567943" y="5135281"/>
            <a:ext cx="3766551" cy="526943"/>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4400" b="1" dirty="0"/>
              <a:t>AA inhibition</a:t>
            </a:r>
            <a:endParaRPr kumimoji="1" lang="ja-JP" altLang="en-US" sz="4400" b="1"/>
          </a:p>
        </p:txBody>
      </p:sp>
      <p:sp>
        <p:nvSpPr>
          <p:cNvPr id="12" name="テキスト ボックス 11">
            <a:extLst>
              <a:ext uri="{FF2B5EF4-FFF2-40B4-BE49-F238E27FC236}">
                <a16:creationId xmlns:a16="http://schemas.microsoft.com/office/drawing/2014/main" id="{C53ACD26-FB6E-012A-2176-B56885403980}"/>
              </a:ext>
            </a:extLst>
          </p:cNvPr>
          <p:cNvSpPr txBox="1"/>
          <p:nvPr/>
        </p:nvSpPr>
        <p:spPr>
          <a:xfrm>
            <a:off x="3155357" y="2540044"/>
            <a:ext cx="4128845" cy="646331"/>
          </a:xfrm>
          <a:prstGeom prst="rect">
            <a:avLst/>
          </a:prstGeom>
          <a:noFill/>
        </p:spPr>
        <p:txBody>
          <a:bodyPr wrap="square" rtlCol="0">
            <a:spAutoFit/>
          </a:bodyPr>
          <a:lstStyle/>
          <a:p>
            <a:r>
              <a:rPr lang="en-US" altLang="ja-JP" sz="3600" b="1" dirty="0"/>
              <a:t>HKH-MA</a:t>
            </a:r>
            <a:r>
              <a:rPr lang="ja-JP" altLang="en-US" sz="3600" b="1"/>
              <a:t>＞</a:t>
            </a:r>
            <a:r>
              <a:rPr lang="en-US" altLang="ja-JP" sz="3600" b="1" dirty="0"/>
              <a:t>45mm</a:t>
            </a:r>
            <a:endParaRPr kumimoji="1" lang="ja-JP" altLang="en-US" sz="3600" b="1"/>
          </a:p>
        </p:txBody>
      </p:sp>
      <p:sp>
        <p:nvSpPr>
          <p:cNvPr id="13" name="テキスト ボックス 12">
            <a:extLst>
              <a:ext uri="{FF2B5EF4-FFF2-40B4-BE49-F238E27FC236}">
                <a16:creationId xmlns:a16="http://schemas.microsoft.com/office/drawing/2014/main" id="{DCDEE4A3-71B8-2EE1-4A8B-DDCEBBB06959}"/>
              </a:ext>
            </a:extLst>
          </p:cNvPr>
          <p:cNvSpPr txBox="1"/>
          <p:nvPr/>
        </p:nvSpPr>
        <p:spPr>
          <a:xfrm>
            <a:off x="3155358" y="1680054"/>
            <a:ext cx="7817442" cy="646331"/>
          </a:xfrm>
          <a:prstGeom prst="rect">
            <a:avLst/>
          </a:prstGeom>
          <a:noFill/>
        </p:spPr>
        <p:txBody>
          <a:bodyPr wrap="square" rtlCol="0">
            <a:spAutoFit/>
          </a:bodyPr>
          <a:lstStyle/>
          <a:p>
            <a:r>
              <a:rPr kumimoji="1" lang="en-US" altLang="ja-JP" sz="3600" b="1" dirty="0"/>
              <a:t>10</a:t>
            </a:r>
            <a:r>
              <a:rPr kumimoji="1" lang="ja-JP" altLang="en-US" sz="3600" b="1"/>
              <a:t>分以内</a:t>
            </a:r>
            <a:r>
              <a:rPr kumimoji="1" lang="en-US" altLang="ja-JP" sz="3600" b="1" dirty="0"/>
              <a:t>(</a:t>
            </a:r>
            <a:r>
              <a:rPr kumimoji="1" lang="ja-JP" altLang="en-US" sz="3600" b="1"/>
              <a:t>決まった指標なし</a:t>
            </a:r>
            <a:r>
              <a:rPr kumimoji="1" lang="en-US" altLang="ja-JP" sz="3600" b="1" dirty="0"/>
              <a:t>)</a:t>
            </a:r>
            <a:endParaRPr kumimoji="1" lang="ja-JP" altLang="en-US" sz="3600" b="1">
              <a:solidFill>
                <a:srgbClr val="FF0000"/>
              </a:solidFill>
            </a:endParaRPr>
          </a:p>
        </p:txBody>
      </p:sp>
      <p:sp>
        <p:nvSpPr>
          <p:cNvPr id="14" name="テキスト ボックス 13">
            <a:extLst>
              <a:ext uri="{FF2B5EF4-FFF2-40B4-BE49-F238E27FC236}">
                <a16:creationId xmlns:a16="http://schemas.microsoft.com/office/drawing/2014/main" id="{A98FFDD6-B692-CCF1-4BA7-97E9ED08C333}"/>
              </a:ext>
            </a:extLst>
          </p:cNvPr>
          <p:cNvSpPr txBox="1"/>
          <p:nvPr/>
        </p:nvSpPr>
        <p:spPr>
          <a:xfrm>
            <a:off x="3155357" y="3444945"/>
            <a:ext cx="10049199" cy="646331"/>
          </a:xfrm>
          <a:prstGeom prst="rect">
            <a:avLst/>
          </a:prstGeom>
          <a:noFill/>
        </p:spPr>
        <p:txBody>
          <a:bodyPr wrap="square" rtlCol="0">
            <a:spAutoFit/>
          </a:bodyPr>
          <a:lstStyle/>
          <a:p>
            <a:r>
              <a:rPr kumimoji="1" lang="en-US" altLang="ja-JP" sz="3600" b="1" dirty="0"/>
              <a:t>4.5mm</a:t>
            </a:r>
            <a:r>
              <a:rPr kumimoji="1" lang="ja-JP" altLang="en-US" sz="3600" b="1"/>
              <a:t>→</a:t>
            </a:r>
            <a:r>
              <a:rPr kumimoji="1" lang="en-US" altLang="ja-JP" sz="3600" b="1" dirty="0"/>
              <a:t>Fib150mg/dL</a:t>
            </a:r>
            <a:r>
              <a:rPr lang="ja-JP" altLang="en-US" sz="3600" b="1"/>
              <a:t>　</a:t>
            </a:r>
            <a:r>
              <a:rPr kumimoji="1" lang="en-US" altLang="ja-JP" sz="3600" b="1" dirty="0"/>
              <a:t>10.5mm</a:t>
            </a:r>
            <a:r>
              <a:rPr kumimoji="1" lang="ja-JP" altLang="en-US" sz="3600" b="1"/>
              <a:t>→</a:t>
            </a:r>
            <a:r>
              <a:rPr kumimoji="1" lang="en-US" altLang="ja-JP" sz="3600" b="1" dirty="0"/>
              <a:t>200mg/dL</a:t>
            </a:r>
            <a:endParaRPr kumimoji="1" lang="ja-JP" altLang="en-US" sz="3600" b="1"/>
          </a:p>
        </p:txBody>
      </p:sp>
      <p:sp>
        <p:nvSpPr>
          <p:cNvPr id="15" name="テキスト ボックス 14">
            <a:extLst>
              <a:ext uri="{FF2B5EF4-FFF2-40B4-BE49-F238E27FC236}">
                <a16:creationId xmlns:a16="http://schemas.microsoft.com/office/drawing/2014/main" id="{8EA5C36E-FA83-E10E-A2C3-C29D3FA0B1ED}"/>
              </a:ext>
            </a:extLst>
          </p:cNvPr>
          <p:cNvSpPr txBox="1"/>
          <p:nvPr/>
        </p:nvSpPr>
        <p:spPr>
          <a:xfrm>
            <a:off x="4557442" y="4695725"/>
            <a:ext cx="6600131" cy="646331"/>
          </a:xfrm>
          <a:prstGeom prst="rect">
            <a:avLst/>
          </a:prstGeom>
          <a:noFill/>
        </p:spPr>
        <p:txBody>
          <a:bodyPr wrap="square" rtlCol="0">
            <a:spAutoFit/>
          </a:bodyPr>
          <a:lstStyle/>
          <a:p>
            <a:r>
              <a:rPr lang="en-US" altLang="ja-JP" sz="3600" b="1" dirty="0"/>
              <a:t>0% </a:t>
            </a:r>
            <a:r>
              <a:rPr lang="ja-JP" altLang="en-US" sz="3600" b="1"/>
              <a:t>　抗血小板薬使用時＞</a:t>
            </a:r>
            <a:r>
              <a:rPr lang="en-US" altLang="ja-JP" sz="3600" b="1" dirty="0"/>
              <a:t>40</a:t>
            </a:r>
            <a:r>
              <a:rPr lang="ja-JP" altLang="en-US" sz="3600" b="1"/>
              <a:t>％</a:t>
            </a:r>
            <a:endParaRPr lang="en-US" altLang="ja-JP" sz="3600" b="1" dirty="0"/>
          </a:p>
        </p:txBody>
      </p:sp>
      <p:sp>
        <p:nvSpPr>
          <p:cNvPr id="3" name="テキスト ボックス 2">
            <a:extLst>
              <a:ext uri="{FF2B5EF4-FFF2-40B4-BE49-F238E27FC236}">
                <a16:creationId xmlns:a16="http://schemas.microsoft.com/office/drawing/2014/main" id="{1F6929A6-BBBF-3186-53CA-63073148DF0C}"/>
              </a:ext>
            </a:extLst>
          </p:cNvPr>
          <p:cNvSpPr txBox="1"/>
          <p:nvPr/>
        </p:nvSpPr>
        <p:spPr>
          <a:xfrm>
            <a:off x="9007366" y="5229475"/>
            <a:ext cx="3184634" cy="338554"/>
          </a:xfrm>
          <a:prstGeom prst="rect">
            <a:avLst/>
          </a:prstGeom>
          <a:noFill/>
        </p:spPr>
        <p:txBody>
          <a:bodyPr wrap="square" rtlCol="0">
            <a:spAutoFit/>
          </a:bodyPr>
          <a:lstStyle/>
          <a:p>
            <a:pPr algn="ctr"/>
            <a:r>
              <a:rPr lang="en-US" altLang="ja-JP" sz="1600" dirty="0"/>
              <a:t>※</a:t>
            </a:r>
            <a:r>
              <a:rPr lang="ja-JP" altLang="en-US" sz="1600"/>
              <a:t>参考程度</a:t>
            </a:r>
            <a:endParaRPr kumimoji="1" lang="ja-JP" altLang="en-US" sz="1600"/>
          </a:p>
        </p:txBody>
      </p:sp>
    </p:spTree>
    <p:extLst>
      <p:ext uri="{BB962C8B-B14F-4D97-AF65-F5344CB8AC3E}">
        <p14:creationId xmlns:p14="http://schemas.microsoft.com/office/powerpoint/2010/main" val="2227082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A8EFAB-A0EE-24A8-C140-AA6C0AE14619}"/>
              </a:ext>
            </a:extLst>
          </p:cNvPr>
          <p:cNvSpPr>
            <a:spLocks noGrp="1"/>
          </p:cNvSpPr>
          <p:nvPr>
            <p:ph type="title"/>
          </p:nvPr>
        </p:nvSpPr>
        <p:spPr/>
        <p:txBody>
          <a:bodyPr/>
          <a:lstStyle/>
          <a:p>
            <a:r>
              <a:rPr kumimoji="1" lang="en-US" altLang="ja-JP" dirty="0"/>
              <a:t>TEG</a:t>
            </a:r>
            <a:r>
              <a:rPr kumimoji="1" lang="ja-JP" altLang="en-US"/>
              <a:t>の使用領域</a:t>
            </a:r>
          </a:p>
        </p:txBody>
      </p:sp>
      <p:graphicFrame>
        <p:nvGraphicFramePr>
          <p:cNvPr id="10" name="図表 9">
            <a:extLst>
              <a:ext uri="{FF2B5EF4-FFF2-40B4-BE49-F238E27FC236}">
                <a16:creationId xmlns:a16="http://schemas.microsoft.com/office/drawing/2014/main" id="{DF575921-4F58-9E0D-C220-08843F0CA36E}"/>
              </a:ext>
            </a:extLst>
          </p:cNvPr>
          <p:cNvGraphicFramePr/>
          <p:nvPr/>
        </p:nvGraphicFramePr>
        <p:xfrm>
          <a:off x="140425" y="1654676"/>
          <a:ext cx="11648803" cy="40580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角丸四角形 2">
            <a:extLst>
              <a:ext uri="{FF2B5EF4-FFF2-40B4-BE49-F238E27FC236}">
                <a16:creationId xmlns:a16="http://schemas.microsoft.com/office/drawing/2014/main" id="{88061BBE-9866-2188-340B-B84652A0B909}"/>
              </a:ext>
            </a:extLst>
          </p:cNvPr>
          <p:cNvSpPr/>
          <p:nvPr/>
        </p:nvSpPr>
        <p:spPr>
          <a:xfrm>
            <a:off x="140425" y="4664602"/>
            <a:ext cx="11717228" cy="1170432"/>
          </a:xfrm>
          <a:prstGeom prst="roundRect">
            <a:avLst/>
          </a:prstGeom>
          <a:noFill/>
          <a:ln w="603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フッター プレースホルダー 6">
            <a:extLst>
              <a:ext uri="{FF2B5EF4-FFF2-40B4-BE49-F238E27FC236}">
                <a16:creationId xmlns:a16="http://schemas.microsoft.com/office/drawing/2014/main" id="{2C0758B0-B0DB-4BBC-E0D5-30DAA5B7373E}"/>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8" name="スライド番号プレースホルダー 7">
            <a:extLst>
              <a:ext uri="{FF2B5EF4-FFF2-40B4-BE49-F238E27FC236}">
                <a16:creationId xmlns:a16="http://schemas.microsoft.com/office/drawing/2014/main" id="{8B00A83C-66D7-5547-CAC3-CF8E1A88177F}"/>
              </a:ext>
            </a:extLst>
          </p:cNvPr>
          <p:cNvSpPr>
            <a:spLocks noGrp="1"/>
          </p:cNvSpPr>
          <p:nvPr>
            <p:ph type="sldNum" sz="quarter" idx="12"/>
          </p:nvPr>
        </p:nvSpPr>
        <p:spPr/>
        <p:txBody>
          <a:bodyPr/>
          <a:lstStyle/>
          <a:p>
            <a:r>
              <a:rPr lang="en-US" altLang="ja-JP"/>
              <a:t>No. </a:t>
            </a:r>
            <a:fld id="{41B87E3F-77EC-4EFD-94DE-AA3AEB7C7760}" type="slidenum">
              <a:rPr lang="ja-JP" altLang="en-US" smtClean="0"/>
              <a:pPr/>
              <a:t>17</a:t>
            </a:fld>
            <a:endParaRPr kumimoji="1" lang="ja-JP" altLang="en-US" dirty="0"/>
          </a:p>
        </p:txBody>
      </p:sp>
      <p:sp>
        <p:nvSpPr>
          <p:cNvPr id="9" name="日付プレースホルダー 8">
            <a:extLst>
              <a:ext uri="{FF2B5EF4-FFF2-40B4-BE49-F238E27FC236}">
                <a16:creationId xmlns:a16="http://schemas.microsoft.com/office/drawing/2014/main" id="{463E7140-2ED6-5099-A8A4-9B633F0A15FB}"/>
              </a:ext>
            </a:extLst>
          </p:cNvPr>
          <p:cNvSpPr>
            <a:spLocks noGrp="1"/>
          </p:cNvSpPr>
          <p:nvPr>
            <p:ph type="dt" sz="half" idx="10"/>
          </p:nvPr>
        </p:nvSpPr>
        <p:spPr/>
        <p:txBody>
          <a:bodyPr/>
          <a:lstStyle/>
          <a:p>
            <a:fld id="{ECDFE5A7-78C5-DE40-8D17-59C538D0CAC0}" type="datetime1">
              <a:rPr kumimoji="1" lang="ja-JP" altLang="en-US" smtClean="0"/>
              <a:t>2026/5/15</a:t>
            </a:fld>
            <a:endParaRPr kumimoji="1" lang="ja-JP" altLang="en-US"/>
          </a:p>
        </p:txBody>
      </p:sp>
    </p:spTree>
    <p:extLst>
      <p:ext uri="{BB962C8B-B14F-4D97-AF65-F5344CB8AC3E}">
        <p14:creationId xmlns:p14="http://schemas.microsoft.com/office/powerpoint/2010/main" val="12162300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8D41A3-D7D0-5545-AE73-0B83990882D7}"/>
              </a:ext>
            </a:extLst>
          </p:cNvPr>
          <p:cNvSpPr>
            <a:spLocks noGrp="1"/>
          </p:cNvSpPr>
          <p:nvPr>
            <p:ph type="title"/>
          </p:nvPr>
        </p:nvSpPr>
        <p:spPr/>
        <p:txBody>
          <a:bodyPr/>
          <a:lstStyle/>
          <a:p>
            <a:r>
              <a:rPr lang="ja-JP" altLang="en-US"/>
              <a:t>重症外傷における当院の輸血戦略</a:t>
            </a:r>
            <a:endParaRPr kumimoji="1" lang="ja-JP" altLang="en-US"/>
          </a:p>
        </p:txBody>
      </p:sp>
      <p:sp>
        <p:nvSpPr>
          <p:cNvPr id="5" name="フッター プレースホルダー 4">
            <a:extLst>
              <a:ext uri="{FF2B5EF4-FFF2-40B4-BE49-F238E27FC236}">
                <a16:creationId xmlns:a16="http://schemas.microsoft.com/office/drawing/2014/main" id="{8F9A78B2-F22B-584C-B32C-1B0389B9AED5}"/>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8880458C-618E-4D4B-911B-2554E7409CAB}"/>
              </a:ext>
            </a:extLst>
          </p:cNvPr>
          <p:cNvSpPr>
            <a:spLocks noGrp="1"/>
          </p:cNvSpPr>
          <p:nvPr>
            <p:ph type="sldNum" sz="quarter" idx="12"/>
          </p:nvPr>
        </p:nvSpPr>
        <p:spPr/>
        <p:txBody>
          <a:bodyPr/>
          <a:lstStyle/>
          <a:p>
            <a:r>
              <a:rPr lang="en-US" altLang="ja-JP"/>
              <a:t>No. </a:t>
            </a:r>
            <a:fld id="{41B87E3F-77EC-4EFD-94DE-AA3AEB7C7760}" type="slidenum">
              <a:rPr lang="ja-JP" altLang="en-US" smtClean="0"/>
              <a:pPr/>
              <a:t>18</a:t>
            </a:fld>
            <a:endParaRPr kumimoji="1" lang="ja-JP" altLang="en-US" dirty="0"/>
          </a:p>
        </p:txBody>
      </p:sp>
      <p:sp>
        <p:nvSpPr>
          <p:cNvPr id="7" name="テキスト ボックス 6">
            <a:extLst>
              <a:ext uri="{FF2B5EF4-FFF2-40B4-BE49-F238E27FC236}">
                <a16:creationId xmlns:a16="http://schemas.microsoft.com/office/drawing/2014/main" id="{A7BCB3F1-A830-154C-B2A5-295E7A21C8BA}"/>
              </a:ext>
            </a:extLst>
          </p:cNvPr>
          <p:cNvSpPr txBox="1"/>
          <p:nvPr/>
        </p:nvSpPr>
        <p:spPr>
          <a:xfrm>
            <a:off x="175632" y="1837846"/>
            <a:ext cx="11281800" cy="646331"/>
          </a:xfrm>
          <a:prstGeom prst="rect">
            <a:avLst/>
          </a:prstGeom>
          <a:noFill/>
        </p:spPr>
        <p:txBody>
          <a:bodyPr wrap="square" rtlCol="0">
            <a:spAutoFit/>
          </a:bodyPr>
          <a:lstStyle/>
          <a:p>
            <a:r>
              <a:rPr kumimoji="1" lang="ja-JP" altLang="en-US" sz="2800"/>
              <a:t>・</a:t>
            </a:r>
            <a:r>
              <a:rPr kumimoji="1" lang="ja-JP" altLang="en-US" sz="3600">
                <a:solidFill>
                  <a:srgbClr val="FF0000"/>
                </a:solidFill>
              </a:rPr>
              <a:t>院内外傷</a:t>
            </a:r>
            <a:r>
              <a:rPr kumimoji="1" lang="en-US" altLang="ja-JP" sz="3600" dirty="0">
                <a:solidFill>
                  <a:srgbClr val="FF0000"/>
                </a:solidFill>
              </a:rPr>
              <a:t>Call</a:t>
            </a:r>
            <a:r>
              <a:rPr kumimoji="1" lang="ja-JP" altLang="en-US" sz="2800"/>
              <a:t>に基づき</a:t>
            </a:r>
            <a:r>
              <a:rPr kumimoji="1" lang="en-US" altLang="ja-JP" sz="2800" dirty="0"/>
              <a:t>MTP order(</a:t>
            </a:r>
            <a:r>
              <a:rPr kumimoji="1" lang="ja-JP" altLang="en-US" sz="2800"/>
              <a:t>異型・同型</a:t>
            </a:r>
            <a:r>
              <a:rPr kumimoji="1" lang="en-US" altLang="ja-JP" sz="2800" dirty="0"/>
              <a:t>RBC10U</a:t>
            </a:r>
            <a:r>
              <a:rPr lang="en-US" altLang="ja-JP" sz="2800" dirty="0"/>
              <a:t>/</a:t>
            </a:r>
            <a:r>
              <a:rPr kumimoji="1" lang="en-US" altLang="ja-JP" sz="2800" dirty="0"/>
              <a:t>FFP10U)</a:t>
            </a:r>
            <a:r>
              <a:rPr kumimoji="1" lang="ja-JP" altLang="en-US" sz="2800"/>
              <a:t>発動</a:t>
            </a:r>
            <a:r>
              <a:rPr lang="en-US" altLang="ja-JP" sz="2800" dirty="0"/>
              <a:t>.</a:t>
            </a:r>
          </a:p>
        </p:txBody>
      </p:sp>
      <p:sp>
        <p:nvSpPr>
          <p:cNvPr id="8" name="テキスト ボックス 7">
            <a:extLst>
              <a:ext uri="{FF2B5EF4-FFF2-40B4-BE49-F238E27FC236}">
                <a16:creationId xmlns:a16="http://schemas.microsoft.com/office/drawing/2014/main" id="{760C8F65-F555-1842-B38E-B71BCF600D0D}"/>
              </a:ext>
            </a:extLst>
          </p:cNvPr>
          <p:cNvSpPr txBox="1"/>
          <p:nvPr/>
        </p:nvSpPr>
        <p:spPr>
          <a:xfrm>
            <a:off x="175632" y="3019124"/>
            <a:ext cx="11281800" cy="646331"/>
          </a:xfrm>
          <a:prstGeom prst="rect">
            <a:avLst/>
          </a:prstGeom>
          <a:noFill/>
        </p:spPr>
        <p:txBody>
          <a:bodyPr wrap="square" rtlCol="0">
            <a:spAutoFit/>
          </a:bodyPr>
          <a:lstStyle/>
          <a:p>
            <a:r>
              <a:rPr kumimoji="1" lang="ja-JP" altLang="en-US" sz="2800"/>
              <a:t>・</a:t>
            </a:r>
            <a:r>
              <a:rPr kumimoji="1" lang="ja-JP" altLang="en-US" sz="3600">
                <a:solidFill>
                  <a:schemeClr val="tx2">
                    <a:lumMod val="50000"/>
                    <a:lumOff val="50000"/>
                  </a:schemeClr>
                </a:solidFill>
              </a:rPr>
              <a:t>全身管理医</a:t>
            </a:r>
            <a:r>
              <a:rPr kumimoji="1" lang="en-US" altLang="ja-JP" sz="3600" dirty="0">
                <a:solidFill>
                  <a:schemeClr val="tx2">
                    <a:lumMod val="50000"/>
                    <a:lumOff val="50000"/>
                  </a:schemeClr>
                </a:solidFill>
              </a:rPr>
              <a:t>(</a:t>
            </a:r>
            <a:r>
              <a:rPr kumimoji="1" lang="ja-JP" altLang="en-US" sz="3600">
                <a:solidFill>
                  <a:schemeClr val="tx2">
                    <a:lumMod val="50000"/>
                    <a:lumOff val="50000"/>
                  </a:schemeClr>
                </a:solidFill>
              </a:rPr>
              <a:t>おもに専攻医</a:t>
            </a:r>
            <a:r>
              <a:rPr kumimoji="1" lang="en-US" altLang="ja-JP" sz="3600" dirty="0">
                <a:solidFill>
                  <a:schemeClr val="tx2">
                    <a:lumMod val="50000"/>
                    <a:lumOff val="50000"/>
                  </a:schemeClr>
                </a:solidFill>
              </a:rPr>
              <a:t>)</a:t>
            </a:r>
            <a:r>
              <a:rPr kumimoji="1" lang="ja-JP" altLang="en-US" sz="3600">
                <a:solidFill>
                  <a:schemeClr val="tx2">
                    <a:lumMod val="50000"/>
                    <a:lumOff val="50000"/>
                  </a:schemeClr>
                </a:solidFill>
              </a:rPr>
              <a:t>の判断</a:t>
            </a:r>
            <a:r>
              <a:rPr kumimoji="1" lang="ja-JP" altLang="en-US" sz="2800"/>
              <a:t>で輸血量の調整</a:t>
            </a:r>
            <a:r>
              <a:rPr lang="en-US" altLang="ja-JP" sz="2800" dirty="0"/>
              <a:t>.</a:t>
            </a:r>
          </a:p>
        </p:txBody>
      </p:sp>
      <p:sp>
        <p:nvSpPr>
          <p:cNvPr id="9" name="テキスト ボックス 8">
            <a:extLst>
              <a:ext uri="{FF2B5EF4-FFF2-40B4-BE49-F238E27FC236}">
                <a16:creationId xmlns:a16="http://schemas.microsoft.com/office/drawing/2014/main" id="{815A3324-7761-4F48-80EE-885B43BFC8A8}"/>
              </a:ext>
            </a:extLst>
          </p:cNvPr>
          <p:cNvSpPr txBox="1"/>
          <p:nvPr/>
        </p:nvSpPr>
        <p:spPr>
          <a:xfrm>
            <a:off x="175632" y="4359656"/>
            <a:ext cx="11281800" cy="646331"/>
          </a:xfrm>
          <a:prstGeom prst="rect">
            <a:avLst/>
          </a:prstGeom>
          <a:noFill/>
        </p:spPr>
        <p:txBody>
          <a:bodyPr wrap="square" rtlCol="0">
            <a:spAutoFit/>
          </a:bodyPr>
          <a:lstStyle/>
          <a:p>
            <a:r>
              <a:rPr lang="ja-JP" altLang="en-US" sz="2800"/>
              <a:t>・</a:t>
            </a:r>
            <a:r>
              <a:rPr lang="ja-JP" altLang="en-US" sz="3600">
                <a:solidFill>
                  <a:schemeClr val="tx2">
                    <a:lumMod val="50000"/>
                    <a:lumOff val="50000"/>
                  </a:schemeClr>
                </a:solidFill>
              </a:rPr>
              <a:t>必要があれば</a:t>
            </a:r>
            <a:r>
              <a:rPr lang="ja-JP" altLang="en-US" sz="2800"/>
              <a:t>フィブリノーゲン製剤使用</a:t>
            </a:r>
            <a:r>
              <a:rPr lang="en-US" altLang="ja-JP" sz="2800" dirty="0"/>
              <a:t>(</a:t>
            </a:r>
            <a:r>
              <a:rPr lang="ja-JP" altLang="en-US" sz="2800">
                <a:solidFill>
                  <a:srgbClr val="FF0000"/>
                </a:solidFill>
              </a:rPr>
              <a:t>保険適応外</a:t>
            </a:r>
            <a:r>
              <a:rPr lang="ja-JP" altLang="en-US" sz="2800"/>
              <a:t>使用</a:t>
            </a:r>
            <a:r>
              <a:rPr lang="en-US" altLang="ja-JP" sz="2800" dirty="0"/>
              <a:t>).</a:t>
            </a:r>
          </a:p>
        </p:txBody>
      </p:sp>
      <p:sp>
        <p:nvSpPr>
          <p:cNvPr id="3" name="テキスト ボックス 2">
            <a:extLst>
              <a:ext uri="{FF2B5EF4-FFF2-40B4-BE49-F238E27FC236}">
                <a16:creationId xmlns:a16="http://schemas.microsoft.com/office/drawing/2014/main" id="{89F74E9C-9848-7F45-8ECB-17F37C0ED13D}"/>
              </a:ext>
            </a:extLst>
          </p:cNvPr>
          <p:cNvSpPr txBox="1"/>
          <p:nvPr/>
        </p:nvSpPr>
        <p:spPr>
          <a:xfrm>
            <a:off x="633729" y="5100023"/>
            <a:ext cx="10365606" cy="1200329"/>
          </a:xfrm>
          <a:prstGeom prst="rect">
            <a:avLst/>
          </a:prstGeom>
          <a:solidFill>
            <a:schemeClr val="accent6">
              <a:lumMod val="40000"/>
              <a:lumOff val="60000"/>
            </a:schemeClr>
          </a:solidFill>
        </p:spPr>
        <p:txBody>
          <a:bodyPr wrap="square" rtlCol="0" anchor="ctr">
            <a:spAutoFit/>
          </a:bodyPr>
          <a:lstStyle/>
          <a:p>
            <a:pPr algn="ctr"/>
            <a:r>
              <a:rPr kumimoji="1" lang="ja-JP" altLang="en-US" sz="3600"/>
              <a:t>輸血戦略はその時その時の判断になることが多い</a:t>
            </a:r>
            <a:endParaRPr kumimoji="1" lang="en-US" altLang="ja-JP" sz="3600" dirty="0"/>
          </a:p>
          <a:p>
            <a:pPr algn="ctr"/>
            <a:r>
              <a:rPr lang="ja-JP" altLang="en-US" sz="3600"/>
              <a:t>（客観的指標はとぼしい）</a:t>
            </a:r>
            <a:endParaRPr kumimoji="1" lang="ja-JP" altLang="en-US" sz="3600"/>
          </a:p>
        </p:txBody>
      </p:sp>
      <p:sp>
        <p:nvSpPr>
          <p:cNvPr id="4" name="テキスト ボックス 3">
            <a:extLst>
              <a:ext uri="{FF2B5EF4-FFF2-40B4-BE49-F238E27FC236}">
                <a16:creationId xmlns:a16="http://schemas.microsoft.com/office/drawing/2014/main" id="{96102AD5-05DF-7515-1F96-2CEE68C1C26E}"/>
              </a:ext>
            </a:extLst>
          </p:cNvPr>
          <p:cNvSpPr txBox="1"/>
          <p:nvPr/>
        </p:nvSpPr>
        <p:spPr>
          <a:xfrm>
            <a:off x="8974667" y="4573897"/>
            <a:ext cx="2698044" cy="338554"/>
          </a:xfrm>
          <a:prstGeom prst="rect">
            <a:avLst/>
          </a:prstGeom>
          <a:noFill/>
        </p:spPr>
        <p:txBody>
          <a:bodyPr wrap="square" rtlCol="0">
            <a:spAutoFit/>
          </a:bodyPr>
          <a:lstStyle/>
          <a:p>
            <a:pPr algn="r"/>
            <a:r>
              <a:rPr lang="ja-JP" altLang="en-US" sz="1600" b="0" i="0" u="none" strike="noStrike">
                <a:solidFill>
                  <a:srgbClr val="000000"/>
                </a:solidFill>
                <a:effectLst/>
                <a:latin typeface="-webkit-standard"/>
              </a:rPr>
              <a:t>約</a:t>
            </a:r>
            <a:r>
              <a:rPr lang="en-US" altLang="ja-JP" sz="1600" b="0" i="0" u="none" strike="noStrike" dirty="0">
                <a:solidFill>
                  <a:srgbClr val="000000"/>
                </a:solidFill>
                <a:effectLst/>
                <a:latin typeface="-webkit-standard"/>
              </a:rPr>
              <a:t>75,500</a:t>
            </a:r>
            <a:r>
              <a:rPr lang="ja-JP" altLang="en-US" sz="1600" b="0" i="0" u="none" strike="noStrike">
                <a:solidFill>
                  <a:srgbClr val="000000"/>
                </a:solidFill>
                <a:effectLst/>
                <a:latin typeface="-webkit-standard"/>
              </a:rPr>
              <a:t>円</a:t>
            </a:r>
            <a:endParaRPr kumimoji="1" lang="ja-JP" altLang="en-US" sz="1600"/>
          </a:p>
        </p:txBody>
      </p:sp>
      <p:sp>
        <p:nvSpPr>
          <p:cNvPr id="10" name="日付プレースホルダー 9">
            <a:extLst>
              <a:ext uri="{FF2B5EF4-FFF2-40B4-BE49-F238E27FC236}">
                <a16:creationId xmlns:a16="http://schemas.microsoft.com/office/drawing/2014/main" id="{9511673D-C8C2-1121-0FE6-01785C282DED}"/>
              </a:ext>
            </a:extLst>
          </p:cNvPr>
          <p:cNvSpPr>
            <a:spLocks noGrp="1"/>
          </p:cNvSpPr>
          <p:nvPr>
            <p:ph type="dt" sz="half" idx="10"/>
          </p:nvPr>
        </p:nvSpPr>
        <p:spPr/>
        <p:txBody>
          <a:bodyPr/>
          <a:lstStyle/>
          <a:p>
            <a:fld id="{5311C1D3-7D70-6846-A013-7B91B255F784}" type="datetime1">
              <a:rPr kumimoji="1" lang="ja-JP" altLang="en-US" smtClean="0"/>
              <a:t>2026/5/15</a:t>
            </a:fld>
            <a:endParaRPr kumimoji="1" lang="ja-JP" altLang="en-US"/>
          </a:p>
        </p:txBody>
      </p:sp>
    </p:spTree>
    <p:extLst>
      <p:ext uri="{BB962C8B-B14F-4D97-AF65-F5344CB8AC3E}">
        <p14:creationId xmlns:p14="http://schemas.microsoft.com/office/powerpoint/2010/main" val="1572720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76A26F-1294-3846-A98C-FC42437CDB49}"/>
              </a:ext>
            </a:extLst>
          </p:cNvPr>
          <p:cNvSpPr>
            <a:spLocks noGrp="1"/>
          </p:cNvSpPr>
          <p:nvPr>
            <p:ph type="title"/>
          </p:nvPr>
        </p:nvSpPr>
        <p:spPr/>
        <p:txBody>
          <a:bodyPr/>
          <a:lstStyle/>
          <a:p>
            <a:r>
              <a:rPr kumimoji="1" lang="ja-JP" altLang="en-US"/>
              <a:t>輸血戦略の</a:t>
            </a:r>
            <a:r>
              <a:rPr kumimoji="1" lang="en-US" altLang="ja-JP" dirty="0"/>
              <a:t>Protocol</a:t>
            </a:r>
            <a:r>
              <a:rPr kumimoji="1" lang="ja-JP" altLang="en-US"/>
              <a:t>化はできるの？</a:t>
            </a:r>
          </a:p>
        </p:txBody>
      </p:sp>
      <p:sp>
        <p:nvSpPr>
          <p:cNvPr id="5" name="フッター プレースホルダー 4">
            <a:extLst>
              <a:ext uri="{FF2B5EF4-FFF2-40B4-BE49-F238E27FC236}">
                <a16:creationId xmlns:a16="http://schemas.microsoft.com/office/drawing/2014/main" id="{5A5483F5-CAFC-B349-B60E-92AFDCA3B422}"/>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0072AC19-2EA7-A047-A484-AE86BC694F8C}"/>
              </a:ext>
            </a:extLst>
          </p:cNvPr>
          <p:cNvSpPr>
            <a:spLocks noGrp="1"/>
          </p:cNvSpPr>
          <p:nvPr>
            <p:ph type="sldNum" sz="quarter" idx="12"/>
          </p:nvPr>
        </p:nvSpPr>
        <p:spPr/>
        <p:txBody>
          <a:bodyPr/>
          <a:lstStyle/>
          <a:p>
            <a:r>
              <a:rPr lang="en-US" altLang="ja-JP"/>
              <a:t>No. </a:t>
            </a:r>
            <a:fld id="{41B87E3F-77EC-4EFD-94DE-AA3AEB7C7760}" type="slidenum">
              <a:rPr lang="ja-JP" altLang="en-US" smtClean="0"/>
              <a:pPr/>
              <a:t>19</a:t>
            </a:fld>
            <a:endParaRPr kumimoji="1" lang="ja-JP" altLang="en-US" dirty="0"/>
          </a:p>
        </p:txBody>
      </p:sp>
      <p:pic>
        <p:nvPicPr>
          <p:cNvPr id="9" name="図 8" descr="タイムライン&#10;&#10;自動的に生成された説明">
            <a:extLst>
              <a:ext uri="{FF2B5EF4-FFF2-40B4-BE49-F238E27FC236}">
                <a16:creationId xmlns:a16="http://schemas.microsoft.com/office/drawing/2014/main" id="{43543717-D9EF-9240-997D-D9A5A736F4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554" y="1493848"/>
            <a:ext cx="5995385" cy="4758837"/>
          </a:xfrm>
          <a:prstGeom prst="rect">
            <a:avLst/>
          </a:prstGeom>
        </p:spPr>
      </p:pic>
      <p:sp>
        <p:nvSpPr>
          <p:cNvPr id="10" name="テキスト ボックス 9">
            <a:extLst>
              <a:ext uri="{FF2B5EF4-FFF2-40B4-BE49-F238E27FC236}">
                <a16:creationId xmlns:a16="http://schemas.microsoft.com/office/drawing/2014/main" id="{F8F0908C-B2CD-AC42-B1C2-B67423328C1C}"/>
              </a:ext>
            </a:extLst>
          </p:cNvPr>
          <p:cNvSpPr txBox="1"/>
          <p:nvPr/>
        </p:nvSpPr>
        <p:spPr>
          <a:xfrm>
            <a:off x="161478" y="6038820"/>
            <a:ext cx="4128181" cy="369332"/>
          </a:xfrm>
          <a:prstGeom prst="rect">
            <a:avLst/>
          </a:prstGeom>
          <a:noFill/>
        </p:spPr>
        <p:txBody>
          <a:bodyPr wrap="square" rtlCol="0">
            <a:spAutoFit/>
          </a:bodyPr>
          <a:lstStyle/>
          <a:p>
            <a:r>
              <a:rPr lang="en" altLang="ja-JP" dirty="0" err="1"/>
              <a:t>Scand</a:t>
            </a:r>
            <a:r>
              <a:rPr lang="en" altLang="ja-JP" dirty="0"/>
              <a:t> J Surg. 2014 June ; 103(2): 89–103. </a:t>
            </a:r>
          </a:p>
        </p:txBody>
      </p:sp>
      <p:sp>
        <p:nvSpPr>
          <p:cNvPr id="11" name="テキスト ボックス 10">
            <a:extLst>
              <a:ext uri="{FF2B5EF4-FFF2-40B4-BE49-F238E27FC236}">
                <a16:creationId xmlns:a16="http://schemas.microsoft.com/office/drawing/2014/main" id="{BC51AEF5-6A40-314A-BD99-D21B84D44457}"/>
              </a:ext>
            </a:extLst>
          </p:cNvPr>
          <p:cNvSpPr txBox="1"/>
          <p:nvPr/>
        </p:nvSpPr>
        <p:spPr>
          <a:xfrm>
            <a:off x="6358939" y="1590652"/>
            <a:ext cx="5170783" cy="646331"/>
          </a:xfrm>
          <a:prstGeom prst="rect">
            <a:avLst/>
          </a:prstGeom>
          <a:noFill/>
        </p:spPr>
        <p:txBody>
          <a:bodyPr wrap="square" rtlCol="0">
            <a:spAutoFit/>
          </a:bodyPr>
          <a:lstStyle/>
          <a:p>
            <a:r>
              <a:rPr kumimoji="1" lang="en-US" altLang="ja-JP" sz="3600" dirty="0"/>
              <a:t>Denver Health</a:t>
            </a:r>
            <a:r>
              <a:rPr kumimoji="1" lang="ja-JP" altLang="en-US" sz="2800"/>
              <a:t>の</a:t>
            </a:r>
            <a:r>
              <a:rPr kumimoji="1" lang="en-US" altLang="ja-JP" sz="2800" dirty="0"/>
              <a:t>MTP protocol</a:t>
            </a:r>
            <a:endParaRPr kumimoji="1" lang="ja-JP" altLang="en-US" sz="2800"/>
          </a:p>
        </p:txBody>
      </p:sp>
      <p:sp>
        <p:nvSpPr>
          <p:cNvPr id="12" name="テキスト ボックス 11">
            <a:extLst>
              <a:ext uri="{FF2B5EF4-FFF2-40B4-BE49-F238E27FC236}">
                <a16:creationId xmlns:a16="http://schemas.microsoft.com/office/drawing/2014/main" id="{D4238EDA-9659-A445-B246-03D9BFF7886E}"/>
              </a:ext>
            </a:extLst>
          </p:cNvPr>
          <p:cNvSpPr txBox="1"/>
          <p:nvPr/>
        </p:nvSpPr>
        <p:spPr>
          <a:xfrm>
            <a:off x="6437853" y="2326831"/>
            <a:ext cx="5012953" cy="954107"/>
          </a:xfrm>
          <a:prstGeom prst="rect">
            <a:avLst/>
          </a:prstGeom>
          <a:noFill/>
        </p:spPr>
        <p:txBody>
          <a:bodyPr wrap="square" rtlCol="0">
            <a:spAutoFit/>
          </a:bodyPr>
          <a:lstStyle/>
          <a:p>
            <a:r>
              <a:rPr kumimoji="1" lang="en-US" altLang="ja-JP" sz="2800" dirty="0"/>
              <a:t>MTP</a:t>
            </a:r>
            <a:r>
              <a:rPr kumimoji="1" lang="ja-JP" altLang="en-US" sz="2800"/>
              <a:t>発動基準</a:t>
            </a:r>
            <a:r>
              <a:rPr kumimoji="1" lang="en-US" altLang="ja-JP" sz="2800" dirty="0"/>
              <a:t>, </a:t>
            </a:r>
            <a:r>
              <a:rPr kumimoji="1" lang="ja-JP" altLang="en-US" sz="2800"/>
              <a:t>輸血製剤の</a:t>
            </a:r>
            <a:endParaRPr kumimoji="1" lang="en-US" altLang="ja-JP" sz="2800" dirty="0"/>
          </a:p>
          <a:p>
            <a:r>
              <a:rPr kumimoji="1" lang="ja-JP" altLang="en-US" sz="2800"/>
              <a:t>量まで細かく</a:t>
            </a:r>
            <a:r>
              <a:rPr kumimoji="1" lang="en-US" altLang="ja-JP" sz="2800" dirty="0"/>
              <a:t>Protocol </a:t>
            </a:r>
            <a:r>
              <a:rPr kumimoji="1" lang="ja-JP" altLang="en-US" sz="2800"/>
              <a:t>化</a:t>
            </a:r>
          </a:p>
        </p:txBody>
      </p:sp>
      <p:sp>
        <p:nvSpPr>
          <p:cNvPr id="3" name="日付プレースホルダー 2">
            <a:extLst>
              <a:ext uri="{FF2B5EF4-FFF2-40B4-BE49-F238E27FC236}">
                <a16:creationId xmlns:a16="http://schemas.microsoft.com/office/drawing/2014/main" id="{ABA14329-281C-87C8-F27A-E9B3674AA866}"/>
              </a:ext>
            </a:extLst>
          </p:cNvPr>
          <p:cNvSpPr>
            <a:spLocks noGrp="1"/>
          </p:cNvSpPr>
          <p:nvPr>
            <p:ph type="dt" sz="half" idx="10"/>
          </p:nvPr>
        </p:nvSpPr>
        <p:spPr/>
        <p:txBody>
          <a:bodyPr/>
          <a:lstStyle/>
          <a:p>
            <a:fld id="{445F644C-C522-CD40-B1F9-6419622397F3}" type="datetime1">
              <a:rPr kumimoji="1" lang="ja-JP" altLang="en-US" smtClean="0"/>
              <a:t>2026/5/15</a:t>
            </a:fld>
            <a:endParaRPr kumimoji="1" lang="ja-JP" altLang="en-US"/>
          </a:p>
        </p:txBody>
      </p:sp>
    </p:spTree>
    <p:extLst>
      <p:ext uri="{BB962C8B-B14F-4D97-AF65-F5344CB8AC3E}">
        <p14:creationId xmlns:p14="http://schemas.microsoft.com/office/powerpoint/2010/main" val="1190703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76A26F-1294-3846-A98C-FC42437CDB49}"/>
              </a:ext>
            </a:extLst>
          </p:cNvPr>
          <p:cNvSpPr>
            <a:spLocks noGrp="1"/>
          </p:cNvSpPr>
          <p:nvPr>
            <p:ph type="title"/>
          </p:nvPr>
        </p:nvSpPr>
        <p:spPr/>
        <p:txBody>
          <a:bodyPr/>
          <a:lstStyle/>
          <a:p>
            <a:r>
              <a:rPr kumimoji="1" lang="ja-JP" altLang="en-US"/>
              <a:t>輸血戦略の</a:t>
            </a:r>
            <a:r>
              <a:rPr kumimoji="1" lang="en-US" altLang="ja-JP" dirty="0"/>
              <a:t>Protocol</a:t>
            </a:r>
            <a:r>
              <a:rPr kumimoji="1" lang="ja-JP" altLang="en-US"/>
              <a:t>化はできるの？</a:t>
            </a:r>
          </a:p>
        </p:txBody>
      </p:sp>
      <p:sp>
        <p:nvSpPr>
          <p:cNvPr id="5" name="フッター プレースホルダー 4">
            <a:extLst>
              <a:ext uri="{FF2B5EF4-FFF2-40B4-BE49-F238E27FC236}">
                <a16:creationId xmlns:a16="http://schemas.microsoft.com/office/drawing/2014/main" id="{5A5483F5-CAFC-B349-B60E-92AFDCA3B422}"/>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0072AC19-2EA7-A047-A484-AE86BC694F8C}"/>
              </a:ext>
            </a:extLst>
          </p:cNvPr>
          <p:cNvSpPr>
            <a:spLocks noGrp="1"/>
          </p:cNvSpPr>
          <p:nvPr>
            <p:ph type="sldNum" sz="quarter" idx="12"/>
          </p:nvPr>
        </p:nvSpPr>
        <p:spPr/>
        <p:txBody>
          <a:bodyPr/>
          <a:lstStyle/>
          <a:p>
            <a:r>
              <a:rPr lang="en-US" altLang="ja-JP"/>
              <a:t>No. </a:t>
            </a:r>
            <a:fld id="{41B87E3F-77EC-4EFD-94DE-AA3AEB7C7760}" type="slidenum">
              <a:rPr lang="ja-JP" altLang="en-US" smtClean="0"/>
              <a:pPr/>
              <a:t>20</a:t>
            </a:fld>
            <a:endParaRPr kumimoji="1" lang="ja-JP" altLang="en-US" dirty="0"/>
          </a:p>
        </p:txBody>
      </p:sp>
      <p:pic>
        <p:nvPicPr>
          <p:cNvPr id="9" name="図 8" descr="タイムライン&#10;&#10;自動的に生成された説明">
            <a:extLst>
              <a:ext uri="{FF2B5EF4-FFF2-40B4-BE49-F238E27FC236}">
                <a16:creationId xmlns:a16="http://schemas.microsoft.com/office/drawing/2014/main" id="{43543717-D9EF-9240-997D-D9A5A736F4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554" y="1493848"/>
            <a:ext cx="5995385" cy="4758837"/>
          </a:xfrm>
          <a:prstGeom prst="rect">
            <a:avLst/>
          </a:prstGeom>
        </p:spPr>
      </p:pic>
      <p:sp>
        <p:nvSpPr>
          <p:cNvPr id="10" name="テキスト ボックス 9">
            <a:extLst>
              <a:ext uri="{FF2B5EF4-FFF2-40B4-BE49-F238E27FC236}">
                <a16:creationId xmlns:a16="http://schemas.microsoft.com/office/drawing/2014/main" id="{F8F0908C-B2CD-AC42-B1C2-B67423328C1C}"/>
              </a:ext>
            </a:extLst>
          </p:cNvPr>
          <p:cNvSpPr txBox="1"/>
          <p:nvPr/>
        </p:nvSpPr>
        <p:spPr>
          <a:xfrm>
            <a:off x="161478" y="6038820"/>
            <a:ext cx="4128181" cy="369332"/>
          </a:xfrm>
          <a:prstGeom prst="rect">
            <a:avLst/>
          </a:prstGeom>
          <a:noFill/>
        </p:spPr>
        <p:txBody>
          <a:bodyPr wrap="square" rtlCol="0">
            <a:spAutoFit/>
          </a:bodyPr>
          <a:lstStyle/>
          <a:p>
            <a:r>
              <a:rPr lang="en" altLang="ja-JP" dirty="0" err="1"/>
              <a:t>Scand</a:t>
            </a:r>
            <a:r>
              <a:rPr lang="en" altLang="ja-JP" dirty="0"/>
              <a:t> J Surg. 2014 June ; 103(2): 89–103. </a:t>
            </a:r>
          </a:p>
        </p:txBody>
      </p:sp>
      <p:sp>
        <p:nvSpPr>
          <p:cNvPr id="11" name="テキスト ボックス 10">
            <a:extLst>
              <a:ext uri="{FF2B5EF4-FFF2-40B4-BE49-F238E27FC236}">
                <a16:creationId xmlns:a16="http://schemas.microsoft.com/office/drawing/2014/main" id="{BC51AEF5-6A40-314A-BD99-D21B84D44457}"/>
              </a:ext>
            </a:extLst>
          </p:cNvPr>
          <p:cNvSpPr txBox="1"/>
          <p:nvPr/>
        </p:nvSpPr>
        <p:spPr>
          <a:xfrm>
            <a:off x="6358939" y="1590652"/>
            <a:ext cx="5170783" cy="646331"/>
          </a:xfrm>
          <a:prstGeom prst="rect">
            <a:avLst/>
          </a:prstGeom>
          <a:noFill/>
        </p:spPr>
        <p:txBody>
          <a:bodyPr wrap="square" rtlCol="0">
            <a:spAutoFit/>
          </a:bodyPr>
          <a:lstStyle/>
          <a:p>
            <a:r>
              <a:rPr kumimoji="1" lang="en-US" altLang="ja-JP" sz="3600" dirty="0"/>
              <a:t>Denver Health</a:t>
            </a:r>
            <a:r>
              <a:rPr kumimoji="1" lang="ja-JP" altLang="en-US" sz="2800"/>
              <a:t>の</a:t>
            </a:r>
            <a:r>
              <a:rPr kumimoji="1" lang="en-US" altLang="ja-JP" sz="2800" dirty="0"/>
              <a:t>MTP protocol</a:t>
            </a:r>
            <a:endParaRPr kumimoji="1" lang="ja-JP" altLang="en-US" sz="2800"/>
          </a:p>
        </p:txBody>
      </p:sp>
      <p:sp>
        <p:nvSpPr>
          <p:cNvPr id="12" name="テキスト ボックス 11">
            <a:extLst>
              <a:ext uri="{FF2B5EF4-FFF2-40B4-BE49-F238E27FC236}">
                <a16:creationId xmlns:a16="http://schemas.microsoft.com/office/drawing/2014/main" id="{D4238EDA-9659-A445-B246-03D9BFF7886E}"/>
              </a:ext>
            </a:extLst>
          </p:cNvPr>
          <p:cNvSpPr txBox="1"/>
          <p:nvPr/>
        </p:nvSpPr>
        <p:spPr>
          <a:xfrm>
            <a:off x="6437853" y="2326831"/>
            <a:ext cx="5012953" cy="954107"/>
          </a:xfrm>
          <a:prstGeom prst="rect">
            <a:avLst/>
          </a:prstGeom>
          <a:noFill/>
        </p:spPr>
        <p:txBody>
          <a:bodyPr wrap="square" rtlCol="0">
            <a:spAutoFit/>
          </a:bodyPr>
          <a:lstStyle/>
          <a:p>
            <a:r>
              <a:rPr kumimoji="1" lang="en-US" altLang="ja-JP" sz="2800" dirty="0"/>
              <a:t>MTP</a:t>
            </a:r>
            <a:r>
              <a:rPr kumimoji="1" lang="ja-JP" altLang="en-US" sz="2800"/>
              <a:t>発動基準</a:t>
            </a:r>
            <a:r>
              <a:rPr kumimoji="1" lang="en-US" altLang="ja-JP" sz="2800" dirty="0"/>
              <a:t>, </a:t>
            </a:r>
            <a:r>
              <a:rPr kumimoji="1" lang="ja-JP" altLang="en-US" sz="2800"/>
              <a:t>輸血製剤の</a:t>
            </a:r>
            <a:endParaRPr kumimoji="1" lang="en-US" altLang="ja-JP" sz="2800" dirty="0"/>
          </a:p>
          <a:p>
            <a:r>
              <a:rPr kumimoji="1" lang="ja-JP" altLang="en-US" sz="2800"/>
              <a:t>量まで細かく</a:t>
            </a:r>
            <a:r>
              <a:rPr kumimoji="1" lang="en-US" altLang="ja-JP" sz="2800" dirty="0"/>
              <a:t>Protocol </a:t>
            </a:r>
            <a:r>
              <a:rPr kumimoji="1" lang="ja-JP" altLang="en-US" sz="2800"/>
              <a:t>化</a:t>
            </a:r>
          </a:p>
        </p:txBody>
      </p:sp>
      <p:sp>
        <p:nvSpPr>
          <p:cNvPr id="7" name="テキスト ボックス 6">
            <a:extLst>
              <a:ext uri="{FF2B5EF4-FFF2-40B4-BE49-F238E27FC236}">
                <a16:creationId xmlns:a16="http://schemas.microsoft.com/office/drawing/2014/main" id="{FB34126E-2287-2F44-914E-68FAD931B399}"/>
              </a:ext>
            </a:extLst>
          </p:cNvPr>
          <p:cNvSpPr txBox="1"/>
          <p:nvPr/>
        </p:nvSpPr>
        <p:spPr>
          <a:xfrm>
            <a:off x="6561015" y="4196881"/>
            <a:ext cx="5170783" cy="523220"/>
          </a:xfrm>
          <a:prstGeom prst="rect">
            <a:avLst/>
          </a:prstGeom>
          <a:solidFill>
            <a:schemeClr val="tx1">
              <a:lumMod val="40000"/>
              <a:lumOff val="60000"/>
              <a:alpha val="34000"/>
            </a:schemeClr>
          </a:solidFill>
        </p:spPr>
        <p:txBody>
          <a:bodyPr wrap="square" rtlCol="0">
            <a:spAutoFit/>
          </a:bodyPr>
          <a:lstStyle/>
          <a:p>
            <a:pPr algn="ctr"/>
            <a:r>
              <a:rPr kumimoji="1" lang="ja-JP" altLang="en-US" sz="2800"/>
              <a:t>ここまで細かくできるのか？</a:t>
            </a:r>
          </a:p>
        </p:txBody>
      </p:sp>
      <p:sp>
        <p:nvSpPr>
          <p:cNvPr id="13" name="テキスト ボックス 12">
            <a:extLst>
              <a:ext uri="{FF2B5EF4-FFF2-40B4-BE49-F238E27FC236}">
                <a16:creationId xmlns:a16="http://schemas.microsoft.com/office/drawing/2014/main" id="{3F6CDF2A-D269-174E-AC9E-D8EE240BA18C}"/>
              </a:ext>
            </a:extLst>
          </p:cNvPr>
          <p:cNvSpPr txBox="1"/>
          <p:nvPr/>
        </p:nvSpPr>
        <p:spPr>
          <a:xfrm>
            <a:off x="6561014" y="4824220"/>
            <a:ext cx="5170783" cy="954107"/>
          </a:xfrm>
          <a:prstGeom prst="rect">
            <a:avLst/>
          </a:prstGeom>
          <a:solidFill>
            <a:schemeClr val="accent2">
              <a:lumMod val="20000"/>
              <a:lumOff val="80000"/>
              <a:alpha val="38000"/>
            </a:schemeClr>
          </a:solidFill>
        </p:spPr>
        <p:txBody>
          <a:bodyPr wrap="square" rtlCol="0">
            <a:spAutoFit/>
          </a:bodyPr>
          <a:lstStyle/>
          <a:p>
            <a:pPr algn="ctr"/>
            <a:r>
              <a:rPr kumimoji="1" lang="ja-JP" altLang="en-US" sz="2800"/>
              <a:t>日本と海外</a:t>
            </a:r>
            <a:r>
              <a:rPr kumimoji="1" lang="en-US" altLang="ja-JP" sz="2800" dirty="0"/>
              <a:t>, </a:t>
            </a:r>
            <a:r>
              <a:rPr kumimoji="1" lang="ja-JP" altLang="en-US" sz="2800"/>
              <a:t>当院とでは</a:t>
            </a:r>
            <a:endParaRPr kumimoji="1" lang="en-US" altLang="ja-JP" sz="2800" dirty="0"/>
          </a:p>
          <a:p>
            <a:pPr algn="ctr"/>
            <a:r>
              <a:rPr kumimoji="1" lang="ja-JP" altLang="en-US" sz="2800"/>
              <a:t>状況は異なる</a:t>
            </a:r>
          </a:p>
        </p:txBody>
      </p:sp>
      <p:sp>
        <p:nvSpPr>
          <p:cNvPr id="3" name="日付プレースホルダー 2">
            <a:extLst>
              <a:ext uri="{FF2B5EF4-FFF2-40B4-BE49-F238E27FC236}">
                <a16:creationId xmlns:a16="http://schemas.microsoft.com/office/drawing/2014/main" id="{A2261992-85BB-A468-12E8-B16792E54500}"/>
              </a:ext>
            </a:extLst>
          </p:cNvPr>
          <p:cNvSpPr>
            <a:spLocks noGrp="1"/>
          </p:cNvSpPr>
          <p:nvPr>
            <p:ph type="dt" sz="half" idx="10"/>
          </p:nvPr>
        </p:nvSpPr>
        <p:spPr/>
        <p:txBody>
          <a:bodyPr/>
          <a:lstStyle/>
          <a:p>
            <a:fld id="{83644565-B44C-2947-9233-927D05264125}" type="datetime1">
              <a:rPr kumimoji="1" lang="ja-JP" altLang="en-US" smtClean="0"/>
              <a:t>2026/5/15</a:t>
            </a:fld>
            <a:endParaRPr kumimoji="1" lang="ja-JP" altLang="en-US"/>
          </a:p>
        </p:txBody>
      </p:sp>
    </p:spTree>
    <p:extLst>
      <p:ext uri="{BB962C8B-B14F-4D97-AF65-F5344CB8AC3E}">
        <p14:creationId xmlns:p14="http://schemas.microsoft.com/office/powerpoint/2010/main" val="42214118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CA92B3-45ED-F044-B141-BE0CC4DB7A2C}"/>
              </a:ext>
            </a:extLst>
          </p:cNvPr>
          <p:cNvSpPr>
            <a:spLocks noGrp="1"/>
          </p:cNvSpPr>
          <p:nvPr>
            <p:ph type="title"/>
          </p:nvPr>
        </p:nvSpPr>
        <p:spPr/>
        <p:txBody>
          <a:bodyPr/>
          <a:lstStyle/>
          <a:p>
            <a:r>
              <a:rPr kumimoji="1" lang="ja-JP" altLang="en-US"/>
              <a:t>実際の現場では</a:t>
            </a:r>
            <a:r>
              <a:rPr kumimoji="1" lang="en-US" altLang="ja-JP" dirty="0"/>
              <a:t>…</a:t>
            </a:r>
            <a:endParaRPr kumimoji="1" lang="ja-JP" altLang="en-US"/>
          </a:p>
        </p:txBody>
      </p:sp>
      <p:sp>
        <p:nvSpPr>
          <p:cNvPr id="5" name="フッター プレースホルダー 4">
            <a:extLst>
              <a:ext uri="{FF2B5EF4-FFF2-40B4-BE49-F238E27FC236}">
                <a16:creationId xmlns:a16="http://schemas.microsoft.com/office/drawing/2014/main" id="{7909CDAC-311F-EC40-9A3D-51A25D895385}"/>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A75C2DEF-0127-5A49-AAC9-B26D828195B1}"/>
              </a:ext>
            </a:extLst>
          </p:cNvPr>
          <p:cNvSpPr>
            <a:spLocks noGrp="1"/>
          </p:cNvSpPr>
          <p:nvPr>
            <p:ph type="sldNum" sz="quarter" idx="12"/>
          </p:nvPr>
        </p:nvSpPr>
        <p:spPr/>
        <p:txBody>
          <a:bodyPr/>
          <a:lstStyle/>
          <a:p>
            <a:r>
              <a:rPr lang="en-US" altLang="ja-JP"/>
              <a:t>No. </a:t>
            </a:r>
            <a:fld id="{41B87E3F-77EC-4EFD-94DE-AA3AEB7C7760}" type="slidenum">
              <a:rPr lang="ja-JP" altLang="en-US" smtClean="0"/>
              <a:pPr/>
              <a:t>21</a:t>
            </a:fld>
            <a:endParaRPr kumimoji="1" lang="ja-JP" altLang="en-US" dirty="0"/>
          </a:p>
        </p:txBody>
      </p:sp>
      <p:sp>
        <p:nvSpPr>
          <p:cNvPr id="7" name="テキスト ボックス 6">
            <a:extLst>
              <a:ext uri="{FF2B5EF4-FFF2-40B4-BE49-F238E27FC236}">
                <a16:creationId xmlns:a16="http://schemas.microsoft.com/office/drawing/2014/main" id="{DEFFB8B8-861D-1546-A0F4-5863335FE3CB}"/>
              </a:ext>
            </a:extLst>
          </p:cNvPr>
          <p:cNvSpPr txBox="1"/>
          <p:nvPr/>
        </p:nvSpPr>
        <p:spPr>
          <a:xfrm>
            <a:off x="192505" y="1727584"/>
            <a:ext cx="9088955" cy="523220"/>
          </a:xfrm>
          <a:prstGeom prst="rect">
            <a:avLst/>
          </a:prstGeom>
          <a:noFill/>
        </p:spPr>
        <p:txBody>
          <a:bodyPr wrap="square" rtlCol="0">
            <a:spAutoFit/>
          </a:bodyPr>
          <a:lstStyle/>
          <a:p>
            <a:r>
              <a:rPr kumimoji="1" lang="ja-JP" altLang="en-US" sz="2800"/>
              <a:t>・輸血戦略は患者容態によって異なる</a:t>
            </a:r>
          </a:p>
        </p:txBody>
      </p:sp>
      <p:sp>
        <p:nvSpPr>
          <p:cNvPr id="8" name="テキスト ボックス 7">
            <a:extLst>
              <a:ext uri="{FF2B5EF4-FFF2-40B4-BE49-F238E27FC236}">
                <a16:creationId xmlns:a16="http://schemas.microsoft.com/office/drawing/2014/main" id="{1851597E-9702-1947-B032-2C15CBB8D8CE}"/>
              </a:ext>
            </a:extLst>
          </p:cNvPr>
          <p:cNvSpPr txBox="1"/>
          <p:nvPr/>
        </p:nvSpPr>
        <p:spPr>
          <a:xfrm>
            <a:off x="980172" y="2312778"/>
            <a:ext cx="9088955" cy="523220"/>
          </a:xfrm>
          <a:prstGeom prst="rect">
            <a:avLst/>
          </a:prstGeom>
          <a:noFill/>
        </p:spPr>
        <p:txBody>
          <a:bodyPr wrap="square" rtlCol="0">
            <a:spAutoFit/>
          </a:bodyPr>
          <a:lstStyle/>
          <a:p>
            <a:r>
              <a:rPr kumimoji="1" lang="ja-JP" altLang="en-US" sz="2800"/>
              <a:t>頭部外傷あり</a:t>
            </a:r>
            <a:r>
              <a:rPr kumimoji="1" lang="en-US" altLang="ja-JP" sz="2800" dirty="0"/>
              <a:t>, </a:t>
            </a:r>
            <a:r>
              <a:rPr lang="ja-JP" altLang="en-US" sz="2800"/>
              <a:t>肺挫傷あり</a:t>
            </a:r>
            <a:r>
              <a:rPr lang="en-US" altLang="ja-JP" sz="2800" dirty="0"/>
              <a:t>, </a:t>
            </a:r>
            <a:r>
              <a:rPr lang="ja-JP" altLang="en-US" sz="2800"/>
              <a:t>多発外傷</a:t>
            </a:r>
            <a:r>
              <a:rPr lang="en-US" altLang="ja-JP" sz="2800" dirty="0"/>
              <a:t>, Near CPA…</a:t>
            </a:r>
            <a:endParaRPr kumimoji="1" lang="ja-JP" altLang="en-US" sz="2800"/>
          </a:p>
        </p:txBody>
      </p:sp>
      <p:sp>
        <p:nvSpPr>
          <p:cNvPr id="9" name="テキスト ボックス 8">
            <a:extLst>
              <a:ext uri="{FF2B5EF4-FFF2-40B4-BE49-F238E27FC236}">
                <a16:creationId xmlns:a16="http://schemas.microsoft.com/office/drawing/2014/main" id="{ACF55057-BF45-6640-AE61-2974C8C34147}"/>
              </a:ext>
            </a:extLst>
          </p:cNvPr>
          <p:cNvSpPr txBox="1"/>
          <p:nvPr/>
        </p:nvSpPr>
        <p:spPr>
          <a:xfrm>
            <a:off x="192504" y="2897972"/>
            <a:ext cx="11511815" cy="954107"/>
          </a:xfrm>
          <a:prstGeom prst="rect">
            <a:avLst/>
          </a:prstGeom>
          <a:noFill/>
        </p:spPr>
        <p:txBody>
          <a:bodyPr wrap="square" rtlCol="0">
            <a:spAutoFit/>
          </a:bodyPr>
          <a:lstStyle/>
          <a:p>
            <a:r>
              <a:rPr kumimoji="1" lang="ja-JP" altLang="en-US" sz="2800"/>
              <a:t>・病着前に</a:t>
            </a:r>
            <a:r>
              <a:rPr kumimoji="1" lang="en-US" altLang="ja-JP" sz="2800" dirty="0"/>
              <a:t>FFP</a:t>
            </a:r>
            <a:r>
              <a:rPr kumimoji="1" lang="ja-JP" altLang="en-US" sz="2800"/>
              <a:t>を準備するケース</a:t>
            </a:r>
            <a:r>
              <a:rPr kumimoji="1" lang="en-US" altLang="ja-JP" sz="2800" dirty="0"/>
              <a:t>, </a:t>
            </a:r>
            <a:r>
              <a:rPr kumimoji="1" lang="ja-JP" altLang="en-US" sz="2800"/>
              <a:t>実際の止血処置までの時間など</a:t>
            </a:r>
            <a:endParaRPr kumimoji="1" lang="en-US" altLang="ja-JP" sz="2800" dirty="0"/>
          </a:p>
          <a:p>
            <a:r>
              <a:rPr lang="ja-JP" altLang="en-US" sz="2800"/>
              <a:t>　</a:t>
            </a:r>
            <a:r>
              <a:rPr kumimoji="1" lang="ja-JP" altLang="en-US" sz="2800"/>
              <a:t>様々な要因がある</a:t>
            </a:r>
          </a:p>
        </p:txBody>
      </p:sp>
      <p:sp>
        <p:nvSpPr>
          <p:cNvPr id="10" name="テキスト ボックス 9">
            <a:extLst>
              <a:ext uri="{FF2B5EF4-FFF2-40B4-BE49-F238E27FC236}">
                <a16:creationId xmlns:a16="http://schemas.microsoft.com/office/drawing/2014/main" id="{460D1B31-457C-B94C-82A0-2E482507F252}"/>
              </a:ext>
            </a:extLst>
          </p:cNvPr>
          <p:cNvSpPr txBox="1"/>
          <p:nvPr/>
        </p:nvSpPr>
        <p:spPr>
          <a:xfrm>
            <a:off x="192503" y="3914053"/>
            <a:ext cx="11511815" cy="954107"/>
          </a:xfrm>
          <a:prstGeom prst="rect">
            <a:avLst/>
          </a:prstGeom>
          <a:noFill/>
        </p:spPr>
        <p:txBody>
          <a:bodyPr wrap="square" rtlCol="0">
            <a:spAutoFit/>
          </a:bodyPr>
          <a:lstStyle/>
          <a:p>
            <a:r>
              <a:rPr kumimoji="1" lang="ja-JP" altLang="en-US" sz="2800"/>
              <a:t>・客観的指標もそうだが必ずしもそれを待てるとは限らず</a:t>
            </a:r>
            <a:endParaRPr kumimoji="1" lang="en-US" altLang="ja-JP" sz="2800" dirty="0"/>
          </a:p>
          <a:p>
            <a:r>
              <a:rPr lang="ja-JP" altLang="en-US" sz="2800"/>
              <a:t>　</a:t>
            </a:r>
            <a:r>
              <a:rPr kumimoji="1" lang="ja-JP" altLang="en-US" sz="2800"/>
              <a:t>現場判断に委ねられる</a:t>
            </a:r>
          </a:p>
        </p:txBody>
      </p:sp>
      <p:sp>
        <p:nvSpPr>
          <p:cNvPr id="3" name="円/楕円 2">
            <a:extLst>
              <a:ext uri="{FF2B5EF4-FFF2-40B4-BE49-F238E27FC236}">
                <a16:creationId xmlns:a16="http://schemas.microsoft.com/office/drawing/2014/main" id="{0FF5CEF4-616F-764A-A695-A6A229003000}"/>
              </a:ext>
            </a:extLst>
          </p:cNvPr>
          <p:cNvSpPr/>
          <p:nvPr/>
        </p:nvSpPr>
        <p:spPr>
          <a:xfrm>
            <a:off x="1052650" y="4981954"/>
            <a:ext cx="10086699" cy="1281480"/>
          </a:xfrm>
          <a:prstGeom prst="ellipse">
            <a:avLst/>
          </a:prstGeom>
          <a:solidFill>
            <a:srgbClr val="C00000">
              <a:alpha val="7229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600"/>
              <a:t>一律に細かいところまでの</a:t>
            </a:r>
            <a:endParaRPr lang="en-US" altLang="ja-JP" sz="3600" dirty="0"/>
          </a:p>
          <a:p>
            <a:pPr algn="ctr"/>
            <a:r>
              <a:rPr lang="en-US" altLang="ja-JP" sz="3600" dirty="0"/>
              <a:t>Protocol</a:t>
            </a:r>
            <a:r>
              <a:rPr lang="ja-JP" altLang="en-US" sz="3600"/>
              <a:t>化はむずかしい</a:t>
            </a:r>
          </a:p>
        </p:txBody>
      </p:sp>
      <p:sp>
        <p:nvSpPr>
          <p:cNvPr id="4" name="日付プレースホルダー 3">
            <a:extLst>
              <a:ext uri="{FF2B5EF4-FFF2-40B4-BE49-F238E27FC236}">
                <a16:creationId xmlns:a16="http://schemas.microsoft.com/office/drawing/2014/main" id="{5329A09D-B82A-68E0-9910-7CCF05738602}"/>
              </a:ext>
            </a:extLst>
          </p:cNvPr>
          <p:cNvSpPr>
            <a:spLocks noGrp="1"/>
          </p:cNvSpPr>
          <p:nvPr>
            <p:ph type="dt" sz="half" idx="10"/>
          </p:nvPr>
        </p:nvSpPr>
        <p:spPr/>
        <p:txBody>
          <a:bodyPr/>
          <a:lstStyle/>
          <a:p>
            <a:fld id="{8FC662A2-DFDC-BB4C-B0A2-7F33165291A8}" type="datetime1">
              <a:rPr kumimoji="1" lang="ja-JP" altLang="en-US" smtClean="0"/>
              <a:t>2026/5/15</a:t>
            </a:fld>
            <a:endParaRPr kumimoji="1" lang="ja-JP" altLang="en-US"/>
          </a:p>
        </p:txBody>
      </p:sp>
    </p:spTree>
    <p:extLst>
      <p:ext uri="{BB962C8B-B14F-4D97-AF65-F5344CB8AC3E}">
        <p14:creationId xmlns:p14="http://schemas.microsoft.com/office/powerpoint/2010/main" val="32098087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8CC503-6262-1E4F-B322-225A73F10084}"/>
              </a:ext>
            </a:extLst>
          </p:cNvPr>
          <p:cNvSpPr>
            <a:spLocks noGrp="1"/>
          </p:cNvSpPr>
          <p:nvPr>
            <p:ph type="title"/>
          </p:nvPr>
        </p:nvSpPr>
        <p:spPr/>
        <p:txBody>
          <a:bodyPr/>
          <a:lstStyle/>
          <a:p>
            <a:r>
              <a:rPr kumimoji="1" lang="ja-JP" altLang="en-US"/>
              <a:t>輸血製剤の投与判断（私見）</a:t>
            </a:r>
          </a:p>
        </p:txBody>
      </p:sp>
      <p:graphicFrame>
        <p:nvGraphicFramePr>
          <p:cNvPr id="7" name="表 7">
            <a:extLst>
              <a:ext uri="{FF2B5EF4-FFF2-40B4-BE49-F238E27FC236}">
                <a16:creationId xmlns:a16="http://schemas.microsoft.com/office/drawing/2014/main" id="{B10E93E2-46AA-854A-B9F6-15330DEBA104}"/>
              </a:ext>
            </a:extLst>
          </p:cNvPr>
          <p:cNvGraphicFramePr>
            <a:graphicFrameLocks noGrp="1"/>
          </p:cNvGraphicFramePr>
          <p:nvPr>
            <p:ph idx="1"/>
          </p:nvPr>
        </p:nvGraphicFramePr>
        <p:xfrm>
          <a:off x="282427" y="1711695"/>
          <a:ext cx="11627146" cy="4267324"/>
        </p:xfrm>
        <a:graphic>
          <a:graphicData uri="http://schemas.openxmlformats.org/drawingml/2006/table">
            <a:tbl>
              <a:tblPr firstRow="1" bandRow="1">
                <a:tableStyleId>{5C22544A-7EE6-4342-B048-85BDC9FD1C3A}</a:tableStyleId>
              </a:tblPr>
              <a:tblGrid>
                <a:gridCol w="2272030">
                  <a:extLst>
                    <a:ext uri="{9D8B030D-6E8A-4147-A177-3AD203B41FA5}">
                      <a16:colId xmlns:a16="http://schemas.microsoft.com/office/drawing/2014/main" val="1743690496"/>
                    </a:ext>
                  </a:extLst>
                </a:gridCol>
                <a:gridCol w="2338779">
                  <a:extLst>
                    <a:ext uri="{9D8B030D-6E8A-4147-A177-3AD203B41FA5}">
                      <a16:colId xmlns:a16="http://schemas.microsoft.com/office/drawing/2014/main" val="969582246"/>
                    </a:ext>
                  </a:extLst>
                </a:gridCol>
                <a:gridCol w="2338779">
                  <a:extLst>
                    <a:ext uri="{9D8B030D-6E8A-4147-A177-3AD203B41FA5}">
                      <a16:colId xmlns:a16="http://schemas.microsoft.com/office/drawing/2014/main" val="1450342246"/>
                    </a:ext>
                  </a:extLst>
                </a:gridCol>
                <a:gridCol w="2338779">
                  <a:extLst>
                    <a:ext uri="{9D8B030D-6E8A-4147-A177-3AD203B41FA5}">
                      <a16:colId xmlns:a16="http://schemas.microsoft.com/office/drawing/2014/main" val="2245719640"/>
                    </a:ext>
                  </a:extLst>
                </a:gridCol>
                <a:gridCol w="2338779">
                  <a:extLst>
                    <a:ext uri="{9D8B030D-6E8A-4147-A177-3AD203B41FA5}">
                      <a16:colId xmlns:a16="http://schemas.microsoft.com/office/drawing/2014/main" val="3253573187"/>
                    </a:ext>
                  </a:extLst>
                </a:gridCol>
              </a:tblGrid>
              <a:tr h="532399">
                <a:tc>
                  <a:txBody>
                    <a:bodyPr/>
                    <a:lstStyle/>
                    <a:p>
                      <a:pPr algn="ctr"/>
                      <a:r>
                        <a:rPr kumimoji="1" lang="ja-JP" altLang="en-US" sz="2800"/>
                        <a:t>製剤</a:t>
                      </a:r>
                    </a:p>
                  </a:txBody>
                  <a:tcPr anchor="ctr"/>
                </a:tc>
                <a:tc>
                  <a:txBody>
                    <a:bodyPr/>
                    <a:lstStyle/>
                    <a:p>
                      <a:pPr algn="ctr"/>
                      <a:r>
                        <a:rPr kumimoji="1" lang="en-US" altLang="ja-JP" sz="2800" dirty="0"/>
                        <a:t>RBC</a:t>
                      </a:r>
                      <a:endParaRPr kumimoji="1" lang="ja-JP" altLang="en-US" sz="2800"/>
                    </a:p>
                  </a:txBody>
                  <a:tcPr anchor="ctr">
                    <a:solidFill>
                      <a:srgbClr val="FF0000"/>
                    </a:solidFill>
                  </a:tcPr>
                </a:tc>
                <a:tc>
                  <a:txBody>
                    <a:bodyPr/>
                    <a:lstStyle/>
                    <a:p>
                      <a:pPr algn="ctr"/>
                      <a:r>
                        <a:rPr kumimoji="1" lang="en-US" altLang="ja-JP" sz="2800" dirty="0"/>
                        <a:t>FFP</a:t>
                      </a:r>
                      <a:endParaRPr kumimoji="1" lang="ja-JP" altLang="en-US" sz="2800"/>
                    </a:p>
                  </a:txBody>
                  <a:tcPr anchor="ctr">
                    <a:solidFill>
                      <a:srgbClr val="00B0F0"/>
                    </a:solidFill>
                  </a:tcPr>
                </a:tc>
                <a:tc>
                  <a:txBody>
                    <a:bodyPr/>
                    <a:lstStyle/>
                    <a:p>
                      <a:pPr algn="ctr"/>
                      <a:r>
                        <a:rPr kumimoji="1" lang="en-US" altLang="ja-JP" sz="2800" dirty="0"/>
                        <a:t>Fib</a:t>
                      </a:r>
                      <a:endParaRPr kumimoji="1" lang="ja-JP" altLang="en-US" sz="2800"/>
                    </a:p>
                  </a:txBody>
                  <a:tcPr anchor="ctr">
                    <a:solidFill>
                      <a:schemeClr val="tx2">
                        <a:lumMod val="50000"/>
                        <a:lumOff val="50000"/>
                      </a:schemeClr>
                    </a:solidFill>
                  </a:tcPr>
                </a:tc>
                <a:tc>
                  <a:txBody>
                    <a:bodyPr/>
                    <a:lstStyle/>
                    <a:p>
                      <a:pPr algn="ctr"/>
                      <a:r>
                        <a:rPr kumimoji="1" lang="en-US" altLang="ja-JP" sz="2800" dirty="0" err="1"/>
                        <a:t>Plt</a:t>
                      </a:r>
                      <a:endParaRPr kumimoji="1" lang="ja-JP" altLang="en-US" sz="2800"/>
                    </a:p>
                  </a:txBody>
                  <a:tcPr anchor="ctr">
                    <a:solidFill>
                      <a:srgbClr val="00B050"/>
                    </a:solidFill>
                  </a:tcPr>
                </a:tc>
                <a:extLst>
                  <a:ext uri="{0D108BD9-81ED-4DB2-BD59-A6C34878D82A}">
                    <a16:rowId xmlns:a16="http://schemas.microsoft.com/office/drawing/2014/main" val="2802307533"/>
                  </a:ext>
                </a:extLst>
              </a:tr>
              <a:tr h="532399">
                <a:tc>
                  <a:txBody>
                    <a:bodyPr/>
                    <a:lstStyle/>
                    <a:p>
                      <a:pPr algn="ctr"/>
                      <a:r>
                        <a:rPr kumimoji="1" lang="ja-JP" altLang="en-US" sz="2000"/>
                        <a:t>主観的指標</a:t>
                      </a:r>
                    </a:p>
                  </a:txBody>
                  <a:tcPr anchor="ctr"/>
                </a:tc>
                <a:tc>
                  <a:txBody>
                    <a:bodyPr/>
                    <a:lstStyle/>
                    <a:p>
                      <a:pPr algn="ctr"/>
                      <a:r>
                        <a:rPr kumimoji="1" lang="ja-JP" altLang="en-US" sz="2800"/>
                        <a:t>出血量</a:t>
                      </a:r>
                    </a:p>
                  </a:txBody>
                  <a:tcPr anchor="ctr"/>
                </a:tc>
                <a:tc>
                  <a:txBody>
                    <a:bodyPr/>
                    <a:lstStyle/>
                    <a:p>
                      <a:pPr algn="ctr"/>
                      <a:r>
                        <a:rPr kumimoji="1" lang="ja-JP" altLang="en-US" sz="2800"/>
                        <a:t>損傷部位</a:t>
                      </a:r>
                      <a:endParaRPr kumimoji="1" lang="en-US" altLang="ja-JP" sz="2800" dirty="0"/>
                    </a:p>
                    <a:p>
                      <a:pPr algn="ctr"/>
                      <a:r>
                        <a:rPr kumimoji="1" lang="ja-JP" altLang="en-US" sz="2800"/>
                        <a:t>術野所見</a:t>
                      </a:r>
                    </a:p>
                  </a:txBody>
                  <a:tcPr anchor="ctr"/>
                </a:tc>
                <a:tc>
                  <a:txBody>
                    <a:bodyPr/>
                    <a:lstStyle/>
                    <a:p>
                      <a:pPr algn="ctr"/>
                      <a:r>
                        <a:rPr kumimoji="1" lang="ja-JP" altLang="en-US" sz="2800"/>
                        <a:t>損傷部位</a:t>
                      </a:r>
                    </a:p>
                  </a:txBody>
                  <a:tcPr anchor="ctr"/>
                </a:tc>
                <a:tc>
                  <a:txBody>
                    <a:bodyPr/>
                    <a:lstStyle/>
                    <a:p>
                      <a:pPr algn="ctr"/>
                      <a:r>
                        <a:rPr kumimoji="1" lang="en-US" altLang="ja-JP" sz="2800" dirty="0"/>
                        <a:t>MTP1:1:1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術野所見</a:t>
                      </a:r>
                    </a:p>
                  </a:txBody>
                  <a:tcPr anchor="ctr"/>
                </a:tc>
                <a:extLst>
                  <a:ext uri="{0D108BD9-81ED-4DB2-BD59-A6C34878D82A}">
                    <a16:rowId xmlns:a16="http://schemas.microsoft.com/office/drawing/2014/main" val="1393321879"/>
                  </a:ext>
                </a:extLst>
              </a:tr>
              <a:tr h="532399">
                <a:tc>
                  <a:txBody>
                    <a:bodyPr/>
                    <a:lstStyle/>
                    <a:p>
                      <a:pPr algn="ctr"/>
                      <a:r>
                        <a:rPr kumimoji="1" lang="ja-JP" altLang="en-US" sz="2000"/>
                        <a:t>客観的指標</a:t>
                      </a:r>
                    </a:p>
                  </a:txBody>
                  <a:tcPr anchor="ctr"/>
                </a:tc>
                <a:tc>
                  <a:txBody>
                    <a:bodyPr/>
                    <a:lstStyle/>
                    <a:p>
                      <a:pPr algn="ctr"/>
                      <a:r>
                        <a:rPr kumimoji="1" lang="en-US" altLang="ja-JP" sz="2800" dirty="0"/>
                        <a:t>Hb</a:t>
                      </a:r>
                      <a:endParaRPr kumimoji="1" lang="ja-JP" altLang="en-US" sz="2800"/>
                    </a:p>
                  </a:txBody>
                  <a:tcPr anchor="ctr"/>
                </a:tc>
                <a:tc>
                  <a:txBody>
                    <a:bodyPr/>
                    <a:lstStyle/>
                    <a:p>
                      <a:pPr algn="ctr"/>
                      <a:r>
                        <a:rPr kumimoji="1" lang="en-US" altLang="ja-JP" sz="2800" dirty="0"/>
                        <a:t>Fib, INR,  APTT</a:t>
                      </a:r>
                      <a:endParaRPr kumimoji="1" lang="ja-JP" altLang="en-US" sz="2800"/>
                    </a:p>
                  </a:txBody>
                  <a:tcPr anchor="ctr"/>
                </a:tc>
                <a:tc>
                  <a:txBody>
                    <a:bodyPr/>
                    <a:lstStyle/>
                    <a:p>
                      <a:pPr algn="ctr"/>
                      <a:r>
                        <a:rPr kumimoji="1" lang="en-US" altLang="ja-JP" sz="2800" dirty="0"/>
                        <a:t>Fib</a:t>
                      </a:r>
                      <a:endParaRPr kumimoji="1" lang="ja-JP" altLang="en-US" sz="2800"/>
                    </a:p>
                  </a:txBody>
                  <a:tcPr anchor="ctr"/>
                </a:tc>
                <a:tc>
                  <a:txBody>
                    <a:bodyPr/>
                    <a:lstStyle/>
                    <a:p>
                      <a:pPr algn="ctr"/>
                      <a:r>
                        <a:rPr kumimoji="1" lang="en-US" altLang="ja-JP" sz="2800" dirty="0" err="1"/>
                        <a:t>Plt</a:t>
                      </a:r>
                      <a:endParaRPr kumimoji="1" lang="ja-JP" altLang="en-US" sz="2800"/>
                    </a:p>
                  </a:txBody>
                  <a:tcPr anchor="ctr"/>
                </a:tc>
                <a:extLst>
                  <a:ext uri="{0D108BD9-81ED-4DB2-BD59-A6C34878D82A}">
                    <a16:rowId xmlns:a16="http://schemas.microsoft.com/office/drawing/2014/main" val="519066428"/>
                  </a:ext>
                </a:extLst>
              </a:tr>
              <a:tr h="1312766">
                <a:tc>
                  <a:txBody>
                    <a:bodyPr/>
                    <a:lstStyle/>
                    <a:p>
                      <a:pPr algn="ctr"/>
                      <a:r>
                        <a:rPr kumimoji="1" lang="ja-JP" altLang="en-US" sz="2000"/>
                        <a:t>客観的指標への</a:t>
                      </a:r>
                      <a:endParaRPr kumimoji="1" lang="en-US" altLang="ja-JP" sz="2000" dirty="0"/>
                    </a:p>
                    <a:p>
                      <a:pPr algn="ctr"/>
                      <a:r>
                        <a:rPr kumimoji="1" lang="ja-JP" altLang="en-US" sz="2000"/>
                        <a:t>アクセス</a:t>
                      </a:r>
                    </a:p>
                  </a:txBody>
                  <a:tcPr anchor="ctr"/>
                </a:tc>
                <a:tc>
                  <a:txBody>
                    <a:bodyPr/>
                    <a:lstStyle/>
                    <a:p>
                      <a:pPr algn="ctr"/>
                      <a:r>
                        <a:rPr kumimoji="1" lang="en-US" altLang="ja-JP" sz="2800" dirty="0"/>
                        <a:t>BGA</a:t>
                      </a:r>
                    </a:p>
                    <a:p>
                      <a:pPr algn="ctr"/>
                      <a:r>
                        <a:rPr kumimoji="1" lang="ja-JP" altLang="en-US" sz="2800"/>
                        <a:t>比較的早い</a:t>
                      </a:r>
                    </a:p>
                  </a:txBody>
                  <a:tcPr anchor="ctr"/>
                </a:tc>
                <a:tc>
                  <a:txBody>
                    <a:bodyPr/>
                    <a:lstStyle/>
                    <a:p>
                      <a:pPr algn="ctr"/>
                      <a:r>
                        <a:rPr kumimoji="1" lang="ja-JP" altLang="en-US" sz="2800"/>
                        <a:t>凝固採血</a:t>
                      </a:r>
                      <a:endParaRPr kumimoji="1" lang="en-US" altLang="ja-JP" sz="2800" dirty="0"/>
                    </a:p>
                    <a:p>
                      <a:pPr algn="ctr"/>
                      <a:r>
                        <a:rPr kumimoji="1" lang="en-US" altLang="ja-JP" sz="2800" dirty="0">
                          <a:solidFill>
                            <a:srgbClr val="7030A0"/>
                          </a:solidFill>
                        </a:rPr>
                        <a:t>20–30</a:t>
                      </a:r>
                      <a:r>
                        <a:rPr kumimoji="1" lang="ja-JP" altLang="en-US" sz="2800">
                          <a:solidFill>
                            <a:srgbClr val="7030A0"/>
                          </a:solidFill>
                        </a:rPr>
                        <a:t>分</a:t>
                      </a:r>
                    </a:p>
                  </a:txBody>
                  <a:tcPr anchor="ctr"/>
                </a:tc>
                <a:tc>
                  <a:txBody>
                    <a:bodyPr/>
                    <a:lstStyle/>
                    <a:p>
                      <a:pPr algn="ctr"/>
                      <a:r>
                        <a:rPr kumimoji="1" lang="ja-JP" altLang="en-US" sz="2800"/>
                        <a:t>凝固採血</a:t>
                      </a:r>
                      <a:endParaRPr kumimoji="1" lang="en-US" altLang="ja-JP" sz="2800" dirty="0"/>
                    </a:p>
                    <a:p>
                      <a:pPr algn="ctr"/>
                      <a:r>
                        <a:rPr kumimoji="1" lang="en-US" altLang="ja-JP" sz="2800" dirty="0">
                          <a:solidFill>
                            <a:srgbClr val="7030A0"/>
                          </a:solidFill>
                        </a:rPr>
                        <a:t>20-30</a:t>
                      </a:r>
                      <a:r>
                        <a:rPr kumimoji="1" lang="ja-JP" altLang="en-US" sz="2800">
                          <a:solidFill>
                            <a:srgbClr val="7030A0"/>
                          </a:solidFill>
                        </a:rPr>
                        <a:t>分</a:t>
                      </a:r>
                    </a:p>
                  </a:txBody>
                  <a:tcPr anchor="ctr"/>
                </a:tc>
                <a:tc>
                  <a:txBody>
                    <a:bodyPr/>
                    <a:lstStyle/>
                    <a:p>
                      <a:pPr algn="ctr"/>
                      <a:r>
                        <a:rPr kumimoji="1" lang="ja-JP" altLang="en-US" sz="2800"/>
                        <a:t>血算</a:t>
                      </a:r>
                      <a:endParaRPr kumimoji="1" lang="en-US" altLang="ja-JP" sz="2800" dirty="0"/>
                    </a:p>
                    <a:p>
                      <a:pPr algn="ctr"/>
                      <a:r>
                        <a:rPr kumimoji="1" lang="en-US" altLang="ja-JP" sz="2800" dirty="0"/>
                        <a:t>15-20</a:t>
                      </a:r>
                      <a:r>
                        <a:rPr kumimoji="1" lang="ja-JP" altLang="en-US" sz="2800"/>
                        <a:t>分</a:t>
                      </a:r>
                      <a:endParaRPr kumimoji="1" lang="en-US" altLang="ja-JP" sz="2800" dirty="0"/>
                    </a:p>
                  </a:txBody>
                  <a:tcPr anchor="ctr"/>
                </a:tc>
                <a:extLst>
                  <a:ext uri="{0D108BD9-81ED-4DB2-BD59-A6C34878D82A}">
                    <a16:rowId xmlns:a16="http://schemas.microsoft.com/office/drawing/2014/main" val="4058242494"/>
                  </a:ext>
                </a:extLst>
              </a:tr>
              <a:tr h="918936">
                <a:tc>
                  <a:txBody>
                    <a:bodyPr/>
                    <a:lstStyle/>
                    <a:p>
                      <a:pPr algn="ctr"/>
                      <a:r>
                        <a:rPr kumimoji="1" lang="ja-JP" altLang="en-US" sz="2000"/>
                        <a:t>製剤へのアクセス</a:t>
                      </a:r>
                    </a:p>
                  </a:txBody>
                  <a:tcPr anchor="ctr"/>
                </a:tc>
                <a:tc>
                  <a:txBody>
                    <a:bodyPr/>
                    <a:lstStyle/>
                    <a:p>
                      <a:pPr algn="ctr"/>
                      <a:r>
                        <a:rPr kumimoji="1" lang="ja-JP" altLang="en-US" sz="2800"/>
                        <a:t>良好</a:t>
                      </a:r>
                    </a:p>
                  </a:txBody>
                  <a:tcPr anchor="ctr"/>
                </a:tc>
                <a:tc>
                  <a:txBody>
                    <a:bodyPr/>
                    <a:lstStyle/>
                    <a:p>
                      <a:pPr algn="ctr"/>
                      <a:r>
                        <a:rPr kumimoji="1" lang="ja-JP" altLang="en-US" sz="2800">
                          <a:solidFill>
                            <a:srgbClr val="FF0000"/>
                          </a:solidFill>
                        </a:rPr>
                        <a:t>溶解の時間</a:t>
                      </a:r>
                    </a:p>
                  </a:txBody>
                  <a:tcPr anchor="ctr"/>
                </a:tc>
                <a:tc>
                  <a:txBody>
                    <a:bodyPr/>
                    <a:lstStyle/>
                    <a:p>
                      <a:pPr algn="ctr"/>
                      <a:r>
                        <a:rPr kumimoji="1" lang="ja-JP" altLang="en-US" sz="2800">
                          <a:solidFill>
                            <a:srgbClr val="FF0000"/>
                          </a:solidFill>
                        </a:rPr>
                        <a:t>溶解の時間</a:t>
                      </a:r>
                      <a:endParaRPr kumimoji="1" lang="en-US" altLang="ja-JP" sz="2800" dirty="0">
                        <a:solidFill>
                          <a:srgbClr val="FF0000"/>
                        </a:solidFill>
                      </a:endParaRPr>
                    </a:p>
                    <a:p>
                      <a:pPr algn="ctr"/>
                      <a:r>
                        <a:rPr kumimoji="1" lang="ja-JP" altLang="en-US" sz="2800">
                          <a:solidFill>
                            <a:srgbClr val="C00000"/>
                          </a:solidFill>
                        </a:rPr>
                        <a:t>保険適用外</a:t>
                      </a:r>
                    </a:p>
                  </a:txBody>
                  <a:tcPr anchor="ctr"/>
                </a:tc>
                <a:tc>
                  <a:txBody>
                    <a:bodyPr/>
                    <a:lstStyle/>
                    <a:p>
                      <a:pPr algn="ctr"/>
                      <a:r>
                        <a:rPr kumimoji="1" lang="ja-JP" altLang="en-US" sz="2800">
                          <a:solidFill>
                            <a:srgbClr val="FF0000"/>
                          </a:solidFill>
                        </a:rPr>
                        <a:t>搬送の時間</a:t>
                      </a:r>
                    </a:p>
                  </a:txBody>
                  <a:tcPr anchor="ctr"/>
                </a:tc>
                <a:extLst>
                  <a:ext uri="{0D108BD9-81ED-4DB2-BD59-A6C34878D82A}">
                    <a16:rowId xmlns:a16="http://schemas.microsoft.com/office/drawing/2014/main" val="1645560114"/>
                  </a:ext>
                </a:extLst>
              </a:tr>
            </a:tbl>
          </a:graphicData>
        </a:graphic>
      </p:graphicFrame>
      <p:sp>
        <p:nvSpPr>
          <p:cNvPr id="5" name="フッター プレースホルダー 4">
            <a:extLst>
              <a:ext uri="{FF2B5EF4-FFF2-40B4-BE49-F238E27FC236}">
                <a16:creationId xmlns:a16="http://schemas.microsoft.com/office/drawing/2014/main" id="{D4428F65-7D3B-904C-A92E-8676CECD62DD}"/>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9EBA255F-C297-FE40-B944-DB45B175EE8E}"/>
              </a:ext>
            </a:extLst>
          </p:cNvPr>
          <p:cNvSpPr>
            <a:spLocks noGrp="1"/>
          </p:cNvSpPr>
          <p:nvPr>
            <p:ph type="sldNum" sz="quarter" idx="12"/>
          </p:nvPr>
        </p:nvSpPr>
        <p:spPr/>
        <p:txBody>
          <a:bodyPr/>
          <a:lstStyle/>
          <a:p>
            <a:r>
              <a:rPr lang="en-US" altLang="ja-JP"/>
              <a:t>No. </a:t>
            </a:r>
            <a:fld id="{41B87E3F-77EC-4EFD-94DE-AA3AEB7C7760}" type="slidenum">
              <a:rPr lang="ja-JP" altLang="en-US" smtClean="0"/>
              <a:pPr/>
              <a:t>22</a:t>
            </a:fld>
            <a:endParaRPr kumimoji="1" lang="ja-JP" altLang="en-US" dirty="0"/>
          </a:p>
        </p:txBody>
      </p:sp>
      <p:sp>
        <p:nvSpPr>
          <p:cNvPr id="3" name="日付プレースホルダー 2">
            <a:extLst>
              <a:ext uri="{FF2B5EF4-FFF2-40B4-BE49-F238E27FC236}">
                <a16:creationId xmlns:a16="http://schemas.microsoft.com/office/drawing/2014/main" id="{FC94C134-CE50-253B-D7CC-19FF2C9E22F1}"/>
              </a:ext>
            </a:extLst>
          </p:cNvPr>
          <p:cNvSpPr>
            <a:spLocks noGrp="1"/>
          </p:cNvSpPr>
          <p:nvPr>
            <p:ph type="dt" sz="half" idx="10"/>
          </p:nvPr>
        </p:nvSpPr>
        <p:spPr/>
        <p:txBody>
          <a:bodyPr/>
          <a:lstStyle/>
          <a:p>
            <a:fld id="{86529B3D-B727-5846-856C-0BD0B72C2F7B}" type="datetime1">
              <a:rPr kumimoji="1" lang="ja-JP" altLang="en-US" smtClean="0"/>
              <a:t>2026/5/15</a:t>
            </a:fld>
            <a:endParaRPr kumimoji="1" lang="ja-JP" altLang="en-US"/>
          </a:p>
        </p:txBody>
      </p:sp>
    </p:spTree>
    <p:extLst>
      <p:ext uri="{BB962C8B-B14F-4D97-AF65-F5344CB8AC3E}">
        <p14:creationId xmlns:p14="http://schemas.microsoft.com/office/powerpoint/2010/main" val="38581822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8CC503-6262-1E4F-B322-225A73F10084}"/>
              </a:ext>
            </a:extLst>
          </p:cNvPr>
          <p:cNvSpPr>
            <a:spLocks noGrp="1"/>
          </p:cNvSpPr>
          <p:nvPr>
            <p:ph type="title"/>
          </p:nvPr>
        </p:nvSpPr>
        <p:spPr/>
        <p:txBody>
          <a:bodyPr/>
          <a:lstStyle/>
          <a:p>
            <a:r>
              <a:rPr kumimoji="1" lang="ja-JP" altLang="en-US"/>
              <a:t>輸血製剤の投与判断（私見）</a:t>
            </a:r>
          </a:p>
        </p:txBody>
      </p:sp>
      <p:graphicFrame>
        <p:nvGraphicFramePr>
          <p:cNvPr id="7" name="表 7">
            <a:extLst>
              <a:ext uri="{FF2B5EF4-FFF2-40B4-BE49-F238E27FC236}">
                <a16:creationId xmlns:a16="http://schemas.microsoft.com/office/drawing/2014/main" id="{B10E93E2-46AA-854A-B9F6-15330DEBA104}"/>
              </a:ext>
            </a:extLst>
          </p:cNvPr>
          <p:cNvGraphicFramePr>
            <a:graphicFrameLocks noGrp="1"/>
          </p:cNvGraphicFramePr>
          <p:nvPr>
            <p:ph idx="1"/>
          </p:nvPr>
        </p:nvGraphicFramePr>
        <p:xfrm>
          <a:off x="282427" y="1711695"/>
          <a:ext cx="11627146" cy="4267324"/>
        </p:xfrm>
        <a:graphic>
          <a:graphicData uri="http://schemas.openxmlformats.org/drawingml/2006/table">
            <a:tbl>
              <a:tblPr firstRow="1" bandRow="1">
                <a:tableStyleId>{5C22544A-7EE6-4342-B048-85BDC9FD1C3A}</a:tableStyleId>
              </a:tblPr>
              <a:tblGrid>
                <a:gridCol w="2272030">
                  <a:extLst>
                    <a:ext uri="{9D8B030D-6E8A-4147-A177-3AD203B41FA5}">
                      <a16:colId xmlns:a16="http://schemas.microsoft.com/office/drawing/2014/main" val="1743690496"/>
                    </a:ext>
                  </a:extLst>
                </a:gridCol>
                <a:gridCol w="2338779">
                  <a:extLst>
                    <a:ext uri="{9D8B030D-6E8A-4147-A177-3AD203B41FA5}">
                      <a16:colId xmlns:a16="http://schemas.microsoft.com/office/drawing/2014/main" val="969582246"/>
                    </a:ext>
                  </a:extLst>
                </a:gridCol>
                <a:gridCol w="2338779">
                  <a:extLst>
                    <a:ext uri="{9D8B030D-6E8A-4147-A177-3AD203B41FA5}">
                      <a16:colId xmlns:a16="http://schemas.microsoft.com/office/drawing/2014/main" val="1450342246"/>
                    </a:ext>
                  </a:extLst>
                </a:gridCol>
                <a:gridCol w="2338779">
                  <a:extLst>
                    <a:ext uri="{9D8B030D-6E8A-4147-A177-3AD203B41FA5}">
                      <a16:colId xmlns:a16="http://schemas.microsoft.com/office/drawing/2014/main" val="2245719640"/>
                    </a:ext>
                  </a:extLst>
                </a:gridCol>
                <a:gridCol w="2338779">
                  <a:extLst>
                    <a:ext uri="{9D8B030D-6E8A-4147-A177-3AD203B41FA5}">
                      <a16:colId xmlns:a16="http://schemas.microsoft.com/office/drawing/2014/main" val="3253573187"/>
                    </a:ext>
                  </a:extLst>
                </a:gridCol>
              </a:tblGrid>
              <a:tr h="532399">
                <a:tc>
                  <a:txBody>
                    <a:bodyPr/>
                    <a:lstStyle/>
                    <a:p>
                      <a:pPr algn="ctr"/>
                      <a:r>
                        <a:rPr kumimoji="1" lang="ja-JP" altLang="en-US" sz="2800"/>
                        <a:t>製剤</a:t>
                      </a:r>
                    </a:p>
                  </a:txBody>
                  <a:tcPr anchor="ctr"/>
                </a:tc>
                <a:tc>
                  <a:txBody>
                    <a:bodyPr/>
                    <a:lstStyle/>
                    <a:p>
                      <a:pPr algn="ctr"/>
                      <a:r>
                        <a:rPr kumimoji="1" lang="en-US" altLang="ja-JP" sz="2800" dirty="0"/>
                        <a:t>RBC</a:t>
                      </a:r>
                      <a:endParaRPr kumimoji="1" lang="ja-JP" altLang="en-US" sz="2800"/>
                    </a:p>
                  </a:txBody>
                  <a:tcPr anchor="ctr">
                    <a:solidFill>
                      <a:srgbClr val="FF0000"/>
                    </a:solidFill>
                  </a:tcPr>
                </a:tc>
                <a:tc>
                  <a:txBody>
                    <a:bodyPr/>
                    <a:lstStyle/>
                    <a:p>
                      <a:pPr algn="ctr"/>
                      <a:r>
                        <a:rPr kumimoji="1" lang="en-US" altLang="ja-JP" sz="2800" dirty="0"/>
                        <a:t>FFP</a:t>
                      </a:r>
                      <a:endParaRPr kumimoji="1" lang="ja-JP" altLang="en-US" sz="2800"/>
                    </a:p>
                  </a:txBody>
                  <a:tcPr anchor="ctr">
                    <a:solidFill>
                      <a:srgbClr val="00B0F0"/>
                    </a:solidFill>
                  </a:tcPr>
                </a:tc>
                <a:tc>
                  <a:txBody>
                    <a:bodyPr/>
                    <a:lstStyle/>
                    <a:p>
                      <a:pPr algn="ctr"/>
                      <a:r>
                        <a:rPr kumimoji="1" lang="en-US" altLang="ja-JP" sz="2800" dirty="0"/>
                        <a:t>Fib</a:t>
                      </a:r>
                      <a:endParaRPr kumimoji="1" lang="ja-JP" altLang="en-US" sz="2800"/>
                    </a:p>
                  </a:txBody>
                  <a:tcPr anchor="ctr">
                    <a:solidFill>
                      <a:schemeClr val="tx2">
                        <a:lumMod val="50000"/>
                        <a:lumOff val="50000"/>
                      </a:schemeClr>
                    </a:solidFill>
                  </a:tcPr>
                </a:tc>
                <a:tc>
                  <a:txBody>
                    <a:bodyPr/>
                    <a:lstStyle/>
                    <a:p>
                      <a:pPr algn="ctr"/>
                      <a:r>
                        <a:rPr kumimoji="1" lang="en-US" altLang="ja-JP" sz="2800" dirty="0" err="1"/>
                        <a:t>Plt</a:t>
                      </a:r>
                      <a:endParaRPr kumimoji="1" lang="ja-JP" altLang="en-US" sz="2800"/>
                    </a:p>
                  </a:txBody>
                  <a:tcPr anchor="ctr">
                    <a:solidFill>
                      <a:srgbClr val="00B050"/>
                    </a:solidFill>
                  </a:tcPr>
                </a:tc>
                <a:extLst>
                  <a:ext uri="{0D108BD9-81ED-4DB2-BD59-A6C34878D82A}">
                    <a16:rowId xmlns:a16="http://schemas.microsoft.com/office/drawing/2014/main" val="2802307533"/>
                  </a:ext>
                </a:extLst>
              </a:tr>
              <a:tr h="532399">
                <a:tc>
                  <a:txBody>
                    <a:bodyPr/>
                    <a:lstStyle/>
                    <a:p>
                      <a:pPr algn="ctr"/>
                      <a:r>
                        <a:rPr kumimoji="1" lang="ja-JP" altLang="en-US" sz="2000"/>
                        <a:t>主観的指標</a:t>
                      </a:r>
                    </a:p>
                  </a:txBody>
                  <a:tcPr anchor="ctr"/>
                </a:tc>
                <a:tc>
                  <a:txBody>
                    <a:bodyPr/>
                    <a:lstStyle/>
                    <a:p>
                      <a:pPr algn="ctr"/>
                      <a:r>
                        <a:rPr kumimoji="1" lang="ja-JP" altLang="en-US" sz="2800"/>
                        <a:t>出血量</a:t>
                      </a:r>
                    </a:p>
                  </a:txBody>
                  <a:tcPr anchor="ctr"/>
                </a:tc>
                <a:tc>
                  <a:txBody>
                    <a:bodyPr/>
                    <a:lstStyle/>
                    <a:p>
                      <a:pPr algn="ctr"/>
                      <a:r>
                        <a:rPr kumimoji="1" lang="ja-JP" altLang="en-US" sz="2800"/>
                        <a:t>損傷部位</a:t>
                      </a:r>
                      <a:endParaRPr kumimoji="1" lang="en-US" altLang="ja-JP" sz="2800" dirty="0"/>
                    </a:p>
                    <a:p>
                      <a:pPr algn="ctr"/>
                      <a:r>
                        <a:rPr kumimoji="1" lang="ja-JP" altLang="en-US" sz="2800"/>
                        <a:t>術野所見</a:t>
                      </a:r>
                    </a:p>
                  </a:txBody>
                  <a:tcPr anchor="ctr"/>
                </a:tc>
                <a:tc>
                  <a:txBody>
                    <a:bodyPr/>
                    <a:lstStyle/>
                    <a:p>
                      <a:pPr algn="ctr"/>
                      <a:r>
                        <a:rPr kumimoji="1" lang="ja-JP" altLang="en-US" sz="2800"/>
                        <a:t>損傷部位</a:t>
                      </a:r>
                    </a:p>
                  </a:txBody>
                  <a:tcPr anchor="ctr"/>
                </a:tc>
                <a:tc>
                  <a:txBody>
                    <a:bodyPr/>
                    <a:lstStyle/>
                    <a:p>
                      <a:pPr algn="ctr"/>
                      <a:r>
                        <a:rPr kumimoji="1" lang="en-US" altLang="ja-JP" sz="2800" dirty="0"/>
                        <a:t>MTP1:1:1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術野所見</a:t>
                      </a:r>
                    </a:p>
                  </a:txBody>
                  <a:tcPr anchor="ctr"/>
                </a:tc>
                <a:extLst>
                  <a:ext uri="{0D108BD9-81ED-4DB2-BD59-A6C34878D82A}">
                    <a16:rowId xmlns:a16="http://schemas.microsoft.com/office/drawing/2014/main" val="1393321879"/>
                  </a:ext>
                </a:extLst>
              </a:tr>
              <a:tr h="532399">
                <a:tc>
                  <a:txBody>
                    <a:bodyPr/>
                    <a:lstStyle/>
                    <a:p>
                      <a:pPr algn="ctr"/>
                      <a:r>
                        <a:rPr kumimoji="1" lang="ja-JP" altLang="en-US" sz="2000"/>
                        <a:t>客観的指標</a:t>
                      </a:r>
                    </a:p>
                  </a:txBody>
                  <a:tcPr anchor="ctr"/>
                </a:tc>
                <a:tc>
                  <a:txBody>
                    <a:bodyPr/>
                    <a:lstStyle/>
                    <a:p>
                      <a:pPr algn="ctr"/>
                      <a:r>
                        <a:rPr kumimoji="1" lang="en-US" altLang="ja-JP" sz="2800" dirty="0"/>
                        <a:t>Hb</a:t>
                      </a:r>
                      <a:endParaRPr kumimoji="1" lang="ja-JP" altLang="en-US" sz="2800"/>
                    </a:p>
                  </a:txBody>
                  <a:tcPr anchor="ctr"/>
                </a:tc>
                <a:tc>
                  <a:txBody>
                    <a:bodyPr/>
                    <a:lstStyle/>
                    <a:p>
                      <a:pPr algn="ctr"/>
                      <a:r>
                        <a:rPr kumimoji="1" lang="en-US" altLang="ja-JP" sz="2800" dirty="0"/>
                        <a:t>Fib, INR,  APTT</a:t>
                      </a:r>
                      <a:endParaRPr kumimoji="1" lang="ja-JP" altLang="en-US" sz="2800"/>
                    </a:p>
                  </a:txBody>
                  <a:tcPr anchor="ctr"/>
                </a:tc>
                <a:tc>
                  <a:txBody>
                    <a:bodyPr/>
                    <a:lstStyle/>
                    <a:p>
                      <a:pPr algn="ctr"/>
                      <a:r>
                        <a:rPr kumimoji="1" lang="en-US" altLang="ja-JP" sz="2800" dirty="0"/>
                        <a:t>Fib</a:t>
                      </a:r>
                      <a:endParaRPr kumimoji="1" lang="ja-JP" altLang="en-US" sz="2800"/>
                    </a:p>
                  </a:txBody>
                  <a:tcPr anchor="ctr"/>
                </a:tc>
                <a:tc>
                  <a:txBody>
                    <a:bodyPr/>
                    <a:lstStyle/>
                    <a:p>
                      <a:pPr algn="ctr"/>
                      <a:r>
                        <a:rPr kumimoji="1" lang="en-US" altLang="ja-JP" sz="2800" dirty="0" err="1"/>
                        <a:t>Plt</a:t>
                      </a:r>
                      <a:endParaRPr kumimoji="1" lang="ja-JP" altLang="en-US" sz="2800"/>
                    </a:p>
                  </a:txBody>
                  <a:tcPr anchor="ctr"/>
                </a:tc>
                <a:extLst>
                  <a:ext uri="{0D108BD9-81ED-4DB2-BD59-A6C34878D82A}">
                    <a16:rowId xmlns:a16="http://schemas.microsoft.com/office/drawing/2014/main" val="519066428"/>
                  </a:ext>
                </a:extLst>
              </a:tr>
              <a:tr h="1312766">
                <a:tc>
                  <a:txBody>
                    <a:bodyPr/>
                    <a:lstStyle/>
                    <a:p>
                      <a:pPr algn="ctr"/>
                      <a:r>
                        <a:rPr kumimoji="1" lang="ja-JP" altLang="en-US" sz="2000"/>
                        <a:t>客観的指標への</a:t>
                      </a:r>
                      <a:endParaRPr kumimoji="1" lang="en-US" altLang="ja-JP" sz="2000" dirty="0"/>
                    </a:p>
                    <a:p>
                      <a:pPr algn="ctr"/>
                      <a:r>
                        <a:rPr kumimoji="1" lang="ja-JP" altLang="en-US" sz="2000"/>
                        <a:t>アクセス</a:t>
                      </a:r>
                    </a:p>
                  </a:txBody>
                  <a:tcPr anchor="ctr"/>
                </a:tc>
                <a:tc>
                  <a:txBody>
                    <a:bodyPr/>
                    <a:lstStyle/>
                    <a:p>
                      <a:pPr algn="ctr"/>
                      <a:r>
                        <a:rPr kumimoji="1" lang="en-US" altLang="ja-JP" sz="2800" dirty="0"/>
                        <a:t>BGA</a:t>
                      </a:r>
                    </a:p>
                    <a:p>
                      <a:pPr algn="ctr"/>
                      <a:r>
                        <a:rPr kumimoji="1" lang="ja-JP" altLang="en-US" sz="2800"/>
                        <a:t>比較的早い</a:t>
                      </a:r>
                    </a:p>
                  </a:txBody>
                  <a:tcPr anchor="ctr"/>
                </a:tc>
                <a:tc>
                  <a:txBody>
                    <a:bodyPr/>
                    <a:lstStyle/>
                    <a:p>
                      <a:pPr algn="ctr"/>
                      <a:r>
                        <a:rPr kumimoji="1" lang="ja-JP" altLang="en-US" sz="2800"/>
                        <a:t>凝固採血</a:t>
                      </a:r>
                      <a:endParaRPr kumimoji="1" lang="en-US" altLang="ja-JP" sz="2800" dirty="0"/>
                    </a:p>
                    <a:p>
                      <a:pPr algn="ctr"/>
                      <a:r>
                        <a:rPr kumimoji="1" lang="en-US" altLang="ja-JP" sz="2800" dirty="0">
                          <a:solidFill>
                            <a:srgbClr val="7030A0"/>
                          </a:solidFill>
                        </a:rPr>
                        <a:t>20–30</a:t>
                      </a:r>
                      <a:r>
                        <a:rPr kumimoji="1" lang="ja-JP" altLang="en-US" sz="2800">
                          <a:solidFill>
                            <a:srgbClr val="7030A0"/>
                          </a:solidFill>
                        </a:rPr>
                        <a:t>分</a:t>
                      </a:r>
                    </a:p>
                  </a:txBody>
                  <a:tcPr anchor="ctr"/>
                </a:tc>
                <a:tc>
                  <a:txBody>
                    <a:bodyPr/>
                    <a:lstStyle/>
                    <a:p>
                      <a:pPr algn="ctr"/>
                      <a:r>
                        <a:rPr kumimoji="1" lang="ja-JP" altLang="en-US" sz="2800"/>
                        <a:t>凝固採血</a:t>
                      </a:r>
                      <a:endParaRPr kumimoji="1" lang="en-US" altLang="ja-JP" sz="2800" dirty="0"/>
                    </a:p>
                    <a:p>
                      <a:pPr algn="ctr"/>
                      <a:r>
                        <a:rPr kumimoji="1" lang="en-US" altLang="ja-JP" sz="2800" dirty="0">
                          <a:solidFill>
                            <a:srgbClr val="7030A0"/>
                          </a:solidFill>
                        </a:rPr>
                        <a:t>20-30</a:t>
                      </a:r>
                      <a:r>
                        <a:rPr kumimoji="1" lang="ja-JP" altLang="en-US" sz="2800">
                          <a:solidFill>
                            <a:srgbClr val="7030A0"/>
                          </a:solidFill>
                        </a:rPr>
                        <a:t>分</a:t>
                      </a:r>
                    </a:p>
                  </a:txBody>
                  <a:tcPr anchor="ctr"/>
                </a:tc>
                <a:tc>
                  <a:txBody>
                    <a:bodyPr/>
                    <a:lstStyle/>
                    <a:p>
                      <a:pPr algn="ctr"/>
                      <a:r>
                        <a:rPr kumimoji="1" lang="ja-JP" altLang="en-US" sz="2800"/>
                        <a:t>血算</a:t>
                      </a:r>
                      <a:endParaRPr kumimoji="1" lang="en-US" altLang="ja-JP" sz="2800" dirty="0"/>
                    </a:p>
                    <a:p>
                      <a:pPr algn="ctr"/>
                      <a:r>
                        <a:rPr kumimoji="1" lang="en-US" altLang="ja-JP" sz="2800" dirty="0"/>
                        <a:t>15-20</a:t>
                      </a:r>
                      <a:r>
                        <a:rPr kumimoji="1" lang="ja-JP" altLang="en-US" sz="2800"/>
                        <a:t>分</a:t>
                      </a:r>
                      <a:endParaRPr kumimoji="1" lang="en-US" altLang="ja-JP" sz="2800" dirty="0"/>
                    </a:p>
                  </a:txBody>
                  <a:tcPr anchor="ctr"/>
                </a:tc>
                <a:extLst>
                  <a:ext uri="{0D108BD9-81ED-4DB2-BD59-A6C34878D82A}">
                    <a16:rowId xmlns:a16="http://schemas.microsoft.com/office/drawing/2014/main" val="4058242494"/>
                  </a:ext>
                </a:extLst>
              </a:tr>
              <a:tr h="918936">
                <a:tc>
                  <a:txBody>
                    <a:bodyPr/>
                    <a:lstStyle/>
                    <a:p>
                      <a:pPr algn="ctr"/>
                      <a:r>
                        <a:rPr kumimoji="1" lang="ja-JP" altLang="en-US" sz="2000"/>
                        <a:t>製剤へのアクセス</a:t>
                      </a:r>
                    </a:p>
                  </a:txBody>
                  <a:tcPr anchor="ctr"/>
                </a:tc>
                <a:tc>
                  <a:txBody>
                    <a:bodyPr/>
                    <a:lstStyle/>
                    <a:p>
                      <a:pPr algn="ctr"/>
                      <a:r>
                        <a:rPr kumimoji="1" lang="ja-JP" altLang="en-US" sz="2800"/>
                        <a:t>良好</a:t>
                      </a:r>
                    </a:p>
                  </a:txBody>
                  <a:tcPr anchor="ctr"/>
                </a:tc>
                <a:tc>
                  <a:txBody>
                    <a:bodyPr/>
                    <a:lstStyle/>
                    <a:p>
                      <a:pPr algn="ctr"/>
                      <a:r>
                        <a:rPr kumimoji="1" lang="ja-JP" altLang="en-US" sz="2800">
                          <a:solidFill>
                            <a:srgbClr val="FF0000"/>
                          </a:solidFill>
                        </a:rPr>
                        <a:t>溶解の時間</a:t>
                      </a:r>
                    </a:p>
                  </a:txBody>
                  <a:tcPr anchor="ctr"/>
                </a:tc>
                <a:tc>
                  <a:txBody>
                    <a:bodyPr/>
                    <a:lstStyle/>
                    <a:p>
                      <a:pPr algn="ctr"/>
                      <a:r>
                        <a:rPr kumimoji="1" lang="ja-JP" altLang="en-US" sz="2800">
                          <a:solidFill>
                            <a:srgbClr val="FF0000"/>
                          </a:solidFill>
                        </a:rPr>
                        <a:t>溶解の時間</a:t>
                      </a:r>
                      <a:endParaRPr kumimoji="1" lang="en-US" altLang="ja-JP" sz="2800" dirty="0">
                        <a:solidFill>
                          <a:srgbClr val="FF0000"/>
                        </a:solidFill>
                      </a:endParaRPr>
                    </a:p>
                    <a:p>
                      <a:pPr algn="ctr"/>
                      <a:r>
                        <a:rPr kumimoji="1" lang="ja-JP" altLang="en-US" sz="2800">
                          <a:solidFill>
                            <a:srgbClr val="C00000"/>
                          </a:solidFill>
                        </a:rPr>
                        <a:t>保険適用外</a:t>
                      </a:r>
                    </a:p>
                  </a:txBody>
                  <a:tcPr anchor="ctr"/>
                </a:tc>
                <a:tc>
                  <a:txBody>
                    <a:bodyPr/>
                    <a:lstStyle/>
                    <a:p>
                      <a:pPr algn="ctr"/>
                      <a:r>
                        <a:rPr kumimoji="1" lang="ja-JP" altLang="en-US" sz="2800">
                          <a:solidFill>
                            <a:srgbClr val="FF0000"/>
                          </a:solidFill>
                        </a:rPr>
                        <a:t>搬送の時間</a:t>
                      </a:r>
                    </a:p>
                  </a:txBody>
                  <a:tcPr anchor="ctr"/>
                </a:tc>
                <a:extLst>
                  <a:ext uri="{0D108BD9-81ED-4DB2-BD59-A6C34878D82A}">
                    <a16:rowId xmlns:a16="http://schemas.microsoft.com/office/drawing/2014/main" val="1645560114"/>
                  </a:ext>
                </a:extLst>
              </a:tr>
            </a:tbl>
          </a:graphicData>
        </a:graphic>
      </p:graphicFrame>
      <p:sp>
        <p:nvSpPr>
          <p:cNvPr id="5" name="フッター プレースホルダー 4">
            <a:extLst>
              <a:ext uri="{FF2B5EF4-FFF2-40B4-BE49-F238E27FC236}">
                <a16:creationId xmlns:a16="http://schemas.microsoft.com/office/drawing/2014/main" id="{D4428F65-7D3B-904C-A92E-8676CECD62DD}"/>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9EBA255F-C297-FE40-B944-DB45B175EE8E}"/>
              </a:ext>
            </a:extLst>
          </p:cNvPr>
          <p:cNvSpPr>
            <a:spLocks noGrp="1"/>
          </p:cNvSpPr>
          <p:nvPr>
            <p:ph type="sldNum" sz="quarter" idx="12"/>
          </p:nvPr>
        </p:nvSpPr>
        <p:spPr/>
        <p:txBody>
          <a:bodyPr/>
          <a:lstStyle/>
          <a:p>
            <a:r>
              <a:rPr lang="en-US" altLang="ja-JP"/>
              <a:t>No. </a:t>
            </a:r>
            <a:fld id="{41B87E3F-77EC-4EFD-94DE-AA3AEB7C7760}" type="slidenum">
              <a:rPr lang="ja-JP" altLang="en-US" smtClean="0"/>
              <a:pPr/>
              <a:t>23</a:t>
            </a:fld>
            <a:endParaRPr kumimoji="1" lang="ja-JP" altLang="en-US" dirty="0"/>
          </a:p>
        </p:txBody>
      </p:sp>
      <p:grpSp>
        <p:nvGrpSpPr>
          <p:cNvPr id="9" name="グループ化 8">
            <a:extLst>
              <a:ext uri="{FF2B5EF4-FFF2-40B4-BE49-F238E27FC236}">
                <a16:creationId xmlns:a16="http://schemas.microsoft.com/office/drawing/2014/main" id="{7E952A33-8B87-B14E-AED6-7F46EAE9363C}"/>
              </a:ext>
            </a:extLst>
          </p:cNvPr>
          <p:cNvGrpSpPr/>
          <p:nvPr/>
        </p:nvGrpSpPr>
        <p:grpSpPr>
          <a:xfrm>
            <a:off x="460610" y="1922981"/>
            <a:ext cx="12318288" cy="4056037"/>
            <a:chOff x="460610" y="2679698"/>
            <a:chExt cx="12318288" cy="2509775"/>
          </a:xfrm>
        </p:grpSpPr>
        <p:sp>
          <p:nvSpPr>
            <p:cNvPr id="10" name="角丸四角形 9">
              <a:extLst>
                <a:ext uri="{FF2B5EF4-FFF2-40B4-BE49-F238E27FC236}">
                  <a16:creationId xmlns:a16="http://schemas.microsoft.com/office/drawing/2014/main" id="{C8D77C5A-BAB3-8B4A-BFA0-584C1293C7C7}"/>
                </a:ext>
              </a:extLst>
            </p:cNvPr>
            <p:cNvSpPr/>
            <p:nvPr/>
          </p:nvSpPr>
          <p:spPr>
            <a:xfrm>
              <a:off x="460610" y="2679698"/>
              <a:ext cx="11128076" cy="2509775"/>
            </a:xfrm>
            <a:prstGeom prst="roundRect">
              <a:avLst/>
            </a:prstGeom>
            <a:solidFill>
              <a:srgbClr val="FF9300"/>
            </a:solidFill>
            <a:ln w="41275">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1" name="グループ化 10">
              <a:extLst>
                <a:ext uri="{FF2B5EF4-FFF2-40B4-BE49-F238E27FC236}">
                  <a16:creationId xmlns:a16="http://schemas.microsoft.com/office/drawing/2014/main" id="{0B53EDDA-61D5-DB4C-BD42-AEA165C100A6}"/>
                </a:ext>
              </a:extLst>
            </p:cNvPr>
            <p:cNvGrpSpPr/>
            <p:nvPr/>
          </p:nvGrpSpPr>
          <p:grpSpPr>
            <a:xfrm>
              <a:off x="555616" y="2769591"/>
              <a:ext cx="12223282" cy="1882144"/>
              <a:chOff x="193307" y="3836940"/>
              <a:chExt cx="12223282" cy="1882144"/>
            </a:xfrm>
          </p:grpSpPr>
          <p:sp>
            <p:nvSpPr>
              <p:cNvPr id="12" name="テキスト ボックス 11">
                <a:extLst>
                  <a:ext uri="{FF2B5EF4-FFF2-40B4-BE49-F238E27FC236}">
                    <a16:creationId xmlns:a16="http://schemas.microsoft.com/office/drawing/2014/main" id="{72C4F9DC-5FA9-FE4F-94FE-2B1735942609}"/>
                  </a:ext>
                </a:extLst>
              </p:cNvPr>
              <p:cNvSpPr txBox="1"/>
              <p:nvPr/>
            </p:nvSpPr>
            <p:spPr>
              <a:xfrm>
                <a:off x="193307" y="3836940"/>
                <a:ext cx="9088955" cy="523220"/>
              </a:xfrm>
              <a:prstGeom prst="rect">
                <a:avLst/>
              </a:prstGeom>
              <a:noFill/>
            </p:spPr>
            <p:txBody>
              <a:bodyPr wrap="square" rtlCol="0">
                <a:spAutoFit/>
              </a:bodyPr>
              <a:lstStyle/>
              <a:p>
                <a:r>
                  <a:rPr kumimoji="1" lang="ja-JP" altLang="en-US" sz="2800">
                    <a:solidFill>
                      <a:schemeClr val="bg1"/>
                    </a:solidFill>
                  </a:rPr>
                  <a:t>・</a:t>
                </a:r>
                <a:r>
                  <a:rPr kumimoji="1" lang="en-US" altLang="ja-JP" sz="2800" dirty="0">
                    <a:solidFill>
                      <a:schemeClr val="bg1"/>
                    </a:solidFill>
                  </a:rPr>
                  <a:t>RBC</a:t>
                </a:r>
                <a:r>
                  <a:rPr kumimoji="1" lang="ja-JP" altLang="en-US" sz="2800">
                    <a:solidFill>
                      <a:schemeClr val="bg1"/>
                    </a:solidFill>
                  </a:rPr>
                  <a:t>の投与判断は比較的簡便</a:t>
                </a:r>
              </a:p>
            </p:txBody>
          </p:sp>
          <p:sp>
            <p:nvSpPr>
              <p:cNvPr id="13" name="テキスト ボックス 12">
                <a:extLst>
                  <a:ext uri="{FF2B5EF4-FFF2-40B4-BE49-F238E27FC236}">
                    <a16:creationId xmlns:a16="http://schemas.microsoft.com/office/drawing/2014/main" id="{0CE4CEE0-12FF-6D4D-BDE8-84B079666109}"/>
                  </a:ext>
                </a:extLst>
              </p:cNvPr>
              <p:cNvSpPr txBox="1"/>
              <p:nvPr/>
            </p:nvSpPr>
            <p:spPr>
              <a:xfrm>
                <a:off x="208176" y="4157185"/>
                <a:ext cx="11549515" cy="954107"/>
              </a:xfrm>
              <a:prstGeom prst="rect">
                <a:avLst/>
              </a:prstGeom>
              <a:noFill/>
            </p:spPr>
            <p:txBody>
              <a:bodyPr wrap="square" rtlCol="0">
                <a:spAutoFit/>
              </a:bodyPr>
              <a:lstStyle/>
              <a:p>
                <a:r>
                  <a:rPr kumimoji="1" lang="ja-JP" altLang="en-US" sz="2800">
                    <a:solidFill>
                      <a:schemeClr val="bg1"/>
                    </a:solidFill>
                  </a:rPr>
                  <a:t>・</a:t>
                </a:r>
                <a:r>
                  <a:rPr kumimoji="1" lang="en-US" altLang="ja-JP" sz="2800" dirty="0">
                    <a:solidFill>
                      <a:schemeClr val="bg1"/>
                    </a:solidFill>
                  </a:rPr>
                  <a:t>FFP</a:t>
                </a:r>
                <a:r>
                  <a:rPr lang="ja-JP" altLang="en-US" sz="2800">
                    <a:solidFill>
                      <a:schemeClr val="bg1"/>
                    </a:solidFill>
                  </a:rPr>
                  <a:t>の投与判断は製剤へのアクセスが良くなく早めに決断が必要</a:t>
                </a:r>
                <a:endParaRPr lang="en-US" altLang="ja-JP" sz="2800" dirty="0">
                  <a:solidFill>
                    <a:schemeClr val="bg1"/>
                  </a:solidFill>
                </a:endParaRPr>
              </a:p>
              <a:p>
                <a:r>
                  <a:rPr lang="ja-JP" altLang="en-US" sz="2800">
                    <a:solidFill>
                      <a:schemeClr val="bg1"/>
                    </a:solidFill>
                  </a:rPr>
                  <a:t>　→客観的指標を待てない可能性</a:t>
                </a:r>
                <a:endParaRPr kumimoji="1" lang="ja-JP" altLang="en-US" sz="2800">
                  <a:solidFill>
                    <a:schemeClr val="bg1"/>
                  </a:solidFill>
                </a:endParaRPr>
              </a:p>
            </p:txBody>
          </p:sp>
          <p:sp>
            <p:nvSpPr>
              <p:cNvPr id="14" name="テキスト ボックス 13">
                <a:extLst>
                  <a:ext uri="{FF2B5EF4-FFF2-40B4-BE49-F238E27FC236}">
                    <a16:creationId xmlns:a16="http://schemas.microsoft.com/office/drawing/2014/main" id="{D15BB8A0-9789-2F44-8D44-9FE0F8B05146}"/>
                  </a:ext>
                </a:extLst>
              </p:cNvPr>
              <p:cNvSpPr txBox="1"/>
              <p:nvPr/>
            </p:nvSpPr>
            <p:spPr>
              <a:xfrm>
                <a:off x="193307" y="4764977"/>
                <a:ext cx="12223282" cy="954107"/>
              </a:xfrm>
              <a:prstGeom prst="rect">
                <a:avLst/>
              </a:prstGeom>
              <a:noFill/>
            </p:spPr>
            <p:txBody>
              <a:bodyPr wrap="square" rtlCol="0">
                <a:spAutoFit/>
              </a:bodyPr>
              <a:lstStyle/>
              <a:p>
                <a:r>
                  <a:rPr kumimoji="1" lang="ja-JP" altLang="en-US" sz="2800">
                    <a:solidFill>
                      <a:schemeClr val="bg1"/>
                    </a:solidFill>
                  </a:rPr>
                  <a:t>・フィブリノーゲン製剤も</a:t>
                </a:r>
                <a:r>
                  <a:rPr kumimoji="1" lang="en-US" altLang="ja-JP" sz="2800" dirty="0">
                    <a:solidFill>
                      <a:schemeClr val="bg1"/>
                    </a:solidFill>
                  </a:rPr>
                  <a:t>FFP</a:t>
                </a:r>
                <a:r>
                  <a:rPr kumimoji="1" lang="ja-JP" altLang="en-US" sz="2800">
                    <a:solidFill>
                      <a:schemeClr val="bg1"/>
                    </a:solidFill>
                  </a:rPr>
                  <a:t>と同様に難しく</a:t>
                </a:r>
                <a:r>
                  <a:rPr kumimoji="1" lang="en-US" altLang="ja-JP" sz="2800" dirty="0">
                    <a:solidFill>
                      <a:schemeClr val="bg1"/>
                    </a:solidFill>
                  </a:rPr>
                  <a:t>, </a:t>
                </a:r>
              </a:p>
              <a:p>
                <a:r>
                  <a:rPr kumimoji="1" lang="ja-JP" altLang="en-US" sz="2800">
                    <a:solidFill>
                      <a:schemeClr val="bg1"/>
                    </a:solidFill>
                  </a:rPr>
                  <a:t>　適応外使用であるため乱用はさけたい</a:t>
                </a:r>
              </a:p>
            </p:txBody>
          </p:sp>
        </p:grpSp>
      </p:grpSp>
      <p:sp>
        <p:nvSpPr>
          <p:cNvPr id="3" name="テキスト ボックス 2">
            <a:extLst>
              <a:ext uri="{FF2B5EF4-FFF2-40B4-BE49-F238E27FC236}">
                <a16:creationId xmlns:a16="http://schemas.microsoft.com/office/drawing/2014/main" id="{C729B3C8-3F76-4C75-B1DD-F05F3A178315}"/>
              </a:ext>
            </a:extLst>
          </p:cNvPr>
          <p:cNvSpPr txBox="1"/>
          <p:nvPr/>
        </p:nvSpPr>
        <p:spPr>
          <a:xfrm>
            <a:off x="603314" y="4693106"/>
            <a:ext cx="12223282" cy="523220"/>
          </a:xfrm>
          <a:prstGeom prst="rect">
            <a:avLst/>
          </a:prstGeom>
          <a:noFill/>
        </p:spPr>
        <p:txBody>
          <a:bodyPr wrap="square" rtlCol="0">
            <a:spAutoFit/>
          </a:bodyPr>
          <a:lstStyle/>
          <a:p>
            <a:r>
              <a:rPr kumimoji="1" lang="ja-JP" altLang="en-US" sz="2800">
                <a:solidFill>
                  <a:schemeClr val="bg1"/>
                </a:solidFill>
              </a:rPr>
              <a:t>・血小板は</a:t>
            </a:r>
            <a:r>
              <a:rPr kumimoji="1" lang="en-US" altLang="ja-JP" sz="2800" dirty="0">
                <a:solidFill>
                  <a:schemeClr val="bg1"/>
                </a:solidFill>
              </a:rPr>
              <a:t>MTP</a:t>
            </a:r>
            <a:r>
              <a:rPr kumimoji="1" lang="ja-JP" altLang="en-US" sz="2800">
                <a:solidFill>
                  <a:schemeClr val="bg1"/>
                </a:solidFill>
              </a:rPr>
              <a:t>の比率や所見で判断するしかない</a:t>
            </a:r>
          </a:p>
        </p:txBody>
      </p:sp>
      <p:sp>
        <p:nvSpPr>
          <p:cNvPr id="4" name="日付プレースホルダー 3">
            <a:extLst>
              <a:ext uri="{FF2B5EF4-FFF2-40B4-BE49-F238E27FC236}">
                <a16:creationId xmlns:a16="http://schemas.microsoft.com/office/drawing/2014/main" id="{5E6F71DF-DCA5-CF3B-8E45-00D4D49212A4}"/>
              </a:ext>
            </a:extLst>
          </p:cNvPr>
          <p:cNvSpPr>
            <a:spLocks noGrp="1"/>
          </p:cNvSpPr>
          <p:nvPr>
            <p:ph type="dt" sz="half" idx="10"/>
          </p:nvPr>
        </p:nvSpPr>
        <p:spPr/>
        <p:txBody>
          <a:bodyPr/>
          <a:lstStyle/>
          <a:p>
            <a:fld id="{857CD034-A60C-FD4B-BBCD-007F3F7F86BB}" type="datetime1">
              <a:rPr kumimoji="1" lang="ja-JP" altLang="en-US" smtClean="0"/>
              <a:t>2026/5/15</a:t>
            </a:fld>
            <a:endParaRPr kumimoji="1" lang="ja-JP" altLang="en-US"/>
          </a:p>
        </p:txBody>
      </p:sp>
    </p:spTree>
    <p:extLst>
      <p:ext uri="{BB962C8B-B14F-4D97-AF65-F5344CB8AC3E}">
        <p14:creationId xmlns:p14="http://schemas.microsoft.com/office/powerpoint/2010/main" val="34504482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コンテンツ プレースホルダー 13" descr="グラフィカル ユーザー インターフェイス&#10;&#10;低い精度で自動的に生成された説明">
            <a:extLst>
              <a:ext uri="{FF2B5EF4-FFF2-40B4-BE49-F238E27FC236}">
                <a16:creationId xmlns:a16="http://schemas.microsoft.com/office/drawing/2014/main" id="{51677848-D718-C24A-B420-AFCBED645E64}"/>
              </a:ext>
            </a:extLst>
          </p:cNvPr>
          <p:cNvPicPr>
            <a:picLocks noGrp="1" noChangeAspect="1"/>
          </p:cNvPicPr>
          <p:nvPr>
            <p:ph idx="1"/>
          </p:nvPr>
        </p:nvPicPr>
        <p:blipFill>
          <a:blip r:embed="rId2">
            <a:alphaModFix amt="70000"/>
            <a:extLst>
              <a:ext uri="{28A0092B-C50C-407E-A947-70E740481C1C}">
                <a14:useLocalDpi xmlns:a14="http://schemas.microsoft.com/office/drawing/2010/main" val="0"/>
              </a:ext>
            </a:extLst>
          </a:blip>
          <a:stretch>
            <a:fillRect/>
          </a:stretch>
        </p:blipFill>
        <p:spPr>
          <a:xfrm>
            <a:off x="4584836" y="604758"/>
            <a:ext cx="7607164" cy="3786371"/>
          </a:xfrm>
        </p:spPr>
      </p:pic>
      <p:sp>
        <p:nvSpPr>
          <p:cNvPr id="5" name="フッター プレースホルダー 4">
            <a:extLst>
              <a:ext uri="{FF2B5EF4-FFF2-40B4-BE49-F238E27FC236}">
                <a16:creationId xmlns:a16="http://schemas.microsoft.com/office/drawing/2014/main" id="{D4428F65-7D3B-904C-A92E-8676CECD62DD}"/>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pic>
        <p:nvPicPr>
          <p:cNvPr id="12" name="図 11">
            <a:extLst>
              <a:ext uri="{FF2B5EF4-FFF2-40B4-BE49-F238E27FC236}">
                <a16:creationId xmlns:a16="http://schemas.microsoft.com/office/drawing/2014/main" id="{9A88AC24-EC83-C642-8C5A-3737198D737F}"/>
              </a:ext>
            </a:extLst>
          </p:cNvPr>
          <p:cNvPicPr>
            <a:picLocks noChangeAspect="1"/>
          </p:cNvPicPr>
          <p:nvPr/>
        </p:nvPicPr>
        <p:blipFill>
          <a:blip r:embed="rId3">
            <a:alphaModFix amt="56000"/>
          </a:blip>
          <a:stretch>
            <a:fillRect/>
          </a:stretch>
        </p:blipFill>
        <p:spPr>
          <a:xfrm>
            <a:off x="0" y="474952"/>
            <a:ext cx="5080509" cy="5080509"/>
          </a:xfrm>
          <a:prstGeom prst="rect">
            <a:avLst/>
          </a:prstGeom>
        </p:spPr>
      </p:pic>
      <p:pic>
        <p:nvPicPr>
          <p:cNvPr id="2" name="グラフィックス 1" descr="裁きの天秤 単色塗りつぶし">
            <a:extLst>
              <a:ext uri="{FF2B5EF4-FFF2-40B4-BE49-F238E27FC236}">
                <a16:creationId xmlns:a16="http://schemas.microsoft.com/office/drawing/2014/main" id="{CC18EED2-EE3C-DC3A-8B03-24E4E6F720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56305" y="840325"/>
            <a:ext cx="6191249" cy="6191249"/>
          </a:xfrm>
          <a:prstGeom prst="rect">
            <a:avLst/>
          </a:prstGeom>
        </p:spPr>
      </p:pic>
      <p:sp>
        <p:nvSpPr>
          <p:cNvPr id="3" name="円/楕円 2">
            <a:extLst>
              <a:ext uri="{FF2B5EF4-FFF2-40B4-BE49-F238E27FC236}">
                <a16:creationId xmlns:a16="http://schemas.microsoft.com/office/drawing/2014/main" id="{43730378-DCFB-094B-BB41-D11847324024}"/>
              </a:ext>
            </a:extLst>
          </p:cNvPr>
          <p:cNvSpPr/>
          <p:nvPr/>
        </p:nvSpPr>
        <p:spPr>
          <a:xfrm>
            <a:off x="1032294" y="604758"/>
            <a:ext cx="10127412" cy="1896902"/>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TEG</a:t>
            </a:r>
            <a:r>
              <a:rPr lang="ja-JP" altLang="en-US" sz="3600"/>
              <a:t>により</a:t>
            </a:r>
            <a:r>
              <a:rPr kumimoji="1" lang="ja-JP" altLang="en-US" sz="3600"/>
              <a:t>客観的指標を得て</a:t>
            </a:r>
            <a:endParaRPr kumimoji="1" lang="en-US" altLang="ja-JP" sz="3600" dirty="0"/>
          </a:p>
          <a:p>
            <a:pPr algn="ctr"/>
            <a:r>
              <a:rPr kumimoji="1" lang="ja-JP" altLang="en-US" sz="3600"/>
              <a:t>輸血製剤投与判断はできないか？</a:t>
            </a:r>
          </a:p>
        </p:txBody>
      </p:sp>
      <p:sp>
        <p:nvSpPr>
          <p:cNvPr id="20" name="円/楕円 19">
            <a:extLst>
              <a:ext uri="{FF2B5EF4-FFF2-40B4-BE49-F238E27FC236}">
                <a16:creationId xmlns:a16="http://schemas.microsoft.com/office/drawing/2014/main" id="{71D52E1B-3483-2C43-9589-A69549E8BC2D}"/>
              </a:ext>
            </a:extLst>
          </p:cNvPr>
          <p:cNvSpPr/>
          <p:nvPr/>
        </p:nvSpPr>
        <p:spPr>
          <a:xfrm>
            <a:off x="5939000" y="3114486"/>
            <a:ext cx="4738335" cy="1896903"/>
          </a:xfrm>
          <a:prstGeom prst="ellipse">
            <a:avLst/>
          </a:prstGeom>
          <a:solidFill>
            <a:srgbClr val="FF0000">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3200" dirty="0">
                <a:solidFill>
                  <a:schemeClr val="bg1"/>
                </a:solidFill>
              </a:rPr>
              <a:t>TRALI</a:t>
            </a:r>
            <a:r>
              <a:rPr lang="ja-JP" altLang="en-US" sz="3200">
                <a:solidFill>
                  <a:schemeClr val="bg1"/>
                </a:solidFill>
              </a:rPr>
              <a:t>など</a:t>
            </a:r>
            <a:endParaRPr lang="en-US" altLang="ja-JP" sz="3200" dirty="0">
              <a:solidFill>
                <a:schemeClr val="bg1"/>
              </a:solidFill>
            </a:endParaRPr>
          </a:p>
          <a:p>
            <a:pPr algn="ctr"/>
            <a:r>
              <a:rPr lang="ja-JP" altLang="en-US" sz="3200">
                <a:solidFill>
                  <a:schemeClr val="bg1"/>
                </a:solidFill>
              </a:rPr>
              <a:t>輸血関連副作用</a:t>
            </a:r>
          </a:p>
          <a:p>
            <a:pPr algn="ctr"/>
            <a:r>
              <a:rPr lang="ja-JP" altLang="en-US" sz="3200">
                <a:solidFill>
                  <a:schemeClr val="bg1"/>
                </a:solidFill>
              </a:rPr>
              <a:t>医療コスト</a:t>
            </a:r>
            <a:r>
              <a:rPr lang="en-US" altLang="ja-JP" sz="3200" dirty="0">
                <a:solidFill>
                  <a:schemeClr val="bg1"/>
                </a:solidFill>
              </a:rPr>
              <a:t>•</a:t>
            </a:r>
            <a:r>
              <a:rPr lang="ja-JP" altLang="en-US" sz="3200">
                <a:solidFill>
                  <a:schemeClr val="bg1"/>
                </a:solidFill>
              </a:rPr>
              <a:t>資源</a:t>
            </a:r>
            <a:endParaRPr lang="en-US" altLang="ja-JP" sz="3200" dirty="0">
              <a:solidFill>
                <a:schemeClr val="bg1"/>
              </a:solidFill>
            </a:endParaRPr>
          </a:p>
        </p:txBody>
      </p:sp>
      <p:sp>
        <p:nvSpPr>
          <p:cNvPr id="16" name="円/楕円 15">
            <a:extLst>
              <a:ext uri="{FF2B5EF4-FFF2-40B4-BE49-F238E27FC236}">
                <a16:creationId xmlns:a16="http://schemas.microsoft.com/office/drawing/2014/main" id="{5A0A6A55-8F0C-3F4E-B1EF-D3265EECFD10}"/>
              </a:ext>
            </a:extLst>
          </p:cNvPr>
          <p:cNvSpPr/>
          <p:nvPr/>
        </p:nvSpPr>
        <p:spPr>
          <a:xfrm>
            <a:off x="881282" y="3495573"/>
            <a:ext cx="5080509" cy="1134730"/>
          </a:xfrm>
          <a:prstGeom prst="ellipse">
            <a:avLst/>
          </a:prstGeom>
          <a:solidFill>
            <a:srgbClr val="002060">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200">
                <a:solidFill>
                  <a:schemeClr val="bg1"/>
                </a:solidFill>
              </a:rPr>
              <a:t>治療効果</a:t>
            </a:r>
            <a:endParaRPr lang="en-US" altLang="ja-JP" sz="3200" dirty="0">
              <a:solidFill>
                <a:schemeClr val="bg1"/>
              </a:solidFill>
            </a:endParaRPr>
          </a:p>
          <a:p>
            <a:pPr algn="ctr"/>
            <a:r>
              <a:rPr lang="ja-JP" altLang="en-US" sz="3200">
                <a:solidFill>
                  <a:schemeClr val="bg1"/>
                </a:solidFill>
              </a:rPr>
              <a:t>蘇生のための一手</a:t>
            </a:r>
          </a:p>
        </p:txBody>
      </p:sp>
      <p:sp>
        <p:nvSpPr>
          <p:cNvPr id="6" name="スライド番号プレースホルダー 5">
            <a:extLst>
              <a:ext uri="{FF2B5EF4-FFF2-40B4-BE49-F238E27FC236}">
                <a16:creationId xmlns:a16="http://schemas.microsoft.com/office/drawing/2014/main" id="{9EBA255F-C297-FE40-B944-DB45B175EE8E}"/>
              </a:ext>
            </a:extLst>
          </p:cNvPr>
          <p:cNvSpPr>
            <a:spLocks noGrp="1"/>
          </p:cNvSpPr>
          <p:nvPr>
            <p:ph type="sldNum" sz="quarter" idx="12"/>
          </p:nvPr>
        </p:nvSpPr>
        <p:spPr/>
        <p:txBody>
          <a:bodyPr/>
          <a:lstStyle/>
          <a:p>
            <a:r>
              <a:rPr lang="en-US" altLang="ja-JP"/>
              <a:t>No. </a:t>
            </a:r>
            <a:fld id="{41B87E3F-77EC-4EFD-94DE-AA3AEB7C7760}" type="slidenum">
              <a:rPr lang="ja-JP" altLang="en-US" smtClean="0"/>
              <a:pPr/>
              <a:t>24</a:t>
            </a:fld>
            <a:endParaRPr kumimoji="1" lang="ja-JP" altLang="en-US" dirty="0"/>
          </a:p>
        </p:txBody>
      </p:sp>
      <p:sp>
        <p:nvSpPr>
          <p:cNvPr id="4" name="日付プレースホルダー 3">
            <a:extLst>
              <a:ext uri="{FF2B5EF4-FFF2-40B4-BE49-F238E27FC236}">
                <a16:creationId xmlns:a16="http://schemas.microsoft.com/office/drawing/2014/main" id="{8DBE29B4-8D82-D268-20D2-5F2C12887FE4}"/>
              </a:ext>
            </a:extLst>
          </p:cNvPr>
          <p:cNvSpPr>
            <a:spLocks noGrp="1"/>
          </p:cNvSpPr>
          <p:nvPr>
            <p:ph type="dt" sz="half" idx="10"/>
          </p:nvPr>
        </p:nvSpPr>
        <p:spPr/>
        <p:txBody>
          <a:bodyPr/>
          <a:lstStyle/>
          <a:p>
            <a:fld id="{A066085F-D61F-6B4A-92A1-A9A190B4DE10}" type="datetime1">
              <a:rPr kumimoji="1" lang="ja-JP" altLang="en-US" smtClean="0"/>
              <a:t>2026/5/15</a:t>
            </a:fld>
            <a:endParaRPr kumimoji="1" lang="ja-JP" altLang="en-US"/>
          </a:p>
        </p:txBody>
      </p:sp>
    </p:spTree>
    <p:extLst>
      <p:ext uri="{BB962C8B-B14F-4D97-AF65-F5344CB8AC3E}">
        <p14:creationId xmlns:p14="http://schemas.microsoft.com/office/powerpoint/2010/main" val="3082260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コンテンツ プレースホルダー 13" descr="グラフィカル ユーザー インターフェイス&#10;&#10;低い精度で自動的に生成された説明">
            <a:extLst>
              <a:ext uri="{FF2B5EF4-FFF2-40B4-BE49-F238E27FC236}">
                <a16:creationId xmlns:a16="http://schemas.microsoft.com/office/drawing/2014/main" id="{51677848-D718-C24A-B420-AFCBED645E64}"/>
              </a:ext>
            </a:extLst>
          </p:cNvPr>
          <p:cNvPicPr>
            <a:picLocks noGrp="1" noChangeAspect="1"/>
          </p:cNvPicPr>
          <p:nvPr>
            <p:ph idx="1"/>
          </p:nvPr>
        </p:nvPicPr>
        <p:blipFill>
          <a:blip r:embed="rId2">
            <a:alphaModFix amt="70000"/>
            <a:extLst>
              <a:ext uri="{28A0092B-C50C-407E-A947-70E740481C1C}">
                <a14:useLocalDpi xmlns:a14="http://schemas.microsoft.com/office/drawing/2010/main" val="0"/>
              </a:ext>
            </a:extLst>
          </a:blip>
          <a:stretch>
            <a:fillRect/>
          </a:stretch>
        </p:blipFill>
        <p:spPr>
          <a:xfrm>
            <a:off x="4584836" y="604758"/>
            <a:ext cx="7607164" cy="3786371"/>
          </a:xfrm>
        </p:spPr>
      </p:pic>
      <p:sp>
        <p:nvSpPr>
          <p:cNvPr id="5" name="フッター プレースホルダー 4">
            <a:extLst>
              <a:ext uri="{FF2B5EF4-FFF2-40B4-BE49-F238E27FC236}">
                <a16:creationId xmlns:a16="http://schemas.microsoft.com/office/drawing/2014/main" id="{D4428F65-7D3B-904C-A92E-8676CECD62DD}"/>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pic>
        <p:nvPicPr>
          <p:cNvPr id="12" name="図 11">
            <a:extLst>
              <a:ext uri="{FF2B5EF4-FFF2-40B4-BE49-F238E27FC236}">
                <a16:creationId xmlns:a16="http://schemas.microsoft.com/office/drawing/2014/main" id="{9A88AC24-EC83-C642-8C5A-3737198D737F}"/>
              </a:ext>
            </a:extLst>
          </p:cNvPr>
          <p:cNvPicPr>
            <a:picLocks noChangeAspect="1"/>
          </p:cNvPicPr>
          <p:nvPr/>
        </p:nvPicPr>
        <p:blipFill>
          <a:blip r:embed="rId3">
            <a:alphaModFix amt="56000"/>
          </a:blip>
          <a:stretch>
            <a:fillRect/>
          </a:stretch>
        </p:blipFill>
        <p:spPr>
          <a:xfrm>
            <a:off x="0" y="474952"/>
            <a:ext cx="5080509" cy="5080509"/>
          </a:xfrm>
          <a:prstGeom prst="rect">
            <a:avLst/>
          </a:prstGeom>
        </p:spPr>
      </p:pic>
      <p:pic>
        <p:nvPicPr>
          <p:cNvPr id="4" name="グラフィックス 3" descr="裁きの天秤 単色塗りつぶし">
            <a:extLst>
              <a:ext uri="{FF2B5EF4-FFF2-40B4-BE49-F238E27FC236}">
                <a16:creationId xmlns:a16="http://schemas.microsoft.com/office/drawing/2014/main" id="{97292DEB-2590-146B-5A0C-86962E347C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56305" y="840325"/>
            <a:ext cx="6191249" cy="6191249"/>
          </a:xfrm>
          <a:prstGeom prst="rect">
            <a:avLst/>
          </a:prstGeom>
        </p:spPr>
      </p:pic>
      <p:sp>
        <p:nvSpPr>
          <p:cNvPr id="3" name="円/楕円 2">
            <a:extLst>
              <a:ext uri="{FF2B5EF4-FFF2-40B4-BE49-F238E27FC236}">
                <a16:creationId xmlns:a16="http://schemas.microsoft.com/office/drawing/2014/main" id="{43730378-DCFB-094B-BB41-D11847324024}"/>
              </a:ext>
            </a:extLst>
          </p:cNvPr>
          <p:cNvSpPr/>
          <p:nvPr/>
        </p:nvSpPr>
        <p:spPr>
          <a:xfrm>
            <a:off x="1032294" y="604758"/>
            <a:ext cx="10127412" cy="1896902"/>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TEG</a:t>
            </a:r>
            <a:r>
              <a:rPr lang="ja-JP" altLang="en-US" sz="3600"/>
              <a:t>により</a:t>
            </a:r>
            <a:r>
              <a:rPr kumimoji="1" lang="ja-JP" altLang="en-US" sz="3600"/>
              <a:t>客観的指標を得て</a:t>
            </a:r>
            <a:endParaRPr kumimoji="1" lang="en-US" altLang="ja-JP" sz="3600" dirty="0"/>
          </a:p>
          <a:p>
            <a:pPr algn="ctr"/>
            <a:r>
              <a:rPr kumimoji="1" lang="ja-JP" altLang="en-US" sz="3600"/>
              <a:t>輸血製剤投与判断はできないか？</a:t>
            </a:r>
          </a:p>
        </p:txBody>
      </p:sp>
      <p:sp>
        <p:nvSpPr>
          <p:cNvPr id="16" name="円/楕円 15">
            <a:extLst>
              <a:ext uri="{FF2B5EF4-FFF2-40B4-BE49-F238E27FC236}">
                <a16:creationId xmlns:a16="http://schemas.microsoft.com/office/drawing/2014/main" id="{5A0A6A55-8F0C-3F4E-B1EF-D3265EECFD10}"/>
              </a:ext>
            </a:extLst>
          </p:cNvPr>
          <p:cNvSpPr/>
          <p:nvPr/>
        </p:nvSpPr>
        <p:spPr>
          <a:xfrm>
            <a:off x="881282" y="3495573"/>
            <a:ext cx="5080509" cy="1134730"/>
          </a:xfrm>
          <a:prstGeom prst="ellipse">
            <a:avLst/>
          </a:prstGeom>
          <a:solidFill>
            <a:srgbClr val="002060">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200">
                <a:solidFill>
                  <a:schemeClr val="bg1"/>
                </a:solidFill>
              </a:rPr>
              <a:t>治療効果</a:t>
            </a:r>
            <a:endParaRPr lang="en-US" altLang="ja-JP" sz="3200" dirty="0">
              <a:solidFill>
                <a:schemeClr val="bg1"/>
              </a:solidFill>
            </a:endParaRPr>
          </a:p>
          <a:p>
            <a:pPr algn="ctr"/>
            <a:r>
              <a:rPr lang="ja-JP" altLang="en-US" sz="3200">
                <a:solidFill>
                  <a:schemeClr val="bg1"/>
                </a:solidFill>
              </a:rPr>
              <a:t>蘇生のための一手</a:t>
            </a:r>
          </a:p>
        </p:txBody>
      </p:sp>
      <p:sp>
        <p:nvSpPr>
          <p:cNvPr id="20" name="円/楕円 19">
            <a:extLst>
              <a:ext uri="{FF2B5EF4-FFF2-40B4-BE49-F238E27FC236}">
                <a16:creationId xmlns:a16="http://schemas.microsoft.com/office/drawing/2014/main" id="{71D52E1B-3483-2C43-9589-A69549E8BC2D}"/>
              </a:ext>
            </a:extLst>
          </p:cNvPr>
          <p:cNvSpPr/>
          <p:nvPr/>
        </p:nvSpPr>
        <p:spPr>
          <a:xfrm>
            <a:off x="5939000" y="3114486"/>
            <a:ext cx="4738335" cy="1896903"/>
          </a:xfrm>
          <a:prstGeom prst="ellipse">
            <a:avLst/>
          </a:prstGeom>
          <a:solidFill>
            <a:srgbClr val="FF0000">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3200" dirty="0">
                <a:solidFill>
                  <a:schemeClr val="bg1"/>
                </a:solidFill>
              </a:rPr>
              <a:t>TRALI</a:t>
            </a:r>
            <a:r>
              <a:rPr lang="ja-JP" altLang="en-US" sz="3200">
                <a:solidFill>
                  <a:schemeClr val="bg1"/>
                </a:solidFill>
              </a:rPr>
              <a:t>など</a:t>
            </a:r>
            <a:endParaRPr lang="en-US" altLang="ja-JP" sz="3200" dirty="0">
              <a:solidFill>
                <a:schemeClr val="bg1"/>
              </a:solidFill>
            </a:endParaRPr>
          </a:p>
          <a:p>
            <a:pPr algn="ctr"/>
            <a:r>
              <a:rPr lang="ja-JP" altLang="en-US" sz="3200">
                <a:solidFill>
                  <a:schemeClr val="bg1"/>
                </a:solidFill>
              </a:rPr>
              <a:t>輸血関連副作用</a:t>
            </a:r>
          </a:p>
          <a:p>
            <a:pPr algn="ctr"/>
            <a:r>
              <a:rPr lang="ja-JP" altLang="en-US" sz="3200">
                <a:solidFill>
                  <a:schemeClr val="bg1"/>
                </a:solidFill>
              </a:rPr>
              <a:t>医療コスト</a:t>
            </a:r>
            <a:r>
              <a:rPr lang="en-US" altLang="ja-JP" sz="3200" dirty="0">
                <a:solidFill>
                  <a:schemeClr val="bg1"/>
                </a:solidFill>
              </a:rPr>
              <a:t>•</a:t>
            </a:r>
            <a:r>
              <a:rPr lang="ja-JP" altLang="en-US" sz="3200">
                <a:solidFill>
                  <a:schemeClr val="bg1"/>
                </a:solidFill>
              </a:rPr>
              <a:t>資源</a:t>
            </a:r>
            <a:endParaRPr lang="en-US" altLang="ja-JP" sz="3200" dirty="0">
              <a:solidFill>
                <a:schemeClr val="bg1"/>
              </a:solidFill>
            </a:endParaRPr>
          </a:p>
        </p:txBody>
      </p:sp>
      <p:sp>
        <p:nvSpPr>
          <p:cNvPr id="2" name="角丸四角形 1">
            <a:extLst>
              <a:ext uri="{FF2B5EF4-FFF2-40B4-BE49-F238E27FC236}">
                <a16:creationId xmlns:a16="http://schemas.microsoft.com/office/drawing/2014/main" id="{DDCD2694-11D0-344E-81F9-74777362798D}"/>
              </a:ext>
            </a:extLst>
          </p:cNvPr>
          <p:cNvSpPr/>
          <p:nvPr/>
        </p:nvSpPr>
        <p:spPr>
          <a:xfrm>
            <a:off x="0" y="2372831"/>
            <a:ext cx="12192000" cy="3138223"/>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5400">
                <a:solidFill>
                  <a:schemeClr val="tx2"/>
                </a:solidFill>
              </a:rPr>
              <a:t>輸血製剤を</a:t>
            </a:r>
            <a:r>
              <a:rPr kumimoji="1" lang="ja-JP" altLang="en-US" sz="6600">
                <a:solidFill>
                  <a:srgbClr val="FF0000"/>
                </a:solidFill>
              </a:rPr>
              <a:t>適切に</a:t>
            </a:r>
            <a:r>
              <a:rPr kumimoji="1" lang="ja-JP" altLang="en-US" sz="5400">
                <a:solidFill>
                  <a:schemeClr val="tx2"/>
                </a:solidFill>
              </a:rPr>
              <a:t>使用する</a:t>
            </a:r>
            <a:endParaRPr kumimoji="1" lang="en-US" altLang="ja-JP" sz="5400" dirty="0">
              <a:solidFill>
                <a:schemeClr val="tx2"/>
              </a:solidFill>
            </a:endParaRPr>
          </a:p>
          <a:p>
            <a:pPr algn="ctr"/>
            <a:r>
              <a:rPr lang="ja-JP" altLang="en-US" sz="6600">
                <a:solidFill>
                  <a:srgbClr val="FF0000"/>
                </a:solidFill>
              </a:rPr>
              <a:t>必要症例に使用</a:t>
            </a:r>
            <a:r>
              <a:rPr lang="ja-JP" altLang="en-US" sz="5400">
                <a:solidFill>
                  <a:schemeClr val="tx2"/>
                </a:solidFill>
              </a:rPr>
              <a:t>できるように</a:t>
            </a:r>
            <a:endParaRPr kumimoji="1" lang="ja-JP" altLang="en-US" sz="5400">
              <a:solidFill>
                <a:schemeClr val="tx2"/>
              </a:solidFill>
            </a:endParaRPr>
          </a:p>
        </p:txBody>
      </p:sp>
      <p:sp>
        <p:nvSpPr>
          <p:cNvPr id="6" name="スライド番号プレースホルダー 5">
            <a:extLst>
              <a:ext uri="{FF2B5EF4-FFF2-40B4-BE49-F238E27FC236}">
                <a16:creationId xmlns:a16="http://schemas.microsoft.com/office/drawing/2014/main" id="{9EBA255F-C297-FE40-B944-DB45B175EE8E}"/>
              </a:ext>
            </a:extLst>
          </p:cNvPr>
          <p:cNvSpPr>
            <a:spLocks noGrp="1"/>
          </p:cNvSpPr>
          <p:nvPr>
            <p:ph type="sldNum" sz="quarter" idx="12"/>
          </p:nvPr>
        </p:nvSpPr>
        <p:spPr/>
        <p:txBody>
          <a:bodyPr/>
          <a:lstStyle/>
          <a:p>
            <a:r>
              <a:rPr lang="en-US" altLang="ja-JP"/>
              <a:t>No. </a:t>
            </a:r>
            <a:fld id="{41B87E3F-77EC-4EFD-94DE-AA3AEB7C7760}" type="slidenum">
              <a:rPr lang="ja-JP" altLang="en-US" smtClean="0"/>
              <a:pPr/>
              <a:t>25</a:t>
            </a:fld>
            <a:endParaRPr kumimoji="1" lang="ja-JP" altLang="en-US" dirty="0"/>
          </a:p>
        </p:txBody>
      </p:sp>
      <p:sp>
        <p:nvSpPr>
          <p:cNvPr id="7" name="日付プレースホルダー 6">
            <a:extLst>
              <a:ext uri="{FF2B5EF4-FFF2-40B4-BE49-F238E27FC236}">
                <a16:creationId xmlns:a16="http://schemas.microsoft.com/office/drawing/2014/main" id="{B14A489E-56AB-EA13-64B0-A41BA8CCAFBC}"/>
              </a:ext>
            </a:extLst>
          </p:cNvPr>
          <p:cNvSpPr>
            <a:spLocks noGrp="1"/>
          </p:cNvSpPr>
          <p:nvPr>
            <p:ph type="dt" sz="half" idx="10"/>
          </p:nvPr>
        </p:nvSpPr>
        <p:spPr/>
        <p:txBody>
          <a:bodyPr/>
          <a:lstStyle/>
          <a:p>
            <a:fld id="{CE099E79-04C0-3C49-BA50-1B05F9F577C0}" type="datetime1">
              <a:rPr kumimoji="1" lang="ja-JP" altLang="en-US" smtClean="0"/>
              <a:t>2026/5/15</a:t>
            </a:fld>
            <a:endParaRPr kumimoji="1" lang="ja-JP" altLang="en-US"/>
          </a:p>
        </p:txBody>
      </p:sp>
    </p:spTree>
    <p:extLst>
      <p:ext uri="{BB962C8B-B14F-4D97-AF65-F5344CB8AC3E}">
        <p14:creationId xmlns:p14="http://schemas.microsoft.com/office/powerpoint/2010/main" val="2360480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8D41A3-D7D0-5545-AE73-0B83990882D7}"/>
              </a:ext>
            </a:extLst>
          </p:cNvPr>
          <p:cNvSpPr>
            <a:spLocks noGrp="1"/>
          </p:cNvSpPr>
          <p:nvPr>
            <p:ph type="title"/>
          </p:nvPr>
        </p:nvSpPr>
        <p:spPr/>
        <p:txBody>
          <a:bodyPr>
            <a:normAutofit/>
          </a:bodyPr>
          <a:lstStyle/>
          <a:p>
            <a:r>
              <a:rPr lang="en-US" altLang="ja-JP" dirty="0" err="1"/>
              <a:t>Trauma×TEG</a:t>
            </a:r>
            <a:endParaRPr kumimoji="1" lang="ja-JP" altLang="en-US"/>
          </a:p>
        </p:txBody>
      </p:sp>
      <p:sp>
        <p:nvSpPr>
          <p:cNvPr id="5" name="フッター プレースホルダー 4">
            <a:extLst>
              <a:ext uri="{FF2B5EF4-FFF2-40B4-BE49-F238E27FC236}">
                <a16:creationId xmlns:a16="http://schemas.microsoft.com/office/drawing/2014/main" id="{8F9A78B2-F22B-584C-B32C-1B0389B9AED5}"/>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8880458C-618E-4D4B-911B-2554E7409CAB}"/>
              </a:ext>
            </a:extLst>
          </p:cNvPr>
          <p:cNvSpPr>
            <a:spLocks noGrp="1"/>
          </p:cNvSpPr>
          <p:nvPr>
            <p:ph type="sldNum" sz="quarter" idx="12"/>
          </p:nvPr>
        </p:nvSpPr>
        <p:spPr/>
        <p:txBody>
          <a:bodyPr/>
          <a:lstStyle/>
          <a:p>
            <a:r>
              <a:rPr lang="en-US" altLang="ja-JP"/>
              <a:t>No. </a:t>
            </a:r>
            <a:fld id="{41B87E3F-77EC-4EFD-94DE-AA3AEB7C7760}" type="slidenum">
              <a:rPr lang="ja-JP" altLang="en-US" smtClean="0"/>
              <a:pPr/>
              <a:t>26</a:t>
            </a:fld>
            <a:endParaRPr kumimoji="1" lang="ja-JP" altLang="en-US" dirty="0"/>
          </a:p>
        </p:txBody>
      </p:sp>
      <p:sp>
        <p:nvSpPr>
          <p:cNvPr id="7" name="テキスト ボックス 6">
            <a:extLst>
              <a:ext uri="{FF2B5EF4-FFF2-40B4-BE49-F238E27FC236}">
                <a16:creationId xmlns:a16="http://schemas.microsoft.com/office/drawing/2014/main" id="{D6F48D0D-B59A-0F4B-A237-3E4239E07793}"/>
              </a:ext>
            </a:extLst>
          </p:cNvPr>
          <p:cNvSpPr txBox="1"/>
          <p:nvPr/>
        </p:nvSpPr>
        <p:spPr>
          <a:xfrm>
            <a:off x="161902" y="1629104"/>
            <a:ext cx="11561669" cy="646331"/>
          </a:xfrm>
          <a:prstGeom prst="rect">
            <a:avLst/>
          </a:prstGeom>
          <a:noFill/>
        </p:spPr>
        <p:txBody>
          <a:bodyPr wrap="square" rtlCol="0">
            <a:spAutoFit/>
          </a:bodyPr>
          <a:lstStyle/>
          <a:p>
            <a:r>
              <a:rPr kumimoji="1" lang="ja-JP" altLang="en-US" sz="3600"/>
              <a:t>外傷急性期における目標指向型止血戦略を実現させる</a:t>
            </a:r>
          </a:p>
        </p:txBody>
      </p:sp>
      <p:sp>
        <p:nvSpPr>
          <p:cNvPr id="4" name="テキスト ボックス 3">
            <a:extLst>
              <a:ext uri="{FF2B5EF4-FFF2-40B4-BE49-F238E27FC236}">
                <a16:creationId xmlns:a16="http://schemas.microsoft.com/office/drawing/2014/main" id="{770AD6EB-4CFE-D641-9491-F676163EA4D0}"/>
              </a:ext>
            </a:extLst>
          </p:cNvPr>
          <p:cNvSpPr txBox="1"/>
          <p:nvPr/>
        </p:nvSpPr>
        <p:spPr>
          <a:xfrm>
            <a:off x="634512" y="2291780"/>
            <a:ext cx="6440811" cy="523220"/>
          </a:xfrm>
          <a:prstGeom prst="rect">
            <a:avLst/>
          </a:prstGeom>
          <a:noFill/>
        </p:spPr>
        <p:txBody>
          <a:bodyPr wrap="square" rtlCol="0">
            <a:spAutoFit/>
          </a:bodyPr>
          <a:lstStyle/>
          <a:p>
            <a:r>
              <a:rPr kumimoji="1" lang="ja-JP" altLang="en-US" sz="2800"/>
              <a:t>・複雑な凝固プロセスを簡便に評価</a:t>
            </a:r>
          </a:p>
        </p:txBody>
      </p:sp>
      <p:sp>
        <p:nvSpPr>
          <p:cNvPr id="8" name="テキスト ボックス 7">
            <a:extLst>
              <a:ext uri="{FF2B5EF4-FFF2-40B4-BE49-F238E27FC236}">
                <a16:creationId xmlns:a16="http://schemas.microsoft.com/office/drawing/2014/main" id="{ABF0D2FD-54DC-6A4A-885C-68FFF44749BD}"/>
              </a:ext>
            </a:extLst>
          </p:cNvPr>
          <p:cNvSpPr txBox="1"/>
          <p:nvPr/>
        </p:nvSpPr>
        <p:spPr>
          <a:xfrm>
            <a:off x="634512" y="2864785"/>
            <a:ext cx="8001001" cy="523220"/>
          </a:xfrm>
          <a:prstGeom prst="rect">
            <a:avLst/>
          </a:prstGeom>
          <a:noFill/>
        </p:spPr>
        <p:txBody>
          <a:bodyPr wrap="square" rtlCol="0">
            <a:spAutoFit/>
          </a:bodyPr>
          <a:lstStyle/>
          <a:p>
            <a:r>
              <a:rPr kumimoji="1" lang="ja-JP" altLang="en-US" sz="2800"/>
              <a:t>・一刻を争う治療上の意思決定の根拠となる</a:t>
            </a:r>
          </a:p>
        </p:txBody>
      </p:sp>
      <p:sp>
        <p:nvSpPr>
          <p:cNvPr id="9" name="テキスト ボックス 8">
            <a:extLst>
              <a:ext uri="{FF2B5EF4-FFF2-40B4-BE49-F238E27FC236}">
                <a16:creationId xmlns:a16="http://schemas.microsoft.com/office/drawing/2014/main" id="{CA0A1769-3C59-0C4D-9FAB-EC49F31D0981}"/>
              </a:ext>
            </a:extLst>
          </p:cNvPr>
          <p:cNvSpPr txBox="1"/>
          <p:nvPr/>
        </p:nvSpPr>
        <p:spPr>
          <a:xfrm>
            <a:off x="634512" y="3432610"/>
            <a:ext cx="9740765" cy="954107"/>
          </a:xfrm>
          <a:prstGeom prst="rect">
            <a:avLst/>
          </a:prstGeom>
          <a:noFill/>
        </p:spPr>
        <p:txBody>
          <a:bodyPr wrap="square" rtlCol="0">
            <a:spAutoFit/>
          </a:bodyPr>
          <a:lstStyle/>
          <a:p>
            <a:r>
              <a:rPr kumimoji="1" lang="ja-JP" altLang="en-US" sz="2800"/>
              <a:t>・急性期外傷性凝固障害</a:t>
            </a:r>
            <a:r>
              <a:rPr kumimoji="1" lang="en-US" altLang="ja-JP" sz="2800" dirty="0"/>
              <a:t>(ACT)</a:t>
            </a:r>
            <a:r>
              <a:rPr kumimoji="1" lang="ja-JP" altLang="en-US" sz="2800"/>
              <a:t>を迅速に特定し</a:t>
            </a:r>
            <a:r>
              <a:rPr kumimoji="1" lang="en-US" altLang="ja-JP" sz="2800" dirty="0"/>
              <a:t>, </a:t>
            </a:r>
          </a:p>
          <a:p>
            <a:r>
              <a:rPr kumimoji="1" lang="ja-JP" altLang="en-US" sz="2800"/>
              <a:t>　</a:t>
            </a:r>
            <a:r>
              <a:rPr kumimoji="1" lang="en-US" altLang="ja-JP" sz="2800" dirty="0"/>
              <a:t>MTP</a:t>
            </a:r>
            <a:r>
              <a:rPr kumimoji="1" lang="ja-JP" altLang="en-US" sz="2800"/>
              <a:t>実施（特に</a:t>
            </a:r>
            <a:r>
              <a:rPr kumimoji="1" lang="en-US" altLang="ja-JP" sz="2800" dirty="0"/>
              <a:t>FFP</a:t>
            </a:r>
            <a:r>
              <a:rPr kumimoji="1" lang="ja-JP" altLang="en-US" sz="2800"/>
              <a:t>など凝固因子補充）の指標となる</a:t>
            </a:r>
          </a:p>
        </p:txBody>
      </p:sp>
      <p:sp>
        <p:nvSpPr>
          <p:cNvPr id="3" name="日付プレースホルダー 2">
            <a:extLst>
              <a:ext uri="{FF2B5EF4-FFF2-40B4-BE49-F238E27FC236}">
                <a16:creationId xmlns:a16="http://schemas.microsoft.com/office/drawing/2014/main" id="{6492E797-4C89-AAF7-69CE-10D4E1F963F9}"/>
              </a:ext>
            </a:extLst>
          </p:cNvPr>
          <p:cNvSpPr>
            <a:spLocks noGrp="1"/>
          </p:cNvSpPr>
          <p:nvPr>
            <p:ph type="dt" sz="half" idx="10"/>
          </p:nvPr>
        </p:nvSpPr>
        <p:spPr/>
        <p:txBody>
          <a:bodyPr/>
          <a:lstStyle/>
          <a:p>
            <a:fld id="{8E9B2DE8-4CD0-DB45-ACE6-3C77C7876871}" type="datetime1">
              <a:rPr kumimoji="1" lang="ja-JP" altLang="en-US" smtClean="0"/>
              <a:t>2026/5/15</a:t>
            </a:fld>
            <a:endParaRPr kumimoji="1" lang="ja-JP" altLang="en-US"/>
          </a:p>
        </p:txBody>
      </p:sp>
    </p:spTree>
    <p:extLst>
      <p:ext uri="{BB962C8B-B14F-4D97-AF65-F5344CB8AC3E}">
        <p14:creationId xmlns:p14="http://schemas.microsoft.com/office/powerpoint/2010/main" val="5670950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8D41A3-D7D0-5545-AE73-0B83990882D7}"/>
              </a:ext>
            </a:extLst>
          </p:cNvPr>
          <p:cNvSpPr>
            <a:spLocks noGrp="1"/>
          </p:cNvSpPr>
          <p:nvPr>
            <p:ph type="title"/>
          </p:nvPr>
        </p:nvSpPr>
        <p:spPr/>
        <p:txBody>
          <a:bodyPr/>
          <a:lstStyle/>
          <a:p>
            <a:r>
              <a:rPr kumimoji="1" lang="en-US" altLang="ja-JP" dirty="0" err="1"/>
              <a:t>Trauma×TEG</a:t>
            </a:r>
            <a:endParaRPr kumimoji="1" lang="ja-JP" altLang="en-US"/>
          </a:p>
        </p:txBody>
      </p:sp>
      <p:sp>
        <p:nvSpPr>
          <p:cNvPr id="5" name="フッター プレースホルダー 4">
            <a:extLst>
              <a:ext uri="{FF2B5EF4-FFF2-40B4-BE49-F238E27FC236}">
                <a16:creationId xmlns:a16="http://schemas.microsoft.com/office/drawing/2014/main" id="{8F9A78B2-F22B-584C-B32C-1B0389B9AED5}"/>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8880458C-618E-4D4B-911B-2554E7409CAB}"/>
              </a:ext>
            </a:extLst>
          </p:cNvPr>
          <p:cNvSpPr>
            <a:spLocks noGrp="1"/>
          </p:cNvSpPr>
          <p:nvPr>
            <p:ph type="sldNum" sz="quarter" idx="12"/>
          </p:nvPr>
        </p:nvSpPr>
        <p:spPr/>
        <p:txBody>
          <a:bodyPr/>
          <a:lstStyle/>
          <a:p>
            <a:r>
              <a:rPr lang="en-US" altLang="ja-JP"/>
              <a:t>No. </a:t>
            </a:r>
            <a:fld id="{41B87E3F-77EC-4EFD-94DE-AA3AEB7C7760}" type="slidenum">
              <a:rPr lang="ja-JP" altLang="en-US" smtClean="0"/>
              <a:pPr/>
              <a:t>27</a:t>
            </a:fld>
            <a:endParaRPr kumimoji="1" lang="ja-JP" altLang="en-US" dirty="0"/>
          </a:p>
        </p:txBody>
      </p:sp>
      <p:sp>
        <p:nvSpPr>
          <p:cNvPr id="7" name="テキスト ボックス 6">
            <a:extLst>
              <a:ext uri="{FF2B5EF4-FFF2-40B4-BE49-F238E27FC236}">
                <a16:creationId xmlns:a16="http://schemas.microsoft.com/office/drawing/2014/main" id="{D6F48D0D-B59A-0F4B-A237-3E4239E07793}"/>
              </a:ext>
            </a:extLst>
          </p:cNvPr>
          <p:cNvSpPr txBox="1"/>
          <p:nvPr/>
        </p:nvSpPr>
        <p:spPr>
          <a:xfrm>
            <a:off x="161902" y="1629104"/>
            <a:ext cx="11561669" cy="646331"/>
          </a:xfrm>
          <a:prstGeom prst="rect">
            <a:avLst/>
          </a:prstGeom>
          <a:noFill/>
        </p:spPr>
        <p:txBody>
          <a:bodyPr wrap="square" rtlCol="0">
            <a:spAutoFit/>
          </a:bodyPr>
          <a:lstStyle/>
          <a:p>
            <a:r>
              <a:rPr kumimoji="1" lang="ja-JP" altLang="en-US" sz="3600"/>
              <a:t>外傷急性期における目標指向型止血戦略を実現させる</a:t>
            </a:r>
          </a:p>
        </p:txBody>
      </p:sp>
      <p:sp>
        <p:nvSpPr>
          <p:cNvPr id="4" name="テキスト ボックス 3">
            <a:extLst>
              <a:ext uri="{FF2B5EF4-FFF2-40B4-BE49-F238E27FC236}">
                <a16:creationId xmlns:a16="http://schemas.microsoft.com/office/drawing/2014/main" id="{770AD6EB-4CFE-D641-9491-F676163EA4D0}"/>
              </a:ext>
            </a:extLst>
          </p:cNvPr>
          <p:cNvSpPr txBox="1"/>
          <p:nvPr/>
        </p:nvSpPr>
        <p:spPr>
          <a:xfrm>
            <a:off x="634512" y="2291780"/>
            <a:ext cx="6440811" cy="523220"/>
          </a:xfrm>
          <a:prstGeom prst="rect">
            <a:avLst/>
          </a:prstGeom>
          <a:noFill/>
        </p:spPr>
        <p:txBody>
          <a:bodyPr wrap="square" rtlCol="0">
            <a:spAutoFit/>
          </a:bodyPr>
          <a:lstStyle/>
          <a:p>
            <a:r>
              <a:rPr kumimoji="1" lang="ja-JP" altLang="en-US" sz="2800"/>
              <a:t>・複雑な凝固プロセスを簡便に評価</a:t>
            </a:r>
          </a:p>
        </p:txBody>
      </p:sp>
      <p:sp>
        <p:nvSpPr>
          <p:cNvPr id="8" name="テキスト ボックス 7">
            <a:extLst>
              <a:ext uri="{FF2B5EF4-FFF2-40B4-BE49-F238E27FC236}">
                <a16:creationId xmlns:a16="http://schemas.microsoft.com/office/drawing/2014/main" id="{ABF0D2FD-54DC-6A4A-885C-68FFF44749BD}"/>
              </a:ext>
            </a:extLst>
          </p:cNvPr>
          <p:cNvSpPr txBox="1"/>
          <p:nvPr/>
        </p:nvSpPr>
        <p:spPr>
          <a:xfrm>
            <a:off x="634512" y="2864785"/>
            <a:ext cx="8001001" cy="523220"/>
          </a:xfrm>
          <a:prstGeom prst="rect">
            <a:avLst/>
          </a:prstGeom>
          <a:noFill/>
        </p:spPr>
        <p:txBody>
          <a:bodyPr wrap="square" rtlCol="0">
            <a:spAutoFit/>
          </a:bodyPr>
          <a:lstStyle/>
          <a:p>
            <a:r>
              <a:rPr kumimoji="1" lang="ja-JP" altLang="en-US" sz="2800"/>
              <a:t>・一刻を争う治療上の意思決定の根拠となる</a:t>
            </a:r>
          </a:p>
        </p:txBody>
      </p:sp>
      <p:sp>
        <p:nvSpPr>
          <p:cNvPr id="9" name="テキスト ボックス 8">
            <a:extLst>
              <a:ext uri="{FF2B5EF4-FFF2-40B4-BE49-F238E27FC236}">
                <a16:creationId xmlns:a16="http://schemas.microsoft.com/office/drawing/2014/main" id="{CA0A1769-3C59-0C4D-9FAB-EC49F31D0981}"/>
              </a:ext>
            </a:extLst>
          </p:cNvPr>
          <p:cNvSpPr txBox="1"/>
          <p:nvPr/>
        </p:nvSpPr>
        <p:spPr>
          <a:xfrm>
            <a:off x="634512" y="3432610"/>
            <a:ext cx="9740765" cy="954107"/>
          </a:xfrm>
          <a:prstGeom prst="rect">
            <a:avLst/>
          </a:prstGeom>
          <a:noFill/>
        </p:spPr>
        <p:txBody>
          <a:bodyPr wrap="square" rtlCol="0">
            <a:spAutoFit/>
          </a:bodyPr>
          <a:lstStyle/>
          <a:p>
            <a:r>
              <a:rPr kumimoji="1" lang="ja-JP" altLang="en-US" sz="2800"/>
              <a:t>・急性期外傷性凝固障害</a:t>
            </a:r>
            <a:r>
              <a:rPr kumimoji="1" lang="en-US" altLang="ja-JP" sz="2800" dirty="0"/>
              <a:t>(ACT)</a:t>
            </a:r>
            <a:r>
              <a:rPr kumimoji="1" lang="ja-JP" altLang="en-US" sz="2800"/>
              <a:t>を迅速に特定し</a:t>
            </a:r>
            <a:r>
              <a:rPr kumimoji="1" lang="en-US" altLang="ja-JP" sz="2800" dirty="0"/>
              <a:t>, </a:t>
            </a:r>
          </a:p>
          <a:p>
            <a:r>
              <a:rPr kumimoji="1" lang="ja-JP" altLang="en-US" sz="2800"/>
              <a:t>　</a:t>
            </a:r>
            <a:r>
              <a:rPr kumimoji="1" lang="en-US" altLang="ja-JP" sz="2800" dirty="0"/>
              <a:t>MTP</a:t>
            </a:r>
            <a:r>
              <a:rPr kumimoji="1" lang="ja-JP" altLang="en-US" sz="2800"/>
              <a:t>実施（特に</a:t>
            </a:r>
            <a:r>
              <a:rPr kumimoji="1" lang="en-US" altLang="ja-JP" sz="2800" dirty="0"/>
              <a:t>FFP</a:t>
            </a:r>
            <a:r>
              <a:rPr kumimoji="1" lang="ja-JP" altLang="en-US" sz="2800"/>
              <a:t>など凝固因子補充）の指標となる</a:t>
            </a:r>
          </a:p>
        </p:txBody>
      </p:sp>
      <p:sp>
        <p:nvSpPr>
          <p:cNvPr id="11" name="右矢印 10">
            <a:extLst>
              <a:ext uri="{FF2B5EF4-FFF2-40B4-BE49-F238E27FC236}">
                <a16:creationId xmlns:a16="http://schemas.microsoft.com/office/drawing/2014/main" id="{110BAFD2-B0E0-334F-9907-B7BF1ECD2881}"/>
              </a:ext>
            </a:extLst>
          </p:cNvPr>
          <p:cNvSpPr/>
          <p:nvPr/>
        </p:nvSpPr>
        <p:spPr>
          <a:xfrm rot="5400000">
            <a:off x="5803613" y="4405448"/>
            <a:ext cx="584774" cy="811918"/>
          </a:xfrm>
          <a:prstGeom prst="rightArrow">
            <a:avLst/>
          </a:prstGeom>
          <a:solidFill>
            <a:schemeClr val="bg1"/>
          </a:solidFill>
          <a:ln w="63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BBC00454-9DC0-7F41-8469-2F4E8AE4EAD3}"/>
              </a:ext>
            </a:extLst>
          </p:cNvPr>
          <p:cNvSpPr txBox="1"/>
          <p:nvPr/>
        </p:nvSpPr>
        <p:spPr>
          <a:xfrm>
            <a:off x="-291967" y="5272622"/>
            <a:ext cx="12775933" cy="707886"/>
          </a:xfrm>
          <a:prstGeom prst="rect">
            <a:avLst/>
          </a:prstGeom>
          <a:noFill/>
        </p:spPr>
        <p:txBody>
          <a:bodyPr wrap="square" rtlCol="0">
            <a:spAutoFit/>
          </a:bodyPr>
          <a:lstStyle/>
          <a:p>
            <a:pPr algn="ctr"/>
            <a:r>
              <a:rPr kumimoji="1" lang="en-US" altLang="ja-JP" sz="4000" dirty="0">
                <a:solidFill>
                  <a:srgbClr val="FF0000"/>
                </a:solidFill>
              </a:rPr>
              <a:t>TEG</a:t>
            </a:r>
            <a:r>
              <a:rPr lang="ja-JP" altLang="en-US" sz="4000">
                <a:solidFill>
                  <a:srgbClr val="FF0000"/>
                </a:solidFill>
              </a:rPr>
              <a:t>をうまく使って輸血をどうするかきめよう！！</a:t>
            </a:r>
            <a:endParaRPr kumimoji="1" lang="ja-JP" altLang="en-US" sz="4000">
              <a:solidFill>
                <a:srgbClr val="FF0000"/>
              </a:solidFill>
            </a:endParaRPr>
          </a:p>
        </p:txBody>
      </p:sp>
      <p:sp>
        <p:nvSpPr>
          <p:cNvPr id="3" name="日付プレースホルダー 2">
            <a:extLst>
              <a:ext uri="{FF2B5EF4-FFF2-40B4-BE49-F238E27FC236}">
                <a16:creationId xmlns:a16="http://schemas.microsoft.com/office/drawing/2014/main" id="{56A9870D-5FCE-BED2-EE7A-D4532242CE39}"/>
              </a:ext>
            </a:extLst>
          </p:cNvPr>
          <p:cNvSpPr>
            <a:spLocks noGrp="1"/>
          </p:cNvSpPr>
          <p:nvPr>
            <p:ph type="dt" sz="half" idx="10"/>
          </p:nvPr>
        </p:nvSpPr>
        <p:spPr/>
        <p:txBody>
          <a:bodyPr/>
          <a:lstStyle/>
          <a:p>
            <a:fld id="{D5E51BB6-8AC3-1C4A-8191-A3EEBEC74591}" type="datetime1">
              <a:rPr kumimoji="1" lang="ja-JP" altLang="en-US" smtClean="0"/>
              <a:t>2026/5/15</a:t>
            </a:fld>
            <a:endParaRPr kumimoji="1" lang="ja-JP" altLang="en-US"/>
          </a:p>
        </p:txBody>
      </p:sp>
    </p:spTree>
    <p:extLst>
      <p:ext uri="{BB962C8B-B14F-4D97-AF65-F5344CB8AC3E}">
        <p14:creationId xmlns:p14="http://schemas.microsoft.com/office/powerpoint/2010/main" val="35238679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172466-D611-B04C-B322-1A481DF345D6}"/>
              </a:ext>
            </a:extLst>
          </p:cNvPr>
          <p:cNvSpPr>
            <a:spLocks noGrp="1"/>
          </p:cNvSpPr>
          <p:nvPr>
            <p:ph type="title"/>
          </p:nvPr>
        </p:nvSpPr>
        <p:spPr/>
        <p:txBody>
          <a:bodyPr/>
          <a:lstStyle/>
          <a:p>
            <a:endParaRPr kumimoji="1" lang="ja-JP" altLang="en-US"/>
          </a:p>
        </p:txBody>
      </p:sp>
      <p:pic>
        <p:nvPicPr>
          <p:cNvPr id="8" name="コンテンツ プレースホルダー 7" descr="グラフィカル ユーザー インターフェイス&#10;&#10;中程度の精度で自動的に生成された説明">
            <a:extLst>
              <a:ext uri="{FF2B5EF4-FFF2-40B4-BE49-F238E27FC236}">
                <a16:creationId xmlns:a16="http://schemas.microsoft.com/office/drawing/2014/main" id="{CB865614-2F40-B34D-9938-A65DD14EFB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13" y="504000"/>
            <a:ext cx="8441742" cy="5765092"/>
          </a:xfrm>
        </p:spPr>
      </p:pic>
      <p:sp>
        <p:nvSpPr>
          <p:cNvPr id="5" name="フッター プレースホルダー 4">
            <a:extLst>
              <a:ext uri="{FF2B5EF4-FFF2-40B4-BE49-F238E27FC236}">
                <a16:creationId xmlns:a16="http://schemas.microsoft.com/office/drawing/2014/main" id="{4737CB50-B37B-B041-BA1D-4D75BC6E6B0A}"/>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AC3D8F34-07B8-6D4B-AFFB-A4821FDFE6E1}"/>
              </a:ext>
            </a:extLst>
          </p:cNvPr>
          <p:cNvSpPr>
            <a:spLocks noGrp="1"/>
          </p:cNvSpPr>
          <p:nvPr>
            <p:ph type="sldNum" sz="quarter" idx="12"/>
          </p:nvPr>
        </p:nvSpPr>
        <p:spPr/>
        <p:txBody>
          <a:bodyPr/>
          <a:lstStyle/>
          <a:p>
            <a:r>
              <a:rPr lang="en-US" altLang="ja-JP"/>
              <a:t>No. </a:t>
            </a:r>
            <a:fld id="{41B87E3F-77EC-4EFD-94DE-AA3AEB7C7760}" type="slidenum">
              <a:rPr lang="ja-JP" altLang="en-US" smtClean="0"/>
              <a:pPr/>
              <a:t>28</a:t>
            </a:fld>
            <a:endParaRPr kumimoji="1" lang="ja-JP" altLang="en-US" dirty="0"/>
          </a:p>
        </p:txBody>
      </p:sp>
      <p:sp>
        <p:nvSpPr>
          <p:cNvPr id="10" name="テキスト ボックス 9">
            <a:extLst>
              <a:ext uri="{FF2B5EF4-FFF2-40B4-BE49-F238E27FC236}">
                <a16:creationId xmlns:a16="http://schemas.microsoft.com/office/drawing/2014/main" id="{8BE4CB8E-53F9-D24E-AEE1-6A42846CDC30}"/>
              </a:ext>
            </a:extLst>
          </p:cNvPr>
          <p:cNvSpPr txBox="1"/>
          <p:nvPr/>
        </p:nvSpPr>
        <p:spPr>
          <a:xfrm>
            <a:off x="7799294" y="2135118"/>
            <a:ext cx="4320706" cy="1815882"/>
          </a:xfrm>
          <a:prstGeom prst="rect">
            <a:avLst/>
          </a:prstGeom>
          <a:solidFill>
            <a:schemeClr val="bg1"/>
          </a:solidFill>
          <a:ln w="50800">
            <a:solidFill>
              <a:schemeClr val="tx2">
                <a:lumMod val="50000"/>
                <a:lumOff val="50000"/>
              </a:schemeClr>
            </a:solidFill>
          </a:ln>
        </p:spPr>
        <p:txBody>
          <a:bodyPr wrap="square" rtlCol="0">
            <a:spAutoFit/>
          </a:bodyPr>
          <a:lstStyle/>
          <a:p>
            <a:r>
              <a:rPr lang="ja-JP" altLang="en-US" sz="2800">
                <a:latin typeface="+mn-ea"/>
              </a:rPr>
              <a:t>適切に輸血を行うことで止血がえられ結果的に</a:t>
            </a:r>
            <a:r>
              <a:rPr lang="en-US" altLang="ja-JP" sz="2800" dirty="0">
                <a:latin typeface="+mn-ea"/>
              </a:rPr>
              <a:t>RBC, FFP, </a:t>
            </a:r>
            <a:r>
              <a:rPr lang="en-US" altLang="ja-JP" sz="2800" dirty="0" err="1">
                <a:latin typeface="+mn-ea"/>
              </a:rPr>
              <a:t>Plt</a:t>
            </a:r>
            <a:r>
              <a:rPr lang="ja-JP" altLang="en-US" sz="2800">
                <a:latin typeface="+mn-ea"/>
              </a:rPr>
              <a:t>の使用量が減ると言われている</a:t>
            </a:r>
            <a:endParaRPr kumimoji="1" lang="ja-JP" altLang="en-US" sz="2800">
              <a:latin typeface="+mn-ea"/>
            </a:endParaRPr>
          </a:p>
        </p:txBody>
      </p:sp>
      <p:sp>
        <p:nvSpPr>
          <p:cNvPr id="3" name="日付プレースホルダー 2">
            <a:extLst>
              <a:ext uri="{FF2B5EF4-FFF2-40B4-BE49-F238E27FC236}">
                <a16:creationId xmlns:a16="http://schemas.microsoft.com/office/drawing/2014/main" id="{B7506A79-4060-04BD-2F90-615E21FA2952}"/>
              </a:ext>
            </a:extLst>
          </p:cNvPr>
          <p:cNvSpPr>
            <a:spLocks noGrp="1"/>
          </p:cNvSpPr>
          <p:nvPr>
            <p:ph type="dt" sz="half" idx="10"/>
          </p:nvPr>
        </p:nvSpPr>
        <p:spPr/>
        <p:txBody>
          <a:bodyPr/>
          <a:lstStyle/>
          <a:p>
            <a:fld id="{1F128E65-5532-B045-ADA3-04CA34BBD0F4}" type="datetime1">
              <a:rPr kumimoji="1" lang="ja-JP" altLang="en-US" smtClean="0"/>
              <a:t>2026/5/15</a:t>
            </a:fld>
            <a:endParaRPr kumimoji="1" lang="ja-JP" altLang="en-US"/>
          </a:p>
        </p:txBody>
      </p:sp>
    </p:spTree>
    <p:extLst>
      <p:ext uri="{BB962C8B-B14F-4D97-AF65-F5344CB8AC3E}">
        <p14:creationId xmlns:p14="http://schemas.microsoft.com/office/powerpoint/2010/main" val="19604020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コンテンツ プレースホルダー 7" descr="グラフ, 棒グラフ&#10;&#10;自動的に生成された説明">
            <a:extLst>
              <a:ext uri="{FF2B5EF4-FFF2-40B4-BE49-F238E27FC236}">
                <a16:creationId xmlns:a16="http://schemas.microsoft.com/office/drawing/2014/main" id="{D4B7C7A6-A8FB-6248-98BB-60EA3CFF4B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89467" y="497750"/>
            <a:ext cx="7902533" cy="4351338"/>
          </a:xfrm>
        </p:spPr>
      </p:pic>
      <p:sp>
        <p:nvSpPr>
          <p:cNvPr id="5" name="フッター プレースホルダー 4">
            <a:extLst>
              <a:ext uri="{FF2B5EF4-FFF2-40B4-BE49-F238E27FC236}">
                <a16:creationId xmlns:a16="http://schemas.microsoft.com/office/drawing/2014/main" id="{D69E6AE6-C2AD-764A-8310-7467D68425E2}"/>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A1728C9E-78F3-B341-A9D9-1DC5DF359731}"/>
              </a:ext>
            </a:extLst>
          </p:cNvPr>
          <p:cNvSpPr>
            <a:spLocks noGrp="1"/>
          </p:cNvSpPr>
          <p:nvPr>
            <p:ph type="sldNum" sz="quarter" idx="12"/>
          </p:nvPr>
        </p:nvSpPr>
        <p:spPr/>
        <p:txBody>
          <a:bodyPr/>
          <a:lstStyle/>
          <a:p>
            <a:r>
              <a:rPr lang="en-US" altLang="ja-JP"/>
              <a:t>No. </a:t>
            </a:r>
            <a:fld id="{41B87E3F-77EC-4EFD-94DE-AA3AEB7C7760}" type="slidenum">
              <a:rPr lang="ja-JP" altLang="en-US" smtClean="0"/>
              <a:pPr/>
              <a:t>29</a:t>
            </a:fld>
            <a:endParaRPr kumimoji="1" lang="ja-JP" altLang="en-US" dirty="0"/>
          </a:p>
        </p:txBody>
      </p:sp>
      <p:sp>
        <p:nvSpPr>
          <p:cNvPr id="9" name="テキスト ボックス 8">
            <a:extLst>
              <a:ext uri="{FF2B5EF4-FFF2-40B4-BE49-F238E27FC236}">
                <a16:creationId xmlns:a16="http://schemas.microsoft.com/office/drawing/2014/main" id="{F1C64D0F-A953-FB4B-8E72-F9BEF0BB3C51}"/>
              </a:ext>
            </a:extLst>
          </p:cNvPr>
          <p:cNvSpPr txBox="1"/>
          <p:nvPr/>
        </p:nvSpPr>
        <p:spPr>
          <a:xfrm>
            <a:off x="72000" y="2202799"/>
            <a:ext cx="4397035" cy="1200329"/>
          </a:xfrm>
          <a:prstGeom prst="rect">
            <a:avLst/>
          </a:prstGeom>
          <a:noFill/>
        </p:spPr>
        <p:txBody>
          <a:bodyPr wrap="square" rtlCol="0">
            <a:spAutoFit/>
          </a:bodyPr>
          <a:lstStyle/>
          <a:p>
            <a:r>
              <a:rPr lang="en-US" altLang="ja-JP" sz="2800" dirty="0">
                <a:solidFill>
                  <a:schemeClr val="tx2"/>
                </a:solidFill>
                <a:latin typeface="+mn-ea"/>
              </a:rPr>
              <a:t>MA</a:t>
            </a:r>
            <a:r>
              <a:rPr lang="ja-JP" altLang="en-US" sz="2800">
                <a:solidFill>
                  <a:schemeClr val="tx2"/>
                </a:solidFill>
                <a:latin typeface="+mn-ea"/>
              </a:rPr>
              <a:t>に達してから</a:t>
            </a:r>
            <a:r>
              <a:rPr lang="en-US" altLang="ja-JP" sz="2800" dirty="0">
                <a:solidFill>
                  <a:schemeClr val="tx2"/>
                </a:solidFill>
                <a:latin typeface="+mn-ea"/>
              </a:rPr>
              <a:t>30</a:t>
            </a:r>
            <a:r>
              <a:rPr lang="ja-JP" altLang="en-US" sz="2800">
                <a:solidFill>
                  <a:schemeClr val="tx2"/>
                </a:solidFill>
                <a:latin typeface="+mn-ea"/>
              </a:rPr>
              <a:t>分後の線溶率を確認　</a:t>
            </a:r>
            <a:r>
              <a:rPr lang="en-US" altLang="ja-JP" sz="4400" dirty="0">
                <a:solidFill>
                  <a:srgbClr val="FF0FCC"/>
                </a:solidFill>
                <a:latin typeface="+mn-ea"/>
              </a:rPr>
              <a:t>LY30</a:t>
            </a:r>
            <a:endParaRPr lang="en-US" altLang="ja-JP" sz="2800" dirty="0">
              <a:solidFill>
                <a:srgbClr val="FF0FCC"/>
              </a:solidFill>
              <a:latin typeface="+mn-ea"/>
            </a:endParaRPr>
          </a:p>
        </p:txBody>
      </p:sp>
      <p:sp>
        <p:nvSpPr>
          <p:cNvPr id="10" name="テキスト ボックス 9">
            <a:extLst>
              <a:ext uri="{FF2B5EF4-FFF2-40B4-BE49-F238E27FC236}">
                <a16:creationId xmlns:a16="http://schemas.microsoft.com/office/drawing/2014/main" id="{9AF351A0-2B24-8244-A4C5-E06D266F1FED}"/>
              </a:ext>
            </a:extLst>
          </p:cNvPr>
          <p:cNvSpPr txBox="1"/>
          <p:nvPr/>
        </p:nvSpPr>
        <p:spPr>
          <a:xfrm>
            <a:off x="4631957" y="-1401852"/>
            <a:ext cx="4976313" cy="1200329"/>
          </a:xfrm>
          <a:prstGeom prst="rect">
            <a:avLst/>
          </a:prstGeom>
          <a:noFill/>
        </p:spPr>
        <p:txBody>
          <a:bodyPr wrap="square" rtlCol="0">
            <a:spAutoFit/>
          </a:bodyPr>
          <a:lstStyle/>
          <a:p>
            <a:r>
              <a:rPr kumimoji="1" lang="en-US" altLang="ja-JP" dirty="0"/>
              <a:t>LY30</a:t>
            </a:r>
            <a:r>
              <a:rPr kumimoji="1" lang="ja-JP" altLang="en-US"/>
              <a:t>がでるまでに</a:t>
            </a:r>
            <a:r>
              <a:rPr kumimoji="1" lang="en-US" altLang="ja-JP" dirty="0"/>
              <a:t>1</a:t>
            </a:r>
            <a:r>
              <a:rPr kumimoji="1" lang="ja-JP" altLang="en-US"/>
              <a:t>時間ちかくかかること</a:t>
            </a:r>
            <a:endParaRPr kumimoji="1" lang="en-US" altLang="ja-JP" dirty="0"/>
          </a:p>
          <a:p>
            <a:endParaRPr lang="en-US" altLang="ja-JP" dirty="0"/>
          </a:p>
          <a:p>
            <a:r>
              <a:rPr kumimoji="1" lang="ja-JP" altLang="en-US"/>
              <a:t>そもそものトラネキサム酸の害がすくない（副作用</a:t>
            </a:r>
            <a:r>
              <a:rPr kumimoji="1" lang="en-US" altLang="ja-JP" dirty="0"/>
              <a:t>, </a:t>
            </a:r>
            <a:r>
              <a:rPr kumimoji="1" lang="ja-JP" altLang="en-US"/>
              <a:t>コスト面）</a:t>
            </a:r>
          </a:p>
        </p:txBody>
      </p:sp>
      <p:sp>
        <p:nvSpPr>
          <p:cNvPr id="2" name="テキスト ボックス 1">
            <a:extLst>
              <a:ext uri="{FF2B5EF4-FFF2-40B4-BE49-F238E27FC236}">
                <a16:creationId xmlns:a16="http://schemas.microsoft.com/office/drawing/2014/main" id="{E7CE67B5-77AB-674F-934B-FBAAFCE34BEF}"/>
              </a:ext>
            </a:extLst>
          </p:cNvPr>
          <p:cNvSpPr txBox="1"/>
          <p:nvPr/>
        </p:nvSpPr>
        <p:spPr>
          <a:xfrm>
            <a:off x="72000" y="562146"/>
            <a:ext cx="4217467" cy="1538883"/>
          </a:xfrm>
          <a:prstGeom prst="rect">
            <a:avLst/>
          </a:prstGeom>
          <a:solidFill>
            <a:srgbClr val="FFC000"/>
          </a:solidFill>
        </p:spPr>
        <p:txBody>
          <a:bodyPr wrap="square" rtlCol="0">
            <a:spAutoFit/>
          </a:bodyPr>
          <a:lstStyle/>
          <a:p>
            <a:pPr algn="ctr"/>
            <a:r>
              <a:rPr lang="ja-JP" altLang="en-US" sz="5400" b="1">
                <a:solidFill>
                  <a:srgbClr val="FF0000"/>
                </a:solidFill>
              </a:rPr>
              <a:t>線溶亢進</a:t>
            </a:r>
            <a:r>
              <a:rPr lang="ja-JP" altLang="en-US" sz="4000"/>
              <a:t>が</a:t>
            </a:r>
            <a:endParaRPr lang="en-US" altLang="ja-JP" sz="4000" dirty="0"/>
          </a:p>
          <a:p>
            <a:pPr algn="ctr"/>
            <a:r>
              <a:rPr lang="ja-JP" altLang="en-US" sz="4000"/>
              <a:t>目で見える</a:t>
            </a:r>
            <a:endParaRPr kumimoji="1" lang="ja-JP" altLang="en-US" sz="4000"/>
          </a:p>
        </p:txBody>
      </p:sp>
      <p:sp>
        <p:nvSpPr>
          <p:cNvPr id="7" name="円/楕円 6">
            <a:extLst>
              <a:ext uri="{FF2B5EF4-FFF2-40B4-BE49-F238E27FC236}">
                <a16:creationId xmlns:a16="http://schemas.microsoft.com/office/drawing/2014/main" id="{3FE936C3-A948-CF42-B702-758EBC4F0A48}"/>
              </a:ext>
            </a:extLst>
          </p:cNvPr>
          <p:cNvSpPr/>
          <p:nvPr/>
        </p:nvSpPr>
        <p:spPr>
          <a:xfrm>
            <a:off x="7501991" y="2071145"/>
            <a:ext cx="3379267" cy="701934"/>
          </a:xfrm>
          <a:prstGeom prst="ellipse">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1B61CDB7-6447-AD4A-9FAF-20EDB9AFFC3C}"/>
              </a:ext>
            </a:extLst>
          </p:cNvPr>
          <p:cNvSpPr txBox="1"/>
          <p:nvPr/>
        </p:nvSpPr>
        <p:spPr>
          <a:xfrm>
            <a:off x="72000" y="3429000"/>
            <a:ext cx="5002306" cy="646331"/>
          </a:xfrm>
          <a:prstGeom prst="rect">
            <a:avLst/>
          </a:prstGeom>
          <a:noFill/>
        </p:spPr>
        <p:txBody>
          <a:bodyPr wrap="square" rtlCol="0">
            <a:spAutoFit/>
          </a:bodyPr>
          <a:lstStyle/>
          <a:p>
            <a:r>
              <a:rPr kumimoji="1" lang="en-US" altLang="ja-JP" sz="3600" dirty="0"/>
              <a:t>LY30</a:t>
            </a:r>
            <a:r>
              <a:rPr kumimoji="1" lang="ja-JP" altLang="en-US" sz="3600"/>
              <a:t>＞</a:t>
            </a:r>
            <a:r>
              <a:rPr kumimoji="1" lang="en-US" altLang="ja-JP" sz="3600" dirty="0"/>
              <a:t>3</a:t>
            </a:r>
            <a:r>
              <a:rPr kumimoji="1" lang="ja-JP" altLang="en-US" sz="3600"/>
              <a:t>％で線溶亢進</a:t>
            </a:r>
          </a:p>
        </p:txBody>
      </p:sp>
      <p:sp>
        <p:nvSpPr>
          <p:cNvPr id="12" name="下矢印 11">
            <a:extLst>
              <a:ext uri="{FF2B5EF4-FFF2-40B4-BE49-F238E27FC236}">
                <a16:creationId xmlns:a16="http://schemas.microsoft.com/office/drawing/2014/main" id="{8F56A0C9-76F7-0043-9D50-41F56FBA9FDB}"/>
              </a:ext>
            </a:extLst>
          </p:cNvPr>
          <p:cNvSpPr/>
          <p:nvPr/>
        </p:nvSpPr>
        <p:spPr>
          <a:xfrm>
            <a:off x="1884893" y="4187296"/>
            <a:ext cx="771247" cy="532528"/>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6FA37B44-A1CD-A242-B778-6D584B888C56}"/>
              </a:ext>
            </a:extLst>
          </p:cNvPr>
          <p:cNvSpPr txBox="1"/>
          <p:nvPr/>
        </p:nvSpPr>
        <p:spPr>
          <a:xfrm>
            <a:off x="-230637" y="4831789"/>
            <a:ext cx="5002306" cy="1323439"/>
          </a:xfrm>
          <a:prstGeom prst="rect">
            <a:avLst/>
          </a:prstGeom>
          <a:noFill/>
        </p:spPr>
        <p:txBody>
          <a:bodyPr wrap="square" rtlCol="0">
            <a:spAutoFit/>
          </a:bodyPr>
          <a:lstStyle/>
          <a:p>
            <a:pPr algn="ctr"/>
            <a:r>
              <a:rPr kumimoji="1" lang="ja-JP" altLang="en-US" sz="4000">
                <a:solidFill>
                  <a:srgbClr val="FF0000"/>
                </a:solidFill>
              </a:rPr>
              <a:t>抗線溶療法</a:t>
            </a:r>
            <a:endParaRPr kumimoji="1" lang="en-US" altLang="ja-JP" sz="4000" dirty="0">
              <a:solidFill>
                <a:srgbClr val="FF0000"/>
              </a:solidFill>
            </a:endParaRPr>
          </a:p>
          <a:p>
            <a:pPr algn="ctr"/>
            <a:r>
              <a:rPr kumimoji="1" lang="ja-JP" altLang="en-US" sz="4000">
                <a:solidFill>
                  <a:srgbClr val="FF0000"/>
                </a:solidFill>
              </a:rPr>
              <a:t>トラネキサム酸</a:t>
            </a:r>
            <a:r>
              <a:rPr lang="ja-JP" altLang="en-US" sz="4000">
                <a:solidFill>
                  <a:srgbClr val="FF0000"/>
                </a:solidFill>
              </a:rPr>
              <a:t>投与</a:t>
            </a:r>
            <a:endParaRPr kumimoji="1" lang="en-US" altLang="ja-JP" sz="4000" dirty="0">
              <a:solidFill>
                <a:srgbClr val="FF0000"/>
              </a:solidFill>
            </a:endParaRPr>
          </a:p>
        </p:txBody>
      </p:sp>
      <p:sp>
        <p:nvSpPr>
          <p:cNvPr id="3" name="日付プレースホルダー 2">
            <a:extLst>
              <a:ext uri="{FF2B5EF4-FFF2-40B4-BE49-F238E27FC236}">
                <a16:creationId xmlns:a16="http://schemas.microsoft.com/office/drawing/2014/main" id="{820E3B9D-330C-6FD1-F38B-5C4AB21263D2}"/>
              </a:ext>
            </a:extLst>
          </p:cNvPr>
          <p:cNvSpPr>
            <a:spLocks noGrp="1"/>
          </p:cNvSpPr>
          <p:nvPr>
            <p:ph type="dt" sz="half" idx="10"/>
          </p:nvPr>
        </p:nvSpPr>
        <p:spPr/>
        <p:txBody>
          <a:bodyPr/>
          <a:lstStyle/>
          <a:p>
            <a:fld id="{B69D719F-E347-184D-A02E-871308A3544B}" type="datetime1">
              <a:rPr kumimoji="1" lang="ja-JP" altLang="en-US" smtClean="0"/>
              <a:t>2026/5/15</a:t>
            </a:fld>
            <a:endParaRPr kumimoji="1" lang="ja-JP" altLang="en-US"/>
          </a:p>
        </p:txBody>
      </p:sp>
    </p:spTree>
    <p:extLst>
      <p:ext uri="{BB962C8B-B14F-4D97-AF65-F5344CB8AC3E}">
        <p14:creationId xmlns:p14="http://schemas.microsoft.com/office/powerpoint/2010/main" val="38271084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F280D00A-EE46-9340-A330-1BA545ECBF8E}"/>
              </a:ext>
            </a:extLst>
          </p:cNvPr>
          <p:cNvPicPr>
            <a:picLocks noChangeAspect="1"/>
          </p:cNvPicPr>
          <p:nvPr/>
        </p:nvPicPr>
        <p:blipFill>
          <a:blip r:embed="rId2">
            <a:alphaModFix amt="14000"/>
          </a:blip>
          <a:stretch>
            <a:fillRect/>
          </a:stretch>
        </p:blipFill>
        <p:spPr>
          <a:xfrm>
            <a:off x="632718" y="2202799"/>
            <a:ext cx="3234855" cy="4043569"/>
          </a:xfrm>
          <a:prstGeom prst="rect">
            <a:avLst/>
          </a:prstGeom>
        </p:spPr>
      </p:pic>
      <p:pic>
        <p:nvPicPr>
          <p:cNvPr id="8" name="コンテンツ プレースホルダー 7" descr="グラフ, 棒グラフ&#10;&#10;自動的に生成された説明">
            <a:extLst>
              <a:ext uri="{FF2B5EF4-FFF2-40B4-BE49-F238E27FC236}">
                <a16:creationId xmlns:a16="http://schemas.microsoft.com/office/drawing/2014/main" id="{D4B7C7A6-A8FB-6248-98BB-60EA3CFF4B6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289467" y="497750"/>
            <a:ext cx="7902533" cy="4351338"/>
          </a:xfrm>
        </p:spPr>
      </p:pic>
      <p:sp>
        <p:nvSpPr>
          <p:cNvPr id="5" name="フッター プレースホルダー 4">
            <a:extLst>
              <a:ext uri="{FF2B5EF4-FFF2-40B4-BE49-F238E27FC236}">
                <a16:creationId xmlns:a16="http://schemas.microsoft.com/office/drawing/2014/main" id="{D69E6AE6-C2AD-764A-8310-7467D68425E2}"/>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A1728C9E-78F3-B341-A9D9-1DC5DF359731}"/>
              </a:ext>
            </a:extLst>
          </p:cNvPr>
          <p:cNvSpPr>
            <a:spLocks noGrp="1"/>
          </p:cNvSpPr>
          <p:nvPr>
            <p:ph type="sldNum" sz="quarter" idx="12"/>
          </p:nvPr>
        </p:nvSpPr>
        <p:spPr/>
        <p:txBody>
          <a:bodyPr/>
          <a:lstStyle/>
          <a:p>
            <a:r>
              <a:rPr lang="en-US" altLang="ja-JP"/>
              <a:t>No. </a:t>
            </a:r>
            <a:fld id="{41B87E3F-77EC-4EFD-94DE-AA3AEB7C7760}" type="slidenum">
              <a:rPr lang="ja-JP" altLang="en-US" smtClean="0"/>
              <a:pPr/>
              <a:t>30</a:t>
            </a:fld>
            <a:endParaRPr kumimoji="1" lang="ja-JP" altLang="en-US" dirty="0"/>
          </a:p>
        </p:txBody>
      </p:sp>
      <p:sp>
        <p:nvSpPr>
          <p:cNvPr id="9" name="テキスト ボックス 8">
            <a:extLst>
              <a:ext uri="{FF2B5EF4-FFF2-40B4-BE49-F238E27FC236}">
                <a16:creationId xmlns:a16="http://schemas.microsoft.com/office/drawing/2014/main" id="{F1C64D0F-A953-FB4B-8E72-F9BEF0BB3C51}"/>
              </a:ext>
            </a:extLst>
          </p:cNvPr>
          <p:cNvSpPr txBox="1"/>
          <p:nvPr/>
        </p:nvSpPr>
        <p:spPr>
          <a:xfrm>
            <a:off x="72000" y="2202799"/>
            <a:ext cx="4397035" cy="1200329"/>
          </a:xfrm>
          <a:prstGeom prst="rect">
            <a:avLst/>
          </a:prstGeom>
          <a:noFill/>
        </p:spPr>
        <p:txBody>
          <a:bodyPr wrap="square" rtlCol="0">
            <a:spAutoFit/>
          </a:bodyPr>
          <a:lstStyle/>
          <a:p>
            <a:r>
              <a:rPr lang="en-US" altLang="ja-JP" sz="2800" dirty="0">
                <a:solidFill>
                  <a:schemeClr val="tx2"/>
                </a:solidFill>
                <a:latin typeface="+mn-ea"/>
              </a:rPr>
              <a:t>MA</a:t>
            </a:r>
            <a:r>
              <a:rPr lang="ja-JP" altLang="en-US" sz="2800">
                <a:solidFill>
                  <a:schemeClr val="tx2"/>
                </a:solidFill>
                <a:latin typeface="+mn-ea"/>
              </a:rPr>
              <a:t>に達してから</a:t>
            </a:r>
            <a:r>
              <a:rPr lang="en-US" altLang="ja-JP" sz="2800" dirty="0">
                <a:solidFill>
                  <a:schemeClr val="tx2"/>
                </a:solidFill>
                <a:latin typeface="+mn-ea"/>
              </a:rPr>
              <a:t>30</a:t>
            </a:r>
            <a:r>
              <a:rPr lang="ja-JP" altLang="en-US" sz="2800">
                <a:solidFill>
                  <a:schemeClr val="tx2"/>
                </a:solidFill>
                <a:latin typeface="+mn-ea"/>
              </a:rPr>
              <a:t>分後の線溶率を確認　</a:t>
            </a:r>
            <a:r>
              <a:rPr lang="en-US" altLang="ja-JP" sz="4400" dirty="0">
                <a:solidFill>
                  <a:srgbClr val="FF0FCC"/>
                </a:solidFill>
                <a:latin typeface="+mn-ea"/>
              </a:rPr>
              <a:t>LY30</a:t>
            </a:r>
            <a:endParaRPr lang="en-US" altLang="ja-JP" sz="2800" dirty="0">
              <a:solidFill>
                <a:srgbClr val="FF0FCC"/>
              </a:solidFill>
              <a:latin typeface="+mn-ea"/>
            </a:endParaRPr>
          </a:p>
        </p:txBody>
      </p:sp>
      <p:sp>
        <p:nvSpPr>
          <p:cNvPr id="2" name="テキスト ボックス 1">
            <a:extLst>
              <a:ext uri="{FF2B5EF4-FFF2-40B4-BE49-F238E27FC236}">
                <a16:creationId xmlns:a16="http://schemas.microsoft.com/office/drawing/2014/main" id="{E7CE67B5-77AB-674F-934B-FBAAFCE34BEF}"/>
              </a:ext>
            </a:extLst>
          </p:cNvPr>
          <p:cNvSpPr txBox="1"/>
          <p:nvPr/>
        </p:nvSpPr>
        <p:spPr>
          <a:xfrm>
            <a:off x="72000" y="562146"/>
            <a:ext cx="4217467" cy="1538883"/>
          </a:xfrm>
          <a:prstGeom prst="rect">
            <a:avLst/>
          </a:prstGeom>
          <a:solidFill>
            <a:srgbClr val="FFC000"/>
          </a:solidFill>
        </p:spPr>
        <p:txBody>
          <a:bodyPr wrap="square" rtlCol="0">
            <a:spAutoFit/>
          </a:bodyPr>
          <a:lstStyle/>
          <a:p>
            <a:pPr algn="ctr"/>
            <a:r>
              <a:rPr lang="ja-JP" altLang="en-US" sz="5400" b="1">
                <a:solidFill>
                  <a:srgbClr val="FF0000"/>
                </a:solidFill>
              </a:rPr>
              <a:t>線溶亢進</a:t>
            </a:r>
            <a:r>
              <a:rPr lang="ja-JP" altLang="en-US" sz="4000"/>
              <a:t>が</a:t>
            </a:r>
            <a:endParaRPr lang="en-US" altLang="ja-JP" sz="4000" dirty="0"/>
          </a:p>
          <a:p>
            <a:pPr algn="ctr"/>
            <a:r>
              <a:rPr lang="ja-JP" altLang="en-US" sz="4000"/>
              <a:t>目で見える</a:t>
            </a:r>
            <a:endParaRPr kumimoji="1" lang="ja-JP" altLang="en-US" sz="4000"/>
          </a:p>
        </p:txBody>
      </p:sp>
      <p:sp>
        <p:nvSpPr>
          <p:cNvPr id="7" name="円/楕円 6">
            <a:extLst>
              <a:ext uri="{FF2B5EF4-FFF2-40B4-BE49-F238E27FC236}">
                <a16:creationId xmlns:a16="http://schemas.microsoft.com/office/drawing/2014/main" id="{3FE936C3-A948-CF42-B702-758EBC4F0A48}"/>
              </a:ext>
            </a:extLst>
          </p:cNvPr>
          <p:cNvSpPr/>
          <p:nvPr/>
        </p:nvSpPr>
        <p:spPr>
          <a:xfrm>
            <a:off x="7501991" y="2071145"/>
            <a:ext cx="3379267" cy="701934"/>
          </a:xfrm>
          <a:prstGeom prst="ellipse">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1B61CDB7-6447-AD4A-9FAF-20EDB9AFFC3C}"/>
              </a:ext>
            </a:extLst>
          </p:cNvPr>
          <p:cNvSpPr txBox="1"/>
          <p:nvPr/>
        </p:nvSpPr>
        <p:spPr>
          <a:xfrm>
            <a:off x="72000" y="3429000"/>
            <a:ext cx="5002306" cy="646331"/>
          </a:xfrm>
          <a:prstGeom prst="rect">
            <a:avLst/>
          </a:prstGeom>
          <a:noFill/>
        </p:spPr>
        <p:txBody>
          <a:bodyPr wrap="square" rtlCol="0">
            <a:spAutoFit/>
          </a:bodyPr>
          <a:lstStyle/>
          <a:p>
            <a:r>
              <a:rPr kumimoji="1" lang="en-US" altLang="ja-JP" sz="3600" dirty="0"/>
              <a:t>LY30</a:t>
            </a:r>
            <a:r>
              <a:rPr kumimoji="1" lang="ja-JP" altLang="en-US" sz="3600"/>
              <a:t>＞</a:t>
            </a:r>
            <a:r>
              <a:rPr kumimoji="1" lang="en-US" altLang="ja-JP" sz="3600" dirty="0"/>
              <a:t>3</a:t>
            </a:r>
            <a:r>
              <a:rPr kumimoji="1" lang="ja-JP" altLang="en-US" sz="3600"/>
              <a:t>％で線溶亢進</a:t>
            </a:r>
          </a:p>
        </p:txBody>
      </p:sp>
      <p:sp>
        <p:nvSpPr>
          <p:cNvPr id="12" name="下矢印 11">
            <a:extLst>
              <a:ext uri="{FF2B5EF4-FFF2-40B4-BE49-F238E27FC236}">
                <a16:creationId xmlns:a16="http://schemas.microsoft.com/office/drawing/2014/main" id="{8F56A0C9-76F7-0043-9D50-41F56FBA9FDB}"/>
              </a:ext>
            </a:extLst>
          </p:cNvPr>
          <p:cNvSpPr/>
          <p:nvPr/>
        </p:nvSpPr>
        <p:spPr>
          <a:xfrm>
            <a:off x="1884893" y="4187296"/>
            <a:ext cx="771247" cy="532528"/>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6FA37B44-A1CD-A242-B778-6D584B888C56}"/>
              </a:ext>
            </a:extLst>
          </p:cNvPr>
          <p:cNvSpPr txBox="1"/>
          <p:nvPr/>
        </p:nvSpPr>
        <p:spPr>
          <a:xfrm>
            <a:off x="-230637" y="4831789"/>
            <a:ext cx="5002306" cy="1323439"/>
          </a:xfrm>
          <a:prstGeom prst="rect">
            <a:avLst/>
          </a:prstGeom>
          <a:noFill/>
        </p:spPr>
        <p:txBody>
          <a:bodyPr wrap="square" rtlCol="0">
            <a:spAutoFit/>
          </a:bodyPr>
          <a:lstStyle/>
          <a:p>
            <a:pPr algn="ctr"/>
            <a:r>
              <a:rPr kumimoji="1" lang="ja-JP" altLang="en-US" sz="4000">
                <a:solidFill>
                  <a:srgbClr val="FF0000"/>
                </a:solidFill>
              </a:rPr>
              <a:t>抗線溶療法</a:t>
            </a:r>
            <a:endParaRPr kumimoji="1" lang="en-US" altLang="ja-JP" sz="4000" dirty="0">
              <a:solidFill>
                <a:srgbClr val="FF0000"/>
              </a:solidFill>
            </a:endParaRPr>
          </a:p>
          <a:p>
            <a:pPr algn="ctr"/>
            <a:r>
              <a:rPr kumimoji="1" lang="ja-JP" altLang="en-US" sz="4000">
                <a:solidFill>
                  <a:srgbClr val="FF0000"/>
                </a:solidFill>
              </a:rPr>
              <a:t>トラネキサム酸</a:t>
            </a:r>
            <a:r>
              <a:rPr lang="ja-JP" altLang="en-US" sz="4000">
                <a:solidFill>
                  <a:srgbClr val="FF0000"/>
                </a:solidFill>
              </a:rPr>
              <a:t>投与</a:t>
            </a:r>
            <a:endParaRPr kumimoji="1" lang="en-US" altLang="ja-JP" sz="4000" dirty="0">
              <a:solidFill>
                <a:srgbClr val="FF0000"/>
              </a:solidFill>
            </a:endParaRPr>
          </a:p>
        </p:txBody>
      </p:sp>
      <p:sp>
        <p:nvSpPr>
          <p:cNvPr id="4" name="角丸四角形 3">
            <a:extLst>
              <a:ext uri="{FF2B5EF4-FFF2-40B4-BE49-F238E27FC236}">
                <a16:creationId xmlns:a16="http://schemas.microsoft.com/office/drawing/2014/main" id="{F6A44BB8-E740-004E-BAC3-807C0EE08BAC}"/>
              </a:ext>
            </a:extLst>
          </p:cNvPr>
          <p:cNvSpPr/>
          <p:nvPr/>
        </p:nvSpPr>
        <p:spPr>
          <a:xfrm>
            <a:off x="0" y="1951166"/>
            <a:ext cx="12120000" cy="4204061"/>
          </a:xfrm>
          <a:prstGeom prst="roundRect">
            <a:avLst/>
          </a:prstGeom>
          <a:solidFill>
            <a:schemeClr val="accent5">
              <a:lumMod val="40000"/>
              <a:lumOff val="60000"/>
              <a:alpha val="9508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sz="3200" dirty="0">
                <a:solidFill>
                  <a:schemeClr val="tx2"/>
                </a:solidFill>
              </a:rPr>
              <a:t>LY30</a:t>
            </a:r>
            <a:r>
              <a:rPr lang="ja-JP" altLang="en-US" sz="3200">
                <a:solidFill>
                  <a:schemeClr val="tx2"/>
                </a:solidFill>
              </a:rPr>
              <a:t>がでるまでに</a:t>
            </a:r>
            <a:r>
              <a:rPr lang="en-US" altLang="ja-JP" sz="4000" b="1" dirty="0">
                <a:solidFill>
                  <a:srgbClr val="FF0000"/>
                </a:solidFill>
              </a:rPr>
              <a:t>1</a:t>
            </a:r>
            <a:r>
              <a:rPr lang="ja-JP" altLang="en-US" sz="4000" b="1">
                <a:solidFill>
                  <a:srgbClr val="FF0000"/>
                </a:solidFill>
              </a:rPr>
              <a:t>時間</a:t>
            </a:r>
            <a:r>
              <a:rPr lang="ja-JP" altLang="en-US" sz="3200">
                <a:solidFill>
                  <a:schemeClr val="tx2"/>
                </a:solidFill>
              </a:rPr>
              <a:t>ちかくかかること</a:t>
            </a:r>
            <a:endParaRPr lang="en-US" altLang="ja-JP" sz="3200" dirty="0">
              <a:solidFill>
                <a:schemeClr val="tx2"/>
              </a:solidFill>
            </a:endParaRPr>
          </a:p>
          <a:p>
            <a:pPr algn="ctr"/>
            <a:r>
              <a:rPr lang="ja-JP" altLang="en-US" sz="3200">
                <a:solidFill>
                  <a:schemeClr val="tx2"/>
                </a:solidFill>
              </a:rPr>
              <a:t>そもそものトラネキサム酸の害が</a:t>
            </a:r>
            <a:r>
              <a:rPr lang="ja-JP" altLang="en-US" sz="4000" b="1">
                <a:solidFill>
                  <a:srgbClr val="0070C0"/>
                </a:solidFill>
              </a:rPr>
              <a:t>少ない</a:t>
            </a:r>
            <a:endParaRPr lang="en-US" altLang="ja-JP" sz="3200" b="1" dirty="0">
              <a:solidFill>
                <a:srgbClr val="0070C0"/>
              </a:solidFill>
            </a:endParaRPr>
          </a:p>
          <a:p>
            <a:pPr algn="ctr"/>
            <a:r>
              <a:rPr lang="ja-JP" altLang="en-US" sz="3200">
                <a:solidFill>
                  <a:schemeClr val="tx2"/>
                </a:solidFill>
              </a:rPr>
              <a:t>（副作用</a:t>
            </a:r>
            <a:r>
              <a:rPr lang="en-US" altLang="ja-JP" sz="3200" dirty="0">
                <a:solidFill>
                  <a:schemeClr val="tx2"/>
                </a:solidFill>
              </a:rPr>
              <a:t>, </a:t>
            </a:r>
            <a:r>
              <a:rPr lang="ja-JP" altLang="en-US" sz="3200">
                <a:solidFill>
                  <a:schemeClr val="tx2"/>
                </a:solidFill>
              </a:rPr>
              <a:t>コスト面）</a:t>
            </a:r>
          </a:p>
          <a:p>
            <a:pPr algn="ctr"/>
            <a:endParaRPr kumimoji="1" lang="ja-JP" altLang="en-US"/>
          </a:p>
        </p:txBody>
      </p:sp>
      <p:sp>
        <p:nvSpPr>
          <p:cNvPr id="14" name="下矢印 13">
            <a:extLst>
              <a:ext uri="{FF2B5EF4-FFF2-40B4-BE49-F238E27FC236}">
                <a16:creationId xmlns:a16="http://schemas.microsoft.com/office/drawing/2014/main" id="{8E6E25C5-DC9D-814B-A9B7-7B8F88FA61EF}"/>
              </a:ext>
            </a:extLst>
          </p:cNvPr>
          <p:cNvSpPr/>
          <p:nvPr/>
        </p:nvSpPr>
        <p:spPr>
          <a:xfrm>
            <a:off x="5511405" y="4055210"/>
            <a:ext cx="923365" cy="672203"/>
          </a:xfrm>
          <a:prstGeom prst="down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968AACF0-A3FB-8841-B4DD-BED190AC3829}"/>
              </a:ext>
            </a:extLst>
          </p:cNvPr>
          <p:cNvSpPr txBox="1"/>
          <p:nvPr/>
        </p:nvSpPr>
        <p:spPr>
          <a:xfrm>
            <a:off x="632718" y="4768221"/>
            <a:ext cx="10680741" cy="1446550"/>
          </a:xfrm>
          <a:prstGeom prst="rect">
            <a:avLst/>
          </a:prstGeom>
          <a:noFill/>
        </p:spPr>
        <p:txBody>
          <a:bodyPr wrap="square" rtlCol="0">
            <a:spAutoFit/>
          </a:bodyPr>
          <a:lstStyle/>
          <a:p>
            <a:pPr algn="ctr"/>
            <a:r>
              <a:rPr kumimoji="1" lang="ja-JP" altLang="en-US" sz="4400" b="1">
                <a:solidFill>
                  <a:srgbClr val="7030A0"/>
                </a:solidFill>
              </a:rPr>
              <a:t>トラネキサム酸はルーティン投与で</a:t>
            </a:r>
            <a:endParaRPr kumimoji="1" lang="en-US" altLang="ja-JP" sz="4400" b="1" dirty="0">
              <a:solidFill>
                <a:srgbClr val="7030A0"/>
              </a:solidFill>
            </a:endParaRPr>
          </a:p>
          <a:p>
            <a:pPr algn="ctr"/>
            <a:r>
              <a:rPr kumimoji="1" lang="ja-JP" altLang="en-US" sz="4400" b="1">
                <a:solidFill>
                  <a:srgbClr val="7030A0"/>
                </a:solidFill>
              </a:rPr>
              <a:t>いいのではないだろうか</a:t>
            </a:r>
          </a:p>
        </p:txBody>
      </p:sp>
      <p:sp>
        <p:nvSpPr>
          <p:cNvPr id="10" name="日付プレースホルダー 9">
            <a:extLst>
              <a:ext uri="{FF2B5EF4-FFF2-40B4-BE49-F238E27FC236}">
                <a16:creationId xmlns:a16="http://schemas.microsoft.com/office/drawing/2014/main" id="{509245E1-1C74-18F9-BF17-EBA2B33EA60D}"/>
              </a:ext>
            </a:extLst>
          </p:cNvPr>
          <p:cNvSpPr>
            <a:spLocks noGrp="1"/>
          </p:cNvSpPr>
          <p:nvPr>
            <p:ph type="dt" sz="half" idx="10"/>
          </p:nvPr>
        </p:nvSpPr>
        <p:spPr/>
        <p:txBody>
          <a:bodyPr/>
          <a:lstStyle/>
          <a:p>
            <a:fld id="{946F7C37-D41C-4D46-937C-62F15398FFF3}" type="datetime1">
              <a:rPr kumimoji="1" lang="ja-JP" altLang="en-US" smtClean="0"/>
              <a:t>2026/5/15</a:t>
            </a:fld>
            <a:endParaRPr kumimoji="1" lang="ja-JP" altLang="en-US"/>
          </a:p>
        </p:txBody>
      </p:sp>
    </p:spTree>
    <p:extLst>
      <p:ext uri="{BB962C8B-B14F-4D97-AF65-F5344CB8AC3E}">
        <p14:creationId xmlns:p14="http://schemas.microsoft.com/office/powerpoint/2010/main" val="24898174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FC37E7-A5A0-7EA2-A2AC-EF93EF8FE988}"/>
              </a:ext>
            </a:extLst>
          </p:cNvPr>
          <p:cNvSpPr>
            <a:spLocks noGrp="1"/>
          </p:cNvSpPr>
          <p:nvPr>
            <p:ph type="title"/>
          </p:nvPr>
        </p:nvSpPr>
        <p:spPr/>
        <p:txBody>
          <a:bodyPr/>
          <a:lstStyle/>
          <a:p>
            <a:r>
              <a:rPr lang="ja-JP" altLang="en-US"/>
              <a:t>血液粘弾性検査による輸血量減少</a:t>
            </a:r>
            <a:endParaRPr kumimoji="1" lang="ja-JP" altLang="en-US"/>
          </a:p>
        </p:txBody>
      </p:sp>
      <p:sp>
        <p:nvSpPr>
          <p:cNvPr id="4" name="日付プレースホルダー 3">
            <a:extLst>
              <a:ext uri="{FF2B5EF4-FFF2-40B4-BE49-F238E27FC236}">
                <a16:creationId xmlns:a16="http://schemas.microsoft.com/office/drawing/2014/main" id="{52CFF43A-4A25-D892-9C0E-337690742C52}"/>
              </a:ext>
            </a:extLst>
          </p:cNvPr>
          <p:cNvSpPr>
            <a:spLocks noGrp="1"/>
          </p:cNvSpPr>
          <p:nvPr>
            <p:ph type="dt" sz="half" idx="10"/>
          </p:nvPr>
        </p:nvSpPr>
        <p:spPr/>
        <p:txBody>
          <a:bodyPr/>
          <a:lstStyle/>
          <a:p>
            <a:fld id="{323463D6-3219-D64D-BD61-FB02F644E413}"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C8B1A57D-977D-B602-2BEA-EED156DE5CE7}"/>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680D96C9-808F-D0EB-95F5-9E47D7A7120D}"/>
              </a:ext>
            </a:extLst>
          </p:cNvPr>
          <p:cNvSpPr>
            <a:spLocks noGrp="1"/>
          </p:cNvSpPr>
          <p:nvPr>
            <p:ph type="sldNum" sz="quarter" idx="12"/>
          </p:nvPr>
        </p:nvSpPr>
        <p:spPr/>
        <p:txBody>
          <a:bodyPr/>
          <a:lstStyle/>
          <a:p>
            <a:r>
              <a:rPr lang="en-US" altLang="ja-JP"/>
              <a:t>No. </a:t>
            </a:r>
            <a:fld id="{41B87E3F-77EC-4EFD-94DE-AA3AEB7C7760}" type="slidenum">
              <a:rPr lang="ja-JP" altLang="en-US" smtClean="0"/>
              <a:pPr/>
              <a:t>31</a:t>
            </a:fld>
            <a:endParaRPr kumimoji="1" lang="ja-JP" altLang="en-US" dirty="0"/>
          </a:p>
        </p:txBody>
      </p:sp>
      <p:sp>
        <p:nvSpPr>
          <p:cNvPr id="8" name="テキスト ボックス 7">
            <a:extLst>
              <a:ext uri="{FF2B5EF4-FFF2-40B4-BE49-F238E27FC236}">
                <a16:creationId xmlns:a16="http://schemas.microsoft.com/office/drawing/2014/main" id="{36EE128F-F8E9-B62B-242A-E6295EC79444}"/>
              </a:ext>
            </a:extLst>
          </p:cNvPr>
          <p:cNvSpPr txBox="1"/>
          <p:nvPr/>
        </p:nvSpPr>
        <p:spPr>
          <a:xfrm>
            <a:off x="282314" y="4644098"/>
            <a:ext cx="11071485" cy="830997"/>
          </a:xfrm>
          <a:prstGeom prst="rect">
            <a:avLst/>
          </a:prstGeom>
          <a:noFill/>
        </p:spPr>
        <p:txBody>
          <a:bodyPr wrap="square" rtlCol="0">
            <a:spAutoFit/>
          </a:bodyPr>
          <a:lstStyle/>
          <a:p>
            <a:r>
              <a:rPr lang="ja-JP" altLang="en-US" sz="2400"/>
              <a:t>血液粘弾性検査グループでは，</a:t>
            </a:r>
            <a:r>
              <a:rPr lang="ja-JP" altLang="en-US" sz="2400" b="1"/>
              <a:t>輸血製剤の使用量が大幅に減少し</a:t>
            </a:r>
            <a:endParaRPr lang="en-US" altLang="ja-JP" sz="2400" b="1" dirty="0"/>
          </a:p>
          <a:p>
            <a:r>
              <a:rPr lang="ja-JP" altLang="en-US" sz="2400" b="1"/>
              <a:t>関連コストも削減された</a:t>
            </a:r>
            <a:r>
              <a:rPr lang="en-US" altLang="ja-JP" sz="2400" dirty="0"/>
              <a:t>(</a:t>
            </a:r>
            <a:r>
              <a:rPr lang="ja-JP" altLang="en-US" sz="2400"/>
              <a:t>中央値：</a:t>
            </a:r>
            <a:r>
              <a:rPr lang="en-US" altLang="ja-JP" sz="2400" dirty="0"/>
              <a:t>2357</a:t>
            </a:r>
            <a:r>
              <a:rPr lang="ja-JP" altLang="en-US" sz="2400"/>
              <a:t>ユーロ</a:t>
            </a:r>
            <a:r>
              <a:rPr lang="en-US" altLang="ja-JP" sz="2400" dirty="0"/>
              <a:t> vs 4092</a:t>
            </a:r>
            <a:r>
              <a:rPr lang="ja-JP" altLang="en-US" sz="2400"/>
              <a:t>ユーロ</a:t>
            </a:r>
            <a:r>
              <a:rPr lang="en-US" altLang="ja-JP" sz="2400" dirty="0"/>
              <a:t>).</a:t>
            </a:r>
            <a:endParaRPr kumimoji="1" lang="ja-JP" altLang="en-US" sz="2400"/>
          </a:p>
        </p:txBody>
      </p:sp>
      <p:sp>
        <p:nvSpPr>
          <p:cNvPr id="9" name="テキスト ボックス 8">
            <a:extLst>
              <a:ext uri="{FF2B5EF4-FFF2-40B4-BE49-F238E27FC236}">
                <a16:creationId xmlns:a16="http://schemas.microsoft.com/office/drawing/2014/main" id="{071919ED-BC3E-3636-5549-6FADC822D672}"/>
              </a:ext>
            </a:extLst>
          </p:cNvPr>
          <p:cNvSpPr txBox="1"/>
          <p:nvPr/>
        </p:nvSpPr>
        <p:spPr>
          <a:xfrm>
            <a:off x="282314" y="5571049"/>
            <a:ext cx="9955967" cy="830997"/>
          </a:xfrm>
          <a:prstGeom prst="rect">
            <a:avLst/>
          </a:prstGeom>
          <a:noFill/>
        </p:spPr>
        <p:txBody>
          <a:bodyPr wrap="square" rtlCol="0">
            <a:spAutoFit/>
          </a:bodyPr>
          <a:lstStyle/>
          <a:p>
            <a:r>
              <a:rPr kumimoji="1" lang="en-US" altLang="ja-JP" sz="2400" dirty="0"/>
              <a:t>24</a:t>
            </a:r>
            <a:r>
              <a:rPr kumimoji="1" lang="ja-JP" altLang="en-US" sz="2400"/>
              <a:t>時間及び</a:t>
            </a:r>
            <a:r>
              <a:rPr kumimoji="1" lang="en-US" altLang="ja-JP" sz="2400" dirty="0"/>
              <a:t>28</a:t>
            </a:r>
            <a:r>
              <a:rPr kumimoji="1" lang="ja-JP" altLang="en-US" sz="2400"/>
              <a:t>日後の</a:t>
            </a:r>
            <a:r>
              <a:rPr kumimoji="1" lang="ja-JP" altLang="en-US" sz="2400" b="1"/>
              <a:t>死亡率には有意な差は見られなかったが</a:t>
            </a:r>
            <a:endParaRPr kumimoji="1" lang="en-US" altLang="ja-JP" sz="2400" b="1" dirty="0"/>
          </a:p>
          <a:p>
            <a:r>
              <a:rPr kumimoji="1" lang="ja-JP" altLang="en-US" sz="2400" b="1"/>
              <a:t>輸血量の減少</a:t>
            </a:r>
            <a:r>
              <a:rPr lang="ja-JP" altLang="en-US" sz="2400"/>
              <a:t>が確認された．</a:t>
            </a:r>
            <a:endParaRPr kumimoji="1" lang="ja-JP" altLang="en-US" sz="2400"/>
          </a:p>
        </p:txBody>
      </p:sp>
      <p:grpSp>
        <p:nvGrpSpPr>
          <p:cNvPr id="14" name="グループ化 13">
            <a:extLst>
              <a:ext uri="{FF2B5EF4-FFF2-40B4-BE49-F238E27FC236}">
                <a16:creationId xmlns:a16="http://schemas.microsoft.com/office/drawing/2014/main" id="{55CF7FF9-4F61-D468-261C-1A9090355E13}"/>
              </a:ext>
            </a:extLst>
          </p:cNvPr>
          <p:cNvGrpSpPr/>
          <p:nvPr/>
        </p:nvGrpSpPr>
        <p:grpSpPr>
          <a:xfrm>
            <a:off x="282315" y="1656774"/>
            <a:ext cx="7772400" cy="2192412"/>
            <a:chOff x="514350" y="1685061"/>
            <a:chExt cx="7772400" cy="2192412"/>
          </a:xfrm>
        </p:grpSpPr>
        <p:pic>
          <p:nvPicPr>
            <p:cNvPr id="13" name="図 12">
              <a:extLst>
                <a:ext uri="{FF2B5EF4-FFF2-40B4-BE49-F238E27FC236}">
                  <a16:creationId xmlns:a16="http://schemas.microsoft.com/office/drawing/2014/main" id="{98A93DF9-1F87-C912-064A-AF39CEFF2E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350" y="1685061"/>
              <a:ext cx="7772400" cy="534185"/>
            </a:xfrm>
            <a:prstGeom prst="rect">
              <a:avLst/>
            </a:prstGeom>
          </p:spPr>
        </p:pic>
        <p:pic>
          <p:nvPicPr>
            <p:cNvPr id="11" name="図 10" descr="グラフィカル ユーザー インターフェイス, テキスト&#10;&#10;自動的に生成された説明">
              <a:extLst>
                <a:ext uri="{FF2B5EF4-FFF2-40B4-BE49-F238E27FC236}">
                  <a16:creationId xmlns:a16="http://schemas.microsoft.com/office/drawing/2014/main" id="{BD3BB4BD-A371-45BA-4AB6-A6171812A0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350" y="2073640"/>
              <a:ext cx="7772400" cy="1803833"/>
            </a:xfrm>
            <a:prstGeom prst="rect">
              <a:avLst/>
            </a:prstGeom>
          </p:spPr>
        </p:pic>
      </p:grpSp>
      <p:sp>
        <p:nvSpPr>
          <p:cNvPr id="15" name="テキスト ボックス 14">
            <a:extLst>
              <a:ext uri="{FF2B5EF4-FFF2-40B4-BE49-F238E27FC236}">
                <a16:creationId xmlns:a16="http://schemas.microsoft.com/office/drawing/2014/main" id="{24186F7B-4EC6-C2C9-2E26-669C73938412}"/>
              </a:ext>
            </a:extLst>
          </p:cNvPr>
          <p:cNvSpPr txBox="1"/>
          <p:nvPr/>
        </p:nvSpPr>
        <p:spPr>
          <a:xfrm>
            <a:off x="282314" y="4096884"/>
            <a:ext cx="11071485" cy="461665"/>
          </a:xfrm>
          <a:prstGeom prst="rect">
            <a:avLst/>
          </a:prstGeom>
          <a:noFill/>
        </p:spPr>
        <p:txBody>
          <a:bodyPr wrap="square" rtlCol="0">
            <a:spAutoFit/>
          </a:bodyPr>
          <a:lstStyle/>
          <a:p>
            <a:r>
              <a:rPr kumimoji="1" lang="ja-JP" altLang="en-US" sz="2400"/>
              <a:t>重症外傷患者における従来検査と血液粘弾性検査使用群の比較</a:t>
            </a:r>
          </a:p>
        </p:txBody>
      </p:sp>
      <p:sp>
        <p:nvSpPr>
          <p:cNvPr id="16" name="角丸四角形 15">
            <a:extLst>
              <a:ext uri="{FF2B5EF4-FFF2-40B4-BE49-F238E27FC236}">
                <a16:creationId xmlns:a16="http://schemas.microsoft.com/office/drawing/2014/main" id="{9E2A0563-CBD6-C8A2-C263-6465ADF74D93}"/>
              </a:ext>
            </a:extLst>
          </p:cNvPr>
          <p:cNvSpPr/>
          <p:nvPr/>
        </p:nvSpPr>
        <p:spPr>
          <a:xfrm>
            <a:off x="8229600" y="2478782"/>
            <a:ext cx="3522689" cy="1090534"/>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血液粘弾性検査</a:t>
            </a:r>
            <a:endParaRPr kumimoji="1" lang="en-US" altLang="ja-JP" sz="2800" b="1" dirty="0"/>
          </a:p>
          <a:p>
            <a:pPr algn="ctr"/>
            <a:r>
              <a:rPr kumimoji="1" lang="en-US" altLang="ja-JP" sz="2800" b="1" dirty="0"/>
              <a:t>ROTEM</a:t>
            </a:r>
            <a:r>
              <a:rPr kumimoji="1" lang="ja-JP" altLang="en-US" sz="2800" b="1"/>
              <a:t>使用</a:t>
            </a:r>
          </a:p>
        </p:txBody>
      </p:sp>
    </p:spTree>
    <p:extLst>
      <p:ext uri="{BB962C8B-B14F-4D97-AF65-F5344CB8AC3E}">
        <p14:creationId xmlns:p14="http://schemas.microsoft.com/office/powerpoint/2010/main" val="18146880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8CC503-6262-1E4F-B322-225A73F10084}"/>
              </a:ext>
            </a:extLst>
          </p:cNvPr>
          <p:cNvSpPr>
            <a:spLocks noGrp="1"/>
          </p:cNvSpPr>
          <p:nvPr>
            <p:ph type="title"/>
          </p:nvPr>
        </p:nvSpPr>
        <p:spPr/>
        <p:txBody>
          <a:bodyPr/>
          <a:lstStyle/>
          <a:p>
            <a:r>
              <a:rPr kumimoji="1" lang="ja-JP" altLang="en-US"/>
              <a:t>輸血製剤の投与判断（私見）</a:t>
            </a:r>
          </a:p>
        </p:txBody>
      </p:sp>
      <p:graphicFrame>
        <p:nvGraphicFramePr>
          <p:cNvPr id="7" name="表 7">
            <a:extLst>
              <a:ext uri="{FF2B5EF4-FFF2-40B4-BE49-F238E27FC236}">
                <a16:creationId xmlns:a16="http://schemas.microsoft.com/office/drawing/2014/main" id="{B10E93E2-46AA-854A-B9F6-15330DEBA104}"/>
              </a:ext>
            </a:extLst>
          </p:cNvPr>
          <p:cNvGraphicFramePr>
            <a:graphicFrameLocks noGrp="1"/>
          </p:cNvGraphicFramePr>
          <p:nvPr>
            <p:ph idx="1"/>
          </p:nvPr>
        </p:nvGraphicFramePr>
        <p:xfrm>
          <a:off x="282427" y="1711695"/>
          <a:ext cx="11627146" cy="4267324"/>
        </p:xfrm>
        <a:graphic>
          <a:graphicData uri="http://schemas.openxmlformats.org/drawingml/2006/table">
            <a:tbl>
              <a:tblPr firstRow="1" bandRow="1">
                <a:tableStyleId>{5C22544A-7EE6-4342-B048-85BDC9FD1C3A}</a:tableStyleId>
              </a:tblPr>
              <a:tblGrid>
                <a:gridCol w="2272030">
                  <a:extLst>
                    <a:ext uri="{9D8B030D-6E8A-4147-A177-3AD203B41FA5}">
                      <a16:colId xmlns:a16="http://schemas.microsoft.com/office/drawing/2014/main" val="1743690496"/>
                    </a:ext>
                  </a:extLst>
                </a:gridCol>
                <a:gridCol w="2338779">
                  <a:extLst>
                    <a:ext uri="{9D8B030D-6E8A-4147-A177-3AD203B41FA5}">
                      <a16:colId xmlns:a16="http://schemas.microsoft.com/office/drawing/2014/main" val="969582246"/>
                    </a:ext>
                  </a:extLst>
                </a:gridCol>
                <a:gridCol w="2338779">
                  <a:extLst>
                    <a:ext uri="{9D8B030D-6E8A-4147-A177-3AD203B41FA5}">
                      <a16:colId xmlns:a16="http://schemas.microsoft.com/office/drawing/2014/main" val="1450342246"/>
                    </a:ext>
                  </a:extLst>
                </a:gridCol>
                <a:gridCol w="2338779">
                  <a:extLst>
                    <a:ext uri="{9D8B030D-6E8A-4147-A177-3AD203B41FA5}">
                      <a16:colId xmlns:a16="http://schemas.microsoft.com/office/drawing/2014/main" val="2245719640"/>
                    </a:ext>
                  </a:extLst>
                </a:gridCol>
                <a:gridCol w="2338779">
                  <a:extLst>
                    <a:ext uri="{9D8B030D-6E8A-4147-A177-3AD203B41FA5}">
                      <a16:colId xmlns:a16="http://schemas.microsoft.com/office/drawing/2014/main" val="3253573187"/>
                    </a:ext>
                  </a:extLst>
                </a:gridCol>
              </a:tblGrid>
              <a:tr h="532399">
                <a:tc>
                  <a:txBody>
                    <a:bodyPr/>
                    <a:lstStyle/>
                    <a:p>
                      <a:pPr algn="ctr"/>
                      <a:r>
                        <a:rPr kumimoji="1" lang="ja-JP" altLang="en-US" sz="2800"/>
                        <a:t>製剤</a:t>
                      </a:r>
                    </a:p>
                  </a:txBody>
                  <a:tcPr anchor="ctr"/>
                </a:tc>
                <a:tc>
                  <a:txBody>
                    <a:bodyPr/>
                    <a:lstStyle/>
                    <a:p>
                      <a:pPr algn="ctr"/>
                      <a:r>
                        <a:rPr kumimoji="1" lang="en-US" altLang="ja-JP" sz="2800" dirty="0"/>
                        <a:t>RBC</a:t>
                      </a:r>
                      <a:endParaRPr kumimoji="1" lang="ja-JP" altLang="en-US" sz="2800"/>
                    </a:p>
                  </a:txBody>
                  <a:tcPr anchor="ctr">
                    <a:solidFill>
                      <a:srgbClr val="FF0000"/>
                    </a:solidFill>
                  </a:tcPr>
                </a:tc>
                <a:tc>
                  <a:txBody>
                    <a:bodyPr/>
                    <a:lstStyle/>
                    <a:p>
                      <a:pPr algn="ctr"/>
                      <a:r>
                        <a:rPr kumimoji="1" lang="en-US" altLang="ja-JP" sz="2800" dirty="0"/>
                        <a:t>FFP</a:t>
                      </a:r>
                      <a:endParaRPr kumimoji="1" lang="ja-JP" altLang="en-US" sz="2800"/>
                    </a:p>
                  </a:txBody>
                  <a:tcPr anchor="ctr">
                    <a:solidFill>
                      <a:srgbClr val="00B0F0"/>
                    </a:solidFill>
                  </a:tcPr>
                </a:tc>
                <a:tc>
                  <a:txBody>
                    <a:bodyPr/>
                    <a:lstStyle/>
                    <a:p>
                      <a:pPr algn="ctr"/>
                      <a:r>
                        <a:rPr kumimoji="1" lang="en-US" altLang="ja-JP" sz="2800" dirty="0"/>
                        <a:t>Fib</a:t>
                      </a:r>
                      <a:endParaRPr kumimoji="1" lang="ja-JP" altLang="en-US" sz="2800"/>
                    </a:p>
                  </a:txBody>
                  <a:tcPr anchor="ctr">
                    <a:solidFill>
                      <a:schemeClr val="tx2">
                        <a:lumMod val="50000"/>
                        <a:lumOff val="50000"/>
                      </a:schemeClr>
                    </a:solidFill>
                  </a:tcPr>
                </a:tc>
                <a:tc>
                  <a:txBody>
                    <a:bodyPr/>
                    <a:lstStyle/>
                    <a:p>
                      <a:pPr algn="ctr"/>
                      <a:r>
                        <a:rPr kumimoji="1" lang="en-US" altLang="ja-JP" sz="2800" dirty="0" err="1"/>
                        <a:t>Plt</a:t>
                      </a:r>
                      <a:endParaRPr kumimoji="1" lang="ja-JP" altLang="en-US" sz="2800"/>
                    </a:p>
                  </a:txBody>
                  <a:tcPr anchor="ctr">
                    <a:solidFill>
                      <a:srgbClr val="00B050"/>
                    </a:solidFill>
                  </a:tcPr>
                </a:tc>
                <a:extLst>
                  <a:ext uri="{0D108BD9-81ED-4DB2-BD59-A6C34878D82A}">
                    <a16:rowId xmlns:a16="http://schemas.microsoft.com/office/drawing/2014/main" val="2802307533"/>
                  </a:ext>
                </a:extLst>
              </a:tr>
              <a:tr h="532399">
                <a:tc>
                  <a:txBody>
                    <a:bodyPr/>
                    <a:lstStyle/>
                    <a:p>
                      <a:pPr algn="ctr"/>
                      <a:r>
                        <a:rPr kumimoji="1" lang="ja-JP" altLang="en-US" sz="2000"/>
                        <a:t>主観的指標</a:t>
                      </a:r>
                    </a:p>
                  </a:txBody>
                  <a:tcPr anchor="ctr"/>
                </a:tc>
                <a:tc>
                  <a:txBody>
                    <a:bodyPr/>
                    <a:lstStyle/>
                    <a:p>
                      <a:pPr algn="ctr"/>
                      <a:r>
                        <a:rPr kumimoji="1" lang="ja-JP" altLang="en-US" sz="2800"/>
                        <a:t>出血量</a:t>
                      </a:r>
                    </a:p>
                  </a:txBody>
                  <a:tcPr anchor="ctr"/>
                </a:tc>
                <a:tc>
                  <a:txBody>
                    <a:bodyPr/>
                    <a:lstStyle/>
                    <a:p>
                      <a:pPr algn="ctr"/>
                      <a:r>
                        <a:rPr kumimoji="1" lang="ja-JP" altLang="en-US" sz="2800"/>
                        <a:t>損傷部位</a:t>
                      </a:r>
                      <a:endParaRPr kumimoji="1" lang="en-US" altLang="ja-JP" sz="2800" dirty="0"/>
                    </a:p>
                    <a:p>
                      <a:pPr algn="ctr"/>
                      <a:r>
                        <a:rPr kumimoji="1" lang="ja-JP" altLang="en-US" sz="2800"/>
                        <a:t>術野所見</a:t>
                      </a:r>
                    </a:p>
                  </a:txBody>
                  <a:tcPr anchor="ctr"/>
                </a:tc>
                <a:tc>
                  <a:txBody>
                    <a:bodyPr/>
                    <a:lstStyle/>
                    <a:p>
                      <a:pPr algn="ctr"/>
                      <a:r>
                        <a:rPr kumimoji="1" lang="ja-JP" altLang="en-US" sz="2800"/>
                        <a:t>損傷部位</a:t>
                      </a:r>
                    </a:p>
                  </a:txBody>
                  <a:tcPr anchor="ctr"/>
                </a:tc>
                <a:tc>
                  <a:txBody>
                    <a:bodyPr/>
                    <a:lstStyle/>
                    <a:p>
                      <a:pPr algn="ctr"/>
                      <a:r>
                        <a:rPr kumimoji="1" lang="en-US" altLang="ja-JP" sz="2800" dirty="0"/>
                        <a:t>MTP1:1:1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術野所見</a:t>
                      </a:r>
                    </a:p>
                  </a:txBody>
                  <a:tcPr anchor="ctr"/>
                </a:tc>
                <a:extLst>
                  <a:ext uri="{0D108BD9-81ED-4DB2-BD59-A6C34878D82A}">
                    <a16:rowId xmlns:a16="http://schemas.microsoft.com/office/drawing/2014/main" val="1393321879"/>
                  </a:ext>
                </a:extLst>
              </a:tr>
              <a:tr h="532399">
                <a:tc>
                  <a:txBody>
                    <a:bodyPr/>
                    <a:lstStyle/>
                    <a:p>
                      <a:pPr algn="ctr"/>
                      <a:r>
                        <a:rPr kumimoji="1" lang="ja-JP" altLang="en-US" sz="2000"/>
                        <a:t>客観的指標</a:t>
                      </a:r>
                    </a:p>
                  </a:txBody>
                  <a:tcPr anchor="ctr"/>
                </a:tc>
                <a:tc>
                  <a:txBody>
                    <a:bodyPr/>
                    <a:lstStyle/>
                    <a:p>
                      <a:pPr algn="ctr"/>
                      <a:r>
                        <a:rPr kumimoji="1" lang="en-US" altLang="ja-JP" sz="2800" dirty="0"/>
                        <a:t>Hb</a:t>
                      </a:r>
                      <a:endParaRPr kumimoji="1" lang="ja-JP" altLang="en-US" sz="2800"/>
                    </a:p>
                  </a:txBody>
                  <a:tcPr anchor="ctr"/>
                </a:tc>
                <a:tc>
                  <a:txBody>
                    <a:bodyPr/>
                    <a:lstStyle/>
                    <a:p>
                      <a:pPr algn="ctr"/>
                      <a:r>
                        <a:rPr kumimoji="1" lang="en-US" altLang="ja-JP" sz="2800" dirty="0"/>
                        <a:t>Fib, INR,  APTT</a:t>
                      </a:r>
                      <a:endParaRPr kumimoji="1" lang="ja-JP" altLang="en-US" sz="2800"/>
                    </a:p>
                  </a:txBody>
                  <a:tcPr anchor="ctr"/>
                </a:tc>
                <a:tc>
                  <a:txBody>
                    <a:bodyPr/>
                    <a:lstStyle/>
                    <a:p>
                      <a:pPr algn="ctr"/>
                      <a:r>
                        <a:rPr kumimoji="1" lang="en-US" altLang="ja-JP" sz="2800" dirty="0"/>
                        <a:t>Fib</a:t>
                      </a:r>
                      <a:endParaRPr kumimoji="1" lang="ja-JP" altLang="en-US" sz="2800"/>
                    </a:p>
                  </a:txBody>
                  <a:tcPr anchor="ctr"/>
                </a:tc>
                <a:tc>
                  <a:txBody>
                    <a:bodyPr/>
                    <a:lstStyle/>
                    <a:p>
                      <a:pPr algn="ctr"/>
                      <a:r>
                        <a:rPr kumimoji="1" lang="en-US" altLang="ja-JP" sz="2800" dirty="0" err="1"/>
                        <a:t>Plt</a:t>
                      </a:r>
                      <a:endParaRPr kumimoji="1" lang="ja-JP" altLang="en-US" sz="2800"/>
                    </a:p>
                  </a:txBody>
                  <a:tcPr anchor="ctr"/>
                </a:tc>
                <a:extLst>
                  <a:ext uri="{0D108BD9-81ED-4DB2-BD59-A6C34878D82A}">
                    <a16:rowId xmlns:a16="http://schemas.microsoft.com/office/drawing/2014/main" val="519066428"/>
                  </a:ext>
                </a:extLst>
              </a:tr>
              <a:tr h="1312766">
                <a:tc>
                  <a:txBody>
                    <a:bodyPr/>
                    <a:lstStyle/>
                    <a:p>
                      <a:pPr algn="ctr"/>
                      <a:r>
                        <a:rPr kumimoji="1" lang="ja-JP" altLang="en-US" sz="2000"/>
                        <a:t>客観的指標への</a:t>
                      </a:r>
                      <a:endParaRPr kumimoji="1" lang="en-US" altLang="ja-JP" sz="2000" dirty="0"/>
                    </a:p>
                    <a:p>
                      <a:pPr algn="ctr"/>
                      <a:r>
                        <a:rPr kumimoji="1" lang="ja-JP" altLang="en-US" sz="2000"/>
                        <a:t>アクセス</a:t>
                      </a:r>
                    </a:p>
                  </a:txBody>
                  <a:tcPr anchor="ctr"/>
                </a:tc>
                <a:tc>
                  <a:txBody>
                    <a:bodyPr/>
                    <a:lstStyle/>
                    <a:p>
                      <a:pPr algn="ctr"/>
                      <a:r>
                        <a:rPr kumimoji="1" lang="en-US" altLang="ja-JP" sz="2800" dirty="0"/>
                        <a:t>BGA</a:t>
                      </a:r>
                    </a:p>
                    <a:p>
                      <a:pPr algn="ctr"/>
                      <a:r>
                        <a:rPr kumimoji="1" lang="ja-JP" altLang="en-US" sz="2800"/>
                        <a:t>比較的早い</a:t>
                      </a:r>
                    </a:p>
                  </a:txBody>
                  <a:tcPr anchor="ctr"/>
                </a:tc>
                <a:tc>
                  <a:txBody>
                    <a:bodyPr/>
                    <a:lstStyle/>
                    <a:p>
                      <a:pPr algn="ctr"/>
                      <a:r>
                        <a:rPr kumimoji="1" lang="ja-JP" altLang="en-US" sz="2800"/>
                        <a:t>凝固採血</a:t>
                      </a:r>
                      <a:endParaRPr kumimoji="1" lang="en-US" altLang="ja-JP" sz="2800" dirty="0"/>
                    </a:p>
                    <a:p>
                      <a:pPr algn="ctr"/>
                      <a:r>
                        <a:rPr kumimoji="1" lang="en-US" altLang="ja-JP" sz="2800" dirty="0">
                          <a:solidFill>
                            <a:srgbClr val="7030A0"/>
                          </a:solidFill>
                        </a:rPr>
                        <a:t>20–30</a:t>
                      </a:r>
                      <a:r>
                        <a:rPr kumimoji="1" lang="ja-JP" altLang="en-US" sz="2800">
                          <a:solidFill>
                            <a:srgbClr val="7030A0"/>
                          </a:solidFill>
                        </a:rPr>
                        <a:t>分</a:t>
                      </a:r>
                    </a:p>
                  </a:txBody>
                  <a:tcPr anchor="ctr"/>
                </a:tc>
                <a:tc>
                  <a:txBody>
                    <a:bodyPr/>
                    <a:lstStyle/>
                    <a:p>
                      <a:pPr algn="ctr"/>
                      <a:r>
                        <a:rPr kumimoji="1" lang="ja-JP" altLang="en-US" sz="2800"/>
                        <a:t>凝固採血</a:t>
                      </a:r>
                      <a:endParaRPr kumimoji="1" lang="en-US" altLang="ja-JP" sz="2800" dirty="0"/>
                    </a:p>
                    <a:p>
                      <a:pPr algn="ctr"/>
                      <a:r>
                        <a:rPr kumimoji="1" lang="en-US" altLang="ja-JP" sz="2800" dirty="0">
                          <a:solidFill>
                            <a:srgbClr val="7030A0"/>
                          </a:solidFill>
                        </a:rPr>
                        <a:t>20-30</a:t>
                      </a:r>
                      <a:r>
                        <a:rPr kumimoji="1" lang="ja-JP" altLang="en-US" sz="2800">
                          <a:solidFill>
                            <a:srgbClr val="7030A0"/>
                          </a:solidFill>
                        </a:rPr>
                        <a:t>分</a:t>
                      </a:r>
                    </a:p>
                  </a:txBody>
                  <a:tcPr anchor="ctr"/>
                </a:tc>
                <a:tc>
                  <a:txBody>
                    <a:bodyPr/>
                    <a:lstStyle/>
                    <a:p>
                      <a:pPr algn="ctr"/>
                      <a:r>
                        <a:rPr kumimoji="1" lang="ja-JP" altLang="en-US" sz="2800"/>
                        <a:t>血算</a:t>
                      </a:r>
                      <a:endParaRPr kumimoji="1" lang="en-US" altLang="ja-JP" sz="2800" dirty="0"/>
                    </a:p>
                    <a:p>
                      <a:pPr algn="ctr"/>
                      <a:r>
                        <a:rPr kumimoji="1" lang="en-US" altLang="ja-JP" sz="2800" dirty="0"/>
                        <a:t>15-20</a:t>
                      </a:r>
                      <a:r>
                        <a:rPr kumimoji="1" lang="ja-JP" altLang="en-US" sz="2800"/>
                        <a:t>分</a:t>
                      </a:r>
                      <a:endParaRPr kumimoji="1" lang="en-US" altLang="ja-JP" sz="2800" dirty="0"/>
                    </a:p>
                  </a:txBody>
                  <a:tcPr anchor="ctr"/>
                </a:tc>
                <a:extLst>
                  <a:ext uri="{0D108BD9-81ED-4DB2-BD59-A6C34878D82A}">
                    <a16:rowId xmlns:a16="http://schemas.microsoft.com/office/drawing/2014/main" val="4058242494"/>
                  </a:ext>
                </a:extLst>
              </a:tr>
              <a:tr h="918936">
                <a:tc>
                  <a:txBody>
                    <a:bodyPr/>
                    <a:lstStyle/>
                    <a:p>
                      <a:pPr algn="ctr"/>
                      <a:r>
                        <a:rPr kumimoji="1" lang="ja-JP" altLang="en-US" sz="2000"/>
                        <a:t>製剤へのアクセス</a:t>
                      </a:r>
                    </a:p>
                  </a:txBody>
                  <a:tcPr anchor="ctr"/>
                </a:tc>
                <a:tc>
                  <a:txBody>
                    <a:bodyPr/>
                    <a:lstStyle/>
                    <a:p>
                      <a:pPr algn="ctr"/>
                      <a:r>
                        <a:rPr kumimoji="1" lang="ja-JP" altLang="en-US" sz="2800"/>
                        <a:t>良好</a:t>
                      </a:r>
                    </a:p>
                  </a:txBody>
                  <a:tcPr anchor="ctr"/>
                </a:tc>
                <a:tc>
                  <a:txBody>
                    <a:bodyPr/>
                    <a:lstStyle/>
                    <a:p>
                      <a:pPr algn="ctr"/>
                      <a:r>
                        <a:rPr kumimoji="1" lang="ja-JP" altLang="en-US" sz="2800">
                          <a:solidFill>
                            <a:srgbClr val="FF0000"/>
                          </a:solidFill>
                        </a:rPr>
                        <a:t>溶解の時間</a:t>
                      </a:r>
                    </a:p>
                  </a:txBody>
                  <a:tcPr anchor="ctr"/>
                </a:tc>
                <a:tc>
                  <a:txBody>
                    <a:bodyPr/>
                    <a:lstStyle/>
                    <a:p>
                      <a:pPr algn="ctr"/>
                      <a:r>
                        <a:rPr kumimoji="1" lang="ja-JP" altLang="en-US" sz="2800">
                          <a:solidFill>
                            <a:srgbClr val="FF0000"/>
                          </a:solidFill>
                        </a:rPr>
                        <a:t>溶解の時間</a:t>
                      </a:r>
                      <a:endParaRPr kumimoji="1" lang="en-US" altLang="ja-JP" sz="2800" dirty="0">
                        <a:solidFill>
                          <a:srgbClr val="FF0000"/>
                        </a:solidFill>
                      </a:endParaRPr>
                    </a:p>
                    <a:p>
                      <a:pPr algn="ctr"/>
                      <a:r>
                        <a:rPr kumimoji="1" lang="ja-JP" altLang="en-US" sz="2800">
                          <a:solidFill>
                            <a:srgbClr val="C00000"/>
                          </a:solidFill>
                        </a:rPr>
                        <a:t>保険適用外</a:t>
                      </a:r>
                    </a:p>
                  </a:txBody>
                  <a:tcPr anchor="ctr"/>
                </a:tc>
                <a:tc>
                  <a:txBody>
                    <a:bodyPr/>
                    <a:lstStyle/>
                    <a:p>
                      <a:pPr algn="ctr"/>
                      <a:r>
                        <a:rPr kumimoji="1" lang="ja-JP" altLang="en-US" sz="2800">
                          <a:solidFill>
                            <a:srgbClr val="FF0000"/>
                          </a:solidFill>
                        </a:rPr>
                        <a:t>搬送の時間</a:t>
                      </a:r>
                    </a:p>
                  </a:txBody>
                  <a:tcPr anchor="ctr"/>
                </a:tc>
                <a:extLst>
                  <a:ext uri="{0D108BD9-81ED-4DB2-BD59-A6C34878D82A}">
                    <a16:rowId xmlns:a16="http://schemas.microsoft.com/office/drawing/2014/main" val="1645560114"/>
                  </a:ext>
                </a:extLst>
              </a:tr>
            </a:tbl>
          </a:graphicData>
        </a:graphic>
      </p:graphicFrame>
      <p:sp>
        <p:nvSpPr>
          <p:cNvPr id="5" name="フッター プレースホルダー 4">
            <a:extLst>
              <a:ext uri="{FF2B5EF4-FFF2-40B4-BE49-F238E27FC236}">
                <a16:creationId xmlns:a16="http://schemas.microsoft.com/office/drawing/2014/main" id="{D4428F65-7D3B-904C-A92E-8676CECD62DD}"/>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9EBA255F-C297-FE40-B944-DB45B175EE8E}"/>
              </a:ext>
            </a:extLst>
          </p:cNvPr>
          <p:cNvSpPr>
            <a:spLocks noGrp="1"/>
          </p:cNvSpPr>
          <p:nvPr>
            <p:ph type="sldNum" sz="quarter" idx="12"/>
          </p:nvPr>
        </p:nvSpPr>
        <p:spPr/>
        <p:txBody>
          <a:bodyPr/>
          <a:lstStyle/>
          <a:p>
            <a:r>
              <a:rPr lang="en-US" altLang="ja-JP"/>
              <a:t>No. </a:t>
            </a:r>
            <a:fld id="{41B87E3F-77EC-4EFD-94DE-AA3AEB7C7760}" type="slidenum">
              <a:rPr lang="ja-JP" altLang="en-US" smtClean="0"/>
              <a:pPr/>
              <a:t>32</a:t>
            </a:fld>
            <a:endParaRPr kumimoji="1" lang="ja-JP" altLang="en-US" dirty="0"/>
          </a:p>
        </p:txBody>
      </p:sp>
      <p:sp>
        <p:nvSpPr>
          <p:cNvPr id="3" name="日付プレースホルダー 2">
            <a:extLst>
              <a:ext uri="{FF2B5EF4-FFF2-40B4-BE49-F238E27FC236}">
                <a16:creationId xmlns:a16="http://schemas.microsoft.com/office/drawing/2014/main" id="{A9D2FA5B-045E-E5C1-43E9-5332009A5457}"/>
              </a:ext>
            </a:extLst>
          </p:cNvPr>
          <p:cNvSpPr>
            <a:spLocks noGrp="1"/>
          </p:cNvSpPr>
          <p:nvPr>
            <p:ph type="dt" sz="half" idx="10"/>
          </p:nvPr>
        </p:nvSpPr>
        <p:spPr/>
        <p:txBody>
          <a:bodyPr/>
          <a:lstStyle/>
          <a:p>
            <a:fld id="{846F6E6A-1E19-F443-8AEE-BB5CC1DDB766}" type="datetime1">
              <a:rPr kumimoji="1" lang="ja-JP" altLang="en-US" smtClean="0"/>
              <a:t>2026/5/15</a:t>
            </a:fld>
            <a:endParaRPr kumimoji="1" lang="ja-JP" altLang="en-US"/>
          </a:p>
        </p:txBody>
      </p:sp>
    </p:spTree>
    <p:extLst>
      <p:ext uri="{BB962C8B-B14F-4D97-AF65-F5344CB8AC3E}">
        <p14:creationId xmlns:p14="http://schemas.microsoft.com/office/powerpoint/2010/main" val="18174184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8CC503-6262-1E4F-B322-225A73F10084}"/>
              </a:ext>
            </a:extLst>
          </p:cNvPr>
          <p:cNvSpPr>
            <a:spLocks noGrp="1"/>
          </p:cNvSpPr>
          <p:nvPr>
            <p:ph type="title"/>
          </p:nvPr>
        </p:nvSpPr>
        <p:spPr/>
        <p:txBody>
          <a:bodyPr>
            <a:normAutofit/>
          </a:bodyPr>
          <a:lstStyle/>
          <a:p>
            <a:r>
              <a:rPr kumimoji="1" lang="ja-JP" altLang="en-US"/>
              <a:t>輸血製剤の投与判断　</a:t>
            </a:r>
            <a:r>
              <a:rPr kumimoji="1" lang="en-US" altLang="ja-JP" dirty="0"/>
              <a:t>WITH TEG GH</a:t>
            </a:r>
            <a:endParaRPr kumimoji="1" lang="ja-JP" altLang="en-US"/>
          </a:p>
        </p:txBody>
      </p:sp>
      <p:graphicFrame>
        <p:nvGraphicFramePr>
          <p:cNvPr id="7" name="表 7">
            <a:extLst>
              <a:ext uri="{FF2B5EF4-FFF2-40B4-BE49-F238E27FC236}">
                <a16:creationId xmlns:a16="http://schemas.microsoft.com/office/drawing/2014/main" id="{B10E93E2-46AA-854A-B9F6-15330DEBA104}"/>
              </a:ext>
            </a:extLst>
          </p:cNvPr>
          <p:cNvGraphicFramePr>
            <a:graphicFrameLocks noGrp="1"/>
          </p:cNvGraphicFramePr>
          <p:nvPr>
            <p:ph idx="1"/>
          </p:nvPr>
        </p:nvGraphicFramePr>
        <p:xfrm>
          <a:off x="282427" y="1611097"/>
          <a:ext cx="11627146" cy="4679805"/>
        </p:xfrm>
        <a:graphic>
          <a:graphicData uri="http://schemas.openxmlformats.org/drawingml/2006/table">
            <a:tbl>
              <a:tblPr firstRow="1" bandRow="1">
                <a:tableStyleId>{5C22544A-7EE6-4342-B048-85BDC9FD1C3A}</a:tableStyleId>
              </a:tblPr>
              <a:tblGrid>
                <a:gridCol w="2272030">
                  <a:extLst>
                    <a:ext uri="{9D8B030D-6E8A-4147-A177-3AD203B41FA5}">
                      <a16:colId xmlns:a16="http://schemas.microsoft.com/office/drawing/2014/main" val="1743690496"/>
                    </a:ext>
                  </a:extLst>
                </a:gridCol>
                <a:gridCol w="2338779">
                  <a:extLst>
                    <a:ext uri="{9D8B030D-6E8A-4147-A177-3AD203B41FA5}">
                      <a16:colId xmlns:a16="http://schemas.microsoft.com/office/drawing/2014/main" val="969582246"/>
                    </a:ext>
                  </a:extLst>
                </a:gridCol>
                <a:gridCol w="2338779">
                  <a:extLst>
                    <a:ext uri="{9D8B030D-6E8A-4147-A177-3AD203B41FA5}">
                      <a16:colId xmlns:a16="http://schemas.microsoft.com/office/drawing/2014/main" val="1450342246"/>
                    </a:ext>
                  </a:extLst>
                </a:gridCol>
                <a:gridCol w="2338779">
                  <a:extLst>
                    <a:ext uri="{9D8B030D-6E8A-4147-A177-3AD203B41FA5}">
                      <a16:colId xmlns:a16="http://schemas.microsoft.com/office/drawing/2014/main" val="2245719640"/>
                    </a:ext>
                  </a:extLst>
                </a:gridCol>
                <a:gridCol w="2338779">
                  <a:extLst>
                    <a:ext uri="{9D8B030D-6E8A-4147-A177-3AD203B41FA5}">
                      <a16:colId xmlns:a16="http://schemas.microsoft.com/office/drawing/2014/main" val="3253573187"/>
                    </a:ext>
                  </a:extLst>
                </a:gridCol>
              </a:tblGrid>
              <a:tr h="532399">
                <a:tc>
                  <a:txBody>
                    <a:bodyPr/>
                    <a:lstStyle/>
                    <a:p>
                      <a:pPr algn="ctr"/>
                      <a:r>
                        <a:rPr kumimoji="1" lang="ja-JP" altLang="en-US" sz="2800"/>
                        <a:t>製剤</a:t>
                      </a:r>
                    </a:p>
                  </a:txBody>
                  <a:tcPr anchor="ctr"/>
                </a:tc>
                <a:tc>
                  <a:txBody>
                    <a:bodyPr/>
                    <a:lstStyle/>
                    <a:p>
                      <a:pPr algn="ctr"/>
                      <a:r>
                        <a:rPr kumimoji="1" lang="en-US" altLang="ja-JP" sz="2800" dirty="0"/>
                        <a:t>RBC</a:t>
                      </a:r>
                      <a:endParaRPr kumimoji="1" lang="ja-JP" altLang="en-US" sz="2800"/>
                    </a:p>
                  </a:txBody>
                  <a:tcPr anchor="ctr">
                    <a:solidFill>
                      <a:srgbClr val="FF0000"/>
                    </a:solidFill>
                  </a:tcPr>
                </a:tc>
                <a:tc>
                  <a:txBody>
                    <a:bodyPr/>
                    <a:lstStyle/>
                    <a:p>
                      <a:pPr algn="ctr"/>
                      <a:r>
                        <a:rPr kumimoji="1" lang="en-US" altLang="ja-JP" sz="2800" dirty="0"/>
                        <a:t>FFP</a:t>
                      </a:r>
                      <a:endParaRPr kumimoji="1" lang="ja-JP" altLang="en-US" sz="2800"/>
                    </a:p>
                  </a:txBody>
                  <a:tcPr anchor="ctr">
                    <a:solidFill>
                      <a:srgbClr val="00B0F0"/>
                    </a:solidFill>
                  </a:tcPr>
                </a:tc>
                <a:tc>
                  <a:txBody>
                    <a:bodyPr/>
                    <a:lstStyle/>
                    <a:p>
                      <a:pPr algn="ctr"/>
                      <a:r>
                        <a:rPr kumimoji="1" lang="en-US" altLang="ja-JP" sz="2800" dirty="0"/>
                        <a:t>Fib</a:t>
                      </a:r>
                      <a:endParaRPr kumimoji="1" lang="ja-JP" altLang="en-US" sz="2800"/>
                    </a:p>
                  </a:txBody>
                  <a:tcPr anchor="ctr">
                    <a:solidFill>
                      <a:schemeClr val="tx2">
                        <a:lumMod val="50000"/>
                        <a:lumOff val="50000"/>
                      </a:schemeClr>
                    </a:solidFill>
                  </a:tcPr>
                </a:tc>
                <a:tc>
                  <a:txBody>
                    <a:bodyPr/>
                    <a:lstStyle/>
                    <a:p>
                      <a:pPr algn="ctr"/>
                      <a:r>
                        <a:rPr kumimoji="1" lang="en-US" altLang="ja-JP" sz="2800" dirty="0" err="1"/>
                        <a:t>Plt</a:t>
                      </a:r>
                      <a:endParaRPr kumimoji="1" lang="ja-JP" altLang="en-US" sz="2800"/>
                    </a:p>
                  </a:txBody>
                  <a:tcPr anchor="ctr">
                    <a:solidFill>
                      <a:srgbClr val="00B050"/>
                    </a:solidFill>
                  </a:tcPr>
                </a:tc>
                <a:extLst>
                  <a:ext uri="{0D108BD9-81ED-4DB2-BD59-A6C34878D82A}">
                    <a16:rowId xmlns:a16="http://schemas.microsoft.com/office/drawing/2014/main" val="2802307533"/>
                  </a:ext>
                </a:extLst>
              </a:tr>
              <a:tr h="532399">
                <a:tc>
                  <a:txBody>
                    <a:bodyPr/>
                    <a:lstStyle/>
                    <a:p>
                      <a:pPr algn="ctr"/>
                      <a:r>
                        <a:rPr kumimoji="1" lang="ja-JP" altLang="en-US" sz="2000"/>
                        <a:t>主観的指標</a:t>
                      </a:r>
                    </a:p>
                  </a:txBody>
                  <a:tcPr anchor="ctr"/>
                </a:tc>
                <a:tc>
                  <a:txBody>
                    <a:bodyPr/>
                    <a:lstStyle/>
                    <a:p>
                      <a:pPr algn="ctr"/>
                      <a:r>
                        <a:rPr kumimoji="1" lang="ja-JP" altLang="en-US" sz="2800"/>
                        <a:t>出血量</a:t>
                      </a:r>
                    </a:p>
                  </a:txBody>
                  <a:tcPr anchor="ctr"/>
                </a:tc>
                <a:tc>
                  <a:txBody>
                    <a:bodyPr/>
                    <a:lstStyle/>
                    <a:p>
                      <a:pPr algn="ctr"/>
                      <a:r>
                        <a:rPr kumimoji="1" lang="ja-JP" altLang="en-US" sz="2800"/>
                        <a:t>損傷部位</a:t>
                      </a:r>
                      <a:endParaRPr kumimoji="1" lang="en-US" altLang="ja-JP" sz="2800" dirty="0"/>
                    </a:p>
                    <a:p>
                      <a:pPr algn="ctr"/>
                      <a:r>
                        <a:rPr kumimoji="1" lang="ja-JP" altLang="en-US" sz="2800"/>
                        <a:t>術野所見</a:t>
                      </a:r>
                    </a:p>
                  </a:txBody>
                  <a:tcPr anchor="ctr"/>
                </a:tc>
                <a:tc>
                  <a:txBody>
                    <a:bodyPr/>
                    <a:lstStyle/>
                    <a:p>
                      <a:pPr algn="ctr"/>
                      <a:r>
                        <a:rPr kumimoji="1" lang="ja-JP" altLang="en-US" sz="2800"/>
                        <a:t>損傷部位</a:t>
                      </a:r>
                    </a:p>
                  </a:txBody>
                  <a:tcPr anchor="ctr"/>
                </a:tc>
                <a:tc>
                  <a:txBody>
                    <a:bodyPr/>
                    <a:lstStyle/>
                    <a:p>
                      <a:pPr algn="ctr"/>
                      <a:r>
                        <a:rPr kumimoji="1" lang="en-US" altLang="ja-JP" sz="2800" dirty="0"/>
                        <a:t>MTP1:1:1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a:t>術野所見</a:t>
                      </a:r>
                    </a:p>
                  </a:txBody>
                  <a:tcPr anchor="ctr"/>
                </a:tc>
                <a:extLst>
                  <a:ext uri="{0D108BD9-81ED-4DB2-BD59-A6C34878D82A}">
                    <a16:rowId xmlns:a16="http://schemas.microsoft.com/office/drawing/2014/main" val="1393321879"/>
                  </a:ext>
                </a:extLst>
              </a:tr>
              <a:tr h="532399">
                <a:tc>
                  <a:txBody>
                    <a:bodyPr/>
                    <a:lstStyle/>
                    <a:p>
                      <a:pPr algn="ctr"/>
                      <a:r>
                        <a:rPr kumimoji="1" lang="ja-JP" altLang="en-US" sz="2000"/>
                        <a:t>客観的指標</a:t>
                      </a:r>
                    </a:p>
                  </a:txBody>
                  <a:tcPr anchor="ctr"/>
                </a:tc>
                <a:tc>
                  <a:txBody>
                    <a:bodyPr/>
                    <a:lstStyle/>
                    <a:p>
                      <a:pPr algn="ctr"/>
                      <a:r>
                        <a:rPr kumimoji="1" lang="en-US" altLang="ja-JP" sz="2800" dirty="0"/>
                        <a:t>Hb</a:t>
                      </a:r>
                      <a:endParaRPr kumimoji="1" lang="ja-JP" altLang="en-US" sz="2800"/>
                    </a:p>
                  </a:txBody>
                  <a:tcPr anchor="ctr"/>
                </a:tc>
                <a:tc>
                  <a:txBody>
                    <a:bodyPr/>
                    <a:lstStyle/>
                    <a:p>
                      <a:pPr algn="ctr"/>
                      <a:r>
                        <a:rPr kumimoji="1" lang="en-US" altLang="ja-JP" sz="2800" b="1" dirty="0">
                          <a:solidFill>
                            <a:srgbClr val="00B0F0"/>
                          </a:solidFill>
                        </a:rPr>
                        <a:t>TEG -ACT</a:t>
                      </a:r>
                    </a:p>
                    <a:p>
                      <a:pPr algn="ctr"/>
                      <a:r>
                        <a:rPr kumimoji="1" lang="en-US" altLang="ja-JP" sz="2800" b="1" dirty="0">
                          <a:solidFill>
                            <a:srgbClr val="00B0F0"/>
                          </a:solidFill>
                        </a:rPr>
                        <a:t>CRT-R</a:t>
                      </a:r>
                      <a:endParaRPr kumimoji="1" lang="ja-JP" altLang="en-US" sz="2800" b="1">
                        <a:solidFill>
                          <a:srgbClr val="00B0F0"/>
                        </a:solidFill>
                      </a:endParaRPr>
                    </a:p>
                  </a:txBody>
                  <a:tcPr anchor="ctr"/>
                </a:tc>
                <a:tc>
                  <a:txBody>
                    <a:bodyPr/>
                    <a:lstStyle/>
                    <a:p>
                      <a:pPr algn="ctr"/>
                      <a:r>
                        <a:rPr kumimoji="1" lang="en-US" altLang="ja-JP" sz="2800" b="1" dirty="0">
                          <a:solidFill>
                            <a:schemeClr val="tx2">
                              <a:lumMod val="50000"/>
                              <a:lumOff val="50000"/>
                            </a:schemeClr>
                          </a:solidFill>
                        </a:rPr>
                        <a:t>CRT-Angle</a:t>
                      </a:r>
                    </a:p>
                    <a:p>
                      <a:pPr algn="ctr"/>
                      <a:r>
                        <a:rPr kumimoji="1" lang="en-US" altLang="ja-JP" sz="2800" b="1" dirty="0">
                          <a:solidFill>
                            <a:schemeClr val="tx2">
                              <a:lumMod val="50000"/>
                              <a:lumOff val="50000"/>
                            </a:schemeClr>
                          </a:solidFill>
                        </a:rPr>
                        <a:t>CFF-MA</a:t>
                      </a:r>
                      <a:endParaRPr kumimoji="1" lang="ja-JP" altLang="en-US" sz="2800" b="1">
                        <a:solidFill>
                          <a:schemeClr val="tx2">
                            <a:lumMod val="50000"/>
                            <a:lumOff val="50000"/>
                          </a:schemeClr>
                        </a:solidFill>
                      </a:endParaRPr>
                    </a:p>
                  </a:txBody>
                  <a:tcPr anchor="ctr"/>
                </a:tc>
                <a:tc>
                  <a:txBody>
                    <a:bodyPr/>
                    <a:lstStyle/>
                    <a:p>
                      <a:pPr algn="ctr"/>
                      <a:r>
                        <a:rPr kumimoji="1" lang="en-US" altLang="ja-JP" sz="2800" dirty="0" err="1"/>
                        <a:t>Plt</a:t>
                      </a:r>
                      <a:endParaRPr kumimoji="1" lang="en-US" altLang="ja-JP" sz="2800" dirty="0"/>
                    </a:p>
                    <a:p>
                      <a:pPr algn="ctr"/>
                      <a:r>
                        <a:rPr kumimoji="1" lang="en-US" altLang="ja-JP" sz="2800" b="1" dirty="0">
                          <a:solidFill>
                            <a:srgbClr val="00B050"/>
                          </a:solidFill>
                        </a:rPr>
                        <a:t>CRT-MA</a:t>
                      </a:r>
                      <a:endParaRPr kumimoji="1" lang="ja-JP" altLang="en-US" sz="2800" b="1">
                        <a:solidFill>
                          <a:srgbClr val="00B050"/>
                        </a:solidFill>
                      </a:endParaRPr>
                    </a:p>
                  </a:txBody>
                  <a:tcPr anchor="ctr"/>
                </a:tc>
                <a:extLst>
                  <a:ext uri="{0D108BD9-81ED-4DB2-BD59-A6C34878D82A}">
                    <a16:rowId xmlns:a16="http://schemas.microsoft.com/office/drawing/2014/main" val="519066428"/>
                  </a:ext>
                </a:extLst>
              </a:tr>
              <a:tr h="1312766">
                <a:tc>
                  <a:txBody>
                    <a:bodyPr/>
                    <a:lstStyle/>
                    <a:p>
                      <a:pPr algn="ctr"/>
                      <a:r>
                        <a:rPr kumimoji="1" lang="ja-JP" altLang="en-US" sz="2000"/>
                        <a:t>客観的指標への</a:t>
                      </a:r>
                      <a:endParaRPr kumimoji="1" lang="en-US" altLang="ja-JP" sz="2000" dirty="0"/>
                    </a:p>
                    <a:p>
                      <a:pPr algn="ctr"/>
                      <a:r>
                        <a:rPr kumimoji="1" lang="ja-JP" altLang="en-US" sz="2000"/>
                        <a:t>アクセス</a:t>
                      </a:r>
                    </a:p>
                  </a:txBody>
                  <a:tcPr anchor="ctr"/>
                </a:tc>
                <a:tc>
                  <a:txBody>
                    <a:bodyPr/>
                    <a:lstStyle/>
                    <a:p>
                      <a:pPr algn="ctr"/>
                      <a:r>
                        <a:rPr kumimoji="1" lang="en-US" altLang="ja-JP" sz="2800" dirty="0"/>
                        <a:t>BGA</a:t>
                      </a:r>
                    </a:p>
                    <a:p>
                      <a:pPr algn="ctr"/>
                      <a:r>
                        <a:rPr kumimoji="1" lang="ja-JP" altLang="en-US" sz="2800"/>
                        <a:t>比較的早い</a:t>
                      </a:r>
                    </a:p>
                  </a:txBody>
                  <a:tcPr anchor="ctr"/>
                </a:tc>
                <a:tc>
                  <a:txBody>
                    <a:bodyPr/>
                    <a:lstStyle/>
                    <a:p>
                      <a:pPr algn="ctr"/>
                      <a:r>
                        <a:rPr kumimoji="1" lang="en-US" altLang="ja-JP" sz="2800" dirty="0"/>
                        <a:t>TEG</a:t>
                      </a:r>
                    </a:p>
                    <a:p>
                      <a:pPr algn="ctr"/>
                      <a:r>
                        <a:rPr kumimoji="1" lang="en-US" altLang="ja-JP" sz="4000" b="1" dirty="0">
                          <a:solidFill>
                            <a:schemeClr val="tx2">
                              <a:lumMod val="75000"/>
                              <a:lumOff val="25000"/>
                            </a:schemeClr>
                          </a:solidFill>
                        </a:rPr>
                        <a:t>2-5</a:t>
                      </a:r>
                      <a:r>
                        <a:rPr kumimoji="1" lang="ja-JP" altLang="en-US" sz="4000" b="1">
                          <a:solidFill>
                            <a:schemeClr val="tx2">
                              <a:lumMod val="75000"/>
                              <a:lumOff val="25000"/>
                            </a:schemeClr>
                          </a:solidFill>
                        </a:rPr>
                        <a:t>分</a:t>
                      </a:r>
                    </a:p>
                  </a:txBody>
                  <a:tcPr anchor="ctr"/>
                </a:tc>
                <a:tc>
                  <a:txBody>
                    <a:bodyPr/>
                    <a:lstStyle/>
                    <a:p>
                      <a:pPr algn="ctr"/>
                      <a:r>
                        <a:rPr kumimoji="1" lang="en-US" altLang="ja-JP" sz="2800" dirty="0"/>
                        <a:t>TEG</a:t>
                      </a:r>
                    </a:p>
                    <a:p>
                      <a:pPr algn="ctr"/>
                      <a:r>
                        <a:rPr kumimoji="1" lang="en-US" altLang="ja-JP" sz="3600" b="1" dirty="0">
                          <a:solidFill>
                            <a:schemeClr val="tx2">
                              <a:lumMod val="75000"/>
                              <a:lumOff val="25000"/>
                            </a:schemeClr>
                          </a:solidFill>
                        </a:rPr>
                        <a:t>2-5</a:t>
                      </a:r>
                      <a:r>
                        <a:rPr kumimoji="1" lang="ja-JP" altLang="en-US" sz="3600" b="1">
                          <a:solidFill>
                            <a:schemeClr val="tx2">
                              <a:lumMod val="75000"/>
                              <a:lumOff val="25000"/>
                            </a:schemeClr>
                          </a:solidFill>
                        </a:rPr>
                        <a:t>分</a:t>
                      </a:r>
                    </a:p>
                  </a:txBody>
                  <a:tcPr anchor="ctr"/>
                </a:tc>
                <a:tc>
                  <a:txBody>
                    <a:bodyPr/>
                    <a:lstStyle/>
                    <a:p>
                      <a:pPr algn="ctr"/>
                      <a:r>
                        <a:rPr kumimoji="1" lang="ja-JP" altLang="en-US" sz="2800"/>
                        <a:t>血算・</a:t>
                      </a:r>
                      <a:r>
                        <a:rPr kumimoji="1" lang="en-US" altLang="ja-JP" sz="2800" dirty="0"/>
                        <a:t>TEG</a:t>
                      </a:r>
                    </a:p>
                    <a:p>
                      <a:pPr algn="ctr"/>
                      <a:r>
                        <a:rPr kumimoji="1" lang="en-US" altLang="ja-JP" sz="2800" dirty="0"/>
                        <a:t>15-20</a:t>
                      </a:r>
                      <a:r>
                        <a:rPr kumimoji="1" lang="ja-JP" altLang="en-US" sz="2800"/>
                        <a:t>分</a:t>
                      </a:r>
                      <a:endParaRPr kumimoji="1" lang="en-US" altLang="ja-JP" sz="2800" dirty="0"/>
                    </a:p>
                  </a:txBody>
                  <a:tcPr anchor="ctr"/>
                </a:tc>
                <a:extLst>
                  <a:ext uri="{0D108BD9-81ED-4DB2-BD59-A6C34878D82A}">
                    <a16:rowId xmlns:a16="http://schemas.microsoft.com/office/drawing/2014/main" val="4058242494"/>
                  </a:ext>
                </a:extLst>
              </a:tr>
              <a:tr h="918936">
                <a:tc>
                  <a:txBody>
                    <a:bodyPr/>
                    <a:lstStyle/>
                    <a:p>
                      <a:pPr algn="ctr"/>
                      <a:r>
                        <a:rPr kumimoji="1" lang="ja-JP" altLang="en-US" sz="2000"/>
                        <a:t>製剤へのアクセス</a:t>
                      </a:r>
                    </a:p>
                  </a:txBody>
                  <a:tcPr anchor="ctr"/>
                </a:tc>
                <a:tc>
                  <a:txBody>
                    <a:bodyPr/>
                    <a:lstStyle/>
                    <a:p>
                      <a:pPr algn="ctr"/>
                      <a:r>
                        <a:rPr kumimoji="1" lang="ja-JP" altLang="en-US" sz="2800"/>
                        <a:t>良好</a:t>
                      </a:r>
                    </a:p>
                  </a:txBody>
                  <a:tcPr anchor="ctr"/>
                </a:tc>
                <a:tc>
                  <a:txBody>
                    <a:bodyPr/>
                    <a:lstStyle/>
                    <a:p>
                      <a:pPr algn="ctr"/>
                      <a:r>
                        <a:rPr kumimoji="1" lang="ja-JP" altLang="en-US" sz="2800">
                          <a:solidFill>
                            <a:srgbClr val="FF0000"/>
                          </a:solidFill>
                        </a:rPr>
                        <a:t>溶解の時間</a:t>
                      </a:r>
                    </a:p>
                  </a:txBody>
                  <a:tcPr anchor="ctr"/>
                </a:tc>
                <a:tc>
                  <a:txBody>
                    <a:bodyPr/>
                    <a:lstStyle/>
                    <a:p>
                      <a:pPr algn="ctr"/>
                      <a:r>
                        <a:rPr kumimoji="1" lang="ja-JP" altLang="en-US" sz="2800">
                          <a:solidFill>
                            <a:srgbClr val="FF0000"/>
                          </a:solidFill>
                        </a:rPr>
                        <a:t>溶解の時間</a:t>
                      </a:r>
                      <a:endParaRPr kumimoji="1" lang="en-US" altLang="ja-JP" sz="2800" dirty="0">
                        <a:solidFill>
                          <a:srgbClr val="FF0000"/>
                        </a:solidFill>
                      </a:endParaRPr>
                    </a:p>
                    <a:p>
                      <a:pPr algn="ctr"/>
                      <a:r>
                        <a:rPr kumimoji="1" lang="ja-JP" altLang="en-US" sz="2800">
                          <a:solidFill>
                            <a:srgbClr val="C00000"/>
                          </a:solidFill>
                        </a:rPr>
                        <a:t>保険適用外</a:t>
                      </a:r>
                    </a:p>
                  </a:txBody>
                  <a:tcPr anchor="ctr"/>
                </a:tc>
                <a:tc>
                  <a:txBody>
                    <a:bodyPr/>
                    <a:lstStyle/>
                    <a:p>
                      <a:pPr algn="ctr"/>
                      <a:r>
                        <a:rPr kumimoji="1" lang="ja-JP" altLang="en-US" sz="2800">
                          <a:solidFill>
                            <a:srgbClr val="FF0000"/>
                          </a:solidFill>
                        </a:rPr>
                        <a:t>搬送の時間</a:t>
                      </a:r>
                    </a:p>
                  </a:txBody>
                  <a:tcPr anchor="ctr"/>
                </a:tc>
                <a:extLst>
                  <a:ext uri="{0D108BD9-81ED-4DB2-BD59-A6C34878D82A}">
                    <a16:rowId xmlns:a16="http://schemas.microsoft.com/office/drawing/2014/main" val="1645560114"/>
                  </a:ext>
                </a:extLst>
              </a:tr>
            </a:tbl>
          </a:graphicData>
        </a:graphic>
      </p:graphicFrame>
      <p:sp>
        <p:nvSpPr>
          <p:cNvPr id="5" name="フッター プレースホルダー 4">
            <a:extLst>
              <a:ext uri="{FF2B5EF4-FFF2-40B4-BE49-F238E27FC236}">
                <a16:creationId xmlns:a16="http://schemas.microsoft.com/office/drawing/2014/main" id="{D4428F65-7D3B-904C-A92E-8676CECD62DD}"/>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9EBA255F-C297-FE40-B944-DB45B175EE8E}"/>
              </a:ext>
            </a:extLst>
          </p:cNvPr>
          <p:cNvSpPr>
            <a:spLocks noGrp="1"/>
          </p:cNvSpPr>
          <p:nvPr>
            <p:ph type="sldNum" sz="quarter" idx="12"/>
          </p:nvPr>
        </p:nvSpPr>
        <p:spPr/>
        <p:txBody>
          <a:bodyPr/>
          <a:lstStyle/>
          <a:p>
            <a:r>
              <a:rPr lang="en-US" altLang="ja-JP"/>
              <a:t>No. </a:t>
            </a:r>
            <a:fld id="{41B87E3F-77EC-4EFD-94DE-AA3AEB7C7760}" type="slidenum">
              <a:rPr lang="ja-JP" altLang="en-US" smtClean="0"/>
              <a:pPr/>
              <a:t>33</a:t>
            </a:fld>
            <a:endParaRPr kumimoji="1" lang="ja-JP" altLang="en-US" dirty="0"/>
          </a:p>
        </p:txBody>
      </p:sp>
      <p:sp>
        <p:nvSpPr>
          <p:cNvPr id="3" name="日付プレースホルダー 2">
            <a:extLst>
              <a:ext uri="{FF2B5EF4-FFF2-40B4-BE49-F238E27FC236}">
                <a16:creationId xmlns:a16="http://schemas.microsoft.com/office/drawing/2014/main" id="{19425188-2CFB-84DA-A0B7-F4F85AD6CE04}"/>
              </a:ext>
            </a:extLst>
          </p:cNvPr>
          <p:cNvSpPr>
            <a:spLocks noGrp="1"/>
          </p:cNvSpPr>
          <p:nvPr>
            <p:ph type="dt" sz="half" idx="10"/>
          </p:nvPr>
        </p:nvSpPr>
        <p:spPr/>
        <p:txBody>
          <a:bodyPr/>
          <a:lstStyle/>
          <a:p>
            <a:fld id="{2E854318-4E2C-D04E-8F99-5396A2FD50F3}" type="datetime1">
              <a:rPr kumimoji="1" lang="ja-JP" altLang="en-US" smtClean="0"/>
              <a:t>2026/5/15</a:t>
            </a:fld>
            <a:endParaRPr kumimoji="1" lang="ja-JP" altLang="en-US"/>
          </a:p>
        </p:txBody>
      </p:sp>
    </p:spTree>
    <p:extLst>
      <p:ext uri="{BB962C8B-B14F-4D97-AF65-F5344CB8AC3E}">
        <p14:creationId xmlns:p14="http://schemas.microsoft.com/office/powerpoint/2010/main" val="34059653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正方形/長方形 29">
            <a:extLst>
              <a:ext uri="{FF2B5EF4-FFF2-40B4-BE49-F238E27FC236}">
                <a16:creationId xmlns:a16="http://schemas.microsoft.com/office/drawing/2014/main" id="{4D551226-40E6-384B-AF48-70B93D4EBA31}"/>
              </a:ext>
            </a:extLst>
          </p:cNvPr>
          <p:cNvSpPr/>
          <p:nvPr/>
        </p:nvSpPr>
        <p:spPr>
          <a:xfrm>
            <a:off x="2221973" y="2386933"/>
            <a:ext cx="2292114" cy="753994"/>
          </a:xfrm>
          <a:prstGeom prst="rect">
            <a:avLst/>
          </a:prstGeom>
          <a:solidFill>
            <a:srgbClr val="FF8A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1367BB58-C2D4-F443-BF67-40209A1F74D0}"/>
              </a:ext>
            </a:extLst>
          </p:cNvPr>
          <p:cNvSpPr>
            <a:spLocks noGrp="1"/>
          </p:cNvSpPr>
          <p:nvPr>
            <p:ph type="title"/>
          </p:nvPr>
        </p:nvSpPr>
        <p:spPr>
          <a:xfrm>
            <a:off x="856129" y="504000"/>
            <a:ext cx="10515600" cy="900000"/>
          </a:xfrm>
        </p:spPr>
        <p:txBody>
          <a:bodyPr>
            <a:normAutofit/>
          </a:bodyPr>
          <a:lstStyle/>
          <a:p>
            <a:r>
              <a:rPr lang="en-US" altLang="ja-JP" dirty="0"/>
              <a:t>TEG protocol 2021−2023</a:t>
            </a:r>
            <a:endParaRPr kumimoji="1" lang="ja-JP" altLang="en-US"/>
          </a:p>
        </p:txBody>
      </p:sp>
      <p:sp>
        <p:nvSpPr>
          <p:cNvPr id="5" name="フッター プレースホルダー 4">
            <a:extLst>
              <a:ext uri="{FF2B5EF4-FFF2-40B4-BE49-F238E27FC236}">
                <a16:creationId xmlns:a16="http://schemas.microsoft.com/office/drawing/2014/main" id="{322653C6-ACFD-EC41-8941-BACD7085B9EA}"/>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6DF9F37C-3E58-F546-AAD4-5F1F1D8113A0}"/>
              </a:ext>
            </a:extLst>
          </p:cNvPr>
          <p:cNvSpPr>
            <a:spLocks noGrp="1"/>
          </p:cNvSpPr>
          <p:nvPr>
            <p:ph type="sldNum" sz="quarter" idx="12"/>
          </p:nvPr>
        </p:nvSpPr>
        <p:spPr/>
        <p:txBody>
          <a:bodyPr/>
          <a:lstStyle/>
          <a:p>
            <a:r>
              <a:rPr lang="en-US" altLang="ja-JP"/>
              <a:t>No. </a:t>
            </a:r>
            <a:fld id="{41B87E3F-77EC-4EFD-94DE-AA3AEB7C7760}" type="slidenum">
              <a:rPr lang="ja-JP" altLang="en-US" smtClean="0"/>
              <a:pPr/>
              <a:t>34</a:t>
            </a:fld>
            <a:endParaRPr kumimoji="1" lang="ja-JP" altLang="en-US" dirty="0"/>
          </a:p>
        </p:txBody>
      </p:sp>
      <p:sp>
        <p:nvSpPr>
          <p:cNvPr id="8" name="テキスト ボックス 7">
            <a:extLst>
              <a:ext uri="{FF2B5EF4-FFF2-40B4-BE49-F238E27FC236}">
                <a16:creationId xmlns:a16="http://schemas.microsoft.com/office/drawing/2014/main" id="{4BB13D47-8792-7B4D-831F-39593986A832}"/>
              </a:ext>
            </a:extLst>
          </p:cNvPr>
          <p:cNvSpPr txBox="1"/>
          <p:nvPr/>
        </p:nvSpPr>
        <p:spPr>
          <a:xfrm>
            <a:off x="72000" y="1728327"/>
            <a:ext cx="2456047" cy="584775"/>
          </a:xfrm>
          <a:prstGeom prst="rect">
            <a:avLst/>
          </a:prstGeom>
          <a:solidFill>
            <a:srgbClr val="FFC000"/>
          </a:solidFill>
        </p:spPr>
        <p:txBody>
          <a:bodyPr wrap="square" rtlCol="0">
            <a:spAutoFit/>
          </a:bodyPr>
          <a:lstStyle/>
          <a:p>
            <a:pPr algn="ctr"/>
            <a:r>
              <a:rPr kumimoji="1" lang="ja-JP" altLang="en-US" sz="3200"/>
              <a:t>院内外傷</a:t>
            </a:r>
            <a:r>
              <a:rPr kumimoji="1" lang="en-US" altLang="ja-JP" sz="3200" dirty="0"/>
              <a:t>Call</a:t>
            </a:r>
            <a:endParaRPr kumimoji="1" lang="ja-JP" altLang="en-US" sz="3200"/>
          </a:p>
        </p:txBody>
      </p:sp>
      <p:sp>
        <p:nvSpPr>
          <p:cNvPr id="9" name="テキスト ボックス 8">
            <a:extLst>
              <a:ext uri="{FF2B5EF4-FFF2-40B4-BE49-F238E27FC236}">
                <a16:creationId xmlns:a16="http://schemas.microsoft.com/office/drawing/2014/main" id="{F2903A67-DF13-2842-95DF-DE5D912F47F5}"/>
              </a:ext>
            </a:extLst>
          </p:cNvPr>
          <p:cNvSpPr txBox="1"/>
          <p:nvPr/>
        </p:nvSpPr>
        <p:spPr>
          <a:xfrm>
            <a:off x="302284" y="3337478"/>
            <a:ext cx="1922648" cy="461665"/>
          </a:xfrm>
          <a:prstGeom prst="rect">
            <a:avLst/>
          </a:prstGeom>
          <a:noFill/>
        </p:spPr>
        <p:txBody>
          <a:bodyPr wrap="square" rtlCol="0">
            <a:spAutoFit/>
          </a:bodyPr>
          <a:lstStyle/>
          <a:p>
            <a:r>
              <a:rPr kumimoji="1" lang="en-US" altLang="ja-JP" sz="2400" dirty="0"/>
              <a:t>MTP order</a:t>
            </a:r>
            <a:endParaRPr kumimoji="1" lang="ja-JP" altLang="en-US" sz="2400"/>
          </a:p>
        </p:txBody>
      </p:sp>
      <p:sp>
        <p:nvSpPr>
          <p:cNvPr id="10" name="テキスト ボックス 9">
            <a:extLst>
              <a:ext uri="{FF2B5EF4-FFF2-40B4-BE49-F238E27FC236}">
                <a16:creationId xmlns:a16="http://schemas.microsoft.com/office/drawing/2014/main" id="{24BA78C6-042F-0C4B-A563-EF02F2402C84}"/>
              </a:ext>
            </a:extLst>
          </p:cNvPr>
          <p:cNvSpPr txBox="1"/>
          <p:nvPr/>
        </p:nvSpPr>
        <p:spPr>
          <a:xfrm>
            <a:off x="332718" y="3799195"/>
            <a:ext cx="1771928" cy="830997"/>
          </a:xfrm>
          <a:prstGeom prst="rect">
            <a:avLst/>
          </a:prstGeom>
          <a:solidFill>
            <a:srgbClr val="7030A0">
              <a:alpha val="45000"/>
            </a:srgbClr>
          </a:solidFill>
        </p:spPr>
        <p:txBody>
          <a:bodyPr wrap="square" rtlCol="0">
            <a:spAutoFit/>
          </a:bodyPr>
          <a:lstStyle/>
          <a:p>
            <a:r>
              <a:rPr lang="en-US" altLang="ja-JP" sz="2400" dirty="0"/>
              <a:t>TEG</a:t>
            </a:r>
            <a:r>
              <a:rPr lang="ja-JP" altLang="en-US" sz="2400"/>
              <a:t>用の</a:t>
            </a:r>
            <a:endParaRPr lang="en-US" altLang="ja-JP" sz="2400" dirty="0"/>
          </a:p>
          <a:p>
            <a:r>
              <a:rPr lang="ja-JP" altLang="en-US" sz="2400"/>
              <a:t>採血管準備</a:t>
            </a:r>
            <a:endParaRPr kumimoji="1" lang="ja-JP" altLang="en-US" sz="2400"/>
          </a:p>
        </p:txBody>
      </p:sp>
      <p:sp>
        <p:nvSpPr>
          <p:cNvPr id="11" name="テキスト ボックス 10">
            <a:extLst>
              <a:ext uri="{FF2B5EF4-FFF2-40B4-BE49-F238E27FC236}">
                <a16:creationId xmlns:a16="http://schemas.microsoft.com/office/drawing/2014/main" id="{6F00F1B1-3040-B948-9D6D-FB65599C24EB}"/>
              </a:ext>
            </a:extLst>
          </p:cNvPr>
          <p:cNvSpPr txBox="1"/>
          <p:nvPr/>
        </p:nvSpPr>
        <p:spPr>
          <a:xfrm>
            <a:off x="2215461" y="2387844"/>
            <a:ext cx="2299731" cy="461665"/>
          </a:xfrm>
          <a:prstGeom prst="rect">
            <a:avLst/>
          </a:prstGeom>
          <a:noFill/>
        </p:spPr>
        <p:txBody>
          <a:bodyPr wrap="square" rtlCol="0">
            <a:spAutoFit/>
          </a:bodyPr>
          <a:lstStyle/>
          <a:p>
            <a:r>
              <a:rPr kumimoji="1" lang="en-US" altLang="ja-JP" sz="2400" dirty="0"/>
              <a:t>MTP</a:t>
            </a:r>
            <a:r>
              <a:rPr kumimoji="1" lang="ja-JP" altLang="en-US" sz="2400"/>
              <a:t>発動が予想</a:t>
            </a:r>
          </a:p>
        </p:txBody>
      </p:sp>
      <p:sp>
        <p:nvSpPr>
          <p:cNvPr id="12" name="テキスト ボックス 11">
            <a:extLst>
              <a:ext uri="{FF2B5EF4-FFF2-40B4-BE49-F238E27FC236}">
                <a16:creationId xmlns:a16="http://schemas.microsoft.com/office/drawing/2014/main" id="{395FCEB0-1883-734D-A9A9-C65D79492059}"/>
              </a:ext>
            </a:extLst>
          </p:cNvPr>
          <p:cNvSpPr txBox="1"/>
          <p:nvPr/>
        </p:nvSpPr>
        <p:spPr>
          <a:xfrm>
            <a:off x="2221973" y="2746789"/>
            <a:ext cx="1887353" cy="461665"/>
          </a:xfrm>
          <a:prstGeom prst="rect">
            <a:avLst/>
          </a:prstGeom>
          <a:noFill/>
        </p:spPr>
        <p:txBody>
          <a:bodyPr wrap="square" rtlCol="0">
            <a:spAutoFit/>
          </a:bodyPr>
          <a:lstStyle/>
          <a:p>
            <a:r>
              <a:rPr kumimoji="1" lang="en-US" altLang="ja-JP" sz="2400" dirty="0"/>
              <a:t>MTP</a:t>
            </a:r>
            <a:r>
              <a:rPr kumimoji="1" lang="ja-JP" altLang="en-US" sz="2400"/>
              <a:t>発動</a:t>
            </a:r>
          </a:p>
        </p:txBody>
      </p:sp>
      <p:sp>
        <p:nvSpPr>
          <p:cNvPr id="13" name="角丸四角形 12">
            <a:extLst>
              <a:ext uri="{FF2B5EF4-FFF2-40B4-BE49-F238E27FC236}">
                <a16:creationId xmlns:a16="http://schemas.microsoft.com/office/drawing/2014/main" id="{1D9EE25D-256E-004E-8570-D21396F185D8}"/>
              </a:ext>
            </a:extLst>
          </p:cNvPr>
          <p:cNvSpPr/>
          <p:nvPr/>
        </p:nvSpPr>
        <p:spPr>
          <a:xfrm>
            <a:off x="2604671" y="3763669"/>
            <a:ext cx="1495682" cy="583072"/>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TEG GH</a:t>
            </a:r>
            <a:endParaRPr kumimoji="1" lang="ja-JP" altLang="en-US" sz="3200"/>
          </a:p>
        </p:txBody>
      </p:sp>
      <p:sp>
        <p:nvSpPr>
          <p:cNvPr id="14" name="正方形/長方形 13">
            <a:extLst>
              <a:ext uri="{FF2B5EF4-FFF2-40B4-BE49-F238E27FC236}">
                <a16:creationId xmlns:a16="http://schemas.microsoft.com/office/drawing/2014/main" id="{5C57CD28-53E1-BD46-93B7-65C00A564254}"/>
              </a:ext>
            </a:extLst>
          </p:cNvPr>
          <p:cNvSpPr/>
          <p:nvPr/>
        </p:nvSpPr>
        <p:spPr>
          <a:xfrm>
            <a:off x="4918758" y="1583503"/>
            <a:ext cx="1475953" cy="58477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t>TEG-ACT</a:t>
            </a:r>
            <a:endParaRPr kumimoji="1" lang="ja-JP" altLang="en-US" sz="2800"/>
          </a:p>
        </p:txBody>
      </p:sp>
      <p:sp>
        <p:nvSpPr>
          <p:cNvPr id="15" name="正方形/長方形 14">
            <a:extLst>
              <a:ext uri="{FF2B5EF4-FFF2-40B4-BE49-F238E27FC236}">
                <a16:creationId xmlns:a16="http://schemas.microsoft.com/office/drawing/2014/main" id="{66090A0F-E984-0E48-9659-79BC08E1196E}"/>
              </a:ext>
            </a:extLst>
          </p:cNvPr>
          <p:cNvSpPr/>
          <p:nvPr/>
        </p:nvSpPr>
        <p:spPr>
          <a:xfrm>
            <a:off x="5550082" y="2256926"/>
            <a:ext cx="1717591" cy="875275"/>
          </a:xfrm>
          <a:prstGeom prst="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t>CRT-Angle</a:t>
            </a:r>
          </a:p>
          <a:p>
            <a:pPr algn="ctr"/>
            <a:r>
              <a:rPr lang="en-US" altLang="ja-JP" sz="2800" dirty="0"/>
              <a:t>CFF-MA</a:t>
            </a:r>
            <a:endParaRPr kumimoji="1" lang="ja-JP" altLang="en-US" sz="2800"/>
          </a:p>
        </p:txBody>
      </p:sp>
      <p:sp>
        <p:nvSpPr>
          <p:cNvPr id="16" name="正方形/長方形 15">
            <a:extLst>
              <a:ext uri="{FF2B5EF4-FFF2-40B4-BE49-F238E27FC236}">
                <a16:creationId xmlns:a16="http://schemas.microsoft.com/office/drawing/2014/main" id="{2D997D14-DBA8-3945-8A46-247D3E31B248}"/>
              </a:ext>
            </a:extLst>
          </p:cNvPr>
          <p:cNvSpPr/>
          <p:nvPr/>
        </p:nvSpPr>
        <p:spPr>
          <a:xfrm>
            <a:off x="7550805" y="1832596"/>
            <a:ext cx="1475953" cy="92515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t>CRT-MA</a:t>
            </a:r>
          </a:p>
          <a:p>
            <a:pPr algn="ctr"/>
            <a:r>
              <a:rPr kumimoji="1" lang="ja-JP" altLang="en-US" sz="2800"/>
              <a:t>血算</a:t>
            </a:r>
          </a:p>
        </p:txBody>
      </p:sp>
      <p:cxnSp>
        <p:nvCxnSpPr>
          <p:cNvPr id="17" name="直線矢印コネクタ 16">
            <a:extLst>
              <a:ext uri="{FF2B5EF4-FFF2-40B4-BE49-F238E27FC236}">
                <a16:creationId xmlns:a16="http://schemas.microsoft.com/office/drawing/2014/main" id="{4D57F9D6-4AB5-F444-9D23-31C05DF9D586}"/>
              </a:ext>
            </a:extLst>
          </p:cNvPr>
          <p:cNvCxnSpPr>
            <a:cxnSpLocks/>
          </p:cNvCxnSpPr>
          <p:nvPr/>
        </p:nvCxnSpPr>
        <p:spPr>
          <a:xfrm>
            <a:off x="72000" y="3209365"/>
            <a:ext cx="1145661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E8D11067-2817-C547-ACCC-4CF5A659FDBC}"/>
              </a:ext>
            </a:extLst>
          </p:cNvPr>
          <p:cNvCxnSpPr>
            <a:cxnSpLocks/>
          </p:cNvCxnSpPr>
          <p:nvPr/>
        </p:nvCxnSpPr>
        <p:spPr>
          <a:xfrm>
            <a:off x="856129" y="2313102"/>
            <a:ext cx="0" cy="1115898"/>
          </a:xfrm>
          <a:prstGeom prst="straightConnector1">
            <a:avLst/>
          </a:prstGeom>
          <a:ln w="4762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AEF30DB6-24CF-3641-89A6-2A5225773DCA}"/>
              </a:ext>
            </a:extLst>
          </p:cNvPr>
          <p:cNvCxnSpPr>
            <a:cxnSpLocks/>
          </p:cNvCxnSpPr>
          <p:nvPr/>
        </p:nvCxnSpPr>
        <p:spPr>
          <a:xfrm>
            <a:off x="5217464" y="2168274"/>
            <a:ext cx="0" cy="1529280"/>
          </a:xfrm>
          <a:prstGeom prst="straightConnector1">
            <a:avLst/>
          </a:prstGeom>
          <a:ln w="4762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E747E598-6D6A-DD4B-AA2D-6AD0F7857E3D}"/>
              </a:ext>
            </a:extLst>
          </p:cNvPr>
          <p:cNvCxnSpPr>
            <a:cxnSpLocks/>
            <a:stCxn id="15" idx="2"/>
          </p:cNvCxnSpPr>
          <p:nvPr/>
        </p:nvCxnSpPr>
        <p:spPr>
          <a:xfrm flipH="1">
            <a:off x="6403674" y="3132201"/>
            <a:ext cx="5204" cy="1181326"/>
          </a:xfrm>
          <a:prstGeom prst="straightConnector1">
            <a:avLst/>
          </a:prstGeom>
          <a:ln w="4762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DADD7D89-F6FB-D54E-A1ED-E54125750ED9}"/>
              </a:ext>
            </a:extLst>
          </p:cNvPr>
          <p:cNvCxnSpPr>
            <a:cxnSpLocks/>
          </p:cNvCxnSpPr>
          <p:nvPr/>
        </p:nvCxnSpPr>
        <p:spPr>
          <a:xfrm>
            <a:off x="8284299" y="2748784"/>
            <a:ext cx="0" cy="1291209"/>
          </a:xfrm>
          <a:prstGeom prst="straightConnector1">
            <a:avLst/>
          </a:prstGeom>
          <a:ln w="4762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00646980-6EF2-7E4D-A788-B51757855110}"/>
              </a:ext>
            </a:extLst>
          </p:cNvPr>
          <p:cNvCxnSpPr>
            <a:cxnSpLocks/>
          </p:cNvCxnSpPr>
          <p:nvPr/>
        </p:nvCxnSpPr>
        <p:spPr>
          <a:xfrm>
            <a:off x="3377852" y="3140927"/>
            <a:ext cx="0" cy="556627"/>
          </a:xfrm>
          <a:prstGeom prst="straightConnector1">
            <a:avLst/>
          </a:prstGeom>
          <a:ln w="4762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4ECE7858-12F7-3843-BB40-7E0D51B0484C}"/>
              </a:ext>
            </a:extLst>
          </p:cNvPr>
          <p:cNvSpPr txBox="1"/>
          <p:nvPr/>
        </p:nvSpPr>
        <p:spPr>
          <a:xfrm>
            <a:off x="5324065" y="3268794"/>
            <a:ext cx="833712" cy="369332"/>
          </a:xfrm>
          <a:prstGeom prst="rect">
            <a:avLst/>
          </a:prstGeom>
          <a:solidFill>
            <a:schemeClr val="bg1"/>
          </a:solidFill>
          <a:ln w="34925">
            <a:solidFill>
              <a:srgbClr val="00B0F0"/>
            </a:solidFill>
          </a:ln>
        </p:spPr>
        <p:txBody>
          <a:bodyPr wrap="square" rtlCol="0" anchor="ctr">
            <a:spAutoFit/>
          </a:bodyPr>
          <a:lstStyle/>
          <a:p>
            <a:pPr algn="ctr"/>
            <a:r>
              <a:rPr lang="en-US" altLang="ja-JP" dirty="0"/>
              <a:t>&gt;</a:t>
            </a:r>
            <a:r>
              <a:rPr kumimoji="1" lang="en-US" altLang="ja-JP" dirty="0"/>
              <a:t>130</a:t>
            </a:r>
            <a:endParaRPr kumimoji="1" lang="ja-JP" altLang="en-US"/>
          </a:p>
        </p:txBody>
      </p:sp>
      <p:sp>
        <p:nvSpPr>
          <p:cNvPr id="36" name="角丸四角形 35">
            <a:extLst>
              <a:ext uri="{FF2B5EF4-FFF2-40B4-BE49-F238E27FC236}">
                <a16:creationId xmlns:a16="http://schemas.microsoft.com/office/drawing/2014/main" id="{AC0A00F5-523D-264B-A31E-9B728C1801D5}"/>
              </a:ext>
            </a:extLst>
          </p:cNvPr>
          <p:cNvSpPr/>
          <p:nvPr/>
        </p:nvSpPr>
        <p:spPr>
          <a:xfrm>
            <a:off x="4631878" y="3765992"/>
            <a:ext cx="1165412" cy="583072"/>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3200" dirty="0"/>
              <a:t>FFP</a:t>
            </a:r>
            <a:endParaRPr kumimoji="1" lang="ja-JP" altLang="en-US" sz="3200"/>
          </a:p>
        </p:txBody>
      </p:sp>
      <p:sp>
        <p:nvSpPr>
          <p:cNvPr id="37" name="テキスト ボックス 36">
            <a:extLst>
              <a:ext uri="{FF2B5EF4-FFF2-40B4-BE49-F238E27FC236}">
                <a16:creationId xmlns:a16="http://schemas.microsoft.com/office/drawing/2014/main" id="{501C787B-64E5-4F4D-95F2-097FCB1313FE}"/>
              </a:ext>
            </a:extLst>
          </p:cNvPr>
          <p:cNvSpPr txBox="1"/>
          <p:nvPr/>
        </p:nvSpPr>
        <p:spPr>
          <a:xfrm>
            <a:off x="6547099" y="3541030"/>
            <a:ext cx="994741" cy="646331"/>
          </a:xfrm>
          <a:prstGeom prst="rect">
            <a:avLst/>
          </a:prstGeom>
          <a:solidFill>
            <a:schemeClr val="bg1"/>
          </a:solidFill>
          <a:ln w="34925">
            <a:solidFill>
              <a:schemeClr val="tx2">
                <a:lumMod val="50000"/>
                <a:lumOff val="50000"/>
              </a:schemeClr>
            </a:solidFill>
          </a:ln>
        </p:spPr>
        <p:txBody>
          <a:bodyPr wrap="square" rtlCol="0" anchor="ctr">
            <a:spAutoFit/>
          </a:bodyPr>
          <a:lstStyle/>
          <a:p>
            <a:pPr algn="ctr"/>
            <a:r>
              <a:rPr lang="en-US" altLang="ja-JP" dirty="0"/>
              <a:t>&lt;60°</a:t>
            </a:r>
          </a:p>
          <a:p>
            <a:pPr algn="ctr"/>
            <a:r>
              <a:rPr kumimoji="1" lang="en-US" altLang="ja-JP" dirty="0"/>
              <a:t>&lt;15</a:t>
            </a:r>
            <a:r>
              <a:rPr lang="en-US" altLang="ja-JP" dirty="0"/>
              <a:t>mm</a:t>
            </a:r>
            <a:endParaRPr kumimoji="1" lang="ja-JP" altLang="en-US"/>
          </a:p>
        </p:txBody>
      </p:sp>
      <p:sp>
        <p:nvSpPr>
          <p:cNvPr id="39" name="角丸四角形 38">
            <a:extLst>
              <a:ext uri="{FF2B5EF4-FFF2-40B4-BE49-F238E27FC236}">
                <a16:creationId xmlns:a16="http://schemas.microsoft.com/office/drawing/2014/main" id="{2E4A92A5-3AB7-9142-A725-CB232A7DBC17}"/>
              </a:ext>
            </a:extLst>
          </p:cNvPr>
          <p:cNvSpPr/>
          <p:nvPr/>
        </p:nvSpPr>
        <p:spPr>
          <a:xfrm>
            <a:off x="5623752" y="4391134"/>
            <a:ext cx="1559844" cy="583072"/>
          </a:xfrm>
          <a:prstGeom prst="round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3200" dirty="0"/>
              <a:t>Fib</a:t>
            </a:r>
            <a:r>
              <a:rPr lang="ja-JP" altLang="en-US" sz="3200"/>
              <a:t>製剤</a:t>
            </a:r>
            <a:endParaRPr kumimoji="1" lang="ja-JP" altLang="en-US" sz="3200"/>
          </a:p>
        </p:txBody>
      </p:sp>
      <p:sp>
        <p:nvSpPr>
          <p:cNvPr id="41" name="テキスト ボックス 40">
            <a:extLst>
              <a:ext uri="{FF2B5EF4-FFF2-40B4-BE49-F238E27FC236}">
                <a16:creationId xmlns:a16="http://schemas.microsoft.com/office/drawing/2014/main" id="{C4B38D67-61AB-5E40-AE88-97994BC17822}"/>
              </a:ext>
            </a:extLst>
          </p:cNvPr>
          <p:cNvSpPr txBox="1"/>
          <p:nvPr/>
        </p:nvSpPr>
        <p:spPr>
          <a:xfrm>
            <a:off x="7803047" y="3383644"/>
            <a:ext cx="1106371" cy="369332"/>
          </a:xfrm>
          <a:prstGeom prst="rect">
            <a:avLst/>
          </a:prstGeom>
          <a:solidFill>
            <a:schemeClr val="bg1"/>
          </a:solidFill>
          <a:ln w="34925">
            <a:solidFill>
              <a:srgbClr val="00B050"/>
            </a:solidFill>
          </a:ln>
        </p:spPr>
        <p:txBody>
          <a:bodyPr wrap="square" rtlCol="0" anchor="ctr">
            <a:spAutoFit/>
          </a:bodyPr>
          <a:lstStyle/>
          <a:p>
            <a:pPr algn="ctr"/>
            <a:r>
              <a:rPr kumimoji="1" lang="en-US" altLang="ja-JP" dirty="0"/>
              <a:t>&lt;55mm</a:t>
            </a:r>
            <a:endParaRPr kumimoji="1" lang="ja-JP" altLang="en-US"/>
          </a:p>
        </p:txBody>
      </p:sp>
      <p:sp>
        <p:nvSpPr>
          <p:cNvPr id="43" name="角丸四角形 42">
            <a:extLst>
              <a:ext uri="{FF2B5EF4-FFF2-40B4-BE49-F238E27FC236}">
                <a16:creationId xmlns:a16="http://schemas.microsoft.com/office/drawing/2014/main" id="{88DA10C8-7BD1-D442-BA24-12DFCADA4C13}"/>
              </a:ext>
            </a:extLst>
          </p:cNvPr>
          <p:cNvSpPr/>
          <p:nvPr/>
        </p:nvSpPr>
        <p:spPr>
          <a:xfrm>
            <a:off x="7701593" y="4088514"/>
            <a:ext cx="1165411" cy="583072"/>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err="1"/>
              <a:t>Plt</a:t>
            </a:r>
            <a:endParaRPr kumimoji="1" lang="ja-JP" altLang="en-US" sz="3200"/>
          </a:p>
        </p:txBody>
      </p:sp>
      <p:sp>
        <p:nvSpPr>
          <p:cNvPr id="44" name="テキスト ボックス 43">
            <a:extLst>
              <a:ext uri="{FF2B5EF4-FFF2-40B4-BE49-F238E27FC236}">
                <a16:creationId xmlns:a16="http://schemas.microsoft.com/office/drawing/2014/main" id="{6184C43D-2D33-2A44-B163-889ECBD418B3}"/>
              </a:ext>
            </a:extLst>
          </p:cNvPr>
          <p:cNvSpPr txBox="1"/>
          <p:nvPr/>
        </p:nvSpPr>
        <p:spPr>
          <a:xfrm>
            <a:off x="9508010" y="1724947"/>
            <a:ext cx="1959071" cy="1077218"/>
          </a:xfrm>
          <a:prstGeom prst="rect">
            <a:avLst/>
          </a:prstGeom>
          <a:solidFill>
            <a:srgbClr val="C00000">
              <a:alpha val="52000"/>
            </a:srgbClr>
          </a:solidFill>
        </p:spPr>
        <p:txBody>
          <a:bodyPr wrap="square" rtlCol="0">
            <a:spAutoFit/>
          </a:bodyPr>
          <a:lstStyle/>
          <a:p>
            <a:pPr algn="ctr"/>
            <a:r>
              <a:rPr kumimoji="1" lang="ja-JP" altLang="en-US" sz="3200"/>
              <a:t>止血処置難渋</a:t>
            </a:r>
          </a:p>
        </p:txBody>
      </p:sp>
      <p:cxnSp>
        <p:nvCxnSpPr>
          <p:cNvPr id="45" name="直線矢印コネクタ 44">
            <a:extLst>
              <a:ext uri="{FF2B5EF4-FFF2-40B4-BE49-F238E27FC236}">
                <a16:creationId xmlns:a16="http://schemas.microsoft.com/office/drawing/2014/main" id="{04360B97-72B6-F74C-BC30-06E773310A04}"/>
              </a:ext>
            </a:extLst>
          </p:cNvPr>
          <p:cNvCxnSpPr>
            <a:cxnSpLocks/>
          </p:cNvCxnSpPr>
          <p:nvPr/>
        </p:nvCxnSpPr>
        <p:spPr>
          <a:xfrm>
            <a:off x="10487545" y="2780851"/>
            <a:ext cx="0" cy="916703"/>
          </a:xfrm>
          <a:prstGeom prst="straightConnector1">
            <a:avLst/>
          </a:prstGeom>
          <a:ln w="4762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8" name="角丸四角形 47">
            <a:extLst>
              <a:ext uri="{FF2B5EF4-FFF2-40B4-BE49-F238E27FC236}">
                <a16:creationId xmlns:a16="http://schemas.microsoft.com/office/drawing/2014/main" id="{7FE1BC2A-3796-BF48-AAB7-DC8E6796A308}"/>
              </a:ext>
            </a:extLst>
          </p:cNvPr>
          <p:cNvSpPr/>
          <p:nvPr/>
        </p:nvSpPr>
        <p:spPr>
          <a:xfrm>
            <a:off x="9649481" y="3761760"/>
            <a:ext cx="1676127" cy="952316"/>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Repeat</a:t>
            </a:r>
          </a:p>
          <a:p>
            <a:pPr algn="ctr"/>
            <a:r>
              <a:rPr kumimoji="1" lang="en-US" altLang="ja-JP" sz="3200" dirty="0"/>
              <a:t>TEG</a:t>
            </a:r>
            <a:endParaRPr kumimoji="1" lang="ja-JP" altLang="en-US" sz="3200"/>
          </a:p>
        </p:txBody>
      </p:sp>
      <p:sp>
        <p:nvSpPr>
          <p:cNvPr id="49" name="テキスト ボックス 48">
            <a:extLst>
              <a:ext uri="{FF2B5EF4-FFF2-40B4-BE49-F238E27FC236}">
                <a16:creationId xmlns:a16="http://schemas.microsoft.com/office/drawing/2014/main" id="{20B630D8-0BA4-E04C-ACE4-37B0A2BBD05D}"/>
              </a:ext>
            </a:extLst>
          </p:cNvPr>
          <p:cNvSpPr txBox="1"/>
          <p:nvPr/>
        </p:nvSpPr>
        <p:spPr>
          <a:xfrm>
            <a:off x="2433606" y="4362984"/>
            <a:ext cx="1922648" cy="461665"/>
          </a:xfrm>
          <a:prstGeom prst="rect">
            <a:avLst/>
          </a:prstGeom>
          <a:noFill/>
        </p:spPr>
        <p:txBody>
          <a:bodyPr wrap="square" rtlCol="0">
            <a:spAutoFit/>
          </a:bodyPr>
          <a:lstStyle/>
          <a:p>
            <a:pPr algn="ctr"/>
            <a:r>
              <a:rPr kumimoji="1" lang="en-US" altLang="ja-JP" sz="2400" dirty="0"/>
              <a:t>TXA</a:t>
            </a:r>
            <a:r>
              <a:rPr kumimoji="1" lang="ja-JP" altLang="en-US" sz="2400"/>
              <a:t>投与</a:t>
            </a:r>
          </a:p>
        </p:txBody>
      </p:sp>
      <p:sp>
        <p:nvSpPr>
          <p:cNvPr id="50" name="テキスト ボックス 49">
            <a:extLst>
              <a:ext uri="{FF2B5EF4-FFF2-40B4-BE49-F238E27FC236}">
                <a16:creationId xmlns:a16="http://schemas.microsoft.com/office/drawing/2014/main" id="{8742BAE7-64E9-6B47-9884-4F16FBD8EA7E}"/>
              </a:ext>
            </a:extLst>
          </p:cNvPr>
          <p:cNvSpPr txBox="1"/>
          <p:nvPr/>
        </p:nvSpPr>
        <p:spPr>
          <a:xfrm>
            <a:off x="241397" y="5081970"/>
            <a:ext cx="8695482" cy="523220"/>
          </a:xfrm>
          <a:prstGeom prst="rect">
            <a:avLst/>
          </a:prstGeom>
          <a:noFill/>
        </p:spPr>
        <p:txBody>
          <a:bodyPr wrap="square" rtlCol="0">
            <a:spAutoFit/>
          </a:bodyPr>
          <a:lstStyle/>
          <a:p>
            <a:r>
              <a:rPr kumimoji="1" lang="ja-JP" altLang="en-US" sz="2800"/>
              <a:t>あくまで</a:t>
            </a:r>
            <a:r>
              <a:rPr kumimoji="1" lang="en-US" altLang="ja-JP" sz="2800" dirty="0"/>
              <a:t>POCT</a:t>
            </a:r>
            <a:r>
              <a:rPr kumimoji="1" lang="ja-JP" altLang="en-US" sz="2800"/>
              <a:t>であり実際の投与</a:t>
            </a:r>
            <a:r>
              <a:rPr kumimoji="1" lang="en-US" altLang="ja-JP" sz="2800" dirty="0"/>
              <a:t>,</a:t>
            </a:r>
            <a:r>
              <a:rPr kumimoji="1" lang="ja-JP" altLang="en-US" sz="2800"/>
              <a:t> 投与量は現場判断</a:t>
            </a:r>
          </a:p>
        </p:txBody>
      </p:sp>
      <p:sp>
        <p:nvSpPr>
          <p:cNvPr id="51" name="テキスト ボックス 50">
            <a:extLst>
              <a:ext uri="{FF2B5EF4-FFF2-40B4-BE49-F238E27FC236}">
                <a16:creationId xmlns:a16="http://schemas.microsoft.com/office/drawing/2014/main" id="{BDAC2E35-3DB4-B346-BA57-CCD20303DF1A}"/>
              </a:ext>
            </a:extLst>
          </p:cNvPr>
          <p:cNvSpPr txBox="1"/>
          <p:nvPr/>
        </p:nvSpPr>
        <p:spPr>
          <a:xfrm>
            <a:off x="235916" y="5520675"/>
            <a:ext cx="8240676" cy="523220"/>
          </a:xfrm>
          <a:prstGeom prst="rect">
            <a:avLst/>
          </a:prstGeom>
          <a:noFill/>
        </p:spPr>
        <p:txBody>
          <a:bodyPr wrap="square" rtlCol="0">
            <a:spAutoFit/>
          </a:bodyPr>
          <a:lstStyle/>
          <a:p>
            <a:r>
              <a:rPr kumimoji="1" lang="en-US" altLang="ja-JP" sz="2800" dirty="0"/>
              <a:t>TEG</a:t>
            </a:r>
            <a:r>
              <a:rPr kumimoji="1" lang="ja-JP" altLang="en-US" sz="2800"/>
              <a:t>のために介入がおくれてはならない</a:t>
            </a:r>
          </a:p>
        </p:txBody>
      </p:sp>
      <p:sp>
        <p:nvSpPr>
          <p:cNvPr id="3" name="日付プレースホルダー 2">
            <a:extLst>
              <a:ext uri="{FF2B5EF4-FFF2-40B4-BE49-F238E27FC236}">
                <a16:creationId xmlns:a16="http://schemas.microsoft.com/office/drawing/2014/main" id="{BE260323-48FB-5CAC-2F36-E75EA7BDF1D5}"/>
              </a:ext>
            </a:extLst>
          </p:cNvPr>
          <p:cNvSpPr>
            <a:spLocks noGrp="1"/>
          </p:cNvSpPr>
          <p:nvPr>
            <p:ph type="dt" sz="half" idx="10"/>
          </p:nvPr>
        </p:nvSpPr>
        <p:spPr/>
        <p:txBody>
          <a:bodyPr/>
          <a:lstStyle/>
          <a:p>
            <a:fld id="{AED40FEC-076C-C641-AD4D-99FDC2BD71AD}" type="datetime1">
              <a:rPr kumimoji="1" lang="ja-JP" altLang="en-US" smtClean="0"/>
              <a:t>2026/5/15</a:t>
            </a:fld>
            <a:endParaRPr kumimoji="1" lang="ja-JP" altLang="en-US"/>
          </a:p>
        </p:txBody>
      </p:sp>
    </p:spTree>
    <p:extLst>
      <p:ext uri="{BB962C8B-B14F-4D97-AF65-F5344CB8AC3E}">
        <p14:creationId xmlns:p14="http://schemas.microsoft.com/office/powerpoint/2010/main" val="14081506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F5BDE806-FCB4-86CF-61DE-FC671F6398EB}"/>
              </a:ext>
            </a:extLst>
          </p:cNvPr>
          <p:cNvSpPr>
            <a:spLocks noGrp="1"/>
          </p:cNvSpPr>
          <p:nvPr>
            <p:ph type="dt" sz="half" idx="10"/>
          </p:nvPr>
        </p:nvSpPr>
        <p:spPr/>
        <p:txBody>
          <a:bodyPr/>
          <a:lstStyle/>
          <a:p>
            <a:fld id="{B974BE26-465D-8A47-AC9C-A8D9B97CE719}"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578F0900-F132-D73F-5266-58EC998D6C66}"/>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BBE8A6DE-5C52-5D53-C91A-3C22128F3388}"/>
              </a:ext>
            </a:extLst>
          </p:cNvPr>
          <p:cNvSpPr>
            <a:spLocks noGrp="1"/>
          </p:cNvSpPr>
          <p:nvPr>
            <p:ph type="sldNum" sz="quarter" idx="12"/>
          </p:nvPr>
        </p:nvSpPr>
        <p:spPr/>
        <p:txBody>
          <a:bodyPr/>
          <a:lstStyle/>
          <a:p>
            <a:r>
              <a:rPr lang="en-US" altLang="ja-JP"/>
              <a:t>No. </a:t>
            </a:r>
            <a:fld id="{41B87E3F-77EC-4EFD-94DE-AA3AEB7C7760}" type="slidenum">
              <a:rPr lang="ja-JP" altLang="en-US" smtClean="0"/>
              <a:pPr/>
              <a:t>35</a:t>
            </a:fld>
            <a:endParaRPr kumimoji="1" lang="ja-JP" altLang="en-US" dirty="0"/>
          </a:p>
        </p:txBody>
      </p:sp>
      <p:sp>
        <p:nvSpPr>
          <p:cNvPr id="3" name="テキスト ボックス 2">
            <a:extLst>
              <a:ext uri="{FF2B5EF4-FFF2-40B4-BE49-F238E27FC236}">
                <a16:creationId xmlns:a16="http://schemas.microsoft.com/office/drawing/2014/main" id="{0FA0839C-67BF-679C-E146-8C7EF0FC72AB}"/>
              </a:ext>
            </a:extLst>
          </p:cNvPr>
          <p:cNvSpPr txBox="1"/>
          <p:nvPr/>
        </p:nvSpPr>
        <p:spPr>
          <a:xfrm>
            <a:off x="167267" y="1672683"/>
            <a:ext cx="7248293" cy="584775"/>
          </a:xfrm>
          <a:prstGeom prst="rect">
            <a:avLst/>
          </a:prstGeom>
          <a:noFill/>
        </p:spPr>
        <p:txBody>
          <a:bodyPr wrap="square" rtlCol="0">
            <a:spAutoFit/>
          </a:bodyPr>
          <a:lstStyle/>
          <a:p>
            <a:r>
              <a:rPr kumimoji="1" lang="en-US" altLang="ja-JP" sz="3200" b="1" dirty="0"/>
              <a:t>TEG GH</a:t>
            </a:r>
            <a:r>
              <a:rPr lang="ja-JP" altLang="en-US" sz="3200" b="1"/>
              <a:t>を使用してみてわかったこと</a:t>
            </a:r>
            <a:endParaRPr kumimoji="1" lang="ja-JP" altLang="en-US" sz="3200" b="1"/>
          </a:p>
        </p:txBody>
      </p:sp>
      <p:sp>
        <p:nvSpPr>
          <p:cNvPr id="7" name="テキスト ボックス 6">
            <a:extLst>
              <a:ext uri="{FF2B5EF4-FFF2-40B4-BE49-F238E27FC236}">
                <a16:creationId xmlns:a16="http://schemas.microsoft.com/office/drawing/2014/main" id="{A2C92FE9-7E1C-E99D-F626-C91A0C188ECB}"/>
              </a:ext>
            </a:extLst>
          </p:cNvPr>
          <p:cNvSpPr txBox="1"/>
          <p:nvPr/>
        </p:nvSpPr>
        <p:spPr>
          <a:xfrm>
            <a:off x="602166" y="2370010"/>
            <a:ext cx="8098805" cy="461665"/>
          </a:xfrm>
          <a:prstGeom prst="rect">
            <a:avLst/>
          </a:prstGeom>
          <a:noFill/>
        </p:spPr>
        <p:txBody>
          <a:bodyPr wrap="square" rtlCol="0">
            <a:spAutoFit/>
          </a:bodyPr>
          <a:lstStyle/>
          <a:p>
            <a:r>
              <a:rPr kumimoji="1" lang="ja-JP" altLang="en-US" sz="2400"/>
              <a:t>重症病態では主観的判断で最初の輸血を行うことが多い</a:t>
            </a:r>
          </a:p>
        </p:txBody>
      </p:sp>
      <p:sp>
        <p:nvSpPr>
          <p:cNvPr id="8" name="テキスト ボックス 7">
            <a:extLst>
              <a:ext uri="{FF2B5EF4-FFF2-40B4-BE49-F238E27FC236}">
                <a16:creationId xmlns:a16="http://schemas.microsoft.com/office/drawing/2014/main" id="{67AE4793-7DC7-6E9B-A122-BDD8A37EBE70}"/>
              </a:ext>
            </a:extLst>
          </p:cNvPr>
          <p:cNvSpPr txBox="1"/>
          <p:nvPr/>
        </p:nvSpPr>
        <p:spPr>
          <a:xfrm>
            <a:off x="602165" y="2887033"/>
            <a:ext cx="8098805" cy="461665"/>
          </a:xfrm>
          <a:prstGeom prst="rect">
            <a:avLst/>
          </a:prstGeom>
          <a:noFill/>
        </p:spPr>
        <p:txBody>
          <a:bodyPr wrap="square" rtlCol="0">
            <a:spAutoFit/>
          </a:bodyPr>
          <a:lstStyle/>
          <a:p>
            <a:r>
              <a:rPr kumimoji="1" lang="en-US" altLang="ja-JP" sz="2400" dirty="0"/>
              <a:t>TEG GH CFF-MA</a:t>
            </a:r>
            <a:r>
              <a:rPr kumimoji="1" lang="ja-JP" altLang="en-US" sz="2400"/>
              <a:t>と凝固検査での</a:t>
            </a:r>
            <a:r>
              <a:rPr kumimoji="1" lang="en-US" altLang="ja-JP" sz="2400" dirty="0"/>
              <a:t>Fib</a:t>
            </a:r>
            <a:r>
              <a:rPr kumimoji="1" lang="ja-JP" altLang="en-US" sz="2400"/>
              <a:t>の相関は完璧ではない</a:t>
            </a:r>
          </a:p>
        </p:txBody>
      </p:sp>
      <p:sp>
        <p:nvSpPr>
          <p:cNvPr id="9" name="テキスト ボックス 8">
            <a:extLst>
              <a:ext uri="{FF2B5EF4-FFF2-40B4-BE49-F238E27FC236}">
                <a16:creationId xmlns:a16="http://schemas.microsoft.com/office/drawing/2014/main" id="{6A7B255B-77B9-3DE4-ADE9-530B8E3DFA5D}"/>
              </a:ext>
            </a:extLst>
          </p:cNvPr>
          <p:cNvSpPr txBox="1"/>
          <p:nvPr/>
        </p:nvSpPr>
        <p:spPr>
          <a:xfrm>
            <a:off x="602164" y="3386548"/>
            <a:ext cx="9735016" cy="461665"/>
          </a:xfrm>
          <a:prstGeom prst="rect">
            <a:avLst/>
          </a:prstGeom>
          <a:noFill/>
        </p:spPr>
        <p:txBody>
          <a:bodyPr wrap="square" rtlCol="0">
            <a:spAutoFit/>
          </a:bodyPr>
          <a:lstStyle/>
          <a:p>
            <a:r>
              <a:rPr lang="ja-JP" altLang="en-US" sz="2400"/>
              <a:t>真の重症の場合あまり最初の輸血方針に寄与していない可能性が高い</a:t>
            </a:r>
            <a:endParaRPr kumimoji="1" lang="ja-JP" altLang="en-US" sz="2400"/>
          </a:p>
        </p:txBody>
      </p:sp>
      <p:sp>
        <p:nvSpPr>
          <p:cNvPr id="10" name="テキスト ボックス 9">
            <a:extLst>
              <a:ext uri="{FF2B5EF4-FFF2-40B4-BE49-F238E27FC236}">
                <a16:creationId xmlns:a16="http://schemas.microsoft.com/office/drawing/2014/main" id="{AF055930-ACC8-B8D5-02EF-6712FCE40826}"/>
              </a:ext>
            </a:extLst>
          </p:cNvPr>
          <p:cNvSpPr txBox="1"/>
          <p:nvPr/>
        </p:nvSpPr>
        <p:spPr>
          <a:xfrm>
            <a:off x="602164" y="3952730"/>
            <a:ext cx="9378177" cy="461665"/>
          </a:xfrm>
          <a:prstGeom prst="rect">
            <a:avLst/>
          </a:prstGeom>
          <a:noFill/>
        </p:spPr>
        <p:txBody>
          <a:bodyPr wrap="square" rtlCol="0">
            <a:spAutoFit/>
          </a:bodyPr>
          <a:lstStyle/>
          <a:p>
            <a:r>
              <a:rPr lang="ja-JP" altLang="en-US" sz="2400"/>
              <a:t>最初の段階では確認もできないことが多い</a:t>
            </a:r>
            <a:endParaRPr kumimoji="1" lang="ja-JP" altLang="en-US" sz="2400"/>
          </a:p>
        </p:txBody>
      </p:sp>
      <p:sp>
        <p:nvSpPr>
          <p:cNvPr id="11" name="タイトル 1">
            <a:extLst>
              <a:ext uri="{FF2B5EF4-FFF2-40B4-BE49-F238E27FC236}">
                <a16:creationId xmlns:a16="http://schemas.microsoft.com/office/drawing/2014/main" id="{E1204C06-9731-C1BC-74C4-AA031F4D2041}"/>
              </a:ext>
            </a:extLst>
          </p:cNvPr>
          <p:cNvSpPr>
            <a:spLocks noGrp="1"/>
          </p:cNvSpPr>
          <p:nvPr>
            <p:ph type="title"/>
          </p:nvPr>
        </p:nvSpPr>
        <p:spPr/>
        <p:txBody>
          <a:bodyPr>
            <a:normAutofit/>
          </a:bodyPr>
          <a:lstStyle/>
          <a:p>
            <a:r>
              <a:rPr lang="en-US" altLang="ja-JP" dirty="0"/>
              <a:t>TEG protocol 2021−2023</a:t>
            </a:r>
            <a:r>
              <a:rPr lang="ja-JP" altLang="en-US"/>
              <a:t>をやってみて</a:t>
            </a:r>
            <a:endParaRPr kumimoji="1" lang="ja-JP" altLang="en-US"/>
          </a:p>
        </p:txBody>
      </p:sp>
    </p:spTree>
    <p:extLst>
      <p:ext uri="{BB962C8B-B14F-4D97-AF65-F5344CB8AC3E}">
        <p14:creationId xmlns:p14="http://schemas.microsoft.com/office/powerpoint/2010/main" val="30268256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23CE82-4814-245B-5AD6-F76DD495277D}"/>
              </a:ext>
            </a:extLst>
          </p:cNvPr>
          <p:cNvSpPr>
            <a:spLocks noGrp="1"/>
          </p:cNvSpPr>
          <p:nvPr>
            <p:ph type="title"/>
          </p:nvPr>
        </p:nvSpPr>
        <p:spPr/>
        <p:txBody>
          <a:bodyPr/>
          <a:lstStyle/>
          <a:p>
            <a:r>
              <a:rPr kumimoji="1" lang="en-US" altLang="ja-JP" dirty="0"/>
              <a:t>2024</a:t>
            </a:r>
            <a:r>
              <a:rPr kumimoji="1" lang="ja-JP" altLang="en-US"/>
              <a:t> </a:t>
            </a:r>
            <a:r>
              <a:rPr kumimoji="1" lang="en-US" altLang="ja-JP" dirty="0"/>
              <a:t>TEG protocol update</a:t>
            </a:r>
            <a:endParaRPr kumimoji="1" lang="ja-JP" altLang="en-US"/>
          </a:p>
        </p:txBody>
      </p:sp>
      <p:sp>
        <p:nvSpPr>
          <p:cNvPr id="4" name="日付プレースホルダー 3">
            <a:extLst>
              <a:ext uri="{FF2B5EF4-FFF2-40B4-BE49-F238E27FC236}">
                <a16:creationId xmlns:a16="http://schemas.microsoft.com/office/drawing/2014/main" id="{8712E1AC-8185-B5A8-3407-6612B7692DAB}"/>
              </a:ext>
            </a:extLst>
          </p:cNvPr>
          <p:cNvSpPr>
            <a:spLocks noGrp="1"/>
          </p:cNvSpPr>
          <p:nvPr>
            <p:ph type="dt" sz="half" idx="10"/>
          </p:nvPr>
        </p:nvSpPr>
        <p:spPr/>
        <p:txBody>
          <a:bodyPr/>
          <a:lstStyle/>
          <a:p>
            <a:fld id="{3C9C292B-742F-5340-9AD0-DE448EB330BF}"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80A18763-ECF3-9723-AA24-D315EEAC09F3}"/>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7ED33D6C-1073-F520-4E78-D4E9C15DDB8D}"/>
              </a:ext>
            </a:extLst>
          </p:cNvPr>
          <p:cNvSpPr>
            <a:spLocks noGrp="1"/>
          </p:cNvSpPr>
          <p:nvPr>
            <p:ph type="sldNum" sz="quarter" idx="12"/>
          </p:nvPr>
        </p:nvSpPr>
        <p:spPr/>
        <p:txBody>
          <a:bodyPr/>
          <a:lstStyle/>
          <a:p>
            <a:r>
              <a:rPr lang="en-US" altLang="ja-JP"/>
              <a:t>No. </a:t>
            </a:r>
            <a:fld id="{41B87E3F-77EC-4EFD-94DE-AA3AEB7C7760}" type="slidenum">
              <a:rPr lang="ja-JP" altLang="en-US" smtClean="0"/>
              <a:pPr/>
              <a:t>36</a:t>
            </a:fld>
            <a:endParaRPr kumimoji="1" lang="ja-JP" altLang="en-US" dirty="0"/>
          </a:p>
        </p:txBody>
      </p:sp>
      <p:sp>
        <p:nvSpPr>
          <p:cNvPr id="7" name="テキスト ボックス 6">
            <a:extLst>
              <a:ext uri="{FF2B5EF4-FFF2-40B4-BE49-F238E27FC236}">
                <a16:creationId xmlns:a16="http://schemas.microsoft.com/office/drawing/2014/main" id="{956EFDA5-B348-6BBB-1805-38B4B0D1A396}"/>
              </a:ext>
            </a:extLst>
          </p:cNvPr>
          <p:cNvSpPr txBox="1"/>
          <p:nvPr/>
        </p:nvSpPr>
        <p:spPr>
          <a:xfrm>
            <a:off x="356260" y="4215458"/>
            <a:ext cx="8241475" cy="584775"/>
          </a:xfrm>
          <a:prstGeom prst="rect">
            <a:avLst/>
          </a:prstGeom>
          <a:noFill/>
        </p:spPr>
        <p:txBody>
          <a:bodyPr wrap="square" rtlCol="0">
            <a:spAutoFit/>
          </a:bodyPr>
          <a:lstStyle/>
          <a:p>
            <a:r>
              <a:rPr kumimoji="1" lang="en-US" altLang="ja-JP" sz="3200" b="1" dirty="0">
                <a:solidFill>
                  <a:schemeClr val="accent2"/>
                </a:solidFill>
              </a:rPr>
              <a:t>2024</a:t>
            </a:r>
            <a:r>
              <a:rPr lang="ja-JP" altLang="en-US" sz="3200" b="1">
                <a:solidFill>
                  <a:schemeClr val="accent2"/>
                </a:solidFill>
              </a:rPr>
              <a:t>年中旬より</a:t>
            </a:r>
            <a:r>
              <a:rPr lang="en-US" altLang="ja-JP" sz="3200" b="1" dirty="0">
                <a:solidFill>
                  <a:schemeClr val="accent2"/>
                </a:solidFill>
              </a:rPr>
              <a:t>TEG Platelet mapping</a:t>
            </a:r>
            <a:r>
              <a:rPr lang="ja-JP" altLang="en-US" sz="3200" b="1">
                <a:solidFill>
                  <a:schemeClr val="accent2"/>
                </a:solidFill>
              </a:rPr>
              <a:t>が採用</a:t>
            </a:r>
            <a:endParaRPr kumimoji="1" lang="ja-JP" altLang="en-US" sz="3200" b="1">
              <a:solidFill>
                <a:schemeClr val="accent2"/>
              </a:solidFill>
            </a:endParaRPr>
          </a:p>
        </p:txBody>
      </p:sp>
      <p:sp>
        <p:nvSpPr>
          <p:cNvPr id="8" name="テキスト ボックス 7">
            <a:extLst>
              <a:ext uri="{FF2B5EF4-FFF2-40B4-BE49-F238E27FC236}">
                <a16:creationId xmlns:a16="http://schemas.microsoft.com/office/drawing/2014/main" id="{B6859CFD-FA80-7088-A545-117BADA3BE25}"/>
              </a:ext>
            </a:extLst>
          </p:cNvPr>
          <p:cNvSpPr txBox="1"/>
          <p:nvPr/>
        </p:nvSpPr>
        <p:spPr>
          <a:xfrm>
            <a:off x="356260" y="1819676"/>
            <a:ext cx="9250879" cy="523220"/>
          </a:xfrm>
          <a:prstGeom prst="rect">
            <a:avLst/>
          </a:prstGeom>
          <a:noFill/>
        </p:spPr>
        <p:txBody>
          <a:bodyPr wrap="square" rtlCol="0">
            <a:spAutoFit/>
          </a:bodyPr>
          <a:lstStyle/>
          <a:p>
            <a:r>
              <a:rPr kumimoji="1" lang="en-US" altLang="ja-JP" sz="2800" b="1" dirty="0"/>
              <a:t>2021</a:t>
            </a:r>
            <a:r>
              <a:rPr kumimoji="1" lang="ja-JP" altLang="en-US" sz="2800" b="1"/>
              <a:t>年から使用してきたが，運用の問題が浮き彫りに</a:t>
            </a:r>
          </a:p>
        </p:txBody>
      </p:sp>
      <p:sp>
        <p:nvSpPr>
          <p:cNvPr id="9" name="テキスト ボックス 8">
            <a:extLst>
              <a:ext uri="{FF2B5EF4-FFF2-40B4-BE49-F238E27FC236}">
                <a16:creationId xmlns:a16="http://schemas.microsoft.com/office/drawing/2014/main" id="{5B260521-3586-823B-E2D1-3A4778D98BB2}"/>
              </a:ext>
            </a:extLst>
          </p:cNvPr>
          <p:cNvSpPr txBox="1"/>
          <p:nvPr/>
        </p:nvSpPr>
        <p:spPr>
          <a:xfrm>
            <a:off x="1443600" y="2666193"/>
            <a:ext cx="10702263" cy="954107"/>
          </a:xfrm>
          <a:prstGeom prst="rect">
            <a:avLst/>
          </a:prstGeom>
          <a:noFill/>
        </p:spPr>
        <p:txBody>
          <a:bodyPr wrap="square" rtlCol="0">
            <a:spAutoFit/>
          </a:bodyPr>
          <a:lstStyle/>
          <a:p>
            <a:r>
              <a:rPr kumimoji="1" lang="ja-JP" altLang="en-US" sz="2800"/>
              <a:t>ブラッシュアップの必要性</a:t>
            </a:r>
            <a:endParaRPr kumimoji="1" lang="en-US" altLang="ja-JP" sz="2800" dirty="0"/>
          </a:p>
          <a:p>
            <a:r>
              <a:rPr lang="ja-JP" altLang="en-US" sz="2800"/>
              <a:t>外傷診療における血液粘弾性検査の立ち位置の再確認</a:t>
            </a:r>
            <a:endParaRPr kumimoji="1" lang="ja-JP" altLang="en-US" sz="2800"/>
          </a:p>
        </p:txBody>
      </p:sp>
      <p:pic>
        <p:nvPicPr>
          <p:cNvPr id="11" name="グラフィックス 10" descr="挙手 単色塗りつぶし">
            <a:extLst>
              <a:ext uri="{FF2B5EF4-FFF2-40B4-BE49-F238E27FC236}">
                <a16:creationId xmlns:a16="http://schemas.microsoft.com/office/drawing/2014/main" id="{5E5F0F50-3700-4B72-307C-067F70A4B88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7427" y="2404997"/>
            <a:ext cx="1281545" cy="1281545"/>
          </a:xfrm>
          <a:prstGeom prst="rect">
            <a:avLst/>
          </a:prstGeom>
        </p:spPr>
      </p:pic>
      <p:pic>
        <p:nvPicPr>
          <p:cNvPr id="13" name="グラフィックス 12" descr="親指を立てるしぐさ 単色塗りつぶし">
            <a:extLst>
              <a:ext uri="{FF2B5EF4-FFF2-40B4-BE49-F238E27FC236}">
                <a16:creationId xmlns:a16="http://schemas.microsoft.com/office/drawing/2014/main" id="{D41A6132-ABCA-7644-967F-09687C99B5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7427" y="4800233"/>
            <a:ext cx="1296468" cy="1296468"/>
          </a:xfrm>
          <a:prstGeom prst="rect">
            <a:avLst/>
          </a:prstGeom>
        </p:spPr>
      </p:pic>
      <p:sp>
        <p:nvSpPr>
          <p:cNvPr id="14" name="テキスト ボックス 13">
            <a:extLst>
              <a:ext uri="{FF2B5EF4-FFF2-40B4-BE49-F238E27FC236}">
                <a16:creationId xmlns:a16="http://schemas.microsoft.com/office/drawing/2014/main" id="{2646BCE5-C649-4740-9830-DC12B7D9EA7E}"/>
              </a:ext>
            </a:extLst>
          </p:cNvPr>
          <p:cNvSpPr txBox="1"/>
          <p:nvPr/>
        </p:nvSpPr>
        <p:spPr>
          <a:xfrm>
            <a:off x="1513564" y="5053673"/>
            <a:ext cx="10702263" cy="954107"/>
          </a:xfrm>
          <a:prstGeom prst="rect">
            <a:avLst/>
          </a:prstGeom>
          <a:noFill/>
        </p:spPr>
        <p:txBody>
          <a:bodyPr wrap="square" rtlCol="0">
            <a:spAutoFit/>
          </a:bodyPr>
          <a:lstStyle/>
          <a:p>
            <a:r>
              <a:rPr kumimoji="1" lang="en-US" altLang="ja-JP" sz="2800" dirty="0"/>
              <a:t>TEG PM</a:t>
            </a:r>
            <a:r>
              <a:rPr kumimoji="1" lang="ja-JP" altLang="en-US" sz="2800"/>
              <a:t>を取り入れ最新の知見やこれまでの経験を元に</a:t>
            </a:r>
            <a:endParaRPr kumimoji="1" lang="en-US" altLang="ja-JP" sz="2800" dirty="0"/>
          </a:p>
          <a:p>
            <a:r>
              <a:rPr lang="ja-JP" altLang="en-US" sz="2800"/>
              <a:t>よりよりプロトコールを作成する</a:t>
            </a:r>
            <a:endParaRPr kumimoji="1" lang="en-US" altLang="ja-JP" sz="2800" dirty="0"/>
          </a:p>
        </p:txBody>
      </p:sp>
    </p:spTree>
    <p:extLst>
      <p:ext uri="{BB962C8B-B14F-4D97-AF65-F5344CB8AC3E}">
        <p14:creationId xmlns:p14="http://schemas.microsoft.com/office/powerpoint/2010/main" val="37085558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4977ED-7D78-0E0D-3B4D-98BB0A0D7E71}"/>
              </a:ext>
            </a:extLst>
          </p:cNvPr>
          <p:cNvSpPr>
            <a:spLocks noGrp="1"/>
          </p:cNvSpPr>
          <p:nvPr>
            <p:ph type="title"/>
          </p:nvPr>
        </p:nvSpPr>
        <p:spPr/>
        <p:txBody>
          <a:bodyPr/>
          <a:lstStyle/>
          <a:p>
            <a:r>
              <a:rPr kumimoji="1" lang="en-US" altLang="ja-JP" dirty="0"/>
              <a:t>TEG</a:t>
            </a:r>
            <a:r>
              <a:rPr kumimoji="1" lang="ja-JP" altLang="en-US"/>
              <a:t> </a:t>
            </a:r>
            <a:r>
              <a:rPr kumimoji="1" lang="en-US" altLang="ja-JP" dirty="0"/>
              <a:t>platelet mapping</a:t>
            </a:r>
            <a:r>
              <a:rPr kumimoji="1" lang="ja-JP" altLang="en-US"/>
              <a:t>の有用性</a:t>
            </a:r>
          </a:p>
        </p:txBody>
      </p:sp>
      <p:sp>
        <p:nvSpPr>
          <p:cNvPr id="4" name="日付プレースホルダー 3">
            <a:extLst>
              <a:ext uri="{FF2B5EF4-FFF2-40B4-BE49-F238E27FC236}">
                <a16:creationId xmlns:a16="http://schemas.microsoft.com/office/drawing/2014/main" id="{4235DE11-10EF-5C04-6AA5-B050794D2D66}"/>
              </a:ext>
            </a:extLst>
          </p:cNvPr>
          <p:cNvSpPr>
            <a:spLocks noGrp="1"/>
          </p:cNvSpPr>
          <p:nvPr>
            <p:ph type="dt" sz="half" idx="10"/>
          </p:nvPr>
        </p:nvSpPr>
        <p:spPr/>
        <p:txBody>
          <a:bodyPr/>
          <a:lstStyle/>
          <a:p>
            <a:fld id="{60DC606D-B0FE-704C-9407-DCB48937B4E9}"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329B5743-F87B-11F5-211B-4D3DB414F435}"/>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5895BBB2-85E6-5FA3-08C9-7ACE9F7EEC0E}"/>
              </a:ext>
            </a:extLst>
          </p:cNvPr>
          <p:cNvSpPr>
            <a:spLocks noGrp="1"/>
          </p:cNvSpPr>
          <p:nvPr>
            <p:ph type="sldNum" sz="quarter" idx="12"/>
          </p:nvPr>
        </p:nvSpPr>
        <p:spPr/>
        <p:txBody>
          <a:bodyPr/>
          <a:lstStyle/>
          <a:p>
            <a:r>
              <a:rPr lang="en-US" altLang="ja-JP"/>
              <a:t>No. </a:t>
            </a:r>
            <a:fld id="{41B87E3F-77EC-4EFD-94DE-AA3AEB7C7760}" type="slidenum">
              <a:rPr lang="ja-JP" altLang="en-US" smtClean="0"/>
              <a:pPr/>
              <a:t>37</a:t>
            </a:fld>
            <a:endParaRPr kumimoji="1" lang="ja-JP" altLang="en-US" dirty="0"/>
          </a:p>
        </p:txBody>
      </p:sp>
      <p:sp>
        <p:nvSpPr>
          <p:cNvPr id="7" name="テキスト ボックス 6">
            <a:extLst>
              <a:ext uri="{FF2B5EF4-FFF2-40B4-BE49-F238E27FC236}">
                <a16:creationId xmlns:a16="http://schemas.microsoft.com/office/drawing/2014/main" id="{AF1814BD-A717-925A-9CAD-28D954EBE55A}"/>
              </a:ext>
            </a:extLst>
          </p:cNvPr>
          <p:cNvSpPr txBox="1"/>
          <p:nvPr/>
        </p:nvSpPr>
        <p:spPr>
          <a:xfrm>
            <a:off x="245325" y="1572322"/>
            <a:ext cx="10067907" cy="646331"/>
          </a:xfrm>
          <a:prstGeom prst="rect">
            <a:avLst/>
          </a:prstGeom>
          <a:noFill/>
        </p:spPr>
        <p:txBody>
          <a:bodyPr wrap="square" rtlCol="0">
            <a:spAutoFit/>
          </a:bodyPr>
          <a:lstStyle/>
          <a:p>
            <a:r>
              <a:rPr kumimoji="1" lang="ja-JP" altLang="en-US" sz="3600" b="1"/>
              <a:t>頭部外傷領域での有用性が報告されている</a:t>
            </a:r>
          </a:p>
        </p:txBody>
      </p:sp>
      <p:pic>
        <p:nvPicPr>
          <p:cNvPr id="9" name="図 8" descr="グラフィカル ユーザー インターフェイス&#10;&#10;自動的に生成された説明">
            <a:extLst>
              <a:ext uri="{FF2B5EF4-FFF2-40B4-BE49-F238E27FC236}">
                <a16:creationId xmlns:a16="http://schemas.microsoft.com/office/drawing/2014/main" id="{058C7653-EDF6-8E19-5147-6BAD6587B1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326" y="3982999"/>
            <a:ext cx="4430034" cy="2391881"/>
          </a:xfrm>
          <a:prstGeom prst="rect">
            <a:avLst/>
          </a:prstGeom>
        </p:spPr>
      </p:pic>
      <p:grpSp>
        <p:nvGrpSpPr>
          <p:cNvPr id="15" name="グループ化 14">
            <a:extLst>
              <a:ext uri="{FF2B5EF4-FFF2-40B4-BE49-F238E27FC236}">
                <a16:creationId xmlns:a16="http://schemas.microsoft.com/office/drawing/2014/main" id="{E6FC578D-DC1C-EFBA-CCCB-BC3715390A41}"/>
              </a:ext>
            </a:extLst>
          </p:cNvPr>
          <p:cNvGrpSpPr/>
          <p:nvPr/>
        </p:nvGrpSpPr>
        <p:grpSpPr>
          <a:xfrm>
            <a:off x="197162" y="2513834"/>
            <a:ext cx="4859288" cy="915166"/>
            <a:chOff x="229415" y="2651273"/>
            <a:chExt cx="5440476" cy="920019"/>
          </a:xfrm>
        </p:grpSpPr>
        <p:pic>
          <p:nvPicPr>
            <p:cNvPr id="12" name="図 11">
              <a:extLst>
                <a:ext uri="{FF2B5EF4-FFF2-40B4-BE49-F238E27FC236}">
                  <a16:creationId xmlns:a16="http://schemas.microsoft.com/office/drawing/2014/main" id="{2632DC3F-0C3D-A42B-F58E-F17D5E1B8BFF}"/>
                </a:ext>
              </a:extLst>
            </p:cNvPr>
            <p:cNvPicPr>
              <a:picLocks noChangeAspect="1"/>
            </p:cNvPicPr>
            <p:nvPr/>
          </p:nvPicPr>
          <p:blipFill rotWithShape="1">
            <a:blip r:embed="rId3"/>
            <a:srcRect t="36824"/>
            <a:stretch/>
          </p:blipFill>
          <p:spPr>
            <a:xfrm>
              <a:off x="229415" y="2651273"/>
              <a:ext cx="5440476" cy="823276"/>
            </a:xfrm>
            <a:prstGeom prst="rect">
              <a:avLst/>
            </a:prstGeom>
          </p:spPr>
        </p:pic>
        <p:pic>
          <p:nvPicPr>
            <p:cNvPr id="14" name="図 13">
              <a:extLst>
                <a:ext uri="{FF2B5EF4-FFF2-40B4-BE49-F238E27FC236}">
                  <a16:creationId xmlns:a16="http://schemas.microsoft.com/office/drawing/2014/main" id="{F73A2859-0952-FCC1-80EC-E81EB475D98E}"/>
                </a:ext>
              </a:extLst>
            </p:cNvPr>
            <p:cNvPicPr>
              <a:picLocks noChangeAspect="1"/>
            </p:cNvPicPr>
            <p:nvPr/>
          </p:nvPicPr>
          <p:blipFill rotWithShape="1">
            <a:blip r:embed="rId3"/>
            <a:srcRect b="88960"/>
            <a:stretch/>
          </p:blipFill>
          <p:spPr>
            <a:xfrm>
              <a:off x="229415" y="3427431"/>
              <a:ext cx="5440476" cy="143861"/>
            </a:xfrm>
            <a:prstGeom prst="rect">
              <a:avLst/>
            </a:prstGeom>
          </p:spPr>
        </p:pic>
      </p:grpSp>
      <p:sp>
        <p:nvSpPr>
          <p:cNvPr id="16" name="テキスト ボックス 15">
            <a:extLst>
              <a:ext uri="{FF2B5EF4-FFF2-40B4-BE49-F238E27FC236}">
                <a16:creationId xmlns:a16="http://schemas.microsoft.com/office/drawing/2014/main" id="{52F05F0A-4AA9-389A-05E4-AE6E56EF8058}"/>
              </a:ext>
            </a:extLst>
          </p:cNvPr>
          <p:cNvSpPr txBox="1"/>
          <p:nvPr/>
        </p:nvSpPr>
        <p:spPr>
          <a:xfrm>
            <a:off x="5056450" y="4563253"/>
            <a:ext cx="8624558" cy="923330"/>
          </a:xfrm>
          <a:prstGeom prst="rect">
            <a:avLst/>
          </a:prstGeom>
          <a:noFill/>
        </p:spPr>
        <p:txBody>
          <a:bodyPr wrap="square" rtlCol="0">
            <a:spAutoFit/>
          </a:bodyPr>
          <a:lstStyle/>
          <a:p>
            <a:r>
              <a:rPr kumimoji="1" lang="ja-JP" altLang="en-US"/>
              <a:t>・</a:t>
            </a:r>
            <a:r>
              <a:rPr kumimoji="1" lang="en-US" altLang="ja-JP" dirty="0"/>
              <a:t>TBI</a:t>
            </a:r>
            <a:r>
              <a:rPr kumimoji="1" lang="ja-JP" altLang="en-US"/>
              <a:t>の患者は</a:t>
            </a:r>
            <a:r>
              <a:rPr kumimoji="1" lang="en-US" altLang="ja-JP" dirty="0"/>
              <a:t>ADP</a:t>
            </a:r>
            <a:r>
              <a:rPr kumimoji="1" lang="ja-JP" altLang="en-US"/>
              <a:t>と</a:t>
            </a:r>
            <a:r>
              <a:rPr kumimoji="1" lang="en-US" altLang="ja-JP" dirty="0"/>
              <a:t>AA</a:t>
            </a:r>
            <a:r>
              <a:rPr kumimoji="1" lang="ja-JP" altLang="en-US"/>
              <a:t>受容体が抑制されて血小板機能抑制を生じる</a:t>
            </a:r>
            <a:endParaRPr kumimoji="1" lang="en-US" altLang="ja-JP" dirty="0"/>
          </a:p>
          <a:p>
            <a:r>
              <a:rPr lang="ja-JP" altLang="en-US"/>
              <a:t>・</a:t>
            </a:r>
            <a:r>
              <a:rPr lang="en-US" altLang="ja-JP" b="1" dirty="0"/>
              <a:t>ADP</a:t>
            </a:r>
            <a:r>
              <a:rPr lang="ja-JP" altLang="en-US" b="1"/>
              <a:t>抑制＞</a:t>
            </a:r>
            <a:r>
              <a:rPr lang="en-US" altLang="ja-JP" b="1" dirty="0"/>
              <a:t>60</a:t>
            </a:r>
            <a:r>
              <a:rPr lang="ja-JP" altLang="en-US" b="1"/>
              <a:t>％の症例で血小板輸血により非投与群に比べて</a:t>
            </a:r>
            <a:endParaRPr lang="en-US" altLang="ja-JP" b="1" dirty="0"/>
          </a:p>
          <a:p>
            <a:r>
              <a:rPr lang="ja-JP" altLang="en-US" b="1"/>
              <a:t>　侵襲的介入と死亡率が低下</a:t>
            </a:r>
            <a:endParaRPr lang="en-US" altLang="ja-JP" b="1" dirty="0"/>
          </a:p>
        </p:txBody>
      </p:sp>
      <p:sp>
        <p:nvSpPr>
          <p:cNvPr id="13" name="テキスト ボックス 12">
            <a:extLst>
              <a:ext uri="{FF2B5EF4-FFF2-40B4-BE49-F238E27FC236}">
                <a16:creationId xmlns:a16="http://schemas.microsoft.com/office/drawing/2014/main" id="{40C5ABF9-05DE-1642-2890-9544D18478FC}"/>
              </a:ext>
            </a:extLst>
          </p:cNvPr>
          <p:cNvSpPr txBox="1"/>
          <p:nvPr/>
        </p:nvSpPr>
        <p:spPr>
          <a:xfrm>
            <a:off x="5056450" y="2475795"/>
            <a:ext cx="8624558" cy="1477328"/>
          </a:xfrm>
          <a:prstGeom prst="rect">
            <a:avLst/>
          </a:prstGeom>
          <a:noFill/>
        </p:spPr>
        <p:txBody>
          <a:bodyPr wrap="square" rtlCol="0">
            <a:spAutoFit/>
          </a:bodyPr>
          <a:lstStyle/>
          <a:p>
            <a:r>
              <a:rPr kumimoji="1" lang="ja-JP" altLang="en-US"/>
              <a:t>・</a:t>
            </a:r>
            <a:r>
              <a:rPr kumimoji="1" lang="en-US" altLang="ja-JP" dirty="0"/>
              <a:t>TBI</a:t>
            </a:r>
            <a:r>
              <a:rPr kumimoji="1" lang="ja-JP" altLang="en-US"/>
              <a:t>は血小板の</a:t>
            </a:r>
            <a:r>
              <a:rPr kumimoji="1" lang="en-US" altLang="ja-JP" dirty="0"/>
              <a:t>ADP</a:t>
            </a:r>
            <a:r>
              <a:rPr kumimoji="1" lang="ja-JP" altLang="en-US"/>
              <a:t>受容体を抑制し，凝固障害を引き起こす</a:t>
            </a:r>
            <a:endParaRPr kumimoji="1" lang="en-US" altLang="ja-JP" dirty="0"/>
          </a:p>
          <a:p>
            <a:r>
              <a:rPr lang="ja-JP" altLang="en-US"/>
              <a:t>・ラットと人間のモデルで</a:t>
            </a:r>
            <a:r>
              <a:rPr lang="en-US" altLang="ja-JP" dirty="0"/>
              <a:t>TBI</a:t>
            </a:r>
            <a:r>
              <a:rPr lang="ja-JP" altLang="en-US"/>
              <a:t>後に顕著な</a:t>
            </a:r>
            <a:r>
              <a:rPr lang="en-US" altLang="ja-JP" dirty="0"/>
              <a:t>ADP</a:t>
            </a:r>
            <a:r>
              <a:rPr lang="ja-JP" altLang="en-US"/>
              <a:t>受容体抑制が観察</a:t>
            </a:r>
            <a:endParaRPr lang="en-US" altLang="ja-JP" dirty="0"/>
          </a:p>
          <a:p>
            <a:r>
              <a:rPr kumimoji="1" lang="ja-JP" altLang="en-US"/>
              <a:t>・</a:t>
            </a:r>
            <a:r>
              <a:rPr kumimoji="1" lang="en-US" altLang="ja-JP" dirty="0"/>
              <a:t>TBI</a:t>
            </a:r>
            <a:r>
              <a:rPr kumimoji="1" lang="ja-JP" altLang="en-US"/>
              <a:t>による血小板機能障害は多発外傷や出血性ショックとは</a:t>
            </a:r>
            <a:endParaRPr kumimoji="1" lang="en-US" altLang="ja-JP" dirty="0"/>
          </a:p>
          <a:p>
            <a:r>
              <a:rPr kumimoji="1" lang="ja-JP" altLang="en-US"/>
              <a:t>　異なるメカニズムで起こる</a:t>
            </a:r>
            <a:endParaRPr kumimoji="1" lang="en-US" altLang="ja-JP" dirty="0"/>
          </a:p>
          <a:p>
            <a:r>
              <a:rPr lang="ja-JP" altLang="en-US"/>
              <a:t>・</a:t>
            </a:r>
            <a:r>
              <a:rPr lang="en-US" altLang="ja-JP" b="1" dirty="0"/>
              <a:t>TEG PM</a:t>
            </a:r>
            <a:r>
              <a:rPr lang="ja-JP" altLang="en-US" b="1"/>
              <a:t>を使用することで可視化個別化し治療することができる</a:t>
            </a:r>
            <a:endParaRPr kumimoji="1" lang="en-US" altLang="ja-JP" b="1" dirty="0"/>
          </a:p>
        </p:txBody>
      </p:sp>
    </p:spTree>
    <p:extLst>
      <p:ext uri="{BB962C8B-B14F-4D97-AF65-F5344CB8AC3E}">
        <p14:creationId xmlns:p14="http://schemas.microsoft.com/office/powerpoint/2010/main" val="21681087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A39C47-EE9F-2A7F-2C36-CE7F88639B1F}"/>
              </a:ext>
            </a:extLst>
          </p:cNvPr>
          <p:cNvSpPr>
            <a:spLocks noGrp="1"/>
          </p:cNvSpPr>
          <p:nvPr>
            <p:ph type="title"/>
          </p:nvPr>
        </p:nvSpPr>
        <p:spPr/>
        <p:txBody>
          <a:bodyPr/>
          <a:lstStyle/>
          <a:p>
            <a:r>
              <a:rPr kumimoji="1" lang="en-US" altLang="ja-JP" dirty="0"/>
              <a:t>Global hemostasis vs Platelet mapping</a:t>
            </a:r>
            <a:endParaRPr kumimoji="1" lang="ja-JP" altLang="en-US"/>
          </a:p>
        </p:txBody>
      </p:sp>
      <p:sp>
        <p:nvSpPr>
          <p:cNvPr id="4" name="日付プレースホルダー 3">
            <a:extLst>
              <a:ext uri="{FF2B5EF4-FFF2-40B4-BE49-F238E27FC236}">
                <a16:creationId xmlns:a16="http://schemas.microsoft.com/office/drawing/2014/main" id="{BE48EE16-5F0B-1E0B-5CDE-43AF532D8DE2}"/>
              </a:ext>
            </a:extLst>
          </p:cNvPr>
          <p:cNvSpPr>
            <a:spLocks noGrp="1"/>
          </p:cNvSpPr>
          <p:nvPr>
            <p:ph type="dt" sz="half" idx="10"/>
          </p:nvPr>
        </p:nvSpPr>
        <p:spPr/>
        <p:txBody>
          <a:bodyPr/>
          <a:lstStyle/>
          <a:p>
            <a:fld id="{D6CD5CC8-74E9-DE4E-B41A-614E9BA2643E}"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BAD9BBBB-3DF6-D2E0-9D18-12D3110900E0}"/>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F8B52738-4778-DD71-6619-28DA9EBD9801}"/>
              </a:ext>
            </a:extLst>
          </p:cNvPr>
          <p:cNvSpPr>
            <a:spLocks noGrp="1"/>
          </p:cNvSpPr>
          <p:nvPr>
            <p:ph type="sldNum" sz="quarter" idx="12"/>
          </p:nvPr>
        </p:nvSpPr>
        <p:spPr/>
        <p:txBody>
          <a:bodyPr/>
          <a:lstStyle/>
          <a:p>
            <a:r>
              <a:rPr lang="en-US" altLang="ja-JP"/>
              <a:t>No. </a:t>
            </a:r>
            <a:fld id="{41B87E3F-77EC-4EFD-94DE-AA3AEB7C7760}" type="slidenum">
              <a:rPr lang="ja-JP" altLang="en-US" smtClean="0"/>
              <a:pPr/>
              <a:t>38</a:t>
            </a:fld>
            <a:endParaRPr kumimoji="1" lang="ja-JP" altLang="en-US" dirty="0"/>
          </a:p>
        </p:txBody>
      </p:sp>
      <p:graphicFrame>
        <p:nvGraphicFramePr>
          <p:cNvPr id="8" name="表 7">
            <a:extLst>
              <a:ext uri="{FF2B5EF4-FFF2-40B4-BE49-F238E27FC236}">
                <a16:creationId xmlns:a16="http://schemas.microsoft.com/office/drawing/2014/main" id="{039464D6-ADA7-B5AF-1561-846FA79EEAEA}"/>
              </a:ext>
            </a:extLst>
          </p:cNvPr>
          <p:cNvGraphicFramePr>
            <a:graphicFrameLocks noGrp="1"/>
          </p:cNvGraphicFramePr>
          <p:nvPr>
            <p:extLst>
              <p:ext uri="{D42A27DB-BD31-4B8C-83A1-F6EECF244321}">
                <p14:modId xmlns:p14="http://schemas.microsoft.com/office/powerpoint/2010/main" val="2471485120"/>
              </p:ext>
            </p:extLst>
          </p:nvPr>
        </p:nvGraphicFramePr>
        <p:xfrm>
          <a:off x="543766" y="1507102"/>
          <a:ext cx="11104467" cy="4803357"/>
        </p:xfrm>
        <a:graphic>
          <a:graphicData uri="http://schemas.openxmlformats.org/drawingml/2006/table">
            <a:tbl>
              <a:tblPr firstRow="1" bandRow="1">
                <a:tableStyleId>{5C22544A-7EE6-4342-B048-85BDC9FD1C3A}</a:tableStyleId>
              </a:tblPr>
              <a:tblGrid>
                <a:gridCol w="3701489">
                  <a:extLst>
                    <a:ext uri="{9D8B030D-6E8A-4147-A177-3AD203B41FA5}">
                      <a16:colId xmlns:a16="http://schemas.microsoft.com/office/drawing/2014/main" val="148605271"/>
                    </a:ext>
                  </a:extLst>
                </a:gridCol>
                <a:gridCol w="3701489">
                  <a:extLst>
                    <a:ext uri="{9D8B030D-6E8A-4147-A177-3AD203B41FA5}">
                      <a16:colId xmlns:a16="http://schemas.microsoft.com/office/drawing/2014/main" val="808883216"/>
                    </a:ext>
                  </a:extLst>
                </a:gridCol>
                <a:gridCol w="3701489">
                  <a:extLst>
                    <a:ext uri="{9D8B030D-6E8A-4147-A177-3AD203B41FA5}">
                      <a16:colId xmlns:a16="http://schemas.microsoft.com/office/drawing/2014/main" val="778626072"/>
                    </a:ext>
                  </a:extLst>
                </a:gridCol>
              </a:tblGrid>
              <a:tr h="539535">
                <a:tc>
                  <a:txBody>
                    <a:bodyPr/>
                    <a:lstStyle/>
                    <a:p>
                      <a:pPr algn="ctr"/>
                      <a:r>
                        <a:rPr kumimoji="1" lang="en-US" altLang="ja-JP" sz="2400" dirty="0"/>
                        <a:t>Global Hemostasis</a:t>
                      </a:r>
                      <a:endParaRPr kumimoji="1" lang="ja-JP" altLang="en-US" sz="2400"/>
                    </a:p>
                  </a:txBody>
                  <a:tcPr/>
                </a:tc>
                <a:tc>
                  <a:txBody>
                    <a:bodyPr/>
                    <a:lstStyle/>
                    <a:p>
                      <a:pPr algn="ctr"/>
                      <a:endParaRPr kumimoji="1" lang="ja-JP" altLang="en-US"/>
                    </a:p>
                  </a:txBody>
                  <a:tcPr/>
                </a:tc>
                <a:tc>
                  <a:txBody>
                    <a:bodyPr/>
                    <a:lstStyle/>
                    <a:p>
                      <a:pPr algn="ctr"/>
                      <a:r>
                        <a:rPr kumimoji="1" lang="en-US" altLang="ja-JP" sz="2400" dirty="0"/>
                        <a:t>Platelet mapping</a:t>
                      </a:r>
                      <a:endParaRPr kumimoji="1" lang="ja-JP" altLang="en-US" sz="2400"/>
                    </a:p>
                  </a:txBody>
                  <a:tcPr/>
                </a:tc>
                <a:extLst>
                  <a:ext uri="{0D108BD9-81ED-4DB2-BD59-A6C34878D82A}">
                    <a16:rowId xmlns:a16="http://schemas.microsoft.com/office/drawing/2014/main" val="1704341832"/>
                  </a:ext>
                </a:extLst>
              </a:tr>
              <a:tr h="367680">
                <a:tc>
                  <a:txBody>
                    <a:bodyPr/>
                    <a:lstStyle/>
                    <a:p>
                      <a:pPr algn="ctr"/>
                      <a:r>
                        <a:rPr kumimoji="1" lang="en-US" altLang="ja-JP" sz="2000" dirty="0"/>
                        <a:t>10000</a:t>
                      </a:r>
                      <a:r>
                        <a:rPr kumimoji="1" lang="ja-JP" altLang="en-US" sz="2000"/>
                        <a:t>円</a:t>
                      </a:r>
                    </a:p>
                  </a:txBody>
                  <a:tcPr anchor="ctr"/>
                </a:tc>
                <a:tc>
                  <a:txBody>
                    <a:bodyPr/>
                    <a:lstStyle/>
                    <a:p>
                      <a:pPr algn="ctr"/>
                      <a:r>
                        <a:rPr kumimoji="1" lang="ja-JP" altLang="en-US" sz="2000"/>
                        <a:t>費用</a:t>
                      </a:r>
                    </a:p>
                  </a:txBody>
                  <a:tcPr anchor="ctr"/>
                </a:tc>
                <a:tc>
                  <a:txBody>
                    <a:bodyPr/>
                    <a:lstStyle/>
                    <a:p>
                      <a:pPr algn="ctr"/>
                      <a:r>
                        <a:rPr kumimoji="1" lang="en-US" altLang="ja-JP" sz="2000" dirty="0"/>
                        <a:t>18000</a:t>
                      </a:r>
                      <a:r>
                        <a:rPr kumimoji="1" lang="ja-JP" altLang="en-US" sz="2000"/>
                        <a:t>円</a:t>
                      </a:r>
                    </a:p>
                  </a:txBody>
                  <a:tcPr anchor="ctr"/>
                </a:tc>
                <a:extLst>
                  <a:ext uri="{0D108BD9-81ED-4DB2-BD59-A6C34878D82A}">
                    <a16:rowId xmlns:a16="http://schemas.microsoft.com/office/drawing/2014/main" val="467376836"/>
                  </a:ext>
                </a:extLst>
              </a:tr>
              <a:tr h="339397">
                <a:tc>
                  <a:txBody>
                    <a:bodyPr/>
                    <a:lstStyle/>
                    <a:p>
                      <a:pPr algn="ctr"/>
                      <a:r>
                        <a:rPr kumimoji="1" lang="ja-JP" altLang="en-US" sz="1800"/>
                        <a:t>クエン酸スピッツ</a:t>
                      </a:r>
                    </a:p>
                  </a:txBody>
                  <a:tcPr anchor="ctr">
                    <a:solidFill>
                      <a:schemeClr val="bg1">
                        <a:lumMod val="95000"/>
                      </a:schemeClr>
                    </a:solidFill>
                  </a:tcPr>
                </a:tc>
                <a:tc>
                  <a:txBody>
                    <a:bodyPr/>
                    <a:lstStyle/>
                    <a:p>
                      <a:pPr algn="ctr"/>
                      <a:r>
                        <a:rPr kumimoji="1" lang="ja-JP" altLang="en-US" sz="1800"/>
                        <a:t>採血方法</a:t>
                      </a:r>
                    </a:p>
                  </a:txBody>
                  <a:tcPr anchor="ctr">
                    <a:solidFill>
                      <a:schemeClr val="bg1">
                        <a:lumMod val="95000"/>
                      </a:schemeClr>
                    </a:solidFill>
                  </a:tcPr>
                </a:tc>
                <a:tc>
                  <a:txBody>
                    <a:bodyPr/>
                    <a:lstStyle/>
                    <a:p>
                      <a:pPr algn="ctr"/>
                      <a:r>
                        <a:rPr kumimoji="1" lang="ja-JP" altLang="en-US" sz="1800"/>
                        <a:t>ヘパリンスピッツ</a:t>
                      </a:r>
                    </a:p>
                  </a:txBody>
                  <a:tcPr anchor="ctr">
                    <a:solidFill>
                      <a:schemeClr val="bg1">
                        <a:lumMod val="95000"/>
                      </a:schemeClr>
                    </a:solidFill>
                  </a:tcPr>
                </a:tc>
                <a:extLst>
                  <a:ext uri="{0D108BD9-81ED-4DB2-BD59-A6C34878D82A}">
                    <a16:rowId xmlns:a16="http://schemas.microsoft.com/office/drawing/2014/main" val="4235246285"/>
                  </a:ext>
                </a:extLst>
              </a:tr>
              <a:tr h="562191">
                <a:tc>
                  <a:txBody>
                    <a:bodyPr/>
                    <a:lstStyle/>
                    <a:p>
                      <a:pPr algn="ctr"/>
                      <a:r>
                        <a:rPr kumimoji="1" lang="en-US" altLang="ja-JP" sz="1800" b="1" dirty="0"/>
                        <a:t>TEG-ACT</a:t>
                      </a:r>
                      <a:r>
                        <a:rPr kumimoji="1" lang="ja-JP" altLang="en-US" sz="1800" b="1"/>
                        <a:t>・</a:t>
                      </a:r>
                      <a:r>
                        <a:rPr kumimoji="1" lang="en-US" altLang="ja-JP" sz="1800" b="1" dirty="0"/>
                        <a:t>CKH-R</a:t>
                      </a:r>
                      <a:endParaRPr kumimoji="1" lang="ja-JP" altLang="en-US" sz="1800" b="1"/>
                    </a:p>
                  </a:txBody>
                  <a:tcPr anchor="ctr">
                    <a:solidFill>
                      <a:schemeClr val="accent6">
                        <a:lumMod val="40000"/>
                        <a:lumOff val="60000"/>
                      </a:schemeClr>
                    </a:solidFill>
                  </a:tcPr>
                </a:tc>
                <a:tc>
                  <a:txBody>
                    <a:bodyPr/>
                    <a:lstStyle/>
                    <a:p>
                      <a:pPr algn="ctr"/>
                      <a:r>
                        <a:rPr kumimoji="1" lang="ja-JP" altLang="en-US" sz="1800"/>
                        <a:t>凝固因子評価</a:t>
                      </a:r>
                    </a:p>
                  </a:txBody>
                  <a:tcPr anchor="ctr">
                    <a:solidFill>
                      <a:schemeClr val="accent6">
                        <a:lumMod val="40000"/>
                        <a:lumOff val="60000"/>
                      </a:schemeClr>
                    </a:solidFill>
                  </a:tcPr>
                </a:tc>
                <a:tc>
                  <a:txBody>
                    <a:bodyPr/>
                    <a:lstStyle/>
                    <a:p>
                      <a:pPr algn="ctr"/>
                      <a:r>
                        <a:rPr kumimoji="1" lang="en-US" altLang="ja-JP" sz="1800" b="1" dirty="0">
                          <a:solidFill>
                            <a:schemeClr val="tx2"/>
                          </a:solidFill>
                        </a:rPr>
                        <a:t>HKH-R</a:t>
                      </a:r>
                      <a:endParaRPr kumimoji="1" lang="ja-JP" altLang="en-US" sz="1800" b="1">
                        <a:solidFill>
                          <a:schemeClr val="tx2"/>
                        </a:solidFill>
                      </a:endParaRPr>
                    </a:p>
                  </a:txBody>
                  <a:tcPr anchor="ctr">
                    <a:solidFill>
                      <a:schemeClr val="accent6">
                        <a:lumMod val="40000"/>
                        <a:lumOff val="60000"/>
                      </a:schemeClr>
                    </a:solidFill>
                  </a:tcPr>
                </a:tc>
                <a:extLst>
                  <a:ext uri="{0D108BD9-81ED-4DB2-BD59-A6C34878D82A}">
                    <a16:rowId xmlns:a16="http://schemas.microsoft.com/office/drawing/2014/main" val="3067414496"/>
                  </a:ext>
                </a:extLst>
              </a:tr>
              <a:tr h="562191">
                <a:tc>
                  <a:txBody>
                    <a:bodyPr/>
                    <a:lstStyle/>
                    <a:p>
                      <a:pPr algn="ctr"/>
                      <a:r>
                        <a:rPr kumimoji="1" lang="en-US" altLang="ja-JP" sz="1800" b="1" dirty="0"/>
                        <a:t>CK-R/CKH-R</a:t>
                      </a:r>
                      <a:endParaRPr kumimoji="1" lang="ja-JP" altLang="en-US" sz="1800" b="1"/>
                    </a:p>
                  </a:txBody>
                  <a:tcPr anchor="ctr">
                    <a:solidFill>
                      <a:schemeClr val="accent4">
                        <a:lumMod val="40000"/>
                        <a:lumOff val="60000"/>
                      </a:schemeClr>
                    </a:solidFill>
                  </a:tcPr>
                </a:tc>
                <a:tc>
                  <a:txBody>
                    <a:bodyPr/>
                    <a:lstStyle/>
                    <a:p>
                      <a:pPr algn="ctr"/>
                      <a:r>
                        <a:rPr kumimoji="1" lang="ja-JP" altLang="en-US" sz="1800"/>
                        <a:t>ヘパリン評価</a:t>
                      </a:r>
                    </a:p>
                  </a:txBody>
                  <a:tcPr anchor="ctr">
                    <a:solidFill>
                      <a:schemeClr val="accent4">
                        <a:lumMod val="40000"/>
                        <a:lumOff val="60000"/>
                      </a:schemeClr>
                    </a:solidFill>
                  </a:tcPr>
                </a:tc>
                <a:tc>
                  <a:txBody>
                    <a:bodyPr/>
                    <a:lstStyle/>
                    <a:p>
                      <a:pPr algn="ctr"/>
                      <a:r>
                        <a:rPr kumimoji="1" lang="ja-JP" altLang="en-US" sz="1800"/>
                        <a:t>不可</a:t>
                      </a:r>
                    </a:p>
                  </a:txBody>
                  <a:tcPr anchor="ctr">
                    <a:solidFill>
                      <a:schemeClr val="accent4">
                        <a:lumMod val="40000"/>
                        <a:lumOff val="60000"/>
                      </a:schemeClr>
                    </a:solidFill>
                  </a:tcPr>
                </a:tc>
                <a:extLst>
                  <a:ext uri="{0D108BD9-81ED-4DB2-BD59-A6C34878D82A}">
                    <a16:rowId xmlns:a16="http://schemas.microsoft.com/office/drawing/2014/main" val="3755730769"/>
                  </a:ext>
                </a:extLst>
              </a:tr>
              <a:tr h="339397">
                <a:tc>
                  <a:txBody>
                    <a:bodyPr/>
                    <a:lstStyle/>
                    <a:p>
                      <a:pPr algn="ctr"/>
                      <a:r>
                        <a:rPr kumimoji="1" lang="ja-JP" altLang="en-US" sz="1800"/>
                        <a:t>不可</a:t>
                      </a:r>
                    </a:p>
                  </a:txBody>
                  <a:tcPr anchor="ctr"/>
                </a:tc>
                <a:tc>
                  <a:txBody>
                    <a:bodyPr/>
                    <a:lstStyle/>
                    <a:p>
                      <a:pPr algn="ctr"/>
                      <a:r>
                        <a:rPr kumimoji="1" lang="ja-JP" altLang="en-US" sz="1800"/>
                        <a:t>経口抗凝固薬評価</a:t>
                      </a:r>
                    </a:p>
                  </a:txBody>
                  <a:tcPr anchor="ctr"/>
                </a:tc>
                <a:tc>
                  <a:txBody>
                    <a:bodyPr/>
                    <a:lstStyle/>
                    <a:p>
                      <a:pPr algn="ctr"/>
                      <a:r>
                        <a:rPr kumimoji="1" lang="ja-JP" altLang="en-US" sz="1800"/>
                        <a:t>不可</a:t>
                      </a:r>
                    </a:p>
                  </a:txBody>
                  <a:tcPr anchor="ctr"/>
                </a:tc>
                <a:extLst>
                  <a:ext uri="{0D108BD9-81ED-4DB2-BD59-A6C34878D82A}">
                    <a16:rowId xmlns:a16="http://schemas.microsoft.com/office/drawing/2014/main" val="904468205"/>
                  </a:ext>
                </a:extLst>
              </a:tr>
              <a:tr h="339397">
                <a:tc>
                  <a:txBody>
                    <a:bodyPr/>
                    <a:lstStyle/>
                    <a:p>
                      <a:pPr algn="ctr"/>
                      <a:r>
                        <a:rPr kumimoji="1" lang="en-US" altLang="ja-JP" sz="1800" b="1" dirty="0"/>
                        <a:t>CFF-MA</a:t>
                      </a:r>
                      <a:endParaRPr kumimoji="1" lang="ja-JP" altLang="en-US" sz="1800" b="1"/>
                    </a:p>
                  </a:txBody>
                  <a:tcPr anchor="ctr">
                    <a:solidFill>
                      <a:schemeClr val="accent2">
                        <a:lumMod val="40000"/>
                        <a:lumOff val="60000"/>
                      </a:schemeClr>
                    </a:solidFill>
                  </a:tcPr>
                </a:tc>
                <a:tc>
                  <a:txBody>
                    <a:bodyPr/>
                    <a:lstStyle/>
                    <a:p>
                      <a:pPr algn="ctr"/>
                      <a:r>
                        <a:rPr kumimoji="1" lang="ja-JP" altLang="en-US" sz="1800"/>
                        <a:t>フィブリノゲン評価</a:t>
                      </a:r>
                    </a:p>
                  </a:txBody>
                  <a:tcPr anchor="ctr">
                    <a:solidFill>
                      <a:schemeClr val="accent2">
                        <a:lumMod val="40000"/>
                        <a:lumOff val="60000"/>
                      </a:schemeClr>
                    </a:solidFill>
                  </a:tcPr>
                </a:tc>
                <a:tc>
                  <a:txBody>
                    <a:bodyPr/>
                    <a:lstStyle/>
                    <a:p>
                      <a:pPr algn="ctr"/>
                      <a:r>
                        <a:rPr kumimoji="1" lang="en-US" altLang="ja-JP" sz="1800" b="1" dirty="0" err="1"/>
                        <a:t>ActF</a:t>
                      </a:r>
                      <a:r>
                        <a:rPr kumimoji="1" lang="en-US" altLang="ja-JP" sz="1800" b="1" dirty="0"/>
                        <a:t>-MA</a:t>
                      </a:r>
                      <a:endParaRPr kumimoji="1" lang="ja-JP" altLang="en-US" sz="1800" b="1"/>
                    </a:p>
                  </a:txBody>
                  <a:tcPr anchor="ctr">
                    <a:solidFill>
                      <a:schemeClr val="accent2">
                        <a:lumMod val="40000"/>
                        <a:lumOff val="60000"/>
                      </a:schemeClr>
                    </a:solidFill>
                  </a:tcPr>
                </a:tc>
                <a:extLst>
                  <a:ext uri="{0D108BD9-81ED-4DB2-BD59-A6C34878D82A}">
                    <a16:rowId xmlns:a16="http://schemas.microsoft.com/office/drawing/2014/main" val="2950712292"/>
                  </a:ext>
                </a:extLst>
              </a:tr>
              <a:tr h="593945">
                <a:tc>
                  <a:txBody>
                    <a:bodyPr/>
                    <a:lstStyle/>
                    <a:p>
                      <a:pPr algn="ctr"/>
                      <a:r>
                        <a:rPr kumimoji="1" lang="ja-JP" altLang="en-US" sz="1800"/>
                        <a:t>間接的に可能</a:t>
                      </a:r>
                      <a:endParaRPr kumimoji="1" lang="en-US" altLang="ja-JP" sz="1800" dirty="0"/>
                    </a:p>
                    <a:p>
                      <a:pPr algn="ctr"/>
                      <a:r>
                        <a:rPr kumimoji="1" lang="en-US" altLang="ja-JP" sz="1800" dirty="0"/>
                        <a:t>(CKR-MA)-(CFF-MA)</a:t>
                      </a:r>
                      <a:endParaRPr kumimoji="1" lang="ja-JP" altLang="en-US" sz="1800"/>
                    </a:p>
                  </a:txBody>
                  <a:tcPr anchor="ctr">
                    <a:solidFill>
                      <a:srgbClr val="FFADEF"/>
                    </a:solidFill>
                  </a:tcPr>
                </a:tc>
                <a:tc>
                  <a:txBody>
                    <a:bodyPr/>
                    <a:lstStyle/>
                    <a:p>
                      <a:pPr algn="ctr"/>
                      <a:r>
                        <a:rPr kumimoji="1" lang="ja-JP" altLang="en-US" sz="1800"/>
                        <a:t>血小板評価</a:t>
                      </a:r>
                    </a:p>
                  </a:txBody>
                  <a:tcPr anchor="ctr">
                    <a:solidFill>
                      <a:srgbClr val="FFADEF"/>
                    </a:solidFill>
                  </a:tcPr>
                </a:tc>
                <a:tc>
                  <a:txBody>
                    <a:bodyPr/>
                    <a:lstStyle/>
                    <a:p>
                      <a:pPr algn="ctr"/>
                      <a:r>
                        <a:rPr kumimoji="1" lang="ja-JP" altLang="en-US" sz="1800" b="1"/>
                        <a:t>直接測定</a:t>
                      </a:r>
                      <a:endParaRPr kumimoji="1" lang="en-US" altLang="ja-JP" sz="1800" b="1" dirty="0"/>
                    </a:p>
                    <a:p>
                      <a:pPr algn="ctr"/>
                      <a:r>
                        <a:rPr kumimoji="1" lang="en-US" altLang="ja-JP" sz="1800" b="1" dirty="0"/>
                        <a:t>AA</a:t>
                      </a:r>
                      <a:r>
                        <a:rPr kumimoji="1" lang="ja-JP" altLang="en-US" sz="1800" b="1"/>
                        <a:t>活性・</a:t>
                      </a:r>
                      <a:r>
                        <a:rPr kumimoji="1" lang="en-US" altLang="ja-JP" sz="1800" b="1" dirty="0"/>
                        <a:t>ADP</a:t>
                      </a:r>
                      <a:r>
                        <a:rPr kumimoji="1" lang="ja-JP" altLang="en-US" sz="1800" b="1"/>
                        <a:t>活性</a:t>
                      </a:r>
                    </a:p>
                  </a:txBody>
                  <a:tcPr anchor="ctr">
                    <a:solidFill>
                      <a:srgbClr val="FFADEF"/>
                    </a:solidFill>
                  </a:tcPr>
                </a:tc>
                <a:extLst>
                  <a:ext uri="{0D108BD9-81ED-4DB2-BD59-A6C34878D82A}">
                    <a16:rowId xmlns:a16="http://schemas.microsoft.com/office/drawing/2014/main" val="1271181524"/>
                  </a:ext>
                </a:extLst>
              </a:tr>
              <a:tr h="339397">
                <a:tc>
                  <a:txBody>
                    <a:bodyPr/>
                    <a:lstStyle/>
                    <a:p>
                      <a:pPr algn="ctr"/>
                      <a:r>
                        <a:rPr kumimoji="1" lang="en-US" altLang="ja-JP" sz="1800" b="1" dirty="0"/>
                        <a:t>LY30</a:t>
                      </a:r>
                      <a:endParaRPr kumimoji="1" lang="ja-JP" altLang="en-US" sz="1800" b="1"/>
                    </a:p>
                  </a:txBody>
                  <a:tcPr anchor="ctr">
                    <a:solidFill>
                      <a:srgbClr val="DDCCF6"/>
                    </a:solidFill>
                  </a:tcPr>
                </a:tc>
                <a:tc>
                  <a:txBody>
                    <a:bodyPr/>
                    <a:lstStyle/>
                    <a:p>
                      <a:pPr algn="ctr"/>
                      <a:r>
                        <a:rPr kumimoji="1" lang="ja-JP" altLang="en-US" sz="1800"/>
                        <a:t>線溶評価</a:t>
                      </a:r>
                    </a:p>
                  </a:txBody>
                  <a:tcPr anchor="ctr">
                    <a:solidFill>
                      <a:srgbClr val="DDCCF6"/>
                    </a:solidFill>
                  </a:tcPr>
                </a:tc>
                <a:tc>
                  <a:txBody>
                    <a:bodyPr/>
                    <a:lstStyle/>
                    <a:p>
                      <a:pPr algn="ctr"/>
                      <a:r>
                        <a:rPr kumimoji="1" lang="ja-JP" altLang="en-US" sz="1800" b="1"/>
                        <a:t>（</a:t>
                      </a:r>
                      <a:r>
                        <a:rPr kumimoji="1" lang="en-US" altLang="ja-JP" sz="1800" b="1" dirty="0"/>
                        <a:t>LY30</a:t>
                      </a:r>
                      <a:r>
                        <a:rPr kumimoji="1" lang="ja-JP" altLang="en-US" sz="1800" b="1"/>
                        <a:t>）</a:t>
                      </a:r>
                    </a:p>
                  </a:txBody>
                  <a:tcPr anchor="ctr">
                    <a:solidFill>
                      <a:srgbClr val="DDCCF6"/>
                    </a:solidFill>
                  </a:tcPr>
                </a:tc>
                <a:extLst>
                  <a:ext uri="{0D108BD9-81ED-4DB2-BD59-A6C34878D82A}">
                    <a16:rowId xmlns:a16="http://schemas.microsoft.com/office/drawing/2014/main" val="1811238500"/>
                  </a:ext>
                </a:extLst>
              </a:tr>
              <a:tr h="593945">
                <a:tc>
                  <a:txBody>
                    <a:bodyPr/>
                    <a:lstStyle/>
                    <a:p>
                      <a:pPr algn="ctr"/>
                      <a:r>
                        <a:rPr kumimoji="1" lang="ja-JP" altLang="en-US" sz="1800"/>
                        <a:t>外傷・</a:t>
                      </a:r>
                      <a:r>
                        <a:rPr kumimoji="1" lang="ja-JP" altLang="en-US" sz="1800" b="1"/>
                        <a:t>凝固異常の同定</a:t>
                      </a:r>
                      <a:endParaRPr kumimoji="1" lang="en-US" altLang="ja-JP" sz="1800" b="1" dirty="0"/>
                    </a:p>
                    <a:p>
                      <a:pPr algn="ctr"/>
                      <a:r>
                        <a:rPr kumimoji="1" lang="ja-JP" altLang="en-US" sz="1800" b="1"/>
                        <a:t>抗凝固管理</a:t>
                      </a:r>
                    </a:p>
                  </a:txBody>
                  <a:tcPr anchor="ctr"/>
                </a:tc>
                <a:tc>
                  <a:txBody>
                    <a:bodyPr/>
                    <a:lstStyle/>
                    <a:p>
                      <a:pPr algn="ctr"/>
                      <a:r>
                        <a:rPr kumimoji="1" lang="ja-JP" altLang="en-US" sz="1800"/>
                        <a:t>使用場面</a:t>
                      </a:r>
                    </a:p>
                  </a:txBody>
                  <a:tcPr anchor="ctr"/>
                </a:tc>
                <a:tc>
                  <a:txBody>
                    <a:bodyPr/>
                    <a:lstStyle/>
                    <a:p>
                      <a:pPr algn="ctr"/>
                      <a:r>
                        <a:rPr kumimoji="1" lang="ja-JP" altLang="en-US" sz="1800"/>
                        <a:t>外傷</a:t>
                      </a:r>
                      <a:endParaRPr kumimoji="1" lang="en-US" altLang="ja-JP" sz="1800" dirty="0"/>
                    </a:p>
                    <a:p>
                      <a:pPr algn="ctr"/>
                      <a:r>
                        <a:rPr kumimoji="1" lang="ja-JP" altLang="en-US" sz="1800" b="1"/>
                        <a:t>術前抗血小板薬効果判断</a:t>
                      </a:r>
                    </a:p>
                  </a:txBody>
                  <a:tcPr anchor="ctr"/>
                </a:tc>
                <a:extLst>
                  <a:ext uri="{0D108BD9-81ED-4DB2-BD59-A6C34878D82A}">
                    <a16:rowId xmlns:a16="http://schemas.microsoft.com/office/drawing/2014/main" val="2487094193"/>
                  </a:ext>
                </a:extLst>
              </a:tr>
            </a:tbl>
          </a:graphicData>
        </a:graphic>
      </p:graphicFrame>
    </p:spTree>
    <p:extLst>
      <p:ext uri="{BB962C8B-B14F-4D97-AF65-F5344CB8AC3E}">
        <p14:creationId xmlns:p14="http://schemas.microsoft.com/office/powerpoint/2010/main" val="14985065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 9">
            <a:extLst>
              <a:ext uri="{FF2B5EF4-FFF2-40B4-BE49-F238E27FC236}">
                <a16:creationId xmlns:a16="http://schemas.microsoft.com/office/drawing/2014/main" id="{9A0D4974-D7EA-146F-3AA6-3FA05C950B3A}"/>
              </a:ext>
            </a:extLst>
          </p:cNvPr>
          <p:cNvGraphicFramePr>
            <a:graphicFrameLocks noGrp="1"/>
          </p:cNvGraphicFramePr>
          <p:nvPr>
            <p:extLst>
              <p:ext uri="{D42A27DB-BD31-4B8C-83A1-F6EECF244321}">
                <p14:modId xmlns:p14="http://schemas.microsoft.com/office/powerpoint/2010/main" val="142008036"/>
              </p:ext>
            </p:extLst>
          </p:nvPr>
        </p:nvGraphicFramePr>
        <p:xfrm>
          <a:off x="543766" y="1507102"/>
          <a:ext cx="11104467" cy="4803357"/>
        </p:xfrm>
        <a:graphic>
          <a:graphicData uri="http://schemas.openxmlformats.org/drawingml/2006/table">
            <a:tbl>
              <a:tblPr firstRow="1" bandRow="1">
                <a:tableStyleId>{5C22544A-7EE6-4342-B048-85BDC9FD1C3A}</a:tableStyleId>
              </a:tblPr>
              <a:tblGrid>
                <a:gridCol w="3701489">
                  <a:extLst>
                    <a:ext uri="{9D8B030D-6E8A-4147-A177-3AD203B41FA5}">
                      <a16:colId xmlns:a16="http://schemas.microsoft.com/office/drawing/2014/main" val="148605271"/>
                    </a:ext>
                  </a:extLst>
                </a:gridCol>
                <a:gridCol w="3701489">
                  <a:extLst>
                    <a:ext uri="{9D8B030D-6E8A-4147-A177-3AD203B41FA5}">
                      <a16:colId xmlns:a16="http://schemas.microsoft.com/office/drawing/2014/main" val="808883216"/>
                    </a:ext>
                  </a:extLst>
                </a:gridCol>
                <a:gridCol w="3701489">
                  <a:extLst>
                    <a:ext uri="{9D8B030D-6E8A-4147-A177-3AD203B41FA5}">
                      <a16:colId xmlns:a16="http://schemas.microsoft.com/office/drawing/2014/main" val="778626072"/>
                    </a:ext>
                  </a:extLst>
                </a:gridCol>
              </a:tblGrid>
              <a:tr h="539535">
                <a:tc>
                  <a:txBody>
                    <a:bodyPr/>
                    <a:lstStyle/>
                    <a:p>
                      <a:pPr algn="ctr"/>
                      <a:r>
                        <a:rPr kumimoji="1" lang="en-US" altLang="ja-JP" sz="2400" dirty="0"/>
                        <a:t>Global Hemostasis</a:t>
                      </a:r>
                      <a:endParaRPr kumimoji="1" lang="ja-JP" altLang="en-US" sz="2400"/>
                    </a:p>
                  </a:txBody>
                  <a:tcPr/>
                </a:tc>
                <a:tc>
                  <a:txBody>
                    <a:bodyPr/>
                    <a:lstStyle/>
                    <a:p>
                      <a:pPr algn="ctr"/>
                      <a:endParaRPr kumimoji="1" lang="ja-JP" altLang="en-US"/>
                    </a:p>
                  </a:txBody>
                  <a:tcPr/>
                </a:tc>
                <a:tc>
                  <a:txBody>
                    <a:bodyPr/>
                    <a:lstStyle/>
                    <a:p>
                      <a:pPr algn="ctr"/>
                      <a:r>
                        <a:rPr kumimoji="1" lang="en-US" altLang="ja-JP" sz="2400" dirty="0"/>
                        <a:t>Platelet mapping</a:t>
                      </a:r>
                      <a:endParaRPr kumimoji="1" lang="ja-JP" altLang="en-US" sz="2400"/>
                    </a:p>
                  </a:txBody>
                  <a:tcPr/>
                </a:tc>
                <a:extLst>
                  <a:ext uri="{0D108BD9-81ED-4DB2-BD59-A6C34878D82A}">
                    <a16:rowId xmlns:a16="http://schemas.microsoft.com/office/drawing/2014/main" val="1704341832"/>
                  </a:ext>
                </a:extLst>
              </a:tr>
              <a:tr h="367680">
                <a:tc>
                  <a:txBody>
                    <a:bodyPr/>
                    <a:lstStyle/>
                    <a:p>
                      <a:pPr algn="ctr"/>
                      <a:r>
                        <a:rPr kumimoji="1" lang="en-US" altLang="ja-JP" sz="2000" dirty="0"/>
                        <a:t>10000</a:t>
                      </a:r>
                      <a:r>
                        <a:rPr kumimoji="1" lang="ja-JP" altLang="en-US" sz="2000"/>
                        <a:t>円</a:t>
                      </a:r>
                    </a:p>
                  </a:txBody>
                  <a:tcPr anchor="ctr"/>
                </a:tc>
                <a:tc>
                  <a:txBody>
                    <a:bodyPr/>
                    <a:lstStyle/>
                    <a:p>
                      <a:pPr algn="ctr"/>
                      <a:r>
                        <a:rPr kumimoji="1" lang="ja-JP" altLang="en-US" sz="2000"/>
                        <a:t>費用</a:t>
                      </a:r>
                    </a:p>
                  </a:txBody>
                  <a:tcPr anchor="ctr"/>
                </a:tc>
                <a:tc>
                  <a:txBody>
                    <a:bodyPr/>
                    <a:lstStyle/>
                    <a:p>
                      <a:pPr algn="ctr"/>
                      <a:r>
                        <a:rPr kumimoji="1" lang="en-US" altLang="ja-JP" sz="2000" dirty="0"/>
                        <a:t>18000</a:t>
                      </a:r>
                      <a:r>
                        <a:rPr kumimoji="1" lang="ja-JP" altLang="en-US" sz="2000"/>
                        <a:t>円</a:t>
                      </a:r>
                    </a:p>
                  </a:txBody>
                  <a:tcPr anchor="ctr"/>
                </a:tc>
                <a:extLst>
                  <a:ext uri="{0D108BD9-81ED-4DB2-BD59-A6C34878D82A}">
                    <a16:rowId xmlns:a16="http://schemas.microsoft.com/office/drawing/2014/main" val="467376836"/>
                  </a:ext>
                </a:extLst>
              </a:tr>
              <a:tr h="339397">
                <a:tc>
                  <a:txBody>
                    <a:bodyPr/>
                    <a:lstStyle/>
                    <a:p>
                      <a:pPr algn="ctr"/>
                      <a:r>
                        <a:rPr kumimoji="1" lang="ja-JP" altLang="en-US" sz="1800"/>
                        <a:t>クエン酸スピッツ</a:t>
                      </a:r>
                    </a:p>
                  </a:txBody>
                  <a:tcPr anchor="ctr">
                    <a:solidFill>
                      <a:schemeClr val="bg1">
                        <a:lumMod val="95000"/>
                      </a:schemeClr>
                    </a:solidFill>
                  </a:tcPr>
                </a:tc>
                <a:tc>
                  <a:txBody>
                    <a:bodyPr/>
                    <a:lstStyle/>
                    <a:p>
                      <a:pPr algn="ctr"/>
                      <a:r>
                        <a:rPr kumimoji="1" lang="ja-JP" altLang="en-US" sz="1800"/>
                        <a:t>採血方法</a:t>
                      </a:r>
                    </a:p>
                  </a:txBody>
                  <a:tcPr anchor="ctr">
                    <a:solidFill>
                      <a:schemeClr val="bg1">
                        <a:lumMod val="95000"/>
                      </a:schemeClr>
                    </a:solidFill>
                  </a:tcPr>
                </a:tc>
                <a:tc>
                  <a:txBody>
                    <a:bodyPr/>
                    <a:lstStyle/>
                    <a:p>
                      <a:pPr algn="ctr"/>
                      <a:r>
                        <a:rPr kumimoji="1" lang="ja-JP" altLang="en-US" sz="1800"/>
                        <a:t>ヘパリンスピッツ</a:t>
                      </a:r>
                    </a:p>
                  </a:txBody>
                  <a:tcPr anchor="ctr">
                    <a:solidFill>
                      <a:schemeClr val="bg1">
                        <a:lumMod val="95000"/>
                      </a:schemeClr>
                    </a:solidFill>
                  </a:tcPr>
                </a:tc>
                <a:extLst>
                  <a:ext uri="{0D108BD9-81ED-4DB2-BD59-A6C34878D82A}">
                    <a16:rowId xmlns:a16="http://schemas.microsoft.com/office/drawing/2014/main" val="4235246285"/>
                  </a:ext>
                </a:extLst>
              </a:tr>
              <a:tr h="562191">
                <a:tc>
                  <a:txBody>
                    <a:bodyPr/>
                    <a:lstStyle/>
                    <a:p>
                      <a:pPr algn="ctr"/>
                      <a:r>
                        <a:rPr kumimoji="1" lang="en-US" altLang="ja-JP" sz="1800" b="1" dirty="0"/>
                        <a:t>TEG-ACT</a:t>
                      </a:r>
                      <a:r>
                        <a:rPr kumimoji="1" lang="ja-JP" altLang="en-US" sz="1800" b="1"/>
                        <a:t>・</a:t>
                      </a:r>
                      <a:r>
                        <a:rPr kumimoji="1" lang="en-US" altLang="ja-JP" sz="1800" b="1" dirty="0"/>
                        <a:t>CKH-R</a:t>
                      </a:r>
                      <a:endParaRPr kumimoji="1" lang="ja-JP" altLang="en-US" sz="1800" b="1"/>
                    </a:p>
                  </a:txBody>
                  <a:tcPr anchor="ctr">
                    <a:solidFill>
                      <a:schemeClr val="accent6">
                        <a:lumMod val="40000"/>
                        <a:lumOff val="60000"/>
                      </a:schemeClr>
                    </a:solidFill>
                  </a:tcPr>
                </a:tc>
                <a:tc>
                  <a:txBody>
                    <a:bodyPr/>
                    <a:lstStyle/>
                    <a:p>
                      <a:pPr algn="ctr"/>
                      <a:r>
                        <a:rPr kumimoji="1" lang="ja-JP" altLang="en-US" sz="1800"/>
                        <a:t>凝固因子評価</a:t>
                      </a:r>
                    </a:p>
                  </a:txBody>
                  <a:tcPr anchor="ctr">
                    <a:solidFill>
                      <a:schemeClr val="accent6">
                        <a:lumMod val="40000"/>
                        <a:lumOff val="60000"/>
                      </a:schemeClr>
                    </a:solidFill>
                  </a:tcPr>
                </a:tc>
                <a:tc>
                  <a:txBody>
                    <a:bodyPr/>
                    <a:lstStyle/>
                    <a:p>
                      <a:pPr algn="ctr"/>
                      <a:r>
                        <a:rPr kumimoji="1" lang="en-US" altLang="ja-JP" sz="1800" b="1" dirty="0">
                          <a:solidFill>
                            <a:schemeClr val="tx2"/>
                          </a:solidFill>
                        </a:rPr>
                        <a:t>HKH-R</a:t>
                      </a:r>
                      <a:endParaRPr kumimoji="1" lang="ja-JP" altLang="en-US" sz="1800" b="1">
                        <a:solidFill>
                          <a:schemeClr val="tx2"/>
                        </a:solidFill>
                      </a:endParaRPr>
                    </a:p>
                  </a:txBody>
                  <a:tcPr anchor="ctr">
                    <a:solidFill>
                      <a:schemeClr val="accent6">
                        <a:lumMod val="40000"/>
                        <a:lumOff val="60000"/>
                      </a:schemeClr>
                    </a:solidFill>
                  </a:tcPr>
                </a:tc>
                <a:extLst>
                  <a:ext uri="{0D108BD9-81ED-4DB2-BD59-A6C34878D82A}">
                    <a16:rowId xmlns:a16="http://schemas.microsoft.com/office/drawing/2014/main" val="3067414496"/>
                  </a:ext>
                </a:extLst>
              </a:tr>
              <a:tr h="562191">
                <a:tc>
                  <a:txBody>
                    <a:bodyPr/>
                    <a:lstStyle/>
                    <a:p>
                      <a:pPr algn="ctr"/>
                      <a:r>
                        <a:rPr kumimoji="1" lang="en-US" altLang="ja-JP" sz="1800" b="1" dirty="0"/>
                        <a:t>CK-R/CKH-R</a:t>
                      </a:r>
                      <a:endParaRPr kumimoji="1" lang="ja-JP" altLang="en-US" sz="1800" b="1"/>
                    </a:p>
                  </a:txBody>
                  <a:tcPr anchor="ctr">
                    <a:solidFill>
                      <a:schemeClr val="accent4">
                        <a:lumMod val="40000"/>
                        <a:lumOff val="60000"/>
                      </a:schemeClr>
                    </a:solidFill>
                  </a:tcPr>
                </a:tc>
                <a:tc>
                  <a:txBody>
                    <a:bodyPr/>
                    <a:lstStyle/>
                    <a:p>
                      <a:pPr algn="ctr"/>
                      <a:r>
                        <a:rPr kumimoji="1" lang="ja-JP" altLang="en-US" sz="1800"/>
                        <a:t>ヘパリン評価</a:t>
                      </a:r>
                    </a:p>
                  </a:txBody>
                  <a:tcPr anchor="ctr">
                    <a:solidFill>
                      <a:schemeClr val="accent4">
                        <a:lumMod val="40000"/>
                        <a:lumOff val="60000"/>
                      </a:schemeClr>
                    </a:solidFill>
                  </a:tcPr>
                </a:tc>
                <a:tc>
                  <a:txBody>
                    <a:bodyPr/>
                    <a:lstStyle/>
                    <a:p>
                      <a:pPr algn="ctr"/>
                      <a:r>
                        <a:rPr kumimoji="1" lang="ja-JP" altLang="en-US" sz="1800"/>
                        <a:t>不可</a:t>
                      </a:r>
                    </a:p>
                  </a:txBody>
                  <a:tcPr anchor="ctr">
                    <a:solidFill>
                      <a:schemeClr val="accent4">
                        <a:lumMod val="40000"/>
                        <a:lumOff val="60000"/>
                      </a:schemeClr>
                    </a:solidFill>
                  </a:tcPr>
                </a:tc>
                <a:extLst>
                  <a:ext uri="{0D108BD9-81ED-4DB2-BD59-A6C34878D82A}">
                    <a16:rowId xmlns:a16="http://schemas.microsoft.com/office/drawing/2014/main" val="3755730769"/>
                  </a:ext>
                </a:extLst>
              </a:tr>
              <a:tr h="339397">
                <a:tc>
                  <a:txBody>
                    <a:bodyPr/>
                    <a:lstStyle/>
                    <a:p>
                      <a:pPr algn="ctr"/>
                      <a:r>
                        <a:rPr kumimoji="1" lang="ja-JP" altLang="en-US" sz="1800"/>
                        <a:t>不可</a:t>
                      </a:r>
                    </a:p>
                  </a:txBody>
                  <a:tcPr anchor="ctr"/>
                </a:tc>
                <a:tc>
                  <a:txBody>
                    <a:bodyPr/>
                    <a:lstStyle/>
                    <a:p>
                      <a:pPr algn="ctr"/>
                      <a:r>
                        <a:rPr kumimoji="1" lang="ja-JP" altLang="en-US" sz="1800"/>
                        <a:t>経口抗凝固薬評価</a:t>
                      </a:r>
                    </a:p>
                  </a:txBody>
                  <a:tcPr anchor="ctr"/>
                </a:tc>
                <a:tc>
                  <a:txBody>
                    <a:bodyPr/>
                    <a:lstStyle/>
                    <a:p>
                      <a:pPr algn="ctr"/>
                      <a:r>
                        <a:rPr kumimoji="1" lang="ja-JP" altLang="en-US" sz="1800"/>
                        <a:t>不可</a:t>
                      </a:r>
                    </a:p>
                  </a:txBody>
                  <a:tcPr anchor="ctr"/>
                </a:tc>
                <a:extLst>
                  <a:ext uri="{0D108BD9-81ED-4DB2-BD59-A6C34878D82A}">
                    <a16:rowId xmlns:a16="http://schemas.microsoft.com/office/drawing/2014/main" val="904468205"/>
                  </a:ext>
                </a:extLst>
              </a:tr>
              <a:tr h="339397">
                <a:tc>
                  <a:txBody>
                    <a:bodyPr/>
                    <a:lstStyle/>
                    <a:p>
                      <a:pPr algn="ctr"/>
                      <a:r>
                        <a:rPr kumimoji="1" lang="en-US" altLang="ja-JP" sz="1800" b="1" dirty="0"/>
                        <a:t>CFF-MA</a:t>
                      </a:r>
                      <a:endParaRPr kumimoji="1" lang="ja-JP" altLang="en-US" sz="1800" b="1"/>
                    </a:p>
                  </a:txBody>
                  <a:tcPr anchor="ctr">
                    <a:solidFill>
                      <a:schemeClr val="accent2">
                        <a:lumMod val="40000"/>
                        <a:lumOff val="60000"/>
                      </a:schemeClr>
                    </a:solidFill>
                  </a:tcPr>
                </a:tc>
                <a:tc>
                  <a:txBody>
                    <a:bodyPr/>
                    <a:lstStyle/>
                    <a:p>
                      <a:pPr algn="ctr"/>
                      <a:r>
                        <a:rPr kumimoji="1" lang="ja-JP" altLang="en-US" sz="1800"/>
                        <a:t>フィブリノゲン評価</a:t>
                      </a:r>
                    </a:p>
                  </a:txBody>
                  <a:tcPr anchor="ctr">
                    <a:solidFill>
                      <a:schemeClr val="accent2">
                        <a:lumMod val="40000"/>
                        <a:lumOff val="60000"/>
                      </a:schemeClr>
                    </a:solidFill>
                  </a:tcPr>
                </a:tc>
                <a:tc>
                  <a:txBody>
                    <a:bodyPr/>
                    <a:lstStyle/>
                    <a:p>
                      <a:pPr algn="ctr"/>
                      <a:r>
                        <a:rPr kumimoji="1" lang="en-US" altLang="ja-JP" sz="1800" b="1" dirty="0" err="1"/>
                        <a:t>ActF</a:t>
                      </a:r>
                      <a:r>
                        <a:rPr kumimoji="1" lang="en-US" altLang="ja-JP" sz="1800" b="1" dirty="0"/>
                        <a:t>-MA</a:t>
                      </a:r>
                      <a:endParaRPr kumimoji="1" lang="ja-JP" altLang="en-US" sz="1800" b="1"/>
                    </a:p>
                  </a:txBody>
                  <a:tcPr anchor="ctr">
                    <a:solidFill>
                      <a:schemeClr val="accent2">
                        <a:lumMod val="40000"/>
                        <a:lumOff val="60000"/>
                      </a:schemeClr>
                    </a:solidFill>
                  </a:tcPr>
                </a:tc>
                <a:extLst>
                  <a:ext uri="{0D108BD9-81ED-4DB2-BD59-A6C34878D82A}">
                    <a16:rowId xmlns:a16="http://schemas.microsoft.com/office/drawing/2014/main" val="2950712292"/>
                  </a:ext>
                </a:extLst>
              </a:tr>
              <a:tr h="593945">
                <a:tc>
                  <a:txBody>
                    <a:bodyPr/>
                    <a:lstStyle/>
                    <a:p>
                      <a:pPr algn="ctr"/>
                      <a:r>
                        <a:rPr kumimoji="1" lang="ja-JP" altLang="en-US" sz="1800"/>
                        <a:t>間接的に可能</a:t>
                      </a:r>
                      <a:endParaRPr kumimoji="1" lang="en-US" altLang="ja-JP" sz="1800" dirty="0"/>
                    </a:p>
                    <a:p>
                      <a:pPr algn="ctr"/>
                      <a:r>
                        <a:rPr kumimoji="1" lang="en-US" altLang="ja-JP" sz="1800" dirty="0"/>
                        <a:t>(CKR-MA)-(CFF-MA)</a:t>
                      </a:r>
                      <a:endParaRPr kumimoji="1" lang="ja-JP" altLang="en-US" sz="1800"/>
                    </a:p>
                  </a:txBody>
                  <a:tcPr anchor="ctr">
                    <a:solidFill>
                      <a:srgbClr val="FFADEF"/>
                    </a:solidFill>
                  </a:tcPr>
                </a:tc>
                <a:tc>
                  <a:txBody>
                    <a:bodyPr/>
                    <a:lstStyle/>
                    <a:p>
                      <a:pPr algn="ctr"/>
                      <a:r>
                        <a:rPr kumimoji="1" lang="ja-JP" altLang="en-US" sz="1800"/>
                        <a:t>血小板評価</a:t>
                      </a:r>
                    </a:p>
                  </a:txBody>
                  <a:tcPr anchor="ctr">
                    <a:solidFill>
                      <a:srgbClr val="FFADEF"/>
                    </a:solidFill>
                  </a:tcPr>
                </a:tc>
                <a:tc>
                  <a:txBody>
                    <a:bodyPr/>
                    <a:lstStyle/>
                    <a:p>
                      <a:pPr algn="ctr"/>
                      <a:r>
                        <a:rPr kumimoji="1" lang="ja-JP" altLang="en-US" sz="1800" b="1"/>
                        <a:t>直接測定</a:t>
                      </a:r>
                      <a:endParaRPr kumimoji="1" lang="en-US" altLang="ja-JP" sz="1800" b="1" dirty="0"/>
                    </a:p>
                    <a:p>
                      <a:pPr algn="ctr"/>
                      <a:r>
                        <a:rPr kumimoji="1" lang="en-US" altLang="ja-JP" sz="1800" b="1" dirty="0"/>
                        <a:t>AA</a:t>
                      </a:r>
                      <a:r>
                        <a:rPr kumimoji="1" lang="ja-JP" altLang="en-US" sz="1800" b="1"/>
                        <a:t>活性・</a:t>
                      </a:r>
                      <a:r>
                        <a:rPr kumimoji="1" lang="en-US" altLang="ja-JP" sz="1800" b="1" dirty="0"/>
                        <a:t>ADP</a:t>
                      </a:r>
                      <a:r>
                        <a:rPr kumimoji="1" lang="ja-JP" altLang="en-US" sz="1800" b="1"/>
                        <a:t>活性</a:t>
                      </a:r>
                    </a:p>
                  </a:txBody>
                  <a:tcPr anchor="ctr">
                    <a:solidFill>
                      <a:srgbClr val="FFADEF"/>
                    </a:solidFill>
                  </a:tcPr>
                </a:tc>
                <a:extLst>
                  <a:ext uri="{0D108BD9-81ED-4DB2-BD59-A6C34878D82A}">
                    <a16:rowId xmlns:a16="http://schemas.microsoft.com/office/drawing/2014/main" val="1271181524"/>
                  </a:ext>
                </a:extLst>
              </a:tr>
              <a:tr h="339397">
                <a:tc>
                  <a:txBody>
                    <a:bodyPr/>
                    <a:lstStyle/>
                    <a:p>
                      <a:pPr algn="ctr"/>
                      <a:r>
                        <a:rPr kumimoji="1" lang="en-US" altLang="ja-JP" sz="1800" b="1" dirty="0"/>
                        <a:t>LY30</a:t>
                      </a:r>
                      <a:endParaRPr kumimoji="1" lang="ja-JP" altLang="en-US" sz="1800" b="1"/>
                    </a:p>
                  </a:txBody>
                  <a:tcPr anchor="ctr">
                    <a:solidFill>
                      <a:srgbClr val="DDCCF6"/>
                    </a:solidFill>
                  </a:tcPr>
                </a:tc>
                <a:tc>
                  <a:txBody>
                    <a:bodyPr/>
                    <a:lstStyle/>
                    <a:p>
                      <a:pPr algn="ctr"/>
                      <a:r>
                        <a:rPr kumimoji="1" lang="ja-JP" altLang="en-US" sz="1800"/>
                        <a:t>線溶評価</a:t>
                      </a:r>
                    </a:p>
                  </a:txBody>
                  <a:tcPr anchor="ctr">
                    <a:solidFill>
                      <a:srgbClr val="DDCCF6"/>
                    </a:solidFill>
                  </a:tcPr>
                </a:tc>
                <a:tc>
                  <a:txBody>
                    <a:bodyPr/>
                    <a:lstStyle/>
                    <a:p>
                      <a:pPr algn="ctr"/>
                      <a:r>
                        <a:rPr kumimoji="1" lang="ja-JP" altLang="en-US" sz="1800" b="1"/>
                        <a:t>（</a:t>
                      </a:r>
                      <a:r>
                        <a:rPr kumimoji="1" lang="en-US" altLang="ja-JP" sz="1800" b="1" dirty="0"/>
                        <a:t>LY30</a:t>
                      </a:r>
                      <a:r>
                        <a:rPr kumimoji="1" lang="ja-JP" altLang="en-US" sz="1800" b="1"/>
                        <a:t>）</a:t>
                      </a:r>
                      <a:endParaRPr kumimoji="1" lang="en-US" altLang="ja-JP" sz="1800" b="1" dirty="0"/>
                    </a:p>
                  </a:txBody>
                  <a:tcPr anchor="ctr">
                    <a:solidFill>
                      <a:srgbClr val="DDCCF6"/>
                    </a:solidFill>
                  </a:tcPr>
                </a:tc>
                <a:extLst>
                  <a:ext uri="{0D108BD9-81ED-4DB2-BD59-A6C34878D82A}">
                    <a16:rowId xmlns:a16="http://schemas.microsoft.com/office/drawing/2014/main" val="1811238500"/>
                  </a:ext>
                </a:extLst>
              </a:tr>
              <a:tr h="593945">
                <a:tc>
                  <a:txBody>
                    <a:bodyPr/>
                    <a:lstStyle/>
                    <a:p>
                      <a:pPr algn="ctr"/>
                      <a:r>
                        <a:rPr kumimoji="1" lang="ja-JP" altLang="en-US" sz="1800"/>
                        <a:t>外傷・</a:t>
                      </a:r>
                      <a:r>
                        <a:rPr kumimoji="1" lang="ja-JP" altLang="en-US" sz="1800" b="1"/>
                        <a:t>凝固異常の同定</a:t>
                      </a:r>
                      <a:endParaRPr kumimoji="1" lang="en-US" altLang="ja-JP" sz="1800" b="1" dirty="0"/>
                    </a:p>
                    <a:p>
                      <a:pPr algn="ctr"/>
                      <a:r>
                        <a:rPr kumimoji="1" lang="ja-JP" altLang="en-US" sz="1800" b="1"/>
                        <a:t>抗凝固管理</a:t>
                      </a:r>
                    </a:p>
                  </a:txBody>
                  <a:tcPr anchor="ctr"/>
                </a:tc>
                <a:tc>
                  <a:txBody>
                    <a:bodyPr/>
                    <a:lstStyle/>
                    <a:p>
                      <a:pPr algn="ctr"/>
                      <a:r>
                        <a:rPr kumimoji="1" lang="ja-JP" altLang="en-US" sz="1800"/>
                        <a:t>使用場面</a:t>
                      </a:r>
                    </a:p>
                  </a:txBody>
                  <a:tcPr anchor="ctr"/>
                </a:tc>
                <a:tc>
                  <a:txBody>
                    <a:bodyPr/>
                    <a:lstStyle/>
                    <a:p>
                      <a:pPr algn="ctr"/>
                      <a:r>
                        <a:rPr kumimoji="1" lang="ja-JP" altLang="en-US" sz="1800"/>
                        <a:t>外傷</a:t>
                      </a:r>
                      <a:endParaRPr kumimoji="1" lang="en-US" altLang="ja-JP" sz="1800" dirty="0"/>
                    </a:p>
                    <a:p>
                      <a:pPr algn="ctr"/>
                      <a:r>
                        <a:rPr kumimoji="1" lang="ja-JP" altLang="en-US" sz="1800" b="1"/>
                        <a:t>術前抗血小板薬効果判断</a:t>
                      </a:r>
                    </a:p>
                  </a:txBody>
                  <a:tcPr anchor="ctr"/>
                </a:tc>
                <a:extLst>
                  <a:ext uri="{0D108BD9-81ED-4DB2-BD59-A6C34878D82A}">
                    <a16:rowId xmlns:a16="http://schemas.microsoft.com/office/drawing/2014/main" val="2487094193"/>
                  </a:ext>
                </a:extLst>
              </a:tr>
            </a:tbl>
          </a:graphicData>
        </a:graphic>
      </p:graphicFrame>
      <p:sp>
        <p:nvSpPr>
          <p:cNvPr id="2" name="タイトル 1">
            <a:extLst>
              <a:ext uri="{FF2B5EF4-FFF2-40B4-BE49-F238E27FC236}">
                <a16:creationId xmlns:a16="http://schemas.microsoft.com/office/drawing/2014/main" id="{D0A39C47-EE9F-2A7F-2C36-CE7F88639B1F}"/>
              </a:ext>
            </a:extLst>
          </p:cNvPr>
          <p:cNvSpPr>
            <a:spLocks noGrp="1"/>
          </p:cNvSpPr>
          <p:nvPr>
            <p:ph type="title"/>
          </p:nvPr>
        </p:nvSpPr>
        <p:spPr/>
        <p:txBody>
          <a:bodyPr/>
          <a:lstStyle/>
          <a:p>
            <a:r>
              <a:rPr kumimoji="1" lang="en-US" altLang="ja-JP" dirty="0"/>
              <a:t>Global hemostasis vs Platelet mapping</a:t>
            </a:r>
            <a:endParaRPr kumimoji="1" lang="ja-JP" altLang="en-US"/>
          </a:p>
        </p:txBody>
      </p:sp>
      <p:sp>
        <p:nvSpPr>
          <p:cNvPr id="4" name="日付プレースホルダー 3">
            <a:extLst>
              <a:ext uri="{FF2B5EF4-FFF2-40B4-BE49-F238E27FC236}">
                <a16:creationId xmlns:a16="http://schemas.microsoft.com/office/drawing/2014/main" id="{BE48EE16-5F0B-1E0B-5CDE-43AF532D8DE2}"/>
              </a:ext>
            </a:extLst>
          </p:cNvPr>
          <p:cNvSpPr>
            <a:spLocks noGrp="1"/>
          </p:cNvSpPr>
          <p:nvPr>
            <p:ph type="dt" sz="half" idx="10"/>
          </p:nvPr>
        </p:nvSpPr>
        <p:spPr/>
        <p:txBody>
          <a:bodyPr/>
          <a:lstStyle/>
          <a:p>
            <a:fld id="{55AFE9C2-05C1-AE45-A289-3AB76F96EEC9}"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BAD9BBBB-3DF6-D2E0-9D18-12D3110900E0}"/>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F8B52738-4778-DD71-6619-28DA9EBD9801}"/>
              </a:ext>
            </a:extLst>
          </p:cNvPr>
          <p:cNvSpPr>
            <a:spLocks noGrp="1"/>
          </p:cNvSpPr>
          <p:nvPr>
            <p:ph type="sldNum" sz="quarter" idx="12"/>
          </p:nvPr>
        </p:nvSpPr>
        <p:spPr/>
        <p:txBody>
          <a:bodyPr/>
          <a:lstStyle/>
          <a:p>
            <a:r>
              <a:rPr lang="en-US" altLang="ja-JP"/>
              <a:t>No. </a:t>
            </a:r>
            <a:fld id="{41B87E3F-77EC-4EFD-94DE-AA3AEB7C7760}" type="slidenum">
              <a:rPr lang="ja-JP" altLang="en-US" smtClean="0"/>
              <a:pPr/>
              <a:t>39</a:t>
            </a:fld>
            <a:endParaRPr kumimoji="1" lang="ja-JP" altLang="en-US" dirty="0"/>
          </a:p>
        </p:txBody>
      </p:sp>
      <p:sp>
        <p:nvSpPr>
          <p:cNvPr id="3" name="正方形/長方形 2">
            <a:extLst>
              <a:ext uri="{FF2B5EF4-FFF2-40B4-BE49-F238E27FC236}">
                <a16:creationId xmlns:a16="http://schemas.microsoft.com/office/drawing/2014/main" id="{29924E96-4B17-A6A9-10A9-5E620A41C098}"/>
              </a:ext>
            </a:extLst>
          </p:cNvPr>
          <p:cNvSpPr/>
          <p:nvPr/>
        </p:nvSpPr>
        <p:spPr>
          <a:xfrm>
            <a:off x="543766" y="2788170"/>
            <a:ext cx="11104467" cy="565670"/>
          </a:xfrm>
          <a:prstGeom prst="rect">
            <a:avLst/>
          </a:prstGeom>
          <a:no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3EC51988-D5F2-A9C0-4CEE-0E2AC9AA06D6}"/>
              </a:ext>
            </a:extLst>
          </p:cNvPr>
          <p:cNvSpPr/>
          <p:nvPr/>
        </p:nvSpPr>
        <p:spPr>
          <a:xfrm>
            <a:off x="543766" y="4265324"/>
            <a:ext cx="11104467" cy="1085573"/>
          </a:xfrm>
          <a:prstGeom prst="rect">
            <a:avLst/>
          </a:prstGeom>
          <a:no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551120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 9">
            <a:extLst>
              <a:ext uri="{FF2B5EF4-FFF2-40B4-BE49-F238E27FC236}">
                <a16:creationId xmlns:a16="http://schemas.microsoft.com/office/drawing/2014/main" id="{9A0D4974-D7EA-146F-3AA6-3FA05C950B3A}"/>
              </a:ext>
            </a:extLst>
          </p:cNvPr>
          <p:cNvGraphicFramePr>
            <a:graphicFrameLocks noGrp="1"/>
          </p:cNvGraphicFramePr>
          <p:nvPr>
            <p:extLst>
              <p:ext uri="{D42A27DB-BD31-4B8C-83A1-F6EECF244321}">
                <p14:modId xmlns:p14="http://schemas.microsoft.com/office/powerpoint/2010/main" val="1171707418"/>
              </p:ext>
            </p:extLst>
          </p:nvPr>
        </p:nvGraphicFramePr>
        <p:xfrm>
          <a:off x="543766" y="1507102"/>
          <a:ext cx="11104467" cy="4803357"/>
        </p:xfrm>
        <a:graphic>
          <a:graphicData uri="http://schemas.openxmlformats.org/drawingml/2006/table">
            <a:tbl>
              <a:tblPr firstRow="1" bandRow="1">
                <a:tableStyleId>{5C22544A-7EE6-4342-B048-85BDC9FD1C3A}</a:tableStyleId>
              </a:tblPr>
              <a:tblGrid>
                <a:gridCol w="3701489">
                  <a:extLst>
                    <a:ext uri="{9D8B030D-6E8A-4147-A177-3AD203B41FA5}">
                      <a16:colId xmlns:a16="http://schemas.microsoft.com/office/drawing/2014/main" val="148605271"/>
                    </a:ext>
                  </a:extLst>
                </a:gridCol>
                <a:gridCol w="3701489">
                  <a:extLst>
                    <a:ext uri="{9D8B030D-6E8A-4147-A177-3AD203B41FA5}">
                      <a16:colId xmlns:a16="http://schemas.microsoft.com/office/drawing/2014/main" val="808883216"/>
                    </a:ext>
                  </a:extLst>
                </a:gridCol>
                <a:gridCol w="3701489">
                  <a:extLst>
                    <a:ext uri="{9D8B030D-6E8A-4147-A177-3AD203B41FA5}">
                      <a16:colId xmlns:a16="http://schemas.microsoft.com/office/drawing/2014/main" val="778626072"/>
                    </a:ext>
                  </a:extLst>
                </a:gridCol>
              </a:tblGrid>
              <a:tr h="539535">
                <a:tc>
                  <a:txBody>
                    <a:bodyPr/>
                    <a:lstStyle/>
                    <a:p>
                      <a:pPr algn="ctr"/>
                      <a:r>
                        <a:rPr kumimoji="1" lang="en-US" altLang="ja-JP" sz="2400" dirty="0"/>
                        <a:t>Global Hemostasis</a:t>
                      </a:r>
                      <a:endParaRPr kumimoji="1" lang="ja-JP" altLang="en-US" sz="2400"/>
                    </a:p>
                  </a:txBody>
                  <a:tcPr/>
                </a:tc>
                <a:tc>
                  <a:txBody>
                    <a:bodyPr/>
                    <a:lstStyle/>
                    <a:p>
                      <a:pPr algn="ctr"/>
                      <a:endParaRPr kumimoji="1" lang="ja-JP" altLang="en-US"/>
                    </a:p>
                  </a:txBody>
                  <a:tcPr/>
                </a:tc>
                <a:tc>
                  <a:txBody>
                    <a:bodyPr/>
                    <a:lstStyle/>
                    <a:p>
                      <a:pPr algn="ctr"/>
                      <a:r>
                        <a:rPr kumimoji="1" lang="en-US" altLang="ja-JP" sz="2400" dirty="0"/>
                        <a:t>Platelet mapping</a:t>
                      </a:r>
                      <a:endParaRPr kumimoji="1" lang="ja-JP" altLang="en-US" sz="2400"/>
                    </a:p>
                  </a:txBody>
                  <a:tcPr/>
                </a:tc>
                <a:extLst>
                  <a:ext uri="{0D108BD9-81ED-4DB2-BD59-A6C34878D82A}">
                    <a16:rowId xmlns:a16="http://schemas.microsoft.com/office/drawing/2014/main" val="1704341832"/>
                  </a:ext>
                </a:extLst>
              </a:tr>
              <a:tr h="367680">
                <a:tc>
                  <a:txBody>
                    <a:bodyPr/>
                    <a:lstStyle/>
                    <a:p>
                      <a:pPr algn="ctr"/>
                      <a:r>
                        <a:rPr kumimoji="1" lang="en-US" altLang="ja-JP" sz="2000" dirty="0"/>
                        <a:t>10000</a:t>
                      </a:r>
                      <a:r>
                        <a:rPr kumimoji="1" lang="ja-JP" altLang="en-US" sz="2000"/>
                        <a:t>円</a:t>
                      </a:r>
                    </a:p>
                  </a:txBody>
                  <a:tcPr anchor="ctr"/>
                </a:tc>
                <a:tc>
                  <a:txBody>
                    <a:bodyPr/>
                    <a:lstStyle/>
                    <a:p>
                      <a:pPr algn="ctr"/>
                      <a:r>
                        <a:rPr kumimoji="1" lang="ja-JP" altLang="en-US" sz="2000"/>
                        <a:t>費用</a:t>
                      </a:r>
                    </a:p>
                  </a:txBody>
                  <a:tcPr anchor="ctr"/>
                </a:tc>
                <a:tc>
                  <a:txBody>
                    <a:bodyPr/>
                    <a:lstStyle/>
                    <a:p>
                      <a:pPr algn="ctr"/>
                      <a:r>
                        <a:rPr kumimoji="1" lang="en-US" altLang="ja-JP" sz="2000" dirty="0"/>
                        <a:t>18000</a:t>
                      </a:r>
                      <a:r>
                        <a:rPr kumimoji="1" lang="ja-JP" altLang="en-US" sz="2000"/>
                        <a:t>円</a:t>
                      </a:r>
                    </a:p>
                  </a:txBody>
                  <a:tcPr anchor="ctr"/>
                </a:tc>
                <a:extLst>
                  <a:ext uri="{0D108BD9-81ED-4DB2-BD59-A6C34878D82A}">
                    <a16:rowId xmlns:a16="http://schemas.microsoft.com/office/drawing/2014/main" val="467376836"/>
                  </a:ext>
                </a:extLst>
              </a:tr>
              <a:tr h="339397">
                <a:tc>
                  <a:txBody>
                    <a:bodyPr/>
                    <a:lstStyle/>
                    <a:p>
                      <a:pPr algn="ctr"/>
                      <a:r>
                        <a:rPr kumimoji="1" lang="ja-JP" altLang="en-US" sz="1800"/>
                        <a:t>クエン酸スピッツ</a:t>
                      </a:r>
                    </a:p>
                  </a:txBody>
                  <a:tcPr anchor="ctr">
                    <a:solidFill>
                      <a:schemeClr val="bg1">
                        <a:lumMod val="95000"/>
                      </a:schemeClr>
                    </a:solidFill>
                  </a:tcPr>
                </a:tc>
                <a:tc>
                  <a:txBody>
                    <a:bodyPr/>
                    <a:lstStyle/>
                    <a:p>
                      <a:pPr algn="ctr"/>
                      <a:r>
                        <a:rPr kumimoji="1" lang="ja-JP" altLang="en-US" sz="1800"/>
                        <a:t>採血方法</a:t>
                      </a:r>
                    </a:p>
                  </a:txBody>
                  <a:tcPr anchor="ctr">
                    <a:solidFill>
                      <a:schemeClr val="bg1">
                        <a:lumMod val="95000"/>
                      </a:schemeClr>
                    </a:solidFill>
                  </a:tcPr>
                </a:tc>
                <a:tc>
                  <a:txBody>
                    <a:bodyPr/>
                    <a:lstStyle/>
                    <a:p>
                      <a:pPr algn="ctr"/>
                      <a:r>
                        <a:rPr kumimoji="1" lang="ja-JP" altLang="en-US" sz="1800"/>
                        <a:t>ヘパリンスピッツ</a:t>
                      </a:r>
                    </a:p>
                  </a:txBody>
                  <a:tcPr anchor="ctr">
                    <a:solidFill>
                      <a:schemeClr val="bg1">
                        <a:lumMod val="95000"/>
                      </a:schemeClr>
                    </a:solidFill>
                  </a:tcPr>
                </a:tc>
                <a:extLst>
                  <a:ext uri="{0D108BD9-81ED-4DB2-BD59-A6C34878D82A}">
                    <a16:rowId xmlns:a16="http://schemas.microsoft.com/office/drawing/2014/main" val="4235246285"/>
                  </a:ext>
                </a:extLst>
              </a:tr>
              <a:tr h="562191">
                <a:tc>
                  <a:txBody>
                    <a:bodyPr/>
                    <a:lstStyle/>
                    <a:p>
                      <a:pPr algn="ctr"/>
                      <a:r>
                        <a:rPr kumimoji="1" lang="en-US" altLang="ja-JP" sz="1800" b="1" dirty="0"/>
                        <a:t>TEG-ACT</a:t>
                      </a:r>
                      <a:r>
                        <a:rPr kumimoji="1" lang="ja-JP" altLang="en-US" sz="1800" b="1"/>
                        <a:t>・</a:t>
                      </a:r>
                      <a:r>
                        <a:rPr kumimoji="1" lang="en-US" altLang="ja-JP" sz="1800" b="1" dirty="0"/>
                        <a:t>CKH-R</a:t>
                      </a:r>
                      <a:endParaRPr kumimoji="1" lang="ja-JP" altLang="en-US" sz="1800" b="1"/>
                    </a:p>
                  </a:txBody>
                  <a:tcPr anchor="ctr">
                    <a:solidFill>
                      <a:schemeClr val="accent6">
                        <a:lumMod val="40000"/>
                        <a:lumOff val="60000"/>
                      </a:schemeClr>
                    </a:solidFill>
                  </a:tcPr>
                </a:tc>
                <a:tc>
                  <a:txBody>
                    <a:bodyPr/>
                    <a:lstStyle/>
                    <a:p>
                      <a:pPr algn="ctr"/>
                      <a:r>
                        <a:rPr kumimoji="1" lang="ja-JP" altLang="en-US" sz="1800"/>
                        <a:t>凝固因子評価</a:t>
                      </a:r>
                    </a:p>
                  </a:txBody>
                  <a:tcPr anchor="ctr">
                    <a:solidFill>
                      <a:schemeClr val="accent6">
                        <a:lumMod val="40000"/>
                        <a:lumOff val="60000"/>
                      </a:schemeClr>
                    </a:solidFill>
                  </a:tcPr>
                </a:tc>
                <a:tc>
                  <a:txBody>
                    <a:bodyPr/>
                    <a:lstStyle/>
                    <a:p>
                      <a:pPr algn="ctr"/>
                      <a:r>
                        <a:rPr kumimoji="1" lang="en-US" altLang="ja-JP" sz="1800" b="1" dirty="0">
                          <a:solidFill>
                            <a:schemeClr val="tx2"/>
                          </a:solidFill>
                        </a:rPr>
                        <a:t>HKH-R</a:t>
                      </a:r>
                      <a:endParaRPr kumimoji="1" lang="ja-JP" altLang="en-US" sz="1800" b="1">
                        <a:solidFill>
                          <a:schemeClr val="tx2"/>
                        </a:solidFill>
                      </a:endParaRPr>
                    </a:p>
                  </a:txBody>
                  <a:tcPr anchor="ctr">
                    <a:solidFill>
                      <a:schemeClr val="accent6">
                        <a:lumMod val="40000"/>
                        <a:lumOff val="60000"/>
                      </a:schemeClr>
                    </a:solidFill>
                  </a:tcPr>
                </a:tc>
                <a:extLst>
                  <a:ext uri="{0D108BD9-81ED-4DB2-BD59-A6C34878D82A}">
                    <a16:rowId xmlns:a16="http://schemas.microsoft.com/office/drawing/2014/main" val="3067414496"/>
                  </a:ext>
                </a:extLst>
              </a:tr>
              <a:tr h="562191">
                <a:tc>
                  <a:txBody>
                    <a:bodyPr/>
                    <a:lstStyle/>
                    <a:p>
                      <a:pPr algn="ctr"/>
                      <a:r>
                        <a:rPr kumimoji="1" lang="en-US" altLang="ja-JP" sz="1800" b="1" dirty="0"/>
                        <a:t>CK-R/CKH-R</a:t>
                      </a:r>
                      <a:endParaRPr kumimoji="1" lang="ja-JP" altLang="en-US" sz="1800" b="1"/>
                    </a:p>
                  </a:txBody>
                  <a:tcPr anchor="ctr">
                    <a:solidFill>
                      <a:schemeClr val="accent4">
                        <a:lumMod val="40000"/>
                        <a:lumOff val="60000"/>
                      </a:schemeClr>
                    </a:solidFill>
                  </a:tcPr>
                </a:tc>
                <a:tc>
                  <a:txBody>
                    <a:bodyPr/>
                    <a:lstStyle/>
                    <a:p>
                      <a:pPr algn="ctr"/>
                      <a:r>
                        <a:rPr kumimoji="1" lang="ja-JP" altLang="en-US" sz="1800"/>
                        <a:t>ヘパリン評価</a:t>
                      </a:r>
                    </a:p>
                  </a:txBody>
                  <a:tcPr anchor="ctr">
                    <a:solidFill>
                      <a:schemeClr val="accent4">
                        <a:lumMod val="40000"/>
                        <a:lumOff val="60000"/>
                      </a:schemeClr>
                    </a:solidFill>
                  </a:tcPr>
                </a:tc>
                <a:tc>
                  <a:txBody>
                    <a:bodyPr/>
                    <a:lstStyle/>
                    <a:p>
                      <a:pPr algn="ctr"/>
                      <a:r>
                        <a:rPr kumimoji="1" lang="ja-JP" altLang="en-US" sz="1800"/>
                        <a:t>不可</a:t>
                      </a:r>
                    </a:p>
                  </a:txBody>
                  <a:tcPr anchor="ctr">
                    <a:solidFill>
                      <a:schemeClr val="accent4">
                        <a:lumMod val="40000"/>
                        <a:lumOff val="60000"/>
                      </a:schemeClr>
                    </a:solidFill>
                  </a:tcPr>
                </a:tc>
                <a:extLst>
                  <a:ext uri="{0D108BD9-81ED-4DB2-BD59-A6C34878D82A}">
                    <a16:rowId xmlns:a16="http://schemas.microsoft.com/office/drawing/2014/main" val="3755730769"/>
                  </a:ext>
                </a:extLst>
              </a:tr>
              <a:tr h="339397">
                <a:tc>
                  <a:txBody>
                    <a:bodyPr/>
                    <a:lstStyle/>
                    <a:p>
                      <a:pPr algn="ctr"/>
                      <a:r>
                        <a:rPr kumimoji="1" lang="ja-JP" altLang="en-US" sz="1800"/>
                        <a:t>不可</a:t>
                      </a:r>
                    </a:p>
                  </a:txBody>
                  <a:tcPr anchor="ctr"/>
                </a:tc>
                <a:tc>
                  <a:txBody>
                    <a:bodyPr/>
                    <a:lstStyle/>
                    <a:p>
                      <a:pPr algn="ctr"/>
                      <a:r>
                        <a:rPr kumimoji="1" lang="ja-JP" altLang="en-US" sz="1800"/>
                        <a:t>経口抗凝固薬評価</a:t>
                      </a:r>
                    </a:p>
                  </a:txBody>
                  <a:tcPr anchor="ctr"/>
                </a:tc>
                <a:tc>
                  <a:txBody>
                    <a:bodyPr/>
                    <a:lstStyle/>
                    <a:p>
                      <a:pPr algn="ctr"/>
                      <a:r>
                        <a:rPr kumimoji="1" lang="ja-JP" altLang="en-US" sz="1800"/>
                        <a:t>不可</a:t>
                      </a:r>
                    </a:p>
                  </a:txBody>
                  <a:tcPr anchor="ctr"/>
                </a:tc>
                <a:extLst>
                  <a:ext uri="{0D108BD9-81ED-4DB2-BD59-A6C34878D82A}">
                    <a16:rowId xmlns:a16="http://schemas.microsoft.com/office/drawing/2014/main" val="904468205"/>
                  </a:ext>
                </a:extLst>
              </a:tr>
              <a:tr h="339397">
                <a:tc>
                  <a:txBody>
                    <a:bodyPr/>
                    <a:lstStyle/>
                    <a:p>
                      <a:pPr algn="ctr"/>
                      <a:r>
                        <a:rPr kumimoji="1" lang="en-US" altLang="ja-JP" sz="1800" b="1" dirty="0"/>
                        <a:t>CFF-MA</a:t>
                      </a:r>
                      <a:endParaRPr kumimoji="1" lang="ja-JP" altLang="en-US" sz="1800" b="1"/>
                    </a:p>
                  </a:txBody>
                  <a:tcPr anchor="ctr">
                    <a:solidFill>
                      <a:schemeClr val="accent2">
                        <a:lumMod val="40000"/>
                        <a:lumOff val="60000"/>
                      </a:schemeClr>
                    </a:solidFill>
                  </a:tcPr>
                </a:tc>
                <a:tc>
                  <a:txBody>
                    <a:bodyPr/>
                    <a:lstStyle/>
                    <a:p>
                      <a:pPr algn="ctr"/>
                      <a:r>
                        <a:rPr kumimoji="1" lang="ja-JP" altLang="en-US" sz="1800"/>
                        <a:t>フィブリノゲン評価</a:t>
                      </a:r>
                    </a:p>
                  </a:txBody>
                  <a:tcPr anchor="ctr">
                    <a:solidFill>
                      <a:schemeClr val="accent2">
                        <a:lumMod val="40000"/>
                        <a:lumOff val="60000"/>
                      </a:schemeClr>
                    </a:solidFill>
                  </a:tcPr>
                </a:tc>
                <a:tc>
                  <a:txBody>
                    <a:bodyPr/>
                    <a:lstStyle/>
                    <a:p>
                      <a:pPr algn="ctr"/>
                      <a:r>
                        <a:rPr kumimoji="1" lang="en-US" altLang="ja-JP" sz="1800" b="1" dirty="0" err="1"/>
                        <a:t>ActF</a:t>
                      </a:r>
                      <a:r>
                        <a:rPr kumimoji="1" lang="en-US" altLang="ja-JP" sz="1800" b="1" dirty="0"/>
                        <a:t>-MA</a:t>
                      </a:r>
                      <a:endParaRPr kumimoji="1" lang="ja-JP" altLang="en-US" sz="1800" b="1"/>
                    </a:p>
                  </a:txBody>
                  <a:tcPr anchor="ctr">
                    <a:solidFill>
                      <a:schemeClr val="accent2">
                        <a:lumMod val="40000"/>
                        <a:lumOff val="60000"/>
                      </a:schemeClr>
                    </a:solidFill>
                  </a:tcPr>
                </a:tc>
                <a:extLst>
                  <a:ext uri="{0D108BD9-81ED-4DB2-BD59-A6C34878D82A}">
                    <a16:rowId xmlns:a16="http://schemas.microsoft.com/office/drawing/2014/main" val="2950712292"/>
                  </a:ext>
                </a:extLst>
              </a:tr>
              <a:tr h="593945">
                <a:tc>
                  <a:txBody>
                    <a:bodyPr/>
                    <a:lstStyle/>
                    <a:p>
                      <a:pPr algn="ctr"/>
                      <a:r>
                        <a:rPr kumimoji="1" lang="ja-JP" altLang="en-US" sz="1800"/>
                        <a:t>間接的に可能</a:t>
                      </a:r>
                      <a:endParaRPr kumimoji="1" lang="en-US" altLang="ja-JP" sz="1800" dirty="0"/>
                    </a:p>
                    <a:p>
                      <a:pPr algn="ctr"/>
                      <a:r>
                        <a:rPr kumimoji="1" lang="en-US" altLang="ja-JP" sz="1800" dirty="0"/>
                        <a:t>(CKR-MA)-(CFF-MA)</a:t>
                      </a:r>
                      <a:endParaRPr kumimoji="1" lang="ja-JP" altLang="en-US" sz="1800"/>
                    </a:p>
                  </a:txBody>
                  <a:tcPr anchor="ctr">
                    <a:solidFill>
                      <a:srgbClr val="FFADEF"/>
                    </a:solidFill>
                  </a:tcPr>
                </a:tc>
                <a:tc>
                  <a:txBody>
                    <a:bodyPr/>
                    <a:lstStyle/>
                    <a:p>
                      <a:pPr algn="ctr"/>
                      <a:r>
                        <a:rPr kumimoji="1" lang="ja-JP" altLang="en-US" sz="1800"/>
                        <a:t>血小板評価</a:t>
                      </a:r>
                    </a:p>
                  </a:txBody>
                  <a:tcPr anchor="ctr">
                    <a:solidFill>
                      <a:srgbClr val="FFADEF"/>
                    </a:solidFill>
                  </a:tcPr>
                </a:tc>
                <a:tc>
                  <a:txBody>
                    <a:bodyPr/>
                    <a:lstStyle/>
                    <a:p>
                      <a:pPr algn="ctr"/>
                      <a:r>
                        <a:rPr kumimoji="1" lang="ja-JP" altLang="en-US" sz="1800" b="1"/>
                        <a:t>直接測定</a:t>
                      </a:r>
                      <a:endParaRPr kumimoji="1" lang="en-US" altLang="ja-JP" sz="1800" b="1" dirty="0"/>
                    </a:p>
                    <a:p>
                      <a:pPr algn="ctr"/>
                      <a:r>
                        <a:rPr kumimoji="1" lang="en-US" altLang="ja-JP" sz="1800" b="1" dirty="0"/>
                        <a:t>AA</a:t>
                      </a:r>
                      <a:r>
                        <a:rPr kumimoji="1" lang="ja-JP" altLang="en-US" sz="1800" b="1"/>
                        <a:t>活性・</a:t>
                      </a:r>
                      <a:r>
                        <a:rPr kumimoji="1" lang="en-US" altLang="ja-JP" sz="1800" b="1" dirty="0"/>
                        <a:t>ADP</a:t>
                      </a:r>
                      <a:r>
                        <a:rPr kumimoji="1" lang="ja-JP" altLang="en-US" sz="1800" b="1"/>
                        <a:t>活性</a:t>
                      </a:r>
                    </a:p>
                  </a:txBody>
                  <a:tcPr anchor="ctr">
                    <a:solidFill>
                      <a:srgbClr val="FFADEF"/>
                    </a:solidFill>
                  </a:tcPr>
                </a:tc>
                <a:extLst>
                  <a:ext uri="{0D108BD9-81ED-4DB2-BD59-A6C34878D82A}">
                    <a16:rowId xmlns:a16="http://schemas.microsoft.com/office/drawing/2014/main" val="1271181524"/>
                  </a:ext>
                </a:extLst>
              </a:tr>
              <a:tr h="339397">
                <a:tc>
                  <a:txBody>
                    <a:bodyPr/>
                    <a:lstStyle/>
                    <a:p>
                      <a:pPr algn="ctr"/>
                      <a:r>
                        <a:rPr kumimoji="1" lang="en-US" altLang="ja-JP" sz="1800" b="1" dirty="0"/>
                        <a:t>LY30</a:t>
                      </a:r>
                      <a:endParaRPr kumimoji="1" lang="ja-JP" altLang="en-US" sz="1800" b="1"/>
                    </a:p>
                  </a:txBody>
                  <a:tcPr anchor="ctr">
                    <a:solidFill>
                      <a:srgbClr val="DDCCF6"/>
                    </a:solidFill>
                  </a:tcPr>
                </a:tc>
                <a:tc>
                  <a:txBody>
                    <a:bodyPr/>
                    <a:lstStyle/>
                    <a:p>
                      <a:pPr algn="ctr"/>
                      <a:r>
                        <a:rPr kumimoji="1" lang="ja-JP" altLang="en-US" sz="1800"/>
                        <a:t>線溶評価</a:t>
                      </a:r>
                    </a:p>
                  </a:txBody>
                  <a:tcPr anchor="ctr">
                    <a:solidFill>
                      <a:srgbClr val="DDCCF6"/>
                    </a:solidFill>
                  </a:tcPr>
                </a:tc>
                <a:tc>
                  <a:txBody>
                    <a:bodyPr/>
                    <a:lstStyle/>
                    <a:p>
                      <a:pPr algn="ctr"/>
                      <a:r>
                        <a:rPr kumimoji="1" lang="ja-JP" altLang="en-US" sz="1800" b="1"/>
                        <a:t>（</a:t>
                      </a:r>
                      <a:r>
                        <a:rPr kumimoji="1" lang="en-US" altLang="ja-JP" sz="1800" b="1" dirty="0"/>
                        <a:t>LY30</a:t>
                      </a:r>
                      <a:r>
                        <a:rPr kumimoji="1" lang="ja-JP" altLang="en-US" sz="1800" b="1"/>
                        <a:t>）</a:t>
                      </a:r>
                    </a:p>
                  </a:txBody>
                  <a:tcPr anchor="ctr">
                    <a:solidFill>
                      <a:srgbClr val="DDCCF6"/>
                    </a:solidFill>
                  </a:tcPr>
                </a:tc>
                <a:extLst>
                  <a:ext uri="{0D108BD9-81ED-4DB2-BD59-A6C34878D82A}">
                    <a16:rowId xmlns:a16="http://schemas.microsoft.com/office/drawing/2014/main" val="1811238500"/>
                  </a:ext>
                </a:extLst>
              </a:tr>
              <a:tr h="593945">
                <a:tc>
                  <a:txBody>
                    <a:bodyPr/>
                    <a:lstStyle/>
                    <a:p>
                      <a:pPr algn="ctr"/>
                      <a:r>
                        <a:rPr kumimoji="1" lang="ja-JP" altLang="en-US" sz="1800"/>
                        <a:t>外傷・</a:t>
                      </a:r>
                      <a:r>
                        <a:rPr kumimoji="1" lang="ja-JP" altLang="en-US" sz="1800" b="1"/>
                        <a:t>凝固異常の同定</a:t>
                      </a:r>
                      <a:endParaRPr kumimoji="1" lang="en-US" altLang="ja-JP" sz="1800" b="1" dirty="0"/>
                    </a:p>
                    <a:p>
                      <a:pPr algn="ctr"/>
                      <a:r>
                        <a:rPr kumimoji="1" lang="ja-JP" altLang="en-US" sz="1800" b="1"/>
                        <a:t>抗凝固管理</a:t>
                      </a:r>
                    </a:p>
                  </a:txBody>
                  <a:tcPr anchor="ctr"/>
                </a:tc>
                <a:tc>
                  <a:txBody>
                    <a:bodyPr/>
                    <a:lstStyle/>
                    <a:p>
                      <a:pPr algn="ctr"/>
                      <a:r>
                        <a:rPr kumimoji="1" lang="ja-JP" altLang="en-US" sz="1800"/>
                        <a:t>使用場面</a:t>
                      </a:r>
                    </a:p>
                  </a:txBody>
                  <a:tcPr anchor="ctr"/>
                </a:tc>
                <a:tc>
                  <a:txBody>
                    <a:bodyPr/>
                    <a:lstStyle/>
                    <a:p>
                      <a:pPr algn="ctr"/>
                      <a:r>
                        <a:rPr kumimoji="1" lang="ja-JP" altLang="en-US" sz="1800"/>
                        <a:t>外傷</a:t>
                      </a:r>
                      <a:endParaRPr kumimoji="1" lang="en-US" altLang="ja-JP" sz="1800" dirty="0"/>
                    </a:p>
                    <a:p>
                      <a:pPr algn="ctr"/>
                      <a:r>
                        <a:rPr kumimoji="1" lang="ja-JP" altLang="en-US" sz="1800" b="1"/>
                        <a:t>術前抗血小板薬効果判断</a:t>
                      </a:r>
                    </a:p>
                  </a:txBody>
                  <a:tcPr anchor="ctr"/>
                </a:tc>
                <a:extLst>
                  <a:ext uri="{0D108BD9-81ED-4DB2-BD59-A6C34878D82A}">
                    <a16:rowId xmlns:a16="http://schemas.microsoft.com/office/drawing/2014/main" val="2487094193"/>
                  </a:ext>
                </a:extLst>
              </a:tr>
            </a:tbl>
          </a:graphicData>
        </a:graphic>
      </p:graphicFrame>
      <p:sp>
        <p:nvSpPr>
          <p:cNvPr id="2" name="タイトル 1">
            <a:extLst>
              <a:ext uri="{FF2B5EF4-FFF2-40B4-BE49-F238E27FC236}">
                <a16:creationId xmlns:a16="http://schemas.microsoft.com/office/drawing/2014/main" id="{D0A39C47-EE9F-2A7F-2C36-CE7F88639B1F}"/>
              </a:ext>
            </a:extLst>
          </p:cNvPr>
          <p:cNvSpPr>
            <a:spLocks noGrp="1"/>
          </p:cNvSpPr>
          <p:nvPr>
            <p:ph type="title"/>
          </p:nvPr>
        </p:nvSpPr>
        <p:spPr/>
        <p:txBody>
          <a:bodyPr/>
          <a:lstStyle/>
          <a:p>
            <a:r>
              <a:rPr kumimoji="1" lang="en-US" altLang="ja-JP" dirty="0"/>
              <a:t>Global hemostasis vs Platelet mapping</a:t>
            </a:r>
            <a:endParaRPr kumimoji="1" lang="ja-JP" altLang="en-US"/>
          </a:p>
        </p:txBody>
      </p:sp>
      <p:sp>
        <p:nvSpPr>
          <p:cNvPr id="4" name="日付プレースホルダー 3">
            <a:extLst>
              <a:ext uri="{FF2B5EF4-FFF2-40B4-BE49-F238E27FC236}">
                <a16:creationId xmlns:a16="http://schemas.microsoft.com/office/drawing/2014/main" id="{BE48EE16-5F0B-1E0B-5CDE-43AF532D8DE2}"/>
              </a:ext>
            </a:extLst>
          </p:cNvPr>
          <p:cNvSpPr>
            <a:spLocks noGrp="1"/>
          </p:cNvSpPr>
          <p:nvPr>
            <p:ph type="dt" sz="half" idx="10"/>
          </p:nvPr>
        </p:nvSpPr>
        <p:spPr/>
        <p:txBody>
          <a:bodyPr/>
          <a:lstStyle/>
          <a:p>
            <a:fld id="{93DC25F7-CC46-BC4F-8B9F-0D62812F8DC8}"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BAD9BBBB-3DF6-D2E0-9D18-12D3110900E0}"/>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F8B52738-4778-DD71-6619-28DA9EBD9801}"/>
              </a:ext>
            </a:extLst>
          </p:cNvPr>
          <p:cNvSpPr>
            <a:spLocks noGrp="1"/>
          </p:cNvSpPr>
          <p:nvPr>
            <p:ph type="sldNum" sz="quarter" idx="12"/>
          </p:nvPr>
        </p:nvSpPr>
        <p:spPr/>
        <p:txBody>
          <a:bodyPr/>
          <a:lstStyle/>
          <a:p>
            <a:r>
              <a:rPr lang="en-US" altLang="ja-JP"/>
              <a:t>No. </a:t>
            </a:r>
            <a:fld id="{41B87E3F-77EC-4EFD-94DE-AA3AEB7C7760}" type="slidenum">
              <a:rPr lang="ja-JP" altLang="en-US" smtClean="0"/>
              <a:pPr/>
              <a:t>40</a:t>
            </a:fld>
            <a:endParaRPr kumimoji="1" lang="ja-JP" altLang="en-US" dirty="0"/>
          </a:p>
        </p:txBody>
      </p:sp>
      <p:sp>
        <p:nvSpPr>
          <p:cNvPr id="3" name="正方形/長方形 2">
            <a:extLst>
              <a:ext uri="{FF2B5EF4-FFF2-40B4-BE49-F238E27FC236}">
                <a16:creationId xmlns:a16="http://schemas.microsoft.com/office/drawing/2014/main" id="{29924E96-4B17-A6A9-10A9-5E620A41C098}"/>
              </a:ext>
            </a:extLst>
          </p:cNvPr>
          <p:cNvSpPr/>
          <p:nvPr/>
        </p:nvSpPr>
        <p:spPr>
          <a:xfrm>
            <a:off x="543766" y="2788170"/>
            <a:ext cx="11104467" cy="565670"/>
          </a:xfrm>
          <a:prstGeom prst="rect">
            <a:avLst/>
          </a:prstGeom>
          <a:no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3EC51988-D5F2-A9C0-4CEE-0E2AC9AA06D6}"/>
              </a:ext>
            </a:extLst>
          </p:cNvPr>
          <p:cNvSpPr/>
          <p:nvPr/>
        </p:nvSpPr>
        <p:spPr>
          <a:xfrm>
            <a:off x="543766" y="4265324"/>
            <a:ext cx="11104467" cy="1085573"/>
          </a:xfrm>
          <a:prstGeom prst="rect">
            <a:avLst/>
          </a:prstGeom>
          <a:no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3E9162EB-A8CB-1F21-82E7-5ED72D3D34E3}"/>
              </a:ext>
            </a:extLst>
          </p:cNvPr>
          <p:cNvSpPr/>
          <p:nvPr/>
        </p:nvSpPr>
        <p:spPr>
          <a:xfrm>
            <a:off x="0" y="2758190"/>
            <a:ext cx="12192000" cy="2495640"/>
          </a:xfrm>
          <a:prstGeom prst="rect">
            <a:avLst/>
          </a:prstGeom>
          <a:solidFill>
            <a:srgbClr val="C00000">
              <a:alpha val="86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5400" b="1"/>
              <a:t>外傷診療においては</a:t>
            </a:r>
            <a:endParaRPr kumimoji="1" lang="en-US" altLang="ja-JP" sz="5400" b="1" dirty="0"/>
          </a:p>
          <a:p>
            <a:pPr algn="ctr"/>
            <a:r>
              <a:rPr lang="en-US" altLang="ja-JP" sz="5400" b="1" dirty="0"/>
              <a:t>TEG PM</a:t>
            </a:r>
            <a:r>
              <a:rPr lang="ja-JP" altLang="en-US" sz="5400" b="1"/>
              <a:t>＞</a:t>
            </a:r>
            <a:r>
              <a:rPr lang="en-US" altLang="ja-JP" sz="5400" b="1" dirty="0"/>
              <a:t>TEG GH</a:t>
            </a:r>
            <a:r>
              <a:rPr lang="ja-JP" altLang="en-US" sz="5400" b="1"/>
              <a:t>の可能性</a:t>
            </a:r>
            <a:endParaRPr kumimoji="1" lang="ja-JP" altLang="en-US" sz="5400" b="1"/>
          </a:p>
        </p:txBody>
      </p:sp>
    </p:spTree>
    <p:extLst>
      <p:ext uri="{BB962C8B-B14F-4D97-AF65-F5344CB8AC3E}">
        <p14:creationId xmlns:p14="http://schemas.microsoft.com/office/powerpoint/2010/main" val="3652506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55E11A-6194-F652-202D-819045F02938}"/>
              </a:ext>
            </a:extLst>
          </p:cNvPr>
          <p:cNvSpPr>
            <a:spLocks noGrp="1"/>
          </p:cNvSpPr>
          <p:nvPr>
            <p:ph type="title"/>
          </p:nvPr>
        </p:nvSpPr>
        <p:spPr/>
        <p:txBody>
          <a:bodyPr/>
          <a:lstStyle/>
          <a:p>
            <a:r>
              <a:rPr kumimoji="1" lang="en-US" altLang="ja-JP" dirty="0" err="1"/>
              <a:t>Trauma</a:t>
            </a:r>
            <a:r>
              <a:rPr lang="en-US" altLang="ja-JP" dirty="0" err="1"/>
              <a:t>×</a:t>
            </a:r>
            <a:r>
              <a:rPr kumimoji="1" lang="en-US" altLang="ja-JP" dirty="0" err="1"/>
              <a:t>TEG</a:t>
            </a:r>
            <a:r>
              <a:rPr kumimoji="1" lang="en-US" altLang="ja-JP" dirty="0"/>
              <a:t> PM</a:t>
            </a:r>
            <a:endParaRPr kumimoji="1" lang="ja-JP" altLang="en-US"/>
          </a:p>
        </p:txBody>
      </p:sp>
      <p:sp>
        <p:nvSpPr>
          <p:cNvPr id="4" name="日付プレースホルダー 3">
            <a:extLst>
              <a:ext uri="{FF2B5EF4-FFF2-40B4-BE49-F238E27FC236}">
                <a16:creationId xmlns:a16="http://schemas.microsoft.com/office/drawing/2014/main" id="{29975C30-44CC-DFA8-BDBF-5DBABE9784F0}"/>
              </a:ext>
            </a:extLst>
          </p:cNvPr>
          <p:cNvSpPr>
            <a:spLocks noGrp="1"/>
          </p:cNvSpPr>
          <p:nvPr>
            <p:ph type="dt" sz="half" idx="10"/>
          </p:nvPr>
        </p:nvSpPr>
        <p:spPr/>
        <p:txBody>
          <a:bodyPr/>
          <a:lstStyle/>
          <a:p>
            <a:fld id="{F441755F-5D97-4F49-A0C1-F75869C5C6AA}"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04B5CA02-44C7-3EB7-6D53-D743D77BA5C4}"/>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B0B62614-E20D-D04B-B9F5-64CC3A58643B}"/>
              </a:ext>
            </a:extLst>
          </p:cNvPr>
          <p:cNvSpPr>
            <a:spLocks noGrp="1"/>
          </p:cNvSpPr>
          <p:nvPr>
            <p:ph type="sldNum" sz="quarter" idx="12"/>
          </p:nvPr>
        </p:nvSpPr>
        <p:spPr/>
        <p:txBody>
          <a:bodyPr/>
          <a:lstStyle/>
          <a:p>
            <a:r>
              <a:rPr lang="en-US" altLang="ja-JP"/>
              <a:t>No. </a:t>
            </a:r>
            <a:fld id="{41B87E3F-77EC-4EFD-94DE-AA3AEB7C7760}" type="slidenum">
              <a:rPr lang="ja-JP" altLang="en-US" smtClean="0"/>
              <a:pPr/>
              <a:t>41</a:t>
            </a:fld>
            <a:endParaRPr kumimoji="1" lang="ja-JP" altLang="en-US" dirty="0"/>
          </a:p>
        </p:txBody>
      </p:sp>
      <p:graphicFrame>
        <p:nvGraphicFramePr>
          <p:cNvPr id="3" name="表 2">
            <a:extLst>
              <a:ext uri="{FF2B5EF4-FFF2-40B4-BE49-F238E27FC236}">
                <a16:creationId xmlns:a16="http://schemas.microsoft.com/office/drawing/2014/main" id="{76E9D88A-D244-95B5-7AD4-23D7E839609C}"/>
              </a:ext>
            </a:extLst>
          </p:cNvPr>
          <p:cNvGraphicFramePr>
            <a:graphicFrameLocks noGrp="1"/>
          </p:cNvGraphicFramePr>
          <p:nvPr>
            <p:extLst>
              <p:ext uri="{D42A27DB-BD31-4B8C-83A1-F6EECF244321}">
                <p14:modId xmlns:p14="http://schemas.microsoft.com/office/powerpoint/2010/main" val="1502952762"/>
              </p:ext>
            </p:extLst>
          </p:nvPr>
        </p:nvGraphicFramePr>
        <p:xfrm>
          <a:off x="72000" y="1789214"/>
          <a:ext cx="12048000" cy="4206852"/>
        </p:xfrm>
        <a:graphic>
          <a:graphicData uri="http://schemas.openxmlformats.org/drawingml/2006/table">
            <a:tbl>
              <a:tblPr firstRow="1" bandRow="1">
                <a:tableStyleId>{0505E3EF-67EA-436B-97B2-0124C06EBD24}</a:tableStyleId>
              </a:tblPr>
              <a:tblGrid>
                <a:gridCol w="4470020">
                  <a:extLst>
                    <a:ext uri="{9D8B030D-6E8A-4147-A177-3AD203B41FA5}">
                      <a16:colId xmlns:a16="http://schemas.microsoft.com/office/drawing/2014/main" val="2581452237"/>
                    </a:ext>
                  </a:extLst>
                </a:gridCol>
                <a:gridCol w="7577980">
                  <a:extLst>
                    <a:ext uri="{9D8B030D-6E8A-4147-A177-3AD203B41FA5}">
                      <a16:colId xmlns:a16="http://schemas.microsoft.com/office/drawing/2014/main" val="2250197640"/>
                    </a:ext>
                  </a:extLst>
                </a:gridCol>
              </a:tblGrid>
              <a:tr h="1101285">
                <a:tc>
                  <a:txBody>
                    <a:bodyPr/>
                    <a:lstStyle/>
                    <a:p>
                      <a:r>
                        <a:rPr kumimoji="1" lang="ja-JP" altLang="en-US" sz="2400" b="1"/>
                        <a:t>凝固因子に決まった指標はない</a:t>
                      </a:r>
                      <a:endParaRPr kumimoji="1" lang="en-US" altLang="ja-JP" sz="2400" b="1" dirty="0"/>
                    </a:p>
                    <a:p>
                      <a:pPr algn="r"/>
                      <a:r>
                        <a:rPr kumimoji="1" lang="en-US" altLang="ja-JP" sz="2400" b="0" dirty="0"/>
                        <a:t>HKH-R</a:t>
                      </a:r>
                      <a:r>
                        <a:rPr kumimoji="1" lang="ja-JP" altLang="en-US" sz="2400" b="0"/>
                        <a:t>が有用かも</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2400" b="0" dirty="0"/>
                        <a:t>FFP</a:t>
                      </a:r>
                      <a:r>
                        <a:rPr kumimoji="1" lang="ja-JP" altLang="en-US" sz="2400" b="0"/>
                        <a:t>は重症度や所見をみて投与するから</a:t>
                      </a:r>
                      <a:endParaRPr kumimoji="1" lang="en-US" altLang="ja-JP" sz="2400" b="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0"/>
                        <a:t>問題ないのでは？</a:t>
                      </a:r>
                    </a:p>
                  </a:txBody>
                  <a:tcPr>
                    <a:solidFill>
                      <a:schemeClr val="bg1"/>
                    </a:solidFill>
                  </a:tcPr>
                </a:tc>
                <a:extLst>
                  <a:ext uri="{0D108BD9-81ED-4DB2-BD59-A6C34878D82A}">
                    <a16:rowId xmlns:a16="http://schemas.microsoft.com/office/drawing/2014/main" val="2089437575"/>
                  </a:ext>
                </a:extLst>
              </a:tr>
              <a:tr h="6118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1" dirty="0"/>
                        <a:t>LY30</a:t>
                      </a:r>
                      <a:endParaRPr kumimoji="1" lang="ja-JP" altLang="en-US" sz="2400" b="1"/>
                    </a:p>
                  </a:txBody>
                  <a:tcPr>
                    <a:solidFill>
                      <a:schemeClr val="accent4">
                        <a:lumMod val="40000"/>
                        <a:lumOff val="60000"/>
                      </a:schemeClr>
                    </a:solidFill>
                  </a:tcPr>
                </a:tc>
                <a:tc>
                  <a:txBody>
                    <a:bodyPr/>
                    <a:lstStyle/>
                    <a:p>
                      <a:r>
                        <a:rPr kumimoji="1" lang="ja-JP" altLang="en-US" sz="2400" b="0"/>
                        <a:t>測定は可能．</a:t>
                      </a:r>
                      <a:r>
                        <a:rPr kumimoji="1" lang="en-US" altLang="ja-JP" sz="2400" b="0" dirty="0"/>
                        <a:t>TXA</a:t>
                      </a:r>
                      <a:r>
                        <a:rPr kumimoji="1" lang="ja-JP" altLang="en-US" sz="2400" b="0"/>
                        <a:t>は基本投与　</a:t>
                      </a:r>
                    </a:p>
                  </a:txBody>
                  <a:tcPr>
                    <a:solidFill>
                      <a:schemeClr val="bg1"/>
                    </a:solidFill>
                  </a:tcPr>
                </a:tc>
                <a:extLst>
                  <a:ext uri="{0D108BD9-81ED-4DB2-BD59-A6C34878D82A}">
                    <a16:rowId xmlns:a16="http://schemas.microsoft.com/office/drawing/2014/main" val="4132828735"/>
                  </a:ext>
                </a:extLst>
              </a:tr>
              <a:tr h="11012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1" dirty="0"/>
                        <a:t>Act-F</a:t>
                      </a:r>
                      <a:r>
                        <a:rPr kumimoji="1" lang="ja-JP" altLang="en-US" sz="2400" b="1"/>
                        <a:t>で</a:t>
                      </a:r>
                      <a:r>
                        <a:rPr kumimoji="1" lang="en-US" altLang="ja-JP" sz="2400" b="1" dirty="0"/>
                        <a:t>Fibrinogen</a:t>
                      </a:r>
                      <a:r>
                        <a:rPr kumimoji="1" lang="ja-JP" altLang="en-US" sz="2400" b="1"/>
                        <a:t>の評価は可能</a:t>
                      </a:r>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dirty="0"/>
                        <a:t>Fibrinogen3g</a:t>
                      </a:r>
                      <a:r>
                        <a:rPr kumimoji="1" lang="ja-JP" altLang="en-US" sz="2400" b="0"/>
                        <a:t>製剤の使用判断に迷う際の</a:t>
                      </a:r>
                      <a:endParaRPr kumimoji="1" lang="en-US" altLang="ja-JP" sz="2400" b="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0"/>
                        <a:t>早期判断材料になる</a:t>
                      </a:r>
                    </a:p>
                  </a:txBody>
                  <a:tcPr>
                    <a:solidFill>
                      <a:schemeClr val="bg1"/>
                    </a:solidFill>
                  </a:tcPr>
                </a:tc>
                <a:extLst>
                  <a:ext uri="{0D108BD9-81ED-4DB2-BD59-A6C34878D82A}">
                    <a16:rowId xmlns:a16="http://schemas.microsoft.com/office/drawing/2014/main" val="257181617"/>
                  </a:ext>
                </a:extLst>
              </a:tr>
              <a:tr h="13924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1"/>
                        <a:t>血小板機能の直接測定</a:t>
                      </a:r>
                    </a:p>
                  </a:txBody>
                  <a:tcPr>
                    <a:solidFill>
                      <a:srgbClr val="FFADEF"/>
                    </a:solidFill>
                  </a:tcPr>
                </a:tc>
                <a:tc>
                  <a:txBody>
                    <a:bodyPr/>
                    <a:lstStyle/>
                    <a:p>
                      <a:r>
                        <a:rPr kumimoji="1" lang="ja-JP" altLang="en-US" sz="2400" b="0"/>
                        <a:t>抗血小板薬の有無に関わらず</a:t>
                      </a:r>
                      <a:endParaRPr kumimoji="1" lang="en-US" altLang="ja-JP" sz="2400" b="0" dirty="0"/>
                    </a:p>
                    <a:p>
                      <a:r>
                        <a:rPr kumimoji="1" lang="ja-JP" altLang="en-US" sz="2400" b="0"/>
                        <a:t>血小板投与必要性の確認</a:t>
                      </a:r>
                      <a:endParaRPr kumimoji="1" lang="en-US" altLang="ja-JP" sz="2400" b="0" dirty="0"/>
                    </a:p>
                    <a:p>
                      <a:r>
                        <a:rPr lang="ja-JP" altLang="en-US" sz="2400" b="0"/>
                        <a:t>抗血小板薬内服時の血小板輸血早期判断</a:t>
                      </a:r>
                      <a:endParaRPr kumimoji="1" lang="ja-JP" altLang="en-US" sz="2400" b="0"/>
                    </a:p>
                  </a:txBody>
                  <a:tcPr>
                    <a:solidFill>
                      <a:schemeClr val="bg1"/>
                    </a:solidFill>
                  </a:tcPr>
                </a:tc>
                <a:extLst>
                  <a:ext uri="{0D108BD9-81ED-4DB2-BD59-A6C34878D82A}">
                    <a16:rowId xmlns:a16="http://schemas.microsoft.com/office/drawing/2014/main" val="2913144964"/>
                  </a:ext>
                </a:extLst>
              </a:tr>
            </a:tbl>
          </a:graphicData>
        </a:graphic>
      </p:graphicFrame>
    </p:spTree>
    <p:extLst>
      <p:ext uri="{BB962C8B-B14F-4D97-AF65-F5344CB8AC3E}">
        <p14:creationId xmlns:p14="http://schemas.microsoft.com/office/powerpoint/2010/main" val="3795408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図 21">
            <a:extLst>
              <a:ext uri="{FF2B5EF4-FFF2-40B4-BE49-F238E27FC236}">
                <a16:creationId xmlns:a16="http://schemas.microsoft.com/office/drawing/2014/main" id="{4B8DF0D4-4681-6B87-DF04-E44651670D1B}"/>
              </a:ext>
            </a:extLst>
          </p:cNvPr>
          <p:cNvPicPr>
            <a:picLocks noChangeAspect="1"/>
          </p:cNvPicPr>
          <p:nvPr/>
        </p:nvPicPr>
        <p:blipFill rotWithShape="1">
          <a:blip r:embed="rId3"/>
          <a:srcRect t="22644" b="22907"/>
          <a:stretch/>
        </p:blipFill>
        <p:spPr>
          <a:xfrm>
            <a:off x="14975" y="2238355"/>
            <a:ext cx="8215018" cy="3160884"/>
          </a:xfrm>
          <a:prstGeom prst="rect">
            <a:avLst/>
          </a:prstGeom>
        </p:spPr>
      </p:pic>
      <p:sp>
        <p:nvSpPr>
          <p:cNvPr id="11" name="正方形/長方形 10">
            <a:extLst>
              <a:ext uri="{FF2B5EF4-FFF2-40B4-BE49-F238E27FC236}">
                <a16:creationId xmlns:a16="http://schemas.microsoft.com/office/drawing/2014/main" id="{2FD55D0F-C56E-D57C-282F-B9B0D500ED15}"/>
              </a:ext>
            </a:extLst>
          </p:cNvPr>
          <p:cNvSpPr/>
          <p:nvPr/>
        </p:nvSpPr>
        <p:spPr>
          <a:xfrm>
            <a:off x="8229998" y="4249973"/>
            <a:ext cx="3621974" cy="1594672"/>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8BC5BA87-723C-6656-CE95-B3D37B840D75}"/>
              </a:ext>
            </a:extLst>
          </p:cNvPr>
          <p:cNvSpPr/>
          <p:nvPr/>
        </p:nvSpPr>
        <p:spPr>
          <a:xfrm>
            <a:off x="8300108" y="4014260"/>
            <a:ext cx="3481752" cy="99895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solidFill>
                  <a:schemeClr val="tx2"/>
                </a:solidFill>
              </a:rPr>
              <a:t>血小板投与</a:t>
            </a:r>
            <a:endParaRPr kumimoji="1" lang="en-US" altLang="ja-JP" sz="2800" b="1" dirty="0">
              <a:solidFill>
                <a:schemeClr val="tx2"/>
              </a:solidFill>
            </a:endParaRPr>
          </a:p>
        </p:txBody>
      </p:sp>
      <p:sp>
        <p:nvSpPr>
          <p:cNvPr id="9" name="正方形/長方形 8">
            <a:extLst>
              <a:ext uri="{FF2B5EF4-FFF2-40B4-BE49-F238E27FC236}">
                <a16:creationId xmlns:a16="http://schemas.microsoft.com/office/drawing/2014/main" id="{AE09AE8C-A598-0A12-5677-02AC0D3D3EF7}"/>
              </a:ext>
            </a:extLst>
          </p:cNvPr>
          <p:cNvSpPr/>
          <p:nvPr/>
        </p:nvSpPr>
        <p:spPr>
          <a:xfrm>
            <a:off x="8229998" y="3179735"/>
            <a:ext cx="3621974" cy="98585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B53B8DFB-2FC9-B8EE-1213-B2ECB556ABF1}"/>
              </a:ext>
            </a:extLst>
          </p:cNvPr>
          <p:cNvSpPr>
            <a:spLocks noGrp="1"/>
          </p:cNvSpPr>
          <p:nvPr>
            <p:ph type="title"/>
          </p:nvPr>
        </p:nvSpPr>
        <p:spPr/>
        <p:txBody>
          <a:bodyPr>
            <a:normAutofit/>
          </a:bodyPr>
          <a:lstStyle/>
          <a:p>
            <a:r>
              <a:rPr kumimoji="1" lang="en-US" altLang="ja-JP" dirty="0"/>
              <a:t>Tobu Trauma TEG Protocol</a:t>
            </a:r>
            <a:endParaRPr kumimoji="1" lang="ja-JP" altLang="en-US"/>
          </a:p>
        </p:txBody>
      </p:sp>
      <p:sp>
        <p:nvSpPr>
          <p:cNvPr id="18" name="正方形/長方形 17">
            <a:extLst>
              <a:ext uri="{FF2B5EF4-FFF2-40B4-BE49-F238E27FC236}">
                <a16:creationId xmlns:a16="http://schemas.microsoft.com/office/drawing/2014/main" id="{8EDC39C6-619C-D40F-4798-A39CB9F89263}"/>
              </a:ext>
            </a:extLst>
          </p:cNvPr>
          <p:cNvSpPr/>
          <p:nvPr/>
        </p:nvSpPr>
        <p:spPr>
          <a:xfrm>
            <a:off x="0" y="1543987"/>
            <a:ext cx="2775523" cy="6280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a:t>院内外傷</a:t>
            </a:r>
            <a:r>
              <a:rPr kumimoji="1" lang="en-US" altLang="ja-JP" sz="3200" b="1" dirty="0"/>
              <a:t>Call</a:t>
            </a:r>
            <a:endParaRPr kumimoji="1" lang="ja-JP" altLang="en-US" sz="3200" b="1"/>
          </a:p>
        </p:txBody>
      </p:sp>
      <p:sp>
        <p:nvSpPr>
          <p:cNvPr id="19" name="テキスト ボックス 18">
            <a:extLst>
              <a:ext uri="{FF2B5EF4-FFF2-40B4-BE49-F238E27FC236}">
                <a16:creationId xmlns:a16="http://schemas.microsoft.com/office/drawing/2014/main" id="{DD214B9D-3AB0-8368-4423-F4ABE2F75D6D}"/>
              </a:ext>
            </a:extLst>
          </p:cNvPr>
          <p:cNvSpPr txBox="1"/>
          <p:nvPr/>
        </p:nvSpPr>
        <p:spPr>
          <a:xfrm>
            <a:off x="2775523" y="1363348"/>
            <a:ext cx="6883140" cy="738664"/>
          </a:xfrm>
          <a:prstGeom prst="rect">
            <a:avLst/>
          </a:prstGeom>
          <a:noFill/>
        </p:spPr>
        <p:txBody>
          <a:bodyPr wrap="square" rtlCol="0">
            <a:spAutoFit/>
          </a:bodyPr>
          <a:lstStyle/>
          <a:p>
            <a:endParaRPr lang="en-US" altLang="ja-JP" dirty="0"/>
          </a:p>
          <a:p>
            <a:r>
              <a:rPr lang="ja-JP" altLang="en-US" sz="2400"/>
              <a:t>人員召集・</a:t>
            </a:r>
            <a:r>
              <a:rPr lang="en-US" altLang="ja-JP" sz="2400" dirty="0"/>
              <a:t>CT</a:t>
            </a:r>
            <a:r>
              <a:rPr lang="ja-JP" altLang="en-US" sz="2400"/>
              <a:t>・</a:t>
            </a:r>
            <a:r>
              <a:rPr lang="en-US" altLang="ja-JP" sz="2400" dirty="0"/>
              <a:t> </a:t>
            </a:r>
            <a:r>
              <a:rPr kumimoji="1" lang="en-US" altLang="ja-JP" sz="2400" dirty="0"/>
              <a:t>MTP order</a:t>
            </a:r>
            <a:r>
              <a:rPr kumimoji="1" lang="ja-JP" altLang="en-US" sz="2400"/>
              <a:t>・</a:t>
            </a:r>
            <a:r>
              <a:rPr kumimoji="1" lang="ja-JP" altLang="en-US" sz="2400" b="1">
                <a:solidFill>
                  <a:srgbClr val="FF0000"/>
                </a:solidFill>
              </a:rPr>
              <a:t>必要ならば</a:t>
            </a:r>
            <a:r>
              <a:rPr kumimoji="1" lang="en-US" altLang="ja-JP" sz="2400" b="1" dirty="0">
                <a:solidFill>
                  <a:srgbClr val="FF0000"/>
                </a:solidFill>
              </a:rPr>
              <a:t>TXA</a:t>
            </a:r>
            <a:r>
              <a:rPr kumimoji="1" lang="ja-JP" altLang="en-US" sz="2400" b="1">
                <a:solidFill>
                  <a:srgbClr val="FF0000"/>
                </a:solidFill>
              </a:rPr>
              <a:t>投与</a:t>
            </a:r>
          </a:p>
        </p:txBody>
      </p:sp>
      <p:sp>
        <p:nvSpPr>
          <p:cNvPr id="3" name="正方形/長方形 2">
            <a:extLst>
              <a:ext uri="{FF2B5EF4-FFF2-40B4-BE49-F238E27FC236}">
                <a16:creationId xmlns:a16="http://schemas.microsoft.com/office/drawing/2014/main" id="{27FB86F1-3695-7B73-3FE6-47E3F6C21966}"/>
              </a:ext>
            </a:extLst>
          </p:cNvPr>
          <p:cNvSpPr/>
          <p:nvPr/>
        </p:nvSpPr>
        <p:spPr>
          <a:xfrm>
            <a:off x="8791732" y="3704513"/>
            <a:ext cx="2498501" cy="392342"/>
          </a:xfrm>
          <a:prstGeom prst="rect">
            <a:avLst/>
          </a:prstGeom>
          <a:solidFill>
            <a:srgbClr val="A46BE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err="1"/>
              <a:t>ActF</a:t>
            </a:r>
            <a:r>
              <a:rPr kumimoji="1" lang="en-US" altLang="ja-JP" sz="2400" b="1" dirty="0"/>
              <a:t>-MA</a:t>
            </a:r>
            <a:r>
              <a:rPr kumimoji="1" lang="ja-JP" altLang="en-US" sz="2400" b="1"/>
              <a:t>＜</a:t>
            </a:r>
            <a:r>
              <a:rPr lang="en-US" altLang="ja-JP" sz="2400" b="1" dirty="0"/>
              <a:t>5mm</a:t>
            </a:r>
            <a:endParaRPr kumimoji="1" lang="ja-JP" altLang="en-US" sz="2400" b="1"/>
          </a:p>
        </p:txBody>
      </p:sp>
      <p:sp>
        <p:nvSpPr>
          <p:cNvPr id="7" name="正方形/長方形 6">
            <a:extLst>
              <a:ext uri="{FF2B5EF4-FFF2-40B4-BE49-F238E27FC236}">
                <a16:creationId xmlns:a16="http://schemas.microsoft.com/office/drawing/2014/main" id="{66F5F98C-25C8-813F-8D56-6D8DAF8EC4B1}"/>
              </a:ext>
            </a:extLst>
          </p:cNvPr>
          <p:cNvSpPr/>
          <p:nvPr/>
        </p:nvSpPr>
        <p:spPr>
          <a:xfrm>
            <a:off x="8424663" y="4705260"/>
            <a:ext cx="3232641" cy="392342"/>
          </a:xfrm>
          <a:prstGeom prst="rect">
            <a:avLst/>
          </a:prstGeom>
          <a:solidFill>
            <a:srgbClr val="FF2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t>HKH-MA</a:t>
            </a:r>
            <a:r>
              <a:rPr kumimoji="1" lang="ja-JP" altLang="en-US" sz="2400" b="1"/>
              <a:t>＜</a:t>
            </a:r>
            <a:r>
              <a:rPr kumimoji="1" lang="en-US" altLang="ja-JP" sz="2400" b="1" dirty="0"/>
              <a:t>45</a:t>
            </a:r>
            <a:r>
              <a:rPr lang="en-US" altLang="ja-JP" sz="2400" b="1" dirty="0"/>
              <a:t>mm</a:t>
            </a:r>
            <a:endParaRPr kumimoji="1" lang="ja-JP" altLang="en-US" sz="2400" b="1"/>
          </a:p>
        </p:txBody>
      </p:sp>
      <p:sp>
        <p:nvSpPr>
          <p:cNvPr id="8" name="正方形/長方形 7">
            <a:extLst>
              <a:ext uri="{FF2B5EF4-FFF2-40B4-BE49-F238E27FC236}">
                <a16:creationId xmlns:a16="http://schemas.microsoft.com/office/drawing/2014/main" id="{A0839288-82B4-8D45-A53A-2FD3C922E044}"/>
              </a:ext>
            </a:extLst>
          </p:cNvPr>
          <p:cNvSpPr/>
          <p:nvPr/>
        </p:nvSpPr>
        <p:spPr>
          <a:xfrm>
            <a:off x="8424663" y="5175138"/>
            <a:ext cx="3232641" cy="63918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t>ADP inh</a:t>
            </a:r>
            <a:r>
              <a:rPr lang="en-US" altLang="ja-JP" sz="2400" b="1" dirty="0"/>
              <a:t>i</a:t>
            </a:r>
            <a:r>
              <a:rPr kumimoji="1" lang="en-US" altLang="ja-JP" sz="2400" b="1" dirty="0"/>
              <a:t>bition</a:t>
            </a:r>
            <a:r>
              <a:rPr lang="en-US" altLang="ja-JP" sz="2400" b="1" dirty="0"/>
              <a:t>&gt;60%</a:t>
            </a:r>
          </a:p>
          <a:p>
            <a:pPr algn="ctr"/>
            <a:r>
              <a:rPr kumimoji="1" lang="en-US" altLang="ja-JP" sz="2400" b="1" dirty="0"/>
              <a:t>ADP-MA&lt;40</a:t>
            </a:r>
            <a:r>
              <a:rPr lang="en-US" altLang="ja-JP" sz="2400" b="1" dirty="0"/>
              <a:t>mm</a:t>
            </a:r>
            <a:endParaRPr kumimoji="1" lang="en-US" altLang="ja-JP" sz="2400" b="1" dirty="0"/>
          </a:p>
        </p:txBody>
      </p:sp>
      <p:sp>
        <p:nvSpPr>
          <p:cNvPr id="10" name="正方形/長方形 9">
            <a:extLst>
              <a:ext uri="{FF2B5EF4-FFF2-40B4-BE49-F238E27FC236}">
                <a16:creationId xmlns:a16="http://schemas.microsoft.com/office/drawing/2014/main" id="{E0DF4428-66EF-F912-C284-5FF0DB9F466F}"/>
              </a:ext>
            </a:extLst>
          </p:cNvPr>
          <p:cNvSpPr/>
          <p:nvPr/>
        </p:nvSpPr>
        <p:spPr>
          <a:xfrm>
            <a:off x="8300108" y="3179736"/>
            <a:ext cx="3481752" cy="6431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b="1" dirty="0">
                <a:solidFill>
                  <a:schemeClr val="tx2"/>
                </a:solidFill>
              </a:rPr>
              <a:t>Fib</a:t>
            </a:r>
            <a:r>
              <a:rPr kumimoji="1" lang="ja-JP" altLang="en-US" sz="2800" b="1">
                <a:solidFill>
                  <a:schemeClr val="tx2"/>
                </a:solidFill>
              </a:rPr>
              <a:t> </a:t>
            </a:r>
            <a:r>
              <a:rPr kumimoji="1" lang="en-US" altLang="ja-JP" sz="2800" b="1" dirty="0">
                <a:solidFill>
                  <a:schemeClr val="tx2"/>
                </a:solidFill>
              </a:rPr>
              <a:t>3g</a:t>
            </a:r>
            <a:r>
              <a:rPr kumimoji="1" lang="ja-JP" altLang="en-US" sz="2800" b="1">
                <a:solidFill>
                  <a:schemeClr val="tx2"/>
                </a:solidFill>
              </a:rPr>
              <a:t>投与</a:t>
            </a:r>
            <a:endParaRPr kumimoji="1" lang="en-US" altLang="ja-JP" sz="2800" b="1" dirty="0">
              <a:solidFill>
                <a:schemeClr val="tx2"/>
              </a:solidFill>
            </a:endParaRPr>
          </a:p>
        </p:txBody>
      </p:sp>
      <p:sp>
        <p:nvSpPr>
          <p:cNvPr id="13" name="テキスト ボックス 12">
            <a:extLst>
              <a:ext uri="{FF2B5EF4-FFF2-40B4-BE49-F238E27FC236}">
                <a16:creationId xmlns:a16="http://schemas.microsoft.com/office/drawing/2014/main" id="{8FE49BA8-659F-CF88-0113-126AC3E6A1F1}"/>
              </a:ext>
            </a:extLst>
          </p:cNvPr>
          <p:cNvSpPr txBox="1"/>
          <p:nvPr/>
        </p:nvSpPr>
        <p:spPr>
          <a:xfrm>
            <a:off x="6530412" y="5612481"/>
            <a:ext cx="7688262" cy="861774"/>
          </a:xfrm>
          <a:prstGeom prst="rect">
            <a:avLst/>
          </a:prstGeom>
          <a:noFill/>
        </p:spPr>
        <p:txBody>
          <a:bodyPr wrap="square" rtlCol="0">
            <a:spAutoFit/>
          </a:bodyPr>
          <a:lstStyle/>
          <a:p>
            <a:r>
              <a:rPr kumimoji="1" lang="en-US" altLang="ja-JP" sz="1600" dirty="0"/>
              <a:t>Stop MTP</a:t>
            </a:r>
            <a:r>
              <a:rPr kumimoji="1" lang="ja-JP" altLang="en-US" sz="1600"/>
              <a:t>の基準</a:t>
            </a:r>
            <a:endParaRPr lang="en-US" altLang="ja-JP" sz="1600" dirty="0"/>
          </a:p>
          <a:p>
            <a:r>
              <a:rPr lang="ja-JP" altLang="en-US" sz="1600"/>
              <a:t>・</a:t>
            </a:r>
            <a:r>
              <a:rPr lang="en-US" altLang="ja-JP" sz="1600" dirty="0"/>
              <a:t>HKH-R&lt;10min</a:t>
            </a:r>
            <a:r>
              <a:rPr lang="ja-JP" altLang="en-US" sz="1600"/>
              <a:t> 凝固因子充足</a:t>
            </a:r>
            <a:endParaRPr lang="en-US" altLang="ja-JP" sz="1600" dirty="0"/>
          </a:p>
          <a:p>
            <a:r>
              <a:rPr lang="ja-JP" altLang="en-US" sz="1600"/>
              <a:t>・</a:t>
            </a:r>
            <a:r>
              <a:rPr lang="en-US" altLang="ja-JP" sz="1600" dirty="0"/>
              <a:t>HKH-MA, ADP inhibition&lt;60%</a:t>
            </a:r>
            <a:r>
              <a:rPr lang="ja-JP" altLang="en-US" sz="1600"/>
              <a:t> </a:t>
            </a:r>
            <a:r>
              <a:rPr lang="en-US" altLang="ja-JP" sz="1600" dirty="0"/>
              <a:t> </a:t>
            </a:r>
            <a:r>
              <a:rPr lang="ja-JP" altLang="en-US" sz="1600"/>
              <a:t>血小板機能の立ち上がり</a:t>
            </a:r>
            <a:endParaRPr lang="en-US" altLang="ja-JP" sz="1600" dirty="0"/>
          </a:p>
        </p:txBody>
      </p:sp>
      <p:sp>
        <p:nvSpPr>
          <p:cNvPr id="14" name="正方形/長方形 13">
            <a:extLst>
              <a:ext uri="{FF2B5EF4-FFF2-40B4-BE49-F238E27FC236}">
                <a16:creationId xmlns:a16="http://schemas.microsoft.com/office/drawing/2014/main" id="{D17CFB98-3DB7-07FE-89E9-48D28C58753D}"/>
              </a:ext>
            </a:extLst>
          </p:cNvPr>
          <p:cNvSpPr/>
          <p:nvPr/>
        </p:nvSpPr>
        <p:spPr>
          <a:xfrm>
            <a:off x="8229998" y="2022640"/>
            <a:ext cx="3621974" cy="985853"/>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ED4B4E9C-53C1-E706-178A-2B9B908968CB}"/>
              </a:ext>
            </a:extLst>
          </p:cNvPr>
          <p:cNvSpPr/>
          <p:nvPr/>
        </p:nvSpPr>
        <p:spPr>
          <a:xfrm>
            <a:off x="8791732" y="2547418"/>
            <a:ext cx="2498501" cy="392342"/>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t>HKH-R</a:t>
            </a:r>
            <a:r>
              <a:rPr lang="ja-JP" altLang="en-US" sz="2400" b="1"/>
              <a:t>＞</a:t>
            </a:r>
            <a:r>
              <a:rPr lang="en-US" altLang="ja-JP" sz="2400" b="1" dirty="0"/>
              <a:t>10min</a:t>
            </a:r>
            <a:endParaRPr kumimoji="1" lang="ja-JP" altLang="en-US" sz="2400" b="1"/>
          </a:p>
        </p:txBody>
      </p:sp>
      <p:sp>
        <p:nvSpPr>
          <p:cNvPr id="16" name="正方形/長方形 15">
            <a:extLst>
              <a:ext uri="{FF2B5EF4-FFF2-40B4-BE49-F238E27FC236}">
                <a16:creationId xmlns:a16="http://schemas.microsoft.com/office/drawing/2014/main" id="{BC0B2F58-57E2-4AB2-1546-40FBEDA53703}"/>
              </a:ext>
            </a:extLst>
          </p:cNvPr>
          <p:cNvSpPr/>
          <p:nvPr/>
        </p:nvSpPr>
        <p:spPr>
          <a:xfrm>
            <a:off x="8300108" y="2022641"/>
            <a:ext cx="3481752" cy="6431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b="1" dirty="0">
                <a:solidFill>
                  <a:schemeClr val="tx2"/>
                </a:solidFill>
              </a:rPr>
              <a:t>FFP</a:t>
            </a:r>
            <a:r>
              <a:rPr kumimoji="1" lang="ja-JP" altLang="en-US" sz="2800" b="1">
                <a:solidFill>
                  <a:schemeClr val="tx2"/>
                </a:solidFill>
              </a:rPr>
              <a:t>投与</a:t>
            </a:r>
            <a:endParaRPr kumimoji="1" lang="en-US" altLang="ja-JP" sz="2800" b="1" dirty="0">
              <a:solidFill>
                <a:schemeClr val="tx2"/>
              </a:solidFill>
            </a:endParaRPr>
          </a:p>
        </p:txBody>
      </p:sp>
      <p:sp>
        <p:nvSpPr>
          <p:cNvPr id="20" name="テキスト ボックス 19">
            <a:extLst>
              <a:ext uri="{FF2B5EF4-FFF2-40B4-BE49-F238E27FC236}">
                <a16:creationId xmlns:a16="http://schemas.microsoft.com/office/drawing/2014/main" id="{5AE4AE56-22D8-37CC-75C8-1F480C2A6750}"/>
              </a:ext>
            </a:extLst>
          </p:cNvPr>
          <p:cNvSpPr txBox="1"/>
          <p:nvPr/>
        </p:nvSpPr>
        <p:spPr>
          <a:xfrm>
            <a:off x="9826" y="5269166"/>
            <a:ext cx="6423254" cy="1169551"/>
          </a:xfrm>
          <a:prstGeom prst="rect">
            <a:avLst/>
          </a:prstGeom>
          <a:noFill/>
        </p:spPr>
        <p:txBody>
          <a:bodyPr wrap="square" rtlCol="0">
            <a:spAutoFit/>
          </a:bodyPr>
          <a:lstStyle/>
          <a:p>
            <a:r>
              <a:rPr kumimoji="1" lang="en-US" altLang="ja-JP" sz="1400" dirty="0"/>
              <a:t>MTP: Massive Transfusion protocol O</a:t>
            </a:r>
            <a:r>
              <a:rPr kumimoji="1" lang="ja-JP" altLang="en-US" sz="1400"/>
              <a:t>型</a:t>
            </a:r>
            <a:r>
              <a:rPr kumimoji="1" lang="en-US" altLang="ja-JP" sz="1400" dirty="0"/>
              <a:t>RBC</a:t>
            </a:r>
            <a:r>
              <a:rPr kumimoji="1" lang="ja-JP" altLang="en-US" sz="1400"/>
              <a:t>・</a:t>
            </a:r>
            <a:r>
              <a:rPr kumimoji="1" lang="en-US" altLang="ja-JP" sz="1400" dirty="0"/>
              <a:t>FFP10U</a:t>
            </a:r>
            <a:r>
              <a:rPr lang="en-US" altLang="ja-JP" sz="1400" dirty="0"/>
              <a:t> </a:t>
            </a:r>
            <a:r>
              <a:rPr lang="ja-JP" altLang="en-US" sz="1400"/>
              <a:t>同型</a:t>
            </a:r>
            <a:r>
              <a:rPr lang="en-US" altLang="ja-JP" sz="1400" dirty="0"/>
              <a:t>RBC</a:t>
            </a:r>
            <a:r>
              <a:rPr lang="ja-JP" altLang="en-US" sz="1400"/>
              <a:t>・</a:t>
            </a:r>
            <a:r>
              <a:rPr lang="en-US" altLang="ja-JP" sz="1400" dirty="0"/>
              <a:t>FFP10U</a:t>
            </a:r>
            <a:endParaRPr kumimoji="1" lang="en-US" altLang="ja-JP" sz="1400" dirty="0"/>
          </a:p>
          <a:p>
            <a:r>
              <a:rPr kumimoji="1" lang="en-US" altLang="ja-JP" sz="1400" dirty="0"/>
              <a:t>Dire-CT: Hybrid-ER</a:t>
            </a:r>
            <a:r>
              <a:rPr kumimoji="1" lang="ja-JP" altLang="en-US" sz="1400"/>
              <a:t>での即時</a:t>
            </a:r>
            <a:r>
              <a:rPr kumimoji="1" lang="en-US" altLang="ja-JP" sz="1400" dirty="0"/>
              <a:t>CT</a:t>
            </a:r>
            <a:r>
              <a:rPr kumimoji="1" lang="ja-JP" altLang="en-US" sz="1400"/>
              <a:t>撮影</a:t>
            </a:r>
            <a:endParaRPr kumimoji="1" lang="en-US" altLang="ja-JP" sz="1400" dirty="0"/>
          </a:p>
          <a:p>
            <a:r>
              <a:rPr kumimoji="1" lang="en-US" altLang="ja-JP" sz="1400" dirty="0"/>
              <a:t>TEG PM:TEG platelet mapping</a:t>
            </a:r>
          </a:p>
          <a:p>
            <a:r>
              <a:rPr lang="en-US" altLang="ja-JP" sz="1400" dirty="0"/>
              <a:t>CECT: Contrast enhanced CT</a:t>
            </a:r>
            <a:r>
              <a:rPr lang="ja-JP" altLang="en-US" sz="1400"/>
              <a:t> </a:t>
            </a:r>
            <a:r>
              <a:rPr lang="en-US" altLang="ja-JP" sz="1400" dirty="0"/>
              <a:t>(</a:t>
            </a:r>
            <a:r>
              <a:rPr lang="ja-JP" altLang="en-US" sz="1400"/>
              <a:t>造影</a:t>
            </a:r>
            <a:r>
              <a:rPr lang="en-US" altLang="ja-JP" sz="1400" dirty="0"/>
              <a:t>CT</a:t>
            </a:r>
            <a:r>
              <a:rPr lang="ja-JP" altLang="en-US" sz="1400"/>
              <a:t>）</a:t>
            </a:r>
            <a:endParaRPr lang="en-US" altLang="ja-JP" sz="1400" dirty="0"/>
          </a:p>
          <a:p>
            <a:r>
              <a:rPr kumimoji="1" lang="en-US" altLang="ja-JP" sz="1400" dirty="0"/>
              <a:t>Conventional study: </a:t>
            </a:r>
            <a:r>
              <a:rPr kumimoji="1" lang="ja-JP" altLang="en-US" sz="1400"/>
              <a:t>従来の血</a:t>
            </a:r>
            <a:r>
              <a:rPr lang="ja-JP" altLang="en-US" sz="1400"/>
              <a:t>算・凝固検査・主観判断</a:t>
            </a:r>
            <a:endParaRPr kumimoji="1" lang="ja-JP" altLang="en-US" sz="1400"/>
          </a:p>
        </p:txBody>
      </p:sp>
    </p:spTree>
    <p:extLst>
      <p:ext uri="{BB962C8B-B14F-4D97-AF65-F5344CB8AC3E}">
        <p14:creationId xmlns:p14="http://schemas.microsoft.com/office/powerpoint/2010/main" val="23262537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678B2E-C1FE-2773-1E26-E6CE76B629F0}"/>
              </a:ext>
            </a:extLst>
          </p:cNvPr>
          <p:cNvSpPr>
            <a:spLocks noGrp="1"/>
          </p:cNvSpPr>
          <p:nvPr>
            <p:ph type="title"/>
          </p:nvPr>
        </p:nvSpPr>
        <p:spPr/>
        <p:txBody>
          <a:bodyPr/>
          <a:lstStyle/>
          <a:p>
            <a:r>
              <a:rPr kumimoji="1" lang="ja-JP" altLang="en-US"/>
              <a:t>但馬救命センター永嶋先生より</a:t>
            </a:r>
          </a:p>
        </p:txBody>
      </p:sp>
      <p:pic>
        <p:nvPicPr>
          <p:cNvPr id="8" name="コンテンツ プレースホルダー 7" descr="テーブル&#10;&#10;自動的に生成された説明">
            <a:extLst>
              <a:ext uri="{FF2B5EF4-FFF2-40B4-BE49-F238E27FC236}">
                <a16:creationId xmlns:a16="http://schemas.microsoft.com/office/drawing/2014/main" id="{D3F4361A-A433-661D-746E-883E9B0FA1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99424" y="1504306"/>
            <a:ext cx="7175500" cy="3865153"/>
          </a:xfrm>
        </p:spPr>
      </p:pic>
      <p:sp>
        <p:nvSpPr>
          <p:cNvPr id="4" name="日付プレースホルダー 3">
            <a:extLst>
              <a:ext uri="{FF2B5EF4-FFF2-40B4-BE49-F238E27FC236}">
                <a16:creationId xmlns:a16="http://schemas.microsoft.com/office/drawing/2014/main" id="{B47B9914-6C78-77C8-135D-E1988E798B56}"/>
              </a:ext>
            </a:extLst>
          </p:cNvPr>
          <p:cNvSpPr>
            <a:spLocks noGrp="1"/>
          </p:cNvSpPr>
          <p:nvPr>
            <p:ph type="dt" sz="half" idx="10"/>
          </p:nvPr>
        </p:nvSpPr>
        <p:spPr/>
        <p:txBody>
          <a:bodyPr/>
          <a:lstStyle/>
          <a:p>
            <a:fld id="{3C2F0FB7-648A-5347-9828-7F73D876C15C}"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BAEEDBB9-CF13-C107-0AF9-83DCE949B14D}"/>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D7CC8CBA-EA90-8CF2-8EB3-A5AC206E0A9A}"/>
              </a:ext>
            </a:extLst>
          </p:cNvPr>
          <p:cNvSpPr>
            <a:spLocks noGrp="1"/>
          </p:cNvSpPr>
          <p:nvPr>
            <p:ph type="sldNum" sz="quarter" idx="12"/>
          </p:nvPr>
        </p:nvSpPr>
        <p:spPr/>
        <p:txBody>
          <a:bodyPr/>
          <a:lstStyle/>
          <a:p>
            <a:r>
              <a:rPr lang="en-US" altLang="ja-JP"/>
              <a:t>No. </a:t>
            </a:r>
            <a:fld id="{41B87E3F-77EC-4EFD-94DE-AA3AEB7C7760}" type="slidenum">
              <a:rPr lang="ja-JP" altLang="en-US" smtClean="0"/>
              <a:pPr/>
              <a:t>43</a:t>
            </a:fld>
            <a:endParaRPr kumimoji="1" lang="ja-JP" altLang="en-US" dirty="0"/>
          </a:p>
        </p:txBody>
      </p:sp>
      <p:sp>
        <p:nvSpPr>
          <p:cNvPr id="9" name="正方形/長方形 8">
            <a:extLst>
              <a:ext uri="{FF2B5EF4-FFF2-40B4-BE49-F238E27FC236}">
                <a16:creationId xmlns:a16="http://schemas.microsoft.com/office/drawing/2014/main" id="{6DBF0272-9CD8-5255-305C-ED27E5C6CEE0}"/>
              </a:ext>
            </a:extLst>
          </p:cNvPr>
          <p:cNvSpPr/>
          <p:nvPr/>
        </p:nvSpPr>
        <p:spPr>
          <a:xfrm>
            <a:off x="2399424" y="2175642"/>
            <a:ext cx="2382783" cy="1608082"/>
          </a:xfrm>
          <a:prstGeom prst="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64607F07-EF3D-C2CE-1769-9BC205F23EC3}"/>
              </a:ext>
            </a:extLst>
          </p:cNvPr>
          <p:cNvSpPr txBox="1"/>
          <p:nvPr/>
        </p:nvSpPr>
        <p:spPr>
          <a:xfrm>
            <a:off x="1413641" y="5515995"/>
            <a:ext cx="9119914" cy="646331"/>
          </a:xfrm>
          <a:prstGeom prst="rect">
            <a:avLst/>
          </a:prstGeom>
          <a:noFill/>
        </p:spPr>
        <p:txBody>
          <a:bodyPr wrap="square" rtlCol="0">
            <a:spAutoFit/>
          </a:bodyPr>
          <a:lstStyle/>
          <a:p>
            <a:r>
              <a:rPr lang="ja-JP" altLang="en-US"/>
              <a:t>抑制率ではなく</a:t>
            </a:r>
            <a:r>
              <a:rPr lang="en-US" altLang="ja-JP" dirty="0"/>
              <a:t>ADP-MA</a:t>
            </a:r>
            <a:r>
              <a:rPr lang="ja-JP" altLang="en-US"/>
              <a:t>の絶対値で判断している</a:t>
            </a:r>
            <a:endParaRPr lang="en-US" altLang="ja-JP" dirty="0"/>
          </a:p>
          <a:p>
            <a:r>
              <a:rPr kumimoji="1" lang="ja-JP" altLang="en-US"/>
              <a:t>心臓血管麻酔領域などでも</a:t>
            </a:r>
            <a:r>
              <a:rPr kumimoji="1" lang="en-US" altLang="ja-JP" dirty="0"/>
              <a:t>ADP-MA</a:t>
            </a:r>
            <a:r>
              <a:rPr kumimoji="1" lang="ja-JP" altLang="en-US"/>
              <a:t>での判断がおおいようだが外傷での報告はなし</a:t>
            </a:r>
          </a:p>
        </p:txBody>
      </p:sp>
    </p:spTree>
    <p:extLst>
      <p:ext uri="{BB962C8B-B14F-4D97-AF65-F5344CB8AC3E}">
        <p14:creationId xmlns:p14="http://schemas.microsoft.com/office/powerpoint/2010/main" val="384852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48F4D0-CB7C-0A56-9141-D001BD6D09C3}"/>
              </a:ext>
            </a:extLst>
          </p:cNvPr>
          <p:cNvSpPr>
            <a:spLocks noGrp="1"/>
          </p:cNvSpPr>
          <p:nvPr>
            <p:ph type="title"/>
          </p:nvPr>
        </p:nvSpPr>
        <p:spPr/>
        <p:txBody>
          <a:bodyPr/>
          <a:lstStyle/>
          <a:p>
            <a:r>
              <a:rPr kumimoji="1" lang="en-US" altLang="ja-JP" dirty="0"/>
              <a:t>TTP</a:t>
            </a:r>
            <a:r>
              <a:rPr kumimoji="1" lang="ja-JP" altLang="en-US"/>
              <a:t>の目指すもの</a:t>
            </a:r>
          </a:p>
        </p:txBody>
      </p:sp>
      <p:sp>
        <p:nvSpPr>
          <p:cNvPr id="4" name="日付プレースホルダー 3">
            <a:extLst>
              <a:ext uri="{FF2B5EF4-FFF2-40B4-BE49-F238E27FC236}">
                <a16:creationId xmlns:a16="http://schemas.microsoft.com/office/drawing/2014/main" id="{C948EA1C-F391-0CD9-2AFE-6EC9BA09217B}"/>
              </a:ext>
            </a:extLst>
          </p:cNvPr>
          <p:cNvSpPr>
            <a:spLocks noGrp="1"/>
          </p:cNvSpPr>
          <p:nvPr>
            <p:ph type="dt" sz="half" idx="10"/>
          </p:nvPr>
        </p:nvSpPr>
        <p:spPr/>
        <p:txBody>
          <a:bodyPr/>
          <a:lstStyle/>
          <a:p>
            <a:fld id="{645009DB-DDE1-1441-A61F-C39B0F24F4FB}"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083A349E-F61A-87E9-2C2E-F5413B06764E}"/>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E291B76F-B335-123C-45A3-4E044A155123}"/>
              </a:ext>
            </a:extLst>
          </p:cNvPr>
          <p:cNvSpPr>
            <a:spLocks noGrp="1"/>
          </p:cNvSpPr>
          <p:nvPr>
            <p:ph type="sldNum" sz="quarter" idx="12"/>
          </p:nvPr>
        </p:nvSpPr>
        <p:spPr/>
        <p:txBody>
          <a:bodyPr/>
          <a:lstStyle/>
          <a:p>
            <a:r>
              <a:rPr lang="en-US" altLang="ja-JP"/>
              <a:t>No. </a:t>
            </a:r>
            <a:fld id="{41B87E3F-77EC-4EFD-94DE-AA3AEB7C7760}" type="slidenum">
              <a:rPr lang="ja-JP" altLang="en-US" smtClean="0"/>
              <a:pPr/>
              <a:t>44</a:t>
            </a:fld>
            <a:endParaRPr kumimoji="1" lang="ja-JP" altLang="en-US" dirty="0"/>
          </a:p>
        </p:txBody>
      </p:sp>
      <p:sp>
        <p:nvSpPr>
          <p:cNvPr id="7" name="正方形/長方形 6">
            <a:extLst>
              <a:ext uri="{FF2B5EF4-FFF2-40B4-BE49-F238E27FC236}">
                <a16:creationId xmlns:a16="http://schemas.microsoft.com/office/drawing/2014/main" id="{F31FE68B-3CB3-623C-6002-69DCC4870E9E}"/>
              </a:ext>
            </a:extLst>
          </p:cNvPr>
          <p:cNvSpPr/>
          <p:nvPr/>
        </p:nvSpPr>
        <p:spPr>
          <a:xfrm>
            <a:off x="1037466" y="1894247"/>
            <a:ext cx="10117068" cy="90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5400" b="1"/>
              <a:t>検査タイミングの明確化</a:t>
            </a:r>
            <a:endParaRPr kumimoji="1" lang="ja-JP" altLang="en-US" sz="5400" b="1"/>
          </a:p>
        </p:txBody>
      </p:sp>
      <p:sp>
        <p:nvSpPr>
          <p:cNvPr id="8" name="正方形/長方形 7">
            <a:extLst>
              <a:ext uri="{FF2B5EF4-FFF2-40B4-BE49-F238E27FC236}">
                <a16:creationId xmlns:a16="http://schemas.microsoft.com/office/drawing/2014/main" id="{4DEFE146-9787-7F06-5BB7-5098D0D0946D}"/>
              </a:ext>
            </a:extLst>
          </p:cNvPr>
          <p:cNvSpPr/>
          <p:nvPr/>
        </p:nvSpPr>
        <p:spPr>
          <a:xfrm>
            <a:off x="1037466" y="3379772"/>
            <a:ext cx="10117068" cy="90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5400" b="1" dirty="0"/>
              <a:t>MTP</a:t>
            </a:r>
            <a:r>
              <a:rPr kumimoji="1" lang="ja-JP" altLang="en-US" sz="5400" b="1"/>
              <a:t>の最適化</a:t>
            </a:r>
          </a:p>
        </p:txBody>
      </p:sp>
      <p:sp>
        <p:nvSpPr>
          <p:cNvPr id="9" name="正方形/長方形 8">
            <a:extLst>
              <a:ext uri="{FF2B5EF4-FFF2-40B4-BE49-F238E27FC236}">
                <a16:creationId xmlns:a16="http://schemas.microsoft.com/office/drawing/2014/main" id="{AF92AAFB-6E12-C26E-A092-085E2380A3EF}"/>
              </a:ext>
            </a:extLst>
          </p:cNvPr>
          <p:cNvSpPr/>
          <p:nvPr/>
        </p:nvSpPr>
        <p:spPr>
          <a:xfrm>
            <a:off x="1037466" y="4865298"/>
            <a:ext cx="10117068" cy="90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5400" b="1"/>
              <a:t>血小板製剤の適正使用</a:t>
            </a:r>
          </a:p>
        </p:txBody>
      </p:sp>
    </p:spTree>
    <p:extLst>
      <p:ext uri="{BB962C8B-B14F-4D97-AF65-F5344CB8AC3E}">
        <p14:creationId xmlns:p14="http://schemas.microsoft.com/office/powerpoint/2010/main" val="31308157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19C6D9-EB24-02F4-3B21-02961DFAE5A4}"/>
              </a:ext>
            </a:extLst>
          </p:cNvPr>
          <p:cNvSpPr>
            <a:spLocks noGrp="1"/>
          </p:cNvSpPr>
          <p:nvPr>
            <p:ph type="title"/>
          </p:nvPr>
        </p:nvSpPr>
        <p:spPr/>
        <p:txBody>
          <a:bodyPr>
            <a:normAutofit/>
          </a:bodyPr>
          <a:lstStyle/>
          <a:p>
            <a:r>
              <a:rPr kumimoji="1" lang="en-US" altLang="ja-JP" dirty="0"/>
              <a:t>TTP</a:t>
            </a:r>
            <a:r>
              <a:rPr kumimoji="1" lang="ja-JP" altLang="en-US"/>
              <a:t>の目指すもの</a:t>
            </a:r>
          </a:p>
        </p:txBody>
      </p:sp>
      <p:sp>
        <p:nvSpPr>
          <p:cNvPr id="4" name="日付プレースホルダー 3">
            <a:extLst>
              <a:ext uri="{FF2B5EF4-FFF2-40B4-BE49-F238E27FC236}">
                <a16:creationId xmlns:a16="http://schemas.microsoft.com/office/drawing/2014/main" id="{574C668B-14C6-4117-737D-E59D068E2922}"/>
              </a:ext>
            </a:extLst>
          </p:cNvPr>
          <p:cNvSpPr>
            <a:spLocks noGrp="1"/>
          </p:cNvSpPr>
          <p:nvPr>
            <p:ph type="dt" sz="half" idx="10"/>
          </p:nvPr>
        </p:nvSpPr>
        <p:spPr/>
        <p:txBody>
          <a:bodyPr/>
          <a:lstStyle/>
          <a:p>
            <a:fld id="{C4C231E3-8421-0F49-B74C-438D1BF62CC3}"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4D590954-6F3B-0009-5584-9D028E9864C4}"/>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0E06165E-D636-FA58-AE4C-5AC78D2E3C3E}"/>
              </a:ext>
            </a:extLst>
          </p:cNvPr>
          <p:cNvSpPr>
            <a:spLocks noGrp="1"/>
          </p:cNvSpPr>
          <p:nvPr>
            <p:ph type="sldNum" sz="quarter" idx="12"/>
          </p:nvPr>
        </p:nvSpPr>
        <p:spPr/>
        <p:txBody>
          <a:bodyPr/>
          <a:lstStyle/>
          <a:p>
            <a:r>
              <a:rPr lang="en-US" altLang="ja-JP"/>
              <a:t>No. </a:t>
            </a:r>
            <a:fld id="{41B87E3F-77EC-4EFD-94DE-AA3AEB7C7760}" type="slidenum">
              <a:rPr lang="ja-JP" altLang="en-US" smtClean="0"/>
              <a:pPr/>
              <a:t>45</a:t>
            </a:fld>
            <a:endParaRPr kumimoji="1" lang="ja-JP" altLang="en-US" dirty="0"/>
          </a:p>
        </p:txBody>
      </p:sp>
      <p:sp>
        <p:nvSpPr>
          <p:cNvPr id="8" name="正方形/長方形 7">
            <a:extLst>
              <a:ext uri="{FF2B5EF4-FFF2-40B4-BE49-F238E27FC236}">
                <a16:creationId xmlns:a16="http://schemas.microsoft.com/office/drawing/2014/main" id="{CD5F06AC-7966-73C8-4588-280C1C24B7F2}"/>
              </a:ext>
            </a:extLst>
          </p:cNvPr>
          <p:cNvSpPr/>
          <p:nvPr/>
        </p:nvSpPr>
        <p:spPr>
          <a:xfrm>
            <a:off x="226145" y="1648610"/>
            <a:ext cx="6071624" cy="6697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600" b="1"/>
              <a:t>検査タイミングの明確化</a:t>
            </a:r>
            <a:endParaRPr kumimoji="1" lang="ja-JP" altLang="en-US" sz="3600" b="1"/>
          </a:p>
        </p:txBody>
      </p:sp>
      <p:sp>
        <p:nvSpPr>
          <p:cNvPr id="9" name="テキスト ボックス 8">
            <a:extLst>
              <a:ext uri="{FF2B5EF4-FFF2-40B4-BE49-F238E27FC236}">
                <a16:creationId xmlns:a16="http://schemas.microsoft.com/office/drawing/2014/main" id="{8132E089-61B6-900C-6B18-351474EBCF79}"/>
              </a:ext>
            </a:extLst>
          </p:cNvPr>
          <p:cNvSpPr txBox="1"/>
          <p:nvPr/>
        </p:nvSpPr>
        <p:spPr>
          <a:xfrm>
            <a:off x="838200" y="3477232"/>
            <a:ext cx="12387638" cy="2369880"/>
          </a:xfrm>
          <a:prstGeom prst="rect">
            <a:avLst/>
          </a:prstGeom>
          <a:noFill/>
        </p:spPr>
        <p:txBody>
          <a:bodyPr wrap="square" rtlCol="0">
            <a:spAutoFit/>
          </a:bodyPr>
          <a:lstStyle/>
          <a:p>
            <a:r>
              <a:rPr kumimoji="1" lang="ja-JP" altLang="en-US" sz="2800"/>
              <a:t>切迫心停止の場合は</a:t>
            </a:r>
            <a:r>
              <a:rPr kumimoji="1" lang="en-US" altLang="ja-JP" sz="2800" b="1" dirty="0">
                <a:solidFill>
                  <a:srgbClr val="7030A0"/>
                </a:solidFill>
              </a:rPr>
              <a:t>MTP</a:t>
            </a:r>
            <a:r>
              <a:rPr lang="ja-JP" altLang="en-US" sz="2800" b="1">
                <a:solidFill>
                  <a:srgbClr val="7030A0"/>
                </a:solidFill>
              </a:rPr>
              <a:t>での輸血は有無を言わさず開始</a:t>
            </a:r>
            <a:r>
              <a:rPr lang="ja-JP" altLang="en-US" sz="2800"/>
              <a:t>になる．</a:t>
            </a:r>
            <a:endParaRPr lang="en-US" altLang="ja-JP" sz="2800" dirty="0"/>
          </a:p>
          <a:p>
            <a:r>
              <a:rPr lang="ja-JP" altLang="en-US" sz="2800" b="1"/>
              <a:t>安定化や加療方針決定の指標として</a:t>
            </a:r>
            <a:r>
              <a:rPr lang="en-US" altLang="ja-JP" sz="3200" b="1" dirty="0">
                <a:solidFill>
                  <a:schemeClr val="tx2">
                    <a:lumMod val="50000"/>
                    <a:lumOff val="50000"/>
                  </a:schemeClr>
                </a:solidFill>
              </a:rPr>
              <a:t>CT</a:t>
            </a:r>
            <a:r>
              <a:rPr lang="ja-JP" altLang="en-US" sz="3200" b="1">
                <a:solidFill>
                  <a:schemeClr val="tx2">
                    <a:lumMod val="50000"/>
                    <a:lumOff val="50000"/>
                  </a:schemeClr>
                </a:solidFill>
              </a:rPr>
              <a:t>撮影</a:t>
            </a:r>
            <a:r>
              <a:rPr lang="ja-JP" altLang="en-US" sz="2800" b="1"/>
              <a:t>を採用</a:t>
            </a:r>
            <a:r>
              <a:rPr lang="en-US" altLang="ja-JP" sz="2800" dirty="0"/>
              <a:t>. </a:t>
            </a:r>
          </a:p>
          <a:p>
            <a:r>
              <a:rPr lang="ja-JP" altLang="en-US" sz="3200" b="1">
                <a:solidFill>
                  <a:srgbClr val="FFC000"/>
                </a:solidFill>
              </a:rPr>
              <a:t>輸血戦略適正化</a:t>
            </a:r>
            <a:r>
              <a:rPr lang="en-US" altLang="ja-JP" sz="2800" b="1" dirty="0">
                <a:solidFill>
                  <a:schemeClr val="tx2"/>
                </a:solidFill>
              </a:rPr>
              <a:t>(</a:t>
            </a:r>
            <a:r>
              <a:rPr lang="en-US" altLang="ja-JP" sz="2800" b="1" dirty="0">
                <a:solidFill>
                  <a:schemeClr val="tx2">
                    <a:lumMod val="50000"/>
                    <a:lumOff val="50000"/>
                  </a:schemeClr>
                </a:solidFill>
              </a:rPr>
              <a:t>De-escalation</a:t>
            </a:r>
            <a:r>
              <a:rPr lang="ja-JP" altLang="en-US" sz="2800" b="1">
                <a:solidFill>
                  <a:schemeClr val="tx2"/>
                </a:solidFill>
              </a:rPr>
              <a:t>・</a:t>
            </a:r>
            <a:r>
              <a:rPr lang="en-US" altLang="ja-JP" sz="2800" b="1" dirty="0">
                <a:solidFill>
                  <a:srgbClr val="FF0000"/>
                </a:solidFill>
              </a:rPr>
              <a:t>Escalation</a:t>
            </a:r>
            <a:r>
              <a:rPr lang="ja-JP" altLang="en-US" sz="2800" b="1">
                <a:solidFill>
                  <a:schemeClr val="tx2"/>
                </a:solidFill>
              </a:rPr>
              <a:t>）</a:t>
            </a:r>
            <a:r>
              <a:rPr lang="ja-JP" altLang="en-US" sz="2800">
                <a:solidFill>
                  <a:schemeClr val="tx2"/>
                </a:solidFill>
              </a:rPr>
              <a:t>を行う．</a:t>
            </a:r>
            <a:endParaRPr lang="en-US" altLang="ja-JP" sz="2800" dirty="0">
              <a:solidFill>
                <a:schemeClr val="tx2"/>
              </a:solidFill>
            </a:endParaRPr>
          </a:p>
          <a:p>
            <a:endParaRPr lang="en-US" altLang="ja-JP" sz="2800" dirty="0">
              <a:solidFill>
                <a:schemeClr val="tx2"/>
              </a:solidFill>
            </a:endParaRPr>
          </a:p>
          <a:p>
            <a:r>
              <a:rPr lang="ja-JP" altLang="en-US" sz="2800">
                <a:solidFill>
                  <a:schemeClr val="tx2"/>
                </a:solidFill>
              </a:rPr>
              <a:t>撮影できない場合には</a:t>
            </a:r>
            <a:r>
              <a:rPr lang="en-US" altLang="ja-JP" sz="2800" dirty="0"/>
              <a:t>Escalation</a:t>
            </a:r>
            <a:r>
              <a:rPr lang="ja-JP" altLang="en-US" sz="2800">
                <a:solidFill>
                  <a:schemeClr val="tx2"/>
                </a:solidFill>
              </a:rPr>
              <a:t>の指標を得るために検査．</a:t>
            </a:r>
            <a:endParaRPr kumimoji="1" lang="ja-JP" altLang="en-US" sz="2800">
              <a:solidFill>
                <a:schemeClr val="tx2"/>
              </a:solidFill>
            </a:endParaRPr>
          </a:p>
        </p:txBody>
      </p:sp>
      <p:sp>
        <p:nvSpPr>
          <p:cNvPr id="3" name="角丸四角形 2">
            <a:extLst>
              <a:ext uri="{FF2B5EF4-FFF2-40B4-BE49-F238E27FC236}">
                <a16:creationId xmlns:a16="http://schemas.microsoft.com/office/drawing/2014/main" id="{52493997-24BA-B37B-03C2-6908867450FE}"/>
              </a:ext>
            </a:extLst>
          </p:cNvPr>
          <p:cNvSpPr/>
          <p:nvPr/>
        </p:nvSpPr>
        <p:spPr>
          <a:xfrm>
            <a:off x="226145" y="2562921"/>
            <a:ext cx="2388266" cy="669701"/>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切迫心停止</a:t>
            </a:r>
          </a:p>
        </p:txBody>
      </p:sp>
    </p:spTree>
    <p:extLst>
      <p:ext uri="{BB962C8B-B14F-4D97-AF65-F5344CB8AC3E}">
        <p14:creationId xmlns:p14="http://schemas.microsoft.com/office/powerpoint/2010/main" val="28145643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19C6D9-EB24-02F4-3B21-02961DFAE5A4}"/>
              </a:ext>
            </a:extLst>
          </p:cNvPr>
          <p:cNvSpPr>
            <a:spLocks noGrp="1"/>
          </p:cNvSpPr>
          <p:nvPr>
            <p:ph type="title"/>
          </p:nvPr>
        </p:nvSpPr>
        <p:spPr/>
        <p:txBody>
          <a:bodyPr>
            <a:normAutofit/>
          </a:bodyPr>
          <a:lstStyle/>
          <a:p>
            <a:r>
              <a:rPr kumimoji="1" lang="en-US" altLang="ja-JP" dirty="0"/>
              <a:t>TTP</a:t>
            </a:r>
            <a:r>
              <a:rPr kumimoji="1" lang="ja-JP" altLang="en-US"/>
              <a:t>の目指すもの</a:t>
            </a:r>
          </a:p>
        </p:txBody>
      </p:sp>
      <p:sp>
        <p:nvSpPr>
          <p:cNvPr id="4" name="日付プレースホルダー 3">
            <a:extLst>
              <a:ext uri="{FF2B5EF4-FFF2-40B4-BE49-F238E27FC236}">
                <a16:creationId xmlns:a16="http://schemas.microsoft.com/office/drawing/2014/main" id="{574C668B-14C6-4117-737D-E59D068E2922}"/>
              </a:ext>
            </a:extLst>
          </p:cNvPr>
          <p:cNvSpPr>
            <a:spLocks noGrp="1"/>
          </p:cNvSpPr>
          <p:nvPr>
            <p:ph type="dt" sz="half" idx="10"/>
          </p:nvPr>
        </p:nvSpPr>
        <p:spPr/>
        <p:txBody>
          <a:bodyPr/>
          <a:lstStyle/>
          <a:p>
            <a:fld id="{4DBFA022-871D-D74E-ADE8-77184D5FF1A6}"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4D590954-6F3B-0009-5584-9D028E9864C4}"/>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0E06165E-D636-FA58-AE4C-5AC78D2E3C3E}"/>
              </a:ext>
            </a:extLst>
          </p:cNvPr>
          <p:cNvSpPr>
            <a:spLocks noGrp="1"/>
          </p:cNvSpPr>
          <p:nvPr>
            <p:ph type="sldNum" sz="quarter" idx="12"/>
          </p:nvPr>
        </p:nvSpPr>
        <p:spPr/>
        <p:txBody>
          <a:bodyPr/>
          <a:lstStyle/>
          <a:p>
            <a:r>
              <a:rPr lang="en-US" altLang="ja-JP"/>
              <a:t>No. </a:t>
            </a:r>
            <a:fld id="{41B87E3F-77EC-4EFD-94DE-AA3AEB7C7760}" type="slidenum">
              <a:rPr lang="ja-JP" altLang="en-US" smtClean="0"/>
              <a:pPr/>
              <a:t>46</a:t>
            </a:fld>
            <a:endParaRPr kumimoji="1" lang="ja-JP" altLang="en-US" dirty="0"/>
          </a:p>
        </p:txBody>
      </p:sp>
      <p:sp>
        <p:nvSpPr>
          <p:cNvPr id="8" name="正方形/長方形 7">
            <a:extLst>
              <a:ext uri="{FF2B5EF4-FFF2-40B4-BE49-F238E27FC236}">
                <a16:creationId xmlns:a16="http://schemas.microsoft.com/office/drawing/2014/main" id="{CD5F06AC-7966-73C8-4588-280C1C24B7F2}"/>
              </a:ext>
            </a:extLst>
          </p:cNvPr>
          <p:cNvSpPr/>
          <p:nvPr/>
        </p:nvSpPr>
        <p:spPr>
          <a:xfrm>
            <a:off x="226145" y="1648610"/>
            <a:ext cx="6071624" cy="6697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600" b="1"/>
              <a:t>検査タイミングの明確化</a:t>
            </a:r>
            <a:endParaRPr kumimoji="1" lang="ja-JP" altLang="en-US" sz="3600" b="1"/>
          </a:p>
        </p:txBody>
      </p:sp>
      <p:sp>
        <p:nvSpPr>
          <p:cNvPr id="10" name="テキスト ボックス 9">
            <a:extLst>
              <a:ext uri="{FF2B5EF4-FFF2-40B4-BE49-F238E27FC236}">
                <a16:creationId xmlns:a16="http://schemas.microsoft.com/office/drawing/2014/main" id="{A09C492D-B619-E3C9-8945-FBB652A6E8AC}"/>
              </a:ext>
            </a:extLst>
          </p:cNvPr>
          <p:cNvSpPr txBox="1"/>
          <p:nvPr/>
        </p:nvSpPr>
        <p:spPr>
          <a:xfrm>
            <a:off x="849403" y="3364819"/>
            <a:ext cx="12214445" cy="2985433"/>
          </a:xfrm>
          <a:prstGeom prst="rect">
            <a:avLst/>
          </a:prstGeom>
          <a:noFill/>
        </p:spPr>
        <p:txBody>
          <a:bodyPr wrap="square" rtlCol="0">
            <a:spAutoFit/>
          </a:bodyPr>
          <a:lstStyle/>
          <a:p>
            <a:r>
              <a:rPr kumimoji="1" lang="en-US" altLang="ja-JP" sz="2800" dirty="0"/>
              <a:t>Dire-CT</a:t>
            </a:r>
            <a:r>
              <a:rPr kumimoji="1" lang="ja-JP" altLang="en-US" sz="2800"/>
              <a:t>撮影可能な場合は</a:t>
            </a:r>
            <a:r>
              <a:rPr kumimoji="1" lang="ja-JP" altLang="en-US" sz="3200" b="1"/>
              <a:t>頭部外傷の有無</a:t>
            </a:r>
            <a:r>
              <a:rPr kumimoji="1" lang="ja-JP" altLang="en-US" sz="2800"/>
              <a:t>でまず判断．</a:t>
            </a:r>
            <a:endParaRPr kumimoji="1" lang="en-US" altLang="ja-JP" sz="2800" dirty="0"/>
          </a:p>
          <a:p>
            <a:r>
              <a:rPr lang="ja-JP" altLang="en-US" sz="3200" b="1">
                <a:solidFill>
                  <a:srgbClr val="00B050"/>
                </a:solidFill>
              </a:rPr>
              <a:t>頭部外傷による</a:t>
            </a:r>
            <a:r>
              <a:rPr lang="en-US" altLang="ja-JP" sz="3200" b="1" dirty="0">
                <a:solidFill>
                  <a:srgbClr val="00B050"/>
                </a:solidFill>
              </a:rPr>
              <a:t>ADP</a:t>
            </a:r>
            <a:r>
              <a:rPr lang="ja-JP" altLang="en-US" sz="3200" b="1">
                <a:solidFill>
                  <a:srgbClr val="00B050"/>
                </a:solidFill>
              </a:rPr>
              <a:t>阻害</a:t>
            </a:r>
            <a:r>
              <a:rPr lang="ja-JP" altLang="en-US" sz="2800"/>
              <a:t>による</a:t>
            </a:r>
            <a:r>
              <a:rPr lang="ja-JP" altLang="en-US" sz="2800" b="1"/>
              <a:t>血小板投与必要性</a:t>
            </a:r>
            <a:r>
              <a:rPr lang="ja-JP" altLang="en-US" sz="2800"/>
              <a:t>を判断</a:t>
            </a:r>
            <a:r>
              <a:rPr lang="en-US" altLang="ja-JP" sz="2800" dirty="0"/>
              <a:t>.</a:t>
            </a:r>
          </a:p>
          <a:p>
            <a:endParaRPr kumimoji="1" lang="en-US" altLang="ja-JP" sz="2800" dirty="0"/>
          </a:p>
          <a:p>
            <a:r>
              <a:rPr kumimoji="1" lang="en-US" altLang="ja-JP" sz="2800" dirty="0"/>
              <a:t>MTP</a:t>
            </a:r>
            <a:r>
              <a:rPr kumimoji="1" lang="ja-JP" altLang="en-US" sz="2800"/>
              <a:t>を使用して蘇生を行わなければならない場合は</a:t>
            </a:r>
            <a:endParaRPr kumimoji="1" lang="en-US" altLang="ja-JP" sz="2800" dirty="0"/>
          </a:p>
          <a:p>
            <a:r>
              <a:rPr lang="ja-JP" altLang="en-US" sz="2800" b="1"/>
              <a:t>安定化や加療方針決定の指標として</a:t>
            </a:r>
            <a:r>
              <a:rPr lang="ja-JP" altLang="en-US" sz="3200" b="1">
                <a:solidFill>
                  <a:srgbClr val="C00000"/>
                </a:solidFill>
              </a:rPr>
              <a:t>造影</a:t>
            </a:r>
            <a:r>
              <a:rPr lang="en-US" altLang="ja-JP" sz="3200" b="1" dirty="0">
                <a:solidFill>
                  <a:srgbClr val="C00000"/>
                </a:solidFill>
              </a:rPr>
              <a:t>CT</a:t>
            </a:r>
            <a:r>
              <a:rPr lang="ja-JP" altLang="en-US" sz="3200" b="1">
                <a:solidFill>
                  <a:srgbClr val="C00000"/>
                </a:solidFill>
              </a:rPr>
              <a:t>撮影</a:t>
            </a:r>
            <a:r>
              <a:rPr lang="ja-JP" altLang="en-US" sz="2800" b="1"/>
              <a:t>を採用</a:t>
            </a:r>
            <a:r>
              <a:rPr lang="ja-JP" altLang="en-US" sz="3200"/>
              <a:t>．</a:t>
            </a:r>
            <a:endParaRPr lang="en-US" altLang="ja-JP" sz="3200" dirty="0"/>
          </a:p>
          <a:p>
            <a:r>
              <a:rPr lang="ja-JP" altLang="en-US" sz="3600" b="1">
                <a:solidFill>
                  <a:srgbClr val="FFC000"/>
                </a:solidFill>
              </a:rPr>
              <a:t>輸血戦略適正化</a:t>
            </a:r>
            <a:r>
              <a:rPr lang="ja-JP" altLang="en-US" sz="3200"/>
              <a:t>を行う</a:t>
            </a:r>
            <a:endParaRPr kumimoji="1" lang="en-US" altLang="ja-JP" sz="2800" dirty="0"/>
          </a:p>
        </p:txBody>
      </p:sp>
      <p:sp>
        <p:nvSpPr>
          <p:cNvPr id="11" name="角丸四角形 10">
            <a:extLst>
              <a:ext uri="{FF2B5EF4-FFF2-40B4-BE49-F238E27FC236}">
                <a16:creationId xmlns:a16="http://schemas.microsoft.com/office/drawing/2014/main" id="{FCB9AF31-8D83-6EAA-D3A7-27283E961FCF}"/>
              </a:ext>
            </a:extLst>
          </p:cNvPr>
          <p:cNvSpPr/>
          <p:nvPr/>
        </p:nvSpPr>
        <p:spPr>
          <a:xfrm>
            <a:off x="226145" y="2562921"/>
            <a:ext cx="2388266" cy="669701"/>
          </a:xfrm>
          <a:prstGeom prst="roundRect">
            <a:avLst/>
          </a:prstGeom>
          <a:solidFill>
            <a:srgbClr val="C04F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800" b="1" dirty="0"/>
              <a:t>Dire-CT</a:t>
            </a:r>
            <a:endParaRPr kumimoji="1" lang="ja-JP" altLang="en-US" sz="2800" b="1"/>
          </a:p>
        </p:txBody>
      </p:sp>
    </p:spTree>
    <p:extLst>
      <p:ext uri="{BB962C8B-B14F-4D97-AF65-F5344CB8AC3E}">
        <p14:creationId xmlns:p14="http://schemas.microsoft.com/office/powerpoint/2010/main" val="33657878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19C6D9-EB24-02F4-3B21-02961DFAE5A4}"/>
              </a:ext>
            </a:extLst>
          </p:cNvPr>
          <p:cNvSpPr>
            <a:spLocks noGrp="1"/>
          </p:cNvSpPr>
          <p:nvPr>
            <p:ph type="title"/>
          </p:nvPr>
        </p:nvSpPr>
        <p:spPr/>
        <p:txBody>
          <a:bodyPr>
            <a:normAutofit/>
          </a:bodyPr>
          <a:lstStyle/>
          <a:p>
            <a:r>
              <a:rPr kumimoji="1" lang="en-US" altLang="ja-JP" dirty="0"/>
              <a:t>TTP</a:t>
            </a:r>
            <a:r>
              <a:rPr kumimoji="1" lang="ja-JP" altLang="en-US"/>
              <a:t>の目指すもの</a:t>
            </a:r>
          </a:p>
        </p:txBody>
      </p:sp>
      <p:sp>
        <p:nvSpPr>
          <p:cNvPr id="4" name="日付プレースホルダー 3">
            <a:extLst>
              <a:ext uri="{FF2B5EF4-FFF2-40B4-BE49-F238E27FC236}">
                <a16:creationId xmlns:a16="http://schemas.microsoft.com/office/drawing/2014/main" id="{574C668B-14C6-4117-737D-E59D068E2922}"/>
              </a:ext>
            </a:extLst>
          </p:cNvPr>
          <p:cNvSpPr>
            <a:spLocks noGrp="1"/>
          </p:cNvSpPr>
          <p:nvPr>
            <p:ph type="dt" sz="half" idx="10"/>
          </p:nvPr>
        </p:nvSpPr>
        <p:spPr/>
        <p:txBody>
          <a:bodyPr/>
          <a:lstStyle/>
          <a:p>
            <a:fld id="{24EC6899-1B5F-8E48-97F5-AECEDFBA2652}"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4D590954-6F3B-0009-5584-9D028E9864C4}"/>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0E06165E-D636-FA58-AE4C-5AC78D2E3C3E}"/>
              </a:ext>
            </a:extLst>
          </p:cNvPr>
          <p:cNvSpPr>
            <a:spLocks noGrp="1"/>
          </p:cNvSpPr>
          <p:nvPr>
            <p:ph type="sldNum" sz="quarter" idx="12"/>
          </p:nvPr>
        </p:nvSpPr>
        <p:spPr/>
        <p:txBody>
          <a:bodyPr/>
          <a:lstStyle/>
          <a:p>
            <a:r>
              <a:rPr lang="en-US" altLang="ja-JP"/>
              <a:t>No. </a:t>
            </a:r>
            <a:fld id="{41B87E3F-77EC-4EFD-94DE-AA3AEB7C7760}" type="slidenum">
              <a:rPr lang="ja-JP" altLang="en-US" smtClean="0"/>
              <a:pPr/>
              <a:t>47</a:t>
            </a:fld>
            <a:endParaRPr kumimoji="1" lang="ja-JP" altLang="en-US" dirty="0"/>
          </a:p>
        </p:txBody>
      </p:sp>
      <p:sp>
        <p:nvSpPr>
          <p:cNvPr id="8" name="正方形/長方形 7">
            <a:extLst>
              <a:ext uri="{FF2B5EF4-FFF2-40B4-BE49-F238E27FC236}">
                <a16:creationId xmlns:a16="http://schemas.microsoft.com/office/drawing/2014/main" id="{CD5F06AC-7966-73C8-4588-280C1C24B7F2}"/>
              </a:ext>
            </a:extLst>
          </p:cNvPr>
          <p:cNvSpPr/>
          <p:nvPr/>
        </p:nvSpPr>
        <p:spPr>
          <a:xfrm>
            <a:off x="226145" y="1648610"/>
            <a:ext cx="6071624" cy="6697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600" b="1" dirty="0"/>
              <a:t>MTP</a:t>
            </a:r>
            <a:r>
              <a:rPr kumimoji="1" lang="ja-JP" altLang="en-US" sz="3600" b="1"/>
              <a:t>の最適化</a:t>
            </a:r>
          </a:p>
        </p:txBody>
      </p:sp>
      <p:sp>
        <p:nvSpPr>
          <p:cNvPr id="7" name="円/楕円 6">
            <a:extLst>
              <a:ext uri="{FF2B5EF4-FFF2-40B4-BE49-F238E27FC236}">
                <a16:creationId xmlns:a16="http://schemas.microsoft.com/office/drawing/2014/main" id="{BAEE5B6C-E4B4-FB66-F40D-8E27D1E593D6}"/>
              </a:ext>
            </a:extLst>
          </p:cNvPr>
          <p:cNvSpPr/>
          <p:nvPr/>
        </p:nvSpPr>
        <p:spPr>
          <a:xfrm>
            <a:off x="72000" y="2485008"/>
            <a:ext cx="3597639" cy="614597"/>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a:t>これまでは</a:t>
            </a:r>
          </a:p>
        </p:txBody>
      </p:sp>
      <p:sp>
        <p:nvSpPr>
          <p:cNvPr id="10" name="テキスト ボックス 9">
            <a:extLst>
              <a:ext uri="{FF2B5EF4-FFF2-40B4-BE49-F238E27FC236}">
                <a16:creationId xmlns:a16="http://schemas.microsoft.com/office/drawing/2014/main" id="{6AA2F42D-2510-12CD-6FDD-090725B48EA3}"/>
              </a:ext>
            </a:extLst>
          </p:cNvPr>
          <p:cNvSpPr txBox="1"/>
          <p:nvPr/>
        </p:nvSpPr>
        <p:spPr>
          <a:xfrm>
            <a:off x="1042269" y="3212312"/>
            <a:ext cx="8574374" cy="584775"/>
          </a:xfrm>
          <a:prstGeom prst="rect">
            <a:avLst/>
          </a:prstGeom>
          <a:noFill/>
        </p:spPr>
        <p:txBody>
          <a:bodyPr wrap="square" rtlCol="0">
            <a:spAutoFit/>
          </a:bodyPr>
          <a:lstStyle/>
          <a:p>
            <a:r>
              <a:rPr kumimoji="1" lang="ja-JP" altLang="en-US" sz="3200"/>
              <a:t>外傷で受診した時の血液凝固の状態を評価</a:t>
            </a:r>
          </a:p>
        </p:txBody>
      </p:sp>
      <p:sp>
        <p:nvSpPr>
          <p:cNvPr id="11" name="テキスト ボックス 10">
            <a:extLst>
              <a:ext uri="{FF2B5EF4-FFF2-40B4-BE49-F238E27FC236}">
                <a16:creationId xmlns:a16="http://schemas.microsoft.com/office/drawing/2014/main" id="{BDA569CE-B61A-72E4-8F76-A07CDEC4CB84}"/>
              </a:ext>
            </a:extLst>
          </p:cNvPr>
          <p:cNvSpPr txBox="1"/>
          <p:nvPr/>
        </p:nvSpPr>
        <p:spPr>
          <a:xfrm>
            <a:off x="1042269" y="3797087"/>
            <a:ext cx="9315934" cy="584775"/>
          </a:xfrm>
          <a:prstGeom prst="rect">
            <a:avLst/>
          </a:prstGeom>
          <a:noFill/>
        </p:spPr>
        <p:txBody>
          <a:bodyPr wrap="square" rtlCol="0">
            <a:spAutoFit/>
          </a:bodyPr>
          <a:lstStyle/>
          <a:p>
            <a:r>
              <a:rPr kumimoji="1" lang="ja-JP" altLang="en-US" sz="3200"/>
              <a:t>時間経過によっては過小評価してしまう可能性</a:t>
            </a:r>
          </a:p>
        </p:txBody>
      </p:sp>
      <p:sp>
        <p:nvSpPr>
          <p:cNvPr id="12" name="テキスト ボックス 11">
            <a:extLst>
              <a:ext uri="{FF2B5EF4-FFF2-40B4-BE49-F238E27FC236}">
                <a16:creationId xmlns:a16="http://schemas.microsoft.com/office/drawing/2014/main" id="{A8781216-8AC6-2514-0BFE-E22A29B14E77}"/>
              </a:ext>
            </a:extLst>
          </p:cNvPr>
          <p:cNvSpPr txBox="1"/>
          <p:nvPr/>
        </p:nvSpPr>
        <p:spPr>
          <a:xfrm>
            <a:off x="1042269" y="4458964"/>
            <a:ext cx="9315934" cy="584775"/>
          </a:xfrm>
          <a:prstGeom prst="rect">
            <a:avLst/>
          </a:prstGeom>
          <a:noFill/>
        </p:spPr>
        <p:txBody>
          <a:bodyPr wrap="square" rtlCol="0">
            <a:spAutoFit/>
          </a:bodyPr>
          <a:lstStyle/>
          <a:p>
            <a:r>
              <a:rPr kumimoji="1" lang="ja-JP" altLang="en-US" sz="3200"/>
              <a:t>外傷部位や全身状態との乖離があると判断に悩む</a:t>
            </a:r>
          </a:p>
        </p:txBody>
      </p:sp>
      <p:sp>
        <p:nvSpPr>
          <p:cNvPr id="13" name="テキスト ボックス 12">
            <a:extLst>
              <a:ext uri="{FF2B5EF4-FFF2-40B4-BE49-F238E27FC236}">
                <a16:creationId xmlns:a16="http://schemas.microsoft.com/office/drawing/2014/main" id="{9AB8E50D-7A53-F5A0-DC08-335178E5B411}"/>
              </a:ext>
            </a:extLst>
          </p:cNvPr>
          <p:cNvSpPr txBox="1"/>
          <p:nvPr/>
        </p:nvSpPr>
        <p:spPr>
          <a:xfrm>
            <a:off x="608351" y="5200909"/>
            <a:ext cx="10975298" cy="1077218"/>
          </a:xfrm>
          <a:prstGeom prst="rect">
            <a:avLst/>
          </a:prstGeom>
          <a:noFill/>
        </p:spPr>
        <p:txBody>
          <a:bodyPr wrap="square" rtlCol="0">
            <a:spAutoFit/>
          </a:bodyPr>
          <a:lstStyle/>
          <a:p>
            <a:r>
              <a:rPr kumimoji="1" lang="en-US" altLang="ja-JP" sz="3200" b="1" dirty="0"/>
              <a:t>MTP</a:t>
            </a:r>
            <a:r>
              <a:rPr kumimoji="1" lang="ja-JP" altLang="en-US" sz="3200" b="1"/>
              <a:t>は</a:t>
            </a:r>
            <a:r>
              <a:rPr kumimoji="1" lang="en-US" altLang="ja-JP" sz="3200" b="1" dirty="0"/>
              <a:t>1:1:1 </a:t>
            </a:r>
            <a:r>
              <a:rPr lang="ja-JP" altLang="en-US" sz="3200" b="1"/>
              <a:t>という概念で施行している</a:t>
            </a:r>
            <a:endParaRPr kumimoji="1" lang="en-US" altLang="ja-JP" sz="3200" b="1" dirty="0"/>
          </a:p>
          <a:p>
            <a:r>
              <a:rPr kumimoji="1" lang="en-US" altLang="ja-JP" sz="3200" b="1" dirty="0"/>
              <a:t>MTP</a:t>
            </a:r>
            <a:r>
              <a:rPr kumimoji="1" lang="ja-JP" altLang="en-US" sz="3200" b="1"/>
              <a:t>の開始にも，終了にもあまり寄与していなかったかも</a:t>
            </a:r>
          </a:p>
        </p:txBody>
      </p:sp>
    </p:spTree>
    <p:extLst>
      <p:ext uri="{BB962C8B-B14F-4D97-AF65-F5344CB8AC3E}">
        <p14:creationId xmlns:p14="http://schemas.microsoft.com/office/powerpoint/2010/main" val="4975257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19C6D9-EB24-02F4-3B21-02961DFAE5A4}"/>
              </a:ext>
            </a:extLst>
          </p:cNvPr>
          <p:cNvSpPr>
            <a:spLocks noGrp="1"/>
          </p:cNvSpPr>
          <p:nvPr>
            <p:ph type="title"/>
          </p:nvPr>
        </p:nvSpPr>
        <p:spPr/>
        <p:txBody>
          <a:bodyPr>
            <a:normAutofit/>
          </a:bodyPr>
          <a:lstStyle/>
          <a:p>
            <a:r>
              <a:rPr kumimoji="1" lang="en-US" altLang="ja-JP" dirty="0"/>
              <a:t>TTP</a:t>
            </a:r>
            <a:r>
              <a:rPr kumimoji="1" lang="ja-JP" altLang="en-US"/>
              <a:t>の目指すもの</a:t>
            </a:r>
          </a:p>
        </p:txBody>
      </p:sp>
      <p:sp>
        <p:nvSpPr>
          <p:cNvPr id="4" name="日付プレースホルダー 3">
            <a:extLst>
              <a:ext uri="{FF2B5EF4-FFF2-40B4-BE49-F238E27FC236}">
                <a16:creationId xmlns:a16="http://schemas.microsoft.com/office/drawing/2014/main" id="{574C668B-14C6-4117-737D-E59D068E2922}"/>
              </a:ext>
            </a:extLst>
          </p:cNvPr>
          <p:cNvSpPr>
            <a:spLocks noGrp="1"/>
          </p:cNvSpPr>
          <p:nvPr>
            <p:ph type="dt" sz="half" idx="10"/>
          </p:nvPr>
        </p:nvSpPr>
        <p:spPr/>
        <p:txBody>
          <a:bodyPr/>
          <a:lstStyle/>
          <a:p>
            <a:fld id="{EB07F61A-2EE3-A24F-A0C6-270443EFA0A1}"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4D590954-6F3B-0009-5584-9D028E9864C4}"/>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0E06165E-D636-FA58-AE4C-5AC78D2E3C3E}"/>
              </a:ext>
            </a:extLst>
          </p:cNvPr>
          <p:cNvSpPr>
            <a:spLocks noGrp="1"/>
          </p:cNvSpPr>
          <p:nvPr>
            <p:ph type="sldNum" sz="quarter" idx="12"/>
          </p:nvPr>
        </p:nvSpPr>
        <p:spPr/>
        <p:txBody>
          <a:bodyPr/>
          <a:lstStyle/>
          <a:p>
            <a:r>
              <a:rPr lang="en-US" altLang="ja-JP"/>
              <a:t>No. </a:t>
            </a:r>
            <a:fld id="{41B87E3F-77EC-4EFD-94DE-AA3AEB7C7760}" type="slidenum">
              <a:rPr lang="ja-JP" altLang="en-US" smtClean="0"/>
              <a:pPr/>
              <a:t>48</a:t>
            </a:fld>
            <a:endParaRPr kumimoji="1" lang="ja-JP" altLang="en-US" dirty="0"/>
          </a:p>
        </p:txBody>
      </p:sp>
      <p:sp>
        <p:nvSpPr>
          <p:cNvPr id="8" name="正方形/長方形 7">
            <a:extLst>
              <a:ext uri="{FF2B5EF4-FFF2-40B4-BE49-F238E27FC236}">
                <a16:creationId xmlns:a16="http://schemas.microsoft.com/office/drawing/2014/main" id="{CD5F06AC-7966-73C8-4588-280C1C24B7F2}"/>
              </a:ext>
            </a:extLst>
          </p:cNvPr>
          <p:cNvSpPr/>
          <p:nvPr/>
        </p:nvSpPr>
        <p:spPr>
          <a:xfrm>
            <a:off x="226145" y="1648610"/>
            <a:ext cx="6071624" cy="6697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600" b="1" dirty="0"/>
              <a:t>MTP</a:t>
            </a:r>
            <a:r>
              <a:rPr kumimoji="1" lang="ja-JP" altLang="en-US" sz="3600" b="1"/>
              <a:t>の最適化</a:t>
            </a:r>
          </a:p>
        </p:txBody>
      </p:sp>
      <p:sp>
        <p:nvSpPr>
          <p:cNvPr id="7" name="円/楕円 6">
            <a:extLst>
              <a:ext uri="{FF2B5EF4-FFF2-40B4-BE49-F238E27FC236}">
                <a16:creationId xmlns:a16="http://schemas.microsoft.com/office/drawing/2014/main" id="{BAEE5B6C-E4B4-FB66-F40D-8E27D1E593D6}"/>
              </a:ext>
            </a:extLst>
          </p:cNvPr>
          <p:cNvSpPr/>
          <p:nvPr/>
        </p:nvSpPr>
        <p:spPr>
          <a:xfrm>
            <a:off x="72000" y="2485008"/>
            <a:ext cx="3597639" cy="614597"/>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a:t>これからは</a:t>
            </a:r>
          </a:p>
        </p:txBody>
      </p:sp>
      <p:sp>
        <p:nvSpPr>
          <p:cNvPr id="10" name="テキスト ボックス 9">
            <a:extLst>
              <a:ext uri="{FF2B5EF4-FFF2-40B4-BE49-F238E27FC236}">
                <a16:creationId xmlns:a16="http://schemas.microsoft.com/office/drawing/2014/main" id="{6AA2F42D-2510-12CD-6FDD-090725B48EA3}"/>
              </a:ext>
            </a:extLst>
          </p:cNvPr>
          <p:cNvSpPr txBox="1"/>
          <p:nvPr/>
        </p:nvSpPr>
        <p:spPr>
          <a:xfrm>
            <a:off x="755980" y="3225075"/>
            <a:ext cx="10680039" cy="1077218"/>
          </a:xfrm>
          <a:prstGeom prst="rect">
            <a:avLst/>
          </a:prstGeom>
          <a:noFill/>
        </p:spPr>
        <p:txBody>
          <a:bodyPr wrap="square" rtlCol="0">
            <a:spAutoFit/>
          </a:bodyPr>
          <a:lstStyle/>
          <a:p>
            <a:r>
              <a:rPr kumimoji="1" lang="ja-JP" altLang="en-US" sz="3200"/>
              <a:t>ある程度の蘇生後の評価を行うことで，</a:t>
            </a:r>
            <a:endParaRPr kumimoji="1" lang="en-US" altLang="ja-JP" sz="3200" dirty="0"/>
          </a:p>
          <a:p>
            <a:r>
              <a:rPr kumimoji="1" lang="ja-JP" altLang="en-US" sz="3200"/>
              <a:t>これからの輸血の追加・減量の判断が可能になる</a:t>
            </a:r>
          </a:p>
        </p:txBody>
      </p:sp>
      <p:sp>
        <p:nvSpPr>
          <p:cNvPr id="13" name="テキスト ボックス 12">
            <a:extLst>
              <a:ext uri="{FF2B5EF4-FFF2-40B4-BE49-F238E27FC236}">
                <a16:creationId xmlns:a16="http://schemas.microsoft.com/office/drawing/2014/main" id="{9AB8E50D-7A53-F5A0-DC08-335178E5B411}"/>
              </a:ext>
            </a:extLst>
          </p:cNvPr>
          <p:cNvSpPr txBox="1"/>
          <p:nvPr/>
        </p:nvSpPr>
        <p:spPr>
          <a:xfrm>
            <a:off x="608350" y="4958463"/>
            <a:ext cx="10975298" cy="1446550"/>
          </a:xfrm>
          <a:prstGeom prst="rect">
            <a:avLst/>
          </a:prstGeom>
          <a:noFill/>
        </p:spPr>
        <p:txBody>
          <a:bodyPr wrap="square" rtlCol="0">
            <a:spAutoFit/>
          </a:bodyPr>
          <a:lstStyle/>
          <a:p>
            <a:pPr algn="ctr"/>
            <a:r>
              <a:rPr kumimoji="1" lang="en-US" altLang="ja-JP" sz="4400" b="1" dirty="0">
                <a:solidFill>
                  <a:schemeClr val="tx2">
                    <a:lumMod val="50000"/>
                    <a:lumOff val="50000"/>
                  </a:schemeClr>
                </a:solidFill>
              </a:rPr>
              <a:t>1:1:1</a:t>
            </a:r>
            <a:r>
              <a:rPr kumimoji="1" lang="ja-JP" altLang="en-US" sz="4400" b="1">
                <a:solidFill>
                  <a:schemeClr val="tx2">
                    <a:lumMod val="50000"/>
                    <a:lumOff val="50000"/>
                  </a:schemeClr>
                </a:solidFill>
              </a:rPr>
              <a:t>という従来の比率に縛られず</a:t>
            </a:r>
            <a:endParaRPr kumimoji="1" lang="en-US" altLang="ja-JP" sz="4400" b="1" dirty="0">
              <a:solidFill>
                <a:schemeClr val="tx2">
                  <a:lumMod val="50000"/>
                  <a:lumOff val="50000"/>
                </a:schemeClr>
              </a:solidFill>
            </a:endParaRPr>
          </a:p>
          <a:p>
            <a:pPr algn="ctr"/>
            <a:r>
              <a:rPr kumimoji="1" lang="ja-JP" altLang="en-US" sz="4400" b="1">
                <a:solidFill>
                  <a:schemeClr val="tx2">
                    <a:lumMod val="50000"/>
                    <a:lumOff val="50000"/>
                  </a:schemeClr>
                </a:solidFill>
              </a:rPr>
              <a:t>輸血量減少に寄与する可能性</a:t>
            </a:r>
          </a:p>
        </p:txBody>
      </p:sp>
      <p:sp>
        <p:nvSpPr>
          <p:cNvPr id="3" name="テキスト ボックス 2">
            <a:extLst>
              <a:ext uri="{FF2B5EF4-FFF2-40B4-BE49-F238E27FC236}">
                <a16:creationId xmlns:a16="http://schemas.microsoft.com/office/drawing/2014/main" id="{CE87E5B2-B188-59C6-8776-E4C52DF76576}"/>
              </a:ext>
            </a:extLst>
          </p:cNvPr>
          <p:cNvSpPr txBox="1"/>
          <p:nvPr/>
        </p:nvSpPr>
        <p:spPr>
          <a:xfrm>
            <a:off x="755980" y="4427763"/>
            <a:ext cx="10975298" cy="584775"/>
          </a:xfrm>
          <a:prstGeom prst="rect">
            <a:avLst/>
          </a:prstGeom>
          <a:noFill/>
        </p:spPr>
        <p:txBody>
          <a:bodyPr wrap="square" rtlCol="0">
            <a:spAutoFit/>
          </a:bodyPr>
          <a:lstStyle/>
          <a:p>
            <a:r>
              <a:rPr kumimoji="1" lang="en-US" altLang="ja-JP" sz="3200" b="1" dirty="0"/>
              <a:t>MTP</a:t>
            </a:r>
            <a:r>
              <a:rPr kumimoji="1" lang="ja-JP" altLang="en-US" sz="3200" b="1"/>
              <a:t>使用のやめどきを目で見て判断することができるかも</a:t>
            </a:r>
          </a:p>
        </p:txBody>
      </p:sp>
    </p:spTree>
    <p:extLst>
      <p:ext uri="{BB962C8B-B14F-4D97-AF65-F5344CB8AC3E}">
        <p14:creationId xmlns:p14="http://schemas.microsoft.com/office/powerpoint/2010/main" val="9577291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19C6D9-EB24-02F4-3B21-02961DFAE5A4}"/>
              </a:ext>
            </a:extLst>
          </p:cNvPr>
          <p:cNvSpPr>
            <a:spLocks noGrp="1"/>
          </p:cNvSpPr>
          <p:nvPr>
            <p:ph type="title"/>
          </p:nvPr>
        </p:nvSpPr>
        <p:spPr/>
        <p:txBody>
          <a:bodyPr>
            <a:normAutofit/>
          </a:bodyPr>
          <a:lstStyle/>
          <a:p>
            <a:r>
              <a:rPr kumimoji="1" lang="en-US" altLang="ja-JP" dirty="0"/>
              <a:t>TTP</a:t>
            </a:r>
            <a:r>
              <a:rPr kumimoji="1" lang="ja-JP" altLang="en-US"/>
              <a:t>の目指すもの</a:t>
            </a:r>
          </a:p>
        </p:txBody>
      </p:sp>
      <p:sp>
        <p:nvSpPr>
          <p:cNvPr id="4" name="日付プレースホルダー 3">
            <a:extLst>
              <a:ext uri="{FF2B5EF4-FFF2-40B4-BE49-F238E27FC236}">
                <a16:creationId xmlns:a16="http://schemas.microsoft.com/office/drawing/2014/main" id="{574C668B-14C6-4117-737D-E59D068E2922}"/>
              </a:ext>
            </a:extLst>
          </p:cNvPr>
          <p:cNvSpPr>
            <a:spLocks noGrp="1"/>
          </p:cNvSpPr>
          <p:nvPr>
            <p:ph type="dt" sz="half" idx="10"/>
          </p:nvPr>
        </p:nvSpPr>
        <p:spPr/>
        <p:txBody>
          <a:bodyPr/>
          <a:lstStyle/>
          <a:p>
            <a:fld id="{93E37C39-3C98-9646-973F-BDDE29266451}"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4D590954-6F3B-0009-5584-9D028E9864C4}"/>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0E06165E-D636-FA58-AE4C-5AC78D2E3C3E}"/>
              </a:ext>
            </a:extLst>
          </p:cNvPr>
          <p:cNvSpPr>
            <a:spLocks noGrp="1"/>
          </p:cNvSpPr>
          <p:nvPr>
            <p:ph type="sldNum" sz="quarter" idx="12"/>
          </p:nvPr>
        </p:nvSpPr>
        <p:spPr/>
        <p:txBody>
          <a:bodyPr/>
          <a:lstStyle/>
          <a:p>
            <a:r>
              <a:rPr lang="en-US" altLang="ja-JP"/>
              <a:t>No. </a:t>
            </a:r>
            <a:fld id="{41B87E3F-77EC-4EFD-94DE-AA3AEB7C7760}" type="slidenum">
              <a:rPr lang="ja-JP" altLang="en-US" smtClean="0"/>
              <a:pPr/>
              <a:t>49</a:t>
            </a:fld>
            <a:endParaRPr kumimoji="1" lang="ja-JP" altLang="en-US" dirty="0"/>
          </a:p>
        </p:txBody>
      </p:sp>
      <p:sp>
        <p:nvSpPr>
          <p:cNvPr id="8" name="正方形/長方形 7">
            <a:extLst>
              <a:ext uri="{FF2B5EF4-FFF2-40B4-BE49-F238E27FC236}">
                <a16:creationId xmlns:a16="http://schemas.microsoft.com/office/drawing/2014/main" id="{CD5F06AC-7966-73C8-4588-280C1C24B7F2}"/>
              </a:ext>
            </a:extLst>
          </p:cNvPr>
          <p:cNvSpPr/>
          <p:nvPr/>
        </p:nvSpPr>
        <p:spPr>
          <a:xfrm>
            <a:off x="226145" y="1648610"/>
            <a:ext cx="6071624" cy="6697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600" b="1"/>
              <a:t>血小板製剤の適正使用</a:t>
            </a:r>
            <a:endParaRPr kumimoji="1" lang="ja-JP" altLang="en-US" sz="3600" b="1"/>
          </a:p>
        </p:txBody>
      </p:sp>
      <p:sp>
        <p:nvSpPr>
          <p:cNvPr id="9" name="テキスト ボックス 8">
            <a:extLst>
              <a:ext uri="{FF2B5EF4-FFF2-40B4-BE49-F238E27FC236}">
                <a16:creationId xmlns:a16="http://schemas.microsoft.com/office/drawing/2014/main" id="{82D251D0-E095-3477-D0BA-D8E50C10FFCA}"/>
              </a:ext>
            </a:extLst>
          </p:cNvPr>
          <p:cNvSpPr txBox="1"/>
          <p:nvPr/>
        </p:nvSpPr>
        <p:spPr>
          <a:xfrm>
            <a:off x="656796" y="2562921"/>
            <a:ext cx="11281946" cy="1323439"/>
          </a:xfrm>
          <a:prstGeom prst="rect">
            <a:avLst/>
          </a:prstGeom>
          <a:noFill/>
        </p:spPr>
        <p:txBody>
          <a:bodyPr wrap="square" rtlCol="0">
            <a:spAutoFit/>
          </a:bodyPr>
          <a:lstStyle/>
          <a:p>
            <a:r>
              <a:rPr lang="ja-JP" altLang="en-US" sz="3600"/>
              <a:t>血小板機能を目でみることにより</a:t>
            </a:r>
            <a:endParaRPr lang="en-US" altLang="ja-JP" sz="3600" dirty="0"/>
          </a:p>
          <a:p>
            <a:r>
              <a:rPr lang="ja-JP" altLang="en-US" sz="4400" b="1">
                <a:solidFill>
                  <a:srgbClr val="FF0000"/>
                </a:solidFill>
              </a:rPr>
              <a:t>機能抑制＝必要性</a:t>
            </a:r>
            <a:r>
              <a:rPr lang="ja-JP" altLang="en-US" sz="3600"/>
              <a:t>をみて血小板製剤の投与を行う</a:t>
            </a:r>
            <a:endParaRPr kumimoji="1" lang="ja-JP" altLang="en-US" sz="3600"/>
          </a:p>
        </p:txBody>
      </p:sp>
      <p:sp>
        <p:nvSpPr>
          <p:cNvPr id="11" name="角丸四角形 10">
            <a:extLst>
              <a:ext uri="{FF2B5EF4-FFF2-40B4-BE49-F238E27FC236}">
                <a16:creationId xmlns:a16="http://schemas.microsoft.com/office/drawing/2014/main" id="{55E1224E-F298-9549-96C7-6D71809D80FF}"/>
              </a:ext>
            </a:extLst>
          </p:cNvPr>
          <p:cNvSpPr/>
          <p:nvPr/>
        </p:nvSpPr>
        <p:spPr>
          <a:xfrm>
            <a:off x="183040" y="4093362"/>
            <a:ext cx="5264319" cy="629587"/>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止血のために必要な血小板補充</a:t>
            </a:r>
          </a:p>
        </p:txBody>
      </p:sp>
      <p:sp>
        <p:nvSpPr>
          <p:cNvPr id="12" name="角丸四角形 11">
            <a:extLst>
              <a:ext uri="{FF2B5EF4-FFF2-40B4-BE49-F238E27FC236}">
                <a16:creationId xmlns:a16="http://schemas.microsoft.com/office/drawing/2014/main" id="{00B4277D-8446-FBAC-1A57-6B1EE6C21A5D}"/>
              </a:ext>
            </a:extLst>
          </p:cNvPr>
          <p:cNvSpPr/>
          <p:nvPr/>
        </p:nvSpPr>
        <p:spPr>
          <a:xfrm>
            <a:off x="183039" y="4894596"/>
            <a:ext cx="5264319" cy="629587"/>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不必要な血小板製剤投与削減</a:t>
            </a:r>
          </a:p>
        </p:txBody>
      </p:sp>
      <p:sp>
        <p:nvSpPr>
          <p:cNvPr id="14" name="テキスト ボックス 13">
            <a:extLst>
              <a:ext uri="{FF2B5EF4-FFF2-40B4-BE49-F238E27FC236}">
                <a16:creationId xmlns:a16="http://schemas.microsoft.com/office/drawing/2014/main" id="{8DBD41E0-9165-49AE-6693-3604FEAE2537}"/>
              </a:ext>
            </a:extLst>
          </p:cNvPr>
          <p:cNvSpPr txBox="1"/>
          <p:nvPr/>
        </p:nvSpPr>
        <p:spPr>
          <a:xfrm>
            <a:off x="1140900" y="5749481"/>
            <a:ext cx="9910200" cy="523220"/>
          </a:xfrm>
          <a:prstGeom prst="rect">
            <a:avLst/>
          </a:prstGeom>
          <a:noFill/>
        </p:spPr>
        <p:txBody>
          <a:bodyPr wrap="square" rtlCol="0">
            <a:spAutoFit/>
          </a:bodyPr>
          <a:lstStyle/>
          <a:p>
            <a:r>
              <a:rPr kumimoji="1" lang="en-US" altLang="ja-JP" sz="2800" b="1" dirty="0"/>
              <a:t>※</a:t>
            </a:r>
            <a:r>
              <a:rPr kumimoji="1" lang="ja-JP" altLang="en-US" sz="2800" b="1"/>
              <a:t>切迫心停止症例や超重症多発外傷の時は担当医判断で投与</a:t>
            </a:r>
          </a:p>
        </p:txBody>
      </p:sp>
      <p:sp>
        <p:nvSpPr>
          <p:cNvPr id="15" name="テキスト ボックス 14">
            <a:extLst>
              <a:ext uri="{FF2B5EF4-FFF2-40B4-BE49-F238E27FC236}">
                <a16:creationId xmlns:a16="http://schemas.microsoft.com/office/drawing/2014/main" id="{C42C377B-2DB4-D5D2-3681-B5B31A81D48A}"/>
              </a:ext>
            </a:extLst>
          </p:cNvPr>
          <p:cNvSpPr txBox="1"/>
          <p:nvPr/>
        </p:nvSpPr>
        <p:spPr>
          <a:xfrm>
            <a:off x="5676431" y="4054212"/>
            <a:ext cx="7030387" cy="707886"/>
          </a:xfrm>
          <a:prstGeom prst="rect">
            <a:avLst/>
          </a:prstGeom>
          <a:noFill/>
        </p:spPr>
        <p:txBody>
          <a:bodyPr wrap="square" rtlCol="0">
            <a:spAutoFit/>
          </a:bodyPr>
          <a:lstStyle/>
          <a:p>
            <a:r>
              <a:rPr kumimoji="1" lang="ja-JP" altLang="en-US" sz="2000"/>
              <a:t>結果的に早期止血につながり輸血量全体が</a:t>
            </a:r>
            <a:endParaRPr kumimoji="1" lang="en-US" altLang="ja-JP" sz="2000" dirty="0"/>
          </a:p>
          <a:p>
            <a:r>
              <a:rPr kumimoji="1" lang="ja-JP" altLang="en-US" sz="2000"/>
              <a:t>削減される可能性</a:t>
            </a:r>
          </a:p>
        </p:txBody>
      </p:sp>
      <p:sp>
        <p:nvSpPr>
          <p:cNvPr id="16" name="テキスト ボックス 15">
            <a:extLst>
              <a:ext uri="{FF2B5EF4-FFF2-40B4-BE49-F238E27FC236}">
                <a16:creationId xmlns:a16="http://schemas.microsoft.com/office/drawing/2014/main" id="{574ED562-59B6-E57B-9B58-3F9140C9724F}"/>
              </a:ext>
            </a:extLst>
          </p:cNvPr>
          <p:cNvSpPr txBox="1"/>
          <p:nvPr/>
        </p:nvSpPr>
        <p:spPr>
          <a:xfrm>
            <a:off x="5676430" y="4859169"/>
            <a:ext cx="7030387" cy="707886"/>
          </a:xfrm>
          <a:prstGeom prst="rect">
            <a:avLst/>
          </a:prstGeom>
          <a:noFill/>
        </p:spPr>
        <p:txBody>
          <a:bodyPr wrap="square" rtlCol="0">
            <a:spAutoFit/>
          </a:bodyPr>
          <a:lstStyle/>
          <a:p>
            <a:r>
              <a:rPr kumimoji="1" lang="ja-JP" altLang="en-US" sz="2000"/>
              <a:t>輸血比率にとらわれないことで従来では</a:t>
            </a:r>
            <a:endParaRPr kumimoji="1" lang="en-US" altLang="ja-JP" sz="2000" dirty="0"/>
          </a:p>
          <a:p>
            <a:r>
              <a:rPr kumimoji="1" lang="ja-JP" altLang="en-US" sz="2000"/>
              <a:t>補充していたものも不要になる可能性</a:t>
            </a:r>
          </a:p>
        </p:txBody>
      </p:sp>
    </p:spTree>
    <p:extLst>
      <p:ext uri="{BB962C8B-B14F-4D97-AF65-F5344CB8AC3E}">
        <p14:creationId xmlns:p14="http://schemas.microsoft.com/office/powerpoint/2010/main" val="31371955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8CC503-6262-1E4F-B322-225A73F10084}"/>
              </a:ext>
            </a:extLst>
          </p:cNvPr>
          <p:cNvSpPr>
            <a:spLocks noGrp="1"/>
          </p:cNvSpPr>
          <p:nvPr>
            <p:ph type="title"/>
          </p:nvPr>
        </p:nvSpPr>
        <p:spPr/>
        <p:txBody>
          <a:bodyPr>
            <a:normAutofit/>
          </a:bodyPr>
          <a:lstStyle/>
          <a:p>
            <a:r>
              <a:rPr kumimoji="1" lang="ja-JP" altLang="en-US"/>
              <a:t>輸血製剤の投与判断　</a:t>
            </a:r>
            <a:r>
              <a:rPr kumimoji="1" lang="en-US" altLang="ja-JP" dirty="0"/>
              <a:t>WITH TEG PM</a:t>
            </a:r>
            <a:endParaRPr kumimoji="1" lang="ja-JP" altLang="en-US"/>
          </a:p>
        </p:txBody>
      </p:sp>
      <p:graphicFrame>
        <p:nvGraphicFramePr>
          <p:cNvPr id="7" name="表 7">
            <a:extLst>
              <a:ext uri="{FF2B5EF4-FFF2-40B4-BE49-F238E27FC236}">
                <a16:creationId xmlns:a16="http://schemas.microsoft.com/office/drawing/2014/main" id="{B10E93E2-46AA-854A-B9F6-15330DEBA104}"/>
              </a:ext>
            </a:extLst>
          </p:cNvPr>
          <p:cNvGraphicFramePr>
            <a:graphicFrameLocks noGrp="1"/>
          </p:cNvGraphicFramePr>
          <p:nvPr>
            <p:ph idx="1"/>
            <p:extLst>
              <p:ext uri="{D42A27DB-BD31-4B8C-83A1-F6EECF244321}">
                <p14:modId xmlns:p14="http://schemas.microsoft.com/office/powerpoint/2010/main" val="3017441350"/>
              </p:ext>
            </p:extLst>
          </p:nvPr>
        </p:nvGraphicFramePr>
        <p:xfrm>
          <a:off x="282427" y="1568611"/>
          <a:ext cx="11627146" cy="4698336"/>
        </p:xfrm>
        <a:graphic>
          <a:graphicData uri="http://schemas.openxmlformats.org/drawingml/2006/table">
            <a:tbl>
              <a:tblPr firstRow="1" bandRow="1">
                <a:tableStyleId>{5C22544A-7EE6-4342-B048-85BDC9FD1C3A}</a:tableStyleId>
              </a:tblPr>
              <a:tblGrid>
                <a:gridCol w="2272030">
                  <a:extLst>
                    <a:ext uri="{9D8B030D-6E8A-4147-A177-3AD203B41FA5}">
                      <a16:colId xmlns:a16="http://schemas.microsoft.com/office/drawing/2014/main" val="1743690496"/>
                    </a:ext>
                  </a:extLst>
                </a:gridCol>
                <a:gridCol w="2338779">
                  <a:extLst>
                    <a:ext uri="{9D8B030D-6E8A-4147-A177-3AD203B41FA5}">
                      <a16:colId xmlns:a16="http://schemas.microsoft.com/office/drawing/2014/main" val="969582246"/>
                    </a:ext>
                  </a:extLst>
                </a:gridCol>
                <a:gridCol w="2338779">
                  <a:extLst>
                    <a:ext uri="{9D8B030D-6E8A-4147-A177-3AD203B41FA5}">
                      <a16:colId xmlns:a16="http://schemas.microsoft.com/office/drawing/2014/main" val="1450342246"/>
                    </a:ext>
                  </a:extLst>
                </a:gridCol>
                <a:gridCol w="2338779">
                  <a:extLst>
                    <a:ext uri="{9D8B030D-6E8A-4147-A177-3AD203B41FA5}">
                      <a16:colId xmlns:a16="http://schemas.microsoft.com/office/drawing/2014/main" val="2245719640"/>
                    </a:ext>
                  </a:extLst>
                </a:gridCol>
                <a:gridCol w="2338779">
                  <a:extLst>
                    <a:ext uri="{9D8B030D-6E8A-4147-A177-3AD203B41FA5}">
                      <a16:colId xmlns:a16="http://schemas.microsoft.com/office/drawing/2014/main" val="3253573187"/>
                    </a:ext>
                  </a:extLst>
                </a:gridCol>
              </a:tblGrid>
              <a:tr h="512596">
                <a:tc>
                  <a:txBody>
                    <a:bodyPr/>
                    <a:lstStyle/>
                    <a:p>
                      <a:pPr algn="ctr"/>
                      <a:r>
                        <a:rPr kumimoji="1" lang="ja-JP" altLang="en-US" sz="2800"/>
                        <a:t>製剤</a:t>
                      </a:r>
                    </a:p>
                  </a:txBody>
                  <a:tcPr anchor="ctr"/>
                </a:tc>
                <a:tc>
                  <a:txBody>
                    <a:bodyPr/>
                    <a:lstStyle/>
                    <a:p>
                      <a:pPr algn="ctr"/>
                      <a:r>
                        <a:rPr kumimoji="1" lang="en-US" altLang="ja-JP" sz="2800" dirty="0"/>
                        <a:t>RBC</a:t>
                      </a:r>
                      <a:endParaRPr kumimoji="1" lang="ja-JP" altLang="en-US" sz="2800"/>
                    </a:p>
                  </a:txBody>
                  <a:tcPr anchor="ctr">
                    <a:solidFill>
                      <a:srgbClr val="FF0000"/>
                    </a:solidFill>
                  </a:tcPr>
                </a:tc>
                <a:tc>
                  <a:txBody>
                    <a:bodyPr/>
                    <a:lstStyle/>
                    <a:p>
                      <a:pPr algn="ctr"/>
                      <a:r>
                        <a:rPr kumimoji="1" lang="en-US" altLang="ja-JP" sz="2800" dirty="0"/>
                        <a:t>FFP</a:t>
                      </a:r>
                      <a:endParaRPr kumimoji="1" lang="ja-JP" altLang="en-US" sz="2800"/>
                    </a:p>
                  </a:txBody>
                  <a:tcPr anchor="ctr">
                    <a:solidFill>
                      <a:srgbClr val="00B0F0"/>
                    </a:solidFill>
                  </a:tcPr>
                </a:tc>
                <a:tc>
                  <a:txBody>
                    <a:bodyPr/>
                    <a:lstStyle/>
                    <a:p>
                      <a:pPr algn="ctr"/>
                      <a:r>
                        <a:rPr kumimoji="1" lang="en-US" altLang="ja-JP" sz="2800" dirty="0"/>
                        <a:t>Fib</a:t>
                      </a:r>
                      <a:endParaRPr kumimoji="1" lang="ja-JP" altLang="en-US" sz="2800"/>
                    </a:p>
                  </a:txBody>
                  <a:tcPr anchor="ctr">
                    <a:solidFill>
                      <a:schemeClr val="tx2">
                        <a:lumMod val="50000"/>
                        <a:lumOff val="50000"/>
                      </a:schemeClr>
                    </a:solidFill>
                  </a:tcPr>
                </a:tc>
                <a:tc>
                  <a:txBody>
                    <a:bodyPr/>
                    <a:lstStyle/>
                    <a:p>
                      <a:pPr algn="ctr"/>
                      <a:r>
                        <a:rPr kumimoji="1" lang="en-US" altLang="ja-JP" sz="2800" dirty="0" err="1"/>
                        <a:t>Plt</a:t>
                      </a:r>
                      <a:endParaRPr kumimoji="1" lang="ja-JP" altLang="en-US" sz="2800"/>
                    </a:p>
                  </a:txBody>
                  <a:tcPr anchor="ctr">
                    <a:solidFill>
                      <a:srgbClr val="00B050"/>
                    </a:solidFill>
                  </a:tcPr>
                </a:tc>
                <a:extLst>
                  <a:ext uri="{0D108BD9-81ED-4DB2-BD59-A6C34878D82A}">
                    <a16:rowId xmlns:a16="http://schemas.microsoft.com/office/drawing/2014/main" val="2802307533"/>
                  </a:ext>
                </a:extLst>
              </a:tr>
              <a:tr h="840408">
                <a:tc>
                  <a:txBody>
                    <a:bodyPr/>
                    <a:lstStyle/>
                    <a:p>
                      <a:pPr algn="ctr"/>
                      <a:r>
                        <a:rPr kumimoji="1" lang="ja-JP" altLang="en-US" sz="1800"/>
                        <a:t>主観的指標</a:t>
                      </a:r>
                    </a:p>
                  </a:txBody>
                  <a:tcPr anchor="ctr"/>
                </a:tc>
                <a:tc>
                  <a:txBody>
                    <a:bodyPr/>
                    <a:lstStyle/>
                    <a:p>
                      <a:pPr algn="ctr"/>
                      <a:r>
                        <a:rPr kumimoji="1" lang="ja-JP" altLang="en-US" sz="2400"/>
                        <a:t>出血量</a:t>
                      </a:r>
                    </a:p>
                  </a:txBody>
                  <a:tcPr anchor="ctr"/>
                </a:tc>
                <a:tc>
                  <a:txBody>
                    <a:bodyPr/>
                    <a:lstStyle/>
                    <a:p>
                      <a:pPr algn="ctr"/>
                      <a:r>
                        <a:rPr kumimoji="1" lang="ja-JP" altLang="en-US" sz="2400"/>
                        <a:t>損傷部位</a:t>
                      </a:r>
                      <a:endParaRPr kumimoji="1" lang="en-US" altLang="ja-JP" sz="2400" dirty="0"/>
                    </a:p>
                    <a:p>
                      <a:pPr algn="ctr"/>
                      <a:r>
                        <a:rPr kumimoji="1" lang="ja-JP" altLang="en-US" sz="2400"/>
                        <a:t>術野所見</a:t>
                      </a:r>
                    </a:p>
                  </a:txBody>
                  <a:tcPr anchor="ctr"/>
                </a:tc>
                <a:tc>
                  <a:txBody>
                    <a:bodyPr/>
                    <a:lstStyle/>
                    <a:p>
                      <a:pPr algn="ctr"/>
                      <a:r>
                        <a:rPr kumimoji="1" lang="ja-JP" altLang="en-US" sz="2400"/>
                        <a:t>損傷部位</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a:t>術野所見</a:t>
                      </a:r>
                    </a:p>
                  </a:txBody>
                  <a:tcPr anchor="ctr"/>
                </a:tc>
                <a:extLst>
                  <a:ext uri="{0D108BD9-81ED-4DB2-BD59-A6C34878D82A}">
                    <a16:rowId xmlns:a16="http://schemas.microsoft.com/office/drawing/2014/main" val="1393321879"/>
                  </a:ext>
                </a:extLst>
              </a:tr>
              <a:tr h="1356872">
                <a:tc>
                  <a:txBody>
                    <a:bodyPr/>
                    <a:lstStyle/>
                    <a:p>
                      <a:pPr algn="ctr"/>
                      <a:r>
                        <a:rPr kumimoji="1" lang="ja-JP" altLang="en-US" sz="2000"/>
                        <a:t>客観的指標</a:t>
                      </a:r>
                    </a:p>
                  </a:txBody>
                  <a:tcPr anchor="ctr"/>
                </a:tc>
                <a:tc>
                  <a:txBody>
                    <a:bodyPr/>
                    <a:lstStyle/>
                    <a:p>
                      <a:pPr algn="ctr"/>
                      <a:r>
                        <a:rPr kumimoji="1" lang="en-US" altLang="ja-JP" sz="2800" dirty="0"/>
                        <a:t>Hb</a:t>
                      </a:r>
                      <a:endParaRPr kumimoji="1" lang="ja-JP" altLang="en-US" sz="2800"/>
                    </a:p>
                  </a:txBody>
                  <a:tcPr anchor="ctr"/>
                </a:tc>
                <a:tc>
                  <a:txBody>
                    <a:bodyPr/>
                    <a:lstStyle/>
                    <a:p>
                      <a:pPr algn="ctr"/>
                      <a:r>
                        <a:rPr kumimoji="1" lang="en-US" altLang="ja-JP" sz="2800" b="1" dirty="0">
                          <a:solidFill>
                            <a:srgbClr val="FF0000"/>
                          </a:solidFill>
                        </a:rPr>
                        <a:t>HKH-R</a:t>
                      </a:r>
                    </a:p>
                    <a:p>
                      <a:pPr algn="ctr"/>
                      <a:r>
                        <a:rPr kumimoji="1" lang="en-US" altLang="ja-JP" sz="2800" b="1" dirty="0" err="1">
                          <a:solidFill>
                            <a:srgbClr val="A46BEF"/>
                          </a:solidFill>
                        </a:rPr>
                        <a:t>ActF</a:t>
                      </a:r>
                      <a:r>
                        <a:rPr kumimoji="1" lang="en-US" altLang="ja-JP" sz="2800" b="1" dirty="0">
                          <a:solidFill>
                            <a:srgbClr val="A46BEF"/>
                          </a:solidFill>
                        </a:rPr>
                        <a:t>-MA</a:t>
                      </a:r>
                      <a:endParaRPr kumimoji="1" lang="ja-JP" altLang="en-US" sz="2800" b="1">
                        <a:solidFill>
                          <a:srgbClr val="A46BEF"/>
                        </a:solidFill>
                      </a:endParaRPr>
                    </a:p>
                  </a:txBody>
                  <a:tcPr anchor="ctr"/>
                </a:tc>
                <a:tc>
                  <a:txBody>
                    <a:bodyPr/>
                    <a:lstStyle/>
                    <a:p>
                      <a:pPr algn="ctr"/>
                      <a:r>
                        <a:rPr kumimoji="1" lang="en-US" altLang="ja-JP" sz="2800" b="1" dirty="0" err="1">
                          <a:solidFill>
                            <a:srgbClr val="A46BEF"/>
                          </a:solidFill>
                        </a:rPr>
                        <a:t>ActF</a:t>
                      </a:r>
                      <a:r>
                        <a:rPr kumimoji="1" lang="en-US" altLang="ja-JP" sz="2800" b="1" dirty="0">
                          <a:solidFill>
                            <a:srgbClr val="A46BEF"/>
                          </a:solidFill>
                        </a:rPr>
                        <a:t>-MA</a:t>
                      </a:r>
                      <a:endParaRPr kumimoji="1" lang="ja-JP" altLang="en-US" sz="2800" b="1">
                        <a:solidFill>
                          <a:srgbClr val="A46BEF"/>
                        </a:solidFill>
                      </a:endParaRPr>
                    </a:p>
                  </a:txBody>
                  <a:tcPr anchor="ctr"/>
                </a:tc>
                <a:tc>
                  <a:txBody>
                    <a:bodyPr/>
                    <a:lstStyle/>
                    <a:p>
                      <a:pPr algn="ctr"/>
                      <a:r>
                        <a:rPr kumimoji="1" lang="en-US" altLang="ja-JP" sz="2800" dirty="0" err="1"/>
                        <a:t>Plt</a:t>
                      </a:r>
                      <a:endParaRPr kumimoji="1" lang="en-US" altLang="ja-JP" sz="2800" dirty="0"/>
                    </a:p>
                    <a:p>
                      <a:pPr algn="ctr"/>
                      <a:r>
                        <a:rPr kumimoji="1" lang="en-US" altLang="ja-JP" sz="2800" b="1" dirty="0">
                          <a:solidFill>
                            <a:srgbClr val="FF0000"/>
                          </a:solidFill>
                        </a:rPr>
                        <a:t>HKH-MA</a:t>
                      </a:r>
                    </a:p>
                    <a:p>
                      <a:pPr algn="ctr"/>
                      <a:r>
                        <a:rPr kumimoji="1" lang="en-US" altLang="ja-JP" sz="2800" b="1" dirty="0">
                          <a:solidFill>
                            <a:srgbClr val="00B050"/>
                          </a:solidFill>
                        </a:rPr>
                        <a:t>ADP inhibition</a:t>
                      </a:r>
                    </a:p>
                  </a:txBody>
                  <a:tcPr anchor="ctr"/>
                </a:tc>
                <a:extLst>
                  <a:ext uri="{0D108BD9-81ED-4DB2-BD59-A6C34878D82A}">
                    <a16:rowId xmlns:a16="http://schemas.microsoft.com/office/drawing/2014/main" val="519066428"/>
                  </a:ext>
                </a:extLst>
              </a:tr>
              <a:tr h="1115651">
                <a:tc>
                  <a:txBody>
                    <a:bodyPr/>
                    <a:lstStyle/>
                    <a:p>
                      <a:pPr algn="ctr"/>
                      <a:r>
                        <a:rPr kumimoji="1" lang="ja-JP" altLang="en-US" sz="2000"/>
                        <a:t>客観的指標への</a:t>
                      </a:r>
                      <a:endParaRPr kumimoji="1" lang="en-US" altLang="ja-JP" sz="2000" dirty="0"/>
                    </a:p>
                    <a:p>
                      <a:pPr algn="ctr"/>
                      <a:r>
                        <a:rPr kumimoji="1" lang="ja-JP" altLang="en-US" sz="2000"/>
                        <a:t>アクセス</a:t>
                      </a:r>
                    </a:p>
                  </a:txBody>
                  <a:tcPr anchor="ctr"/>
                </a:tc>
                <a:tc>
                  <a:txBody>
                    <a:bodyPr/>
                    <a:lstStyle/>
                    <a:p>
                      <a:pPr algn="ctr"/>
                      <a:r>
                        <a:rPr kumimoji="1" lang="en-US" altLang="ja-JP" sz="2800" dirty="0"/>
                        <a:t>BGA</a:t>
                      </a:r>
                    </a:p>
                    <a:p>
                      <a:pPr algn="ctr"/>
                      <a:r>
                        <a:rPr kumimoji="1" lang="ja-JP" altLang="en-US" sz="2800"/>
                        <a:t>比較的早い</a:t>
                      </a:r>
                    </a:p>
                  </a:txBody>
                  <a:tcPr anchor="ctr"/>
                </a:tc>
                <a:tc>
                  <a:txBody>
                    <a:bodyPr/>
                    <a:lstStyle/>
                    <a:p>
                      <a:pPr algn="ctr"/>
                      <a:r>
                        <a:rPr kumimoji="1" lang="en-US" altLang="ja-JP" sz="2800" dirty="0"/>
                        <a:t>TEG</a:t>
                      </a:r>
                    </a:p>
                    <a:p>
                      <a:pPr algn="ctr"/>
                      <a:r>
                        <a:rPr kumimoji="1" lang="en-US" altLang="ja-JP" sz="4000" b="1" dirty="0">
                          <a:solidFill>
                            <a:schemeClr val="tx2">
                              <a:lumMod val="75000"/>
                              <a:lumOff val="25000"/>
                            </a:schemeClr>
                          </a:solidFill>
                        </a:rPr>
                        <a:t>5-10</a:t>
                      </a:r>
                      <a:r>
                        <a:rPr kumimoji="1" lang="ja-JP" altLang="en-US" sz="4000" b="1">
                          <a:solidFill>
                            <a:schemeClr val="tx2">
                              <a:lumMod val="75000"/>
                              <a:lumOff val="25000"/>
                            </a:schemeClr>
                          </a:solidFill>
                        </a:rPr>
                        <a:t>分</a:t>
                      </a:r>
                    </a:p>
                  </a:txBody>
                  <a:tcPr anchor="ctr"/>
                </a:tc>
                <a:tc>
                  <a:txBody>
                    <a:bodyPr/>
                    <a:lstStyle/>
                    <a:p>
                      <a:pPr algn="ctr"/>
                      <a:r>
                        <a:rPr kumimoji="1" lang="en-US" altLang="ja-JP" sz="2800" dirty="0"/>
                        <a:t>TEG</a:t>
                      </a:r>
                    </a:p>
                    <a:p>
                      <a:pPr algn="ctr"/>
                      <a:r>
                        <a:rPr kumimoji="1" lang="en-US" altLang="ja-JP" sz="3600" b="1" dirty="0">
                          <a:solidFill>
                            <a:schemeClr val="tx2">
                              <a:lumMod val="75000"/>
                              <a:lumOff val="25000"/>
                            </a:schemeClr>
                          </a:solidFill>
                        </a:rPr>
                        <a:t>5-10</a:t>
                      </a:r>
                      <a:r>
                        <a:rPr kumimoji="1" lang="ja-JP" altLang="en-US" sz="3600" b="1">
                          <a:solidFill>
                            <a:schemeClr val="tx2">
                              <a:lumMod val="75000"/>
                              <a:lumOff val="25000"/>
                            </a:schemeClr>
                          </a:solidFill>
                        </a:rPr>
                        <a:t>分</a:t>
                      </a:r>
                    </a:p>
                  </a:txBody>
                  <a:tcPr anchor="ctr"/>
                </a:tc>
                <a:tc>
                  <a:txBody>
                    <a:bodyPr/>
                    <a:lstStyle/>
                    <a:p>
                      <a:pPr algn="ctr"/>
                      <a:r>
                        <a:rPr kumimoji="1" lang="ja-JP" altLang="en-US" sz="2800"/>
                        <a:t>血算・</a:t>
                      </a:r>
                      <a:r>
                        <a:rPr kumimoji="1" lang="en-US" altLang="ja-JP" sz="2800" dirty="0"/>
                        <a:t>TEG</a:t>
                      </a:r>
                    </a:p>
                    <a:p>
                      <a:pPr algn="ctr"/>
                      <a:r>
                        <a:rPr kumimoji="1" lang="en-US" altLang="ja-JP" sz="2800" dirty="0"/>
                        <a:t>20-30</a:t>
                      </a:r>
                      <a:r>
                        <a:rPr kumimoji="1" lang="ja-JP" altLang="en-US" sz="2800"/>
                        <a:t>分</a:t>
                      </a:r>
                      <a:endParaRPr kumimoji="1" lang="en-US" altLang="ja-JP" sz="2800" dirty="0"/>
                    </a:p>
                  </a:txBody>
                  <a:tcPr anchor="ctr"/>
                </a:tc>
                <a:extLst>
                  <a:ext uri="{0D108BD9-81ED-4DB2-BD59-A6C34878D82A}">
                    <a16:rowId xmlns:a16="http://schemas.microsoft.com/office/drawing/2014/main" val="4058242494"/>
                  </a:ext>
                </a:extLst>
              </a:tr>
              <a:tr h="840408">
                <a:tc>
                  <a:txBody>
                    <a:bodyPr/>
                    <a:lstStyle/>
                    <a:p>
                      <a:pPr algn="ctr"/>
                      <a:r>
                        <a:rPr kumimoji="1" lang="ja-JP" altLang="en-US" sz="1800"/>
                        <a:t>製剤へのアクセス</a:t>
                      </a:r>
                    </a:p>
                  </a:txBody>
                  <a:tcPr anchor="ctr"/>
                </a:tc>
                <a:tc>
                  <a:txBody>
                    <a:bodyPr/>
                    <a:lstStyle/>
                    <a:p>
                      <a:pPr algn="ctr"/>
                      <a:r>
                        <a:rPr kumimoji="1" lang="ja-JP" altLang="en-US" sz="2400"/>
                        <a:t>良好</a:t>
                      </a:r>
                    </a:p>
                  </a:txBody>
                  <a:tcPr anchor="ctr"/>
                </a:tc>
                <a:tc>
                  <a:txBody>
                    <a:bodyPr/>
                    <a:lstStyle/>
                    <a:p>
                      <a:pPr algn="ctr"/>
                      <a:r>
                        <a:rPr kumimoji="1" lang="ja-JP" altLang="en-US" sz="2400">
                          <a:solidFill>
                            <a:srgbClr val="FF0000"/>
                          </a:solidFill>
                        </a:rPr>
                        <a:t>溶解の時間</a:t>
                      </a:r>
                    </a:p>
                  </a:txBody>
                  <a:tcPr anchor="ctr"/>
                </a:tc>
                <a:tc>
                  <a:txBody>
                    <a:bodyPr/>
                    <a:lstStyle/>
                    <a:p>
                      <a:pPr algn="ctr"/>
                      <a:r>
                        <a:rPr kumimoji="1" lang="ja-JP" altLang="en-US" sz="2400">
                          <a:solidFill>
                            <a:srgbClr val="FF0000"/>
                          </a:solidFill>
                        </a:rPr>
                        <a:t>溶解の時間</a:t>
                      </a:r>
                      <a:endParaRPr kumimoji="1" lang="en-US" altLang="ja-JP" sz="2400" dirty="0">
                        <a:solidFill>
                          <a:srgbClr val="FF0000"/>
                        </a:solidFill>
                      </a:endParaRPr>
                    </a:p>
                    <a:p>
                      <a:pPr algn="ctr"/>
                      <a:r>
                        <a:rPr kumimoji="1" lang="ja-JP" altLang="en-US" sz="2400">
                          <a:solidFill>
                            <a:srgbClr val="C00000"/>
                          </a:solidFill>
                        </a:rPr>
                        <a:t>保険適用外</a:t>
                      </a:r>
                    </a:p>
                  </a:txBody>
                  <a:tcPr anchor="ctr"/>
                </a:tc>
                <a:tc>
                  <a:txBody>
                    <a:bodyPr/>
                    <a:lstStyle/>
                    <a:p>
                      <a:pPr algn="ctr"/>
                      <a:r>
                        <a:rPr kumimoji="1" lang="ja-JP" altLang="en-US" sz="2400">
                          <a:solidFill>
                            <a:srgbClr val="FF0000"/>
                          </a:solidFill>
                        </a:rPr>
                        <a:t>搬送の時間</a:t>
                      </a:r>
                    </a:p>
                  </a:txBody>
                  <a:tcPr anchor="ctr"/>
                </a:tc>
                <a:extLst>
                  <a:ext uri="{0D108BD9-81ED-4DB2-BD59-A6C34878D82A}">
                    <a16:rowId xmlns:a16="http://schemas.microsoft.com/office/drawing/2014/main" val="1645560114"/>
                  </a:ext>
                </a:extLst>
              </a:tr>
            </a:tbl>
          </a:graphicData>
        </a:graphic>
      </p:graphicFrame>
      <p:sp>
        <p:nvSpPr>
          <p:cNvPr id="5" name="フッター プレースホルダー 4">
            <a:extLst>
              <a:ext uri="{FF2B5EF4-FFF2-40B4-BE49-F238E27FC236}">
                <a16:creationId xmlns:a16="http://schemas.microsoft.com/office/drawing/2014/main" id="{D4428F65-7D3B-904C-A92E-8676CECD62DD}"/>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9EBA255F-C297-FE40-B944-DB45B175EE8E}"/>
              </a:ext>
            </a:extLst>
          </p:cNvPr>
          <p:cNvSpPr>
            <a:spLocks noGrp="1"/>
          </p:cNvSpPr>
          <p:nvPr>
            <p:ph type="sldNum" sz="quarter" idx="12"/>
          </p:nvPr>
        </p:nvSpPr>
        <p:spPr/>
        <p:txBody>
          <a:bodyPr/>
          <a:lstStyle/>
          <a:p>
            <a:r>
              <a:rPr lang="en-US" altLang="ja-JP"/>
              <a:t>No. </a:t>
            </a:r>
            <a:fld id="{41B87E3F-77EC-4EFD-94DE-AA3AEB7C7760}" type="slidenum">
              <a:rPr lang="ja-JP" altLang="en-US" smtClean="0"/>
              <a:pPr/>
              <a:t>50</a:t>
            </a:fld>
            <a:endParaRPr kumimoji="1" lang="ja-JP" altLang="en-US" dirty="0"/>
          </a:p>
        </p:txBody>
      </p:sp>
      <p:sp>
        <p:nvSpPr>
          <p:cNvPr id="3" name="日付プレースホルダー 2">
            <a:extLst>
              <a:ext uri="{FF2B5EF4-FFF2-40B4-BE49-F238E27FC236}">
                <a16:creationId xmlns:a16="http://schemas.microsoft.com/office/drawing/2014/main" id="{799A0680-97E7-F377-EF8E-0430B5DBA424}"/>
              </a:ext>
            </a:extLst>
          </p:cNvPr>
          <p:cNvSpPr>
            <a:spLocks noGrp="1"/>
          </p:cNvSpPr>
          <p:nvPr>
            <p:ph type="dt" sz="half" idx="10"/>
          </p:nvPr>
        </p:nvSpPr>
        <p:spPr/>
        <p:txBody>
          <a:bodyPr/>
          <a:lstStyle/>
          <a:p>
            <a:fld id="{DBE7897E-11A2-2945-BE00-318B7BBB560C}" type="datetime1">
              <a:rPr kumimoji="1" lang="ja-JP" altLang="en-US" smtClean="0"/>
              <a:t>2026/5/15</a:t>
            </a:fld>
            <a:endParaRPr kumimoji="1" lang="ja-JP" altLang="en-US"/>
          </a:p>
        </p:txBody>
      </p:sp>
    </p:spTree>
    <p:extLst>
      <p:ext uri="{BB962C8B-B14F-4D97-AF65-F5344CB8AC3E}">
        <p14:creationId xmlns:p14="http://schemas.microsoft.com/office/powerpoint/2010/main" val="15314653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図 21">
            <a:extLst>
              <a:ext uri="{FF2B5EF4-FFF2-40B4-BE49-F238E27FC236}">
                <a16:creationId xmlns:a16="http://schemas.microsoft.com/office/drawing/2014/main" id="{4B8DF0D4-4681-6B87-DF04-E44651670D1B}"/>
              </a:ext>
            </a:extLst>
          </p:cNvPr>
          <p:cNvPicPr>
            <a:picLocks noChangeAspect="1"/>
          </p:cNvPicPr>
          <p:nvPr/>
        </p:nvPicPr>
        <p:blipFill rotWithShape="1">
          <a:blip r:embed="rId3"/>
          <a:srcRect t="22644" b="22907"/>
          <a:stretch/>
        </p:blipFill>
        <p:spPr>
          <a:xfrm>
            <a:off x="14975" y="2238355"/>
            <a:ext cx="8215018" cy="3160884"/>
          </a:xfrm>
          <a:prstGeom prst="rect">
            <a:avLst/>
          </a:prstGeom>
        </p:spPr>
      </p:pic>
      <p:sp>
        <p:nvSpPr>
          <p:cNvPr id="11" name="正方形/長方形 10">
            <a:extLst>
              <a:ext uri="{FF2B5EF4-FFF2-40B4-BE49-F238E27FC236}">
                <a16:creationId xmlns:a16="http://schemas.microsoft.com/office/drawing/2014/main" id="{2FD55D0F-C56E-D57C-282F-B9B0D500ED15}"/>
              </a:ext>
            </a:extLst>
          </p:cNvPr>
          <p:cNvSpPr/>
          <p:nvPr/>
        </p:nvSpPr>
        <p:spPr>
          <a:xfrm>
            <a:off x="8229998" y="4249973"/>
            <a:ext cx="3621974" cy="147996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8BC5BA87-723C-6656-CE95-B3D37B840D75}"/>
              </a:ext>
            </a:extLst>
          </p:cNvPr>
          <p:cNvSpPr/>
          <p:nvPr/>
        </p:nvSpPr>
        <p:spPr>
          <a:xfrm>
            <a:off x="8300108" y="4014260"/>
            <a:ext cx="3481752" cy="99895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solidFill>
                  <a:schemeClr val="tx2"/>
                </a:solidFill>
              </a:rPr>
              <a:t>血小板投与</a:t>
            </a:r>
            <a:endParaRPr kumimoji="1" lang="en-US" altLang="ja-JP" sz="2800" b="1" dirty="0">
              <a:solidFill>
                <a:schemeClr val="tx2"/>
              </a:solidFill>
            </a:endParaRPr>
          </a:p>
        </p:txBody>
      </p:sp>
      <p:sp>
        <p:nvSpPr>
          <p:cNvPr id="9" name="正方形/長方形 8">
            <a:extLst>
              <a:ext uri="{FF2B5EF4-FFF2-40B4-BE49-F238E27FC236}">
                <a16:creationId xmlns:a16="http://schemas.microsoft.com/office/drawing/2014/main" id="{AE09AE8C-A598-0A12-5677-02AC0D3D3EF7}"/>
              </a:ext>
            </a:extLst>
          </p:cNvPr>
          <p:cNvSpPr/>
          <p:nvPr/>
        </p:nvSpPr>
        <p:spPr>
          <a:xfrm>
            <a:off x="8229998" y="3179735"/>
            <a:ext cx="3621974" cy="98585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B53B8DFB-2FC9-B8EE-1213-B2ECB556ABF1}"/>
              </a:ext>
            </a:extLst>
          </p:cNvPr>
          <p:cNvSpPr>
            <a:spLocks noGrp="1"/>
          </p:cNvSpPr>
          <p:nvPr>
            <p:ph type="title"/>
          </p:nvPr>
        </p:nvSpPr>
        <p:spPr/>
        <p:txBody>
          <a:bodyPr>
            <a:normAutofit/>
          </a:bodyPr>
          <a:lstStyle/>
          <a:p>
            <a:r>
              <a:rPr kumimoji="1" lang="en-US" altLang="ja-JP" dirty="0"/>
              <a:t>Tobu Trauma TEG Protocol </a:t>
            </a:r>
            <a:r>
              <a:rPr lang="ja-JP" altLang="en-US"/>
              <a:t>＜</a:t>
            </a:r>
            <a:r>
              <a:rPr kumimoji="1" lang="en-US" altLang="ja-JP" dirty="0"/>
              <a:t>TTP</a:t>
            </a:r>
            <a:r>
              <a:rPr lang="en-US" altLang="ja-JP" dirty="0"/>
              <a:t>(</a:t>
            </a:r>
            <a:r>
              <a:rPr lang="ja-JP" altLang="en-US"/>
              <a:t>仮</a:t>
            </a:r>
            <a:r>
              <a:rPr lang="en-US" altLang="ja-JP" dirty="0"/>
              <a:t>)</a:t>
            </a:r>
            <a:r>
              <a:rPr lang="ja-JP" altLang="en-US"/>
              <a:t>＞</a:t>
            </a:r>
            <a:endParaRPr kumimoji="1" lang="ja-JP" altLang="en-US"/>
          </a:p>
        </p:txBody>
      </p:sp>
      <p:sp>
        <p:nvSpPr>
          <p:cNvPr id="4" name="日付プレースホルダー 3">
            <a:extLst>
              <a:ext uri="{FF2B5EF4-FFF2-40B4-BE49-F238E27FC236}">
                <a16:creationId xmlns:a16="http://schemas.microsoft.com/office/drawing/2014/main" id="{7D63485A-7948-FB73-54B3-F8A97B89A055}"/>
              </a:ext>
            </a:extLst>
          </p:cNvPr>
          <p:cNvSpPr>
            <a:spLocks noGrp="1"/>
          </p:cNvSpPr>
          <p:nvPr>
            <p:ph type="dt" sz="half" idx="10"/>
          </p:nvPr>
        </p:nvSpPr>
        <p:spPr/>
        <p:txBody>
          <a:bodyPr/>
          <a:lstStyle/>
          <a:p>
            <a:fld id="{7E2C6258-9B86-564E-BDC2-8B4CBCAC4ADA}"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8917FE8B-5282-C738-1825-4505A2327954}"/>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8357CE70-07DA-E6CE-E791-C3C7E732FD63}"/>
              </a:ext>
            </a:extLst>
          </p:cNvPr>
          <p:cNvSpPr>
            <a:spLocks noGrp="1"/>
          </p:cNvSpPr>
          <p:nvPr>
            <p:ph type="sldNum" sz="quarter" idx="12"/>
          </p:nvPr>
        </p:nvSpPr>
        <p:spPr/>
        <p:txBody>
          <a:bodyPr/>
          <a:lstStyle/>
          <a:p>
            <a:r>
              <a:rPr lang="en-US" altLang="ja-JP"/>
              <a:t>No. </a:t>
            </a:r>
            <a:fld id="{41B87E3F-77EC-4EFD-94DE-AA3AEB7C7760}" type="slidenum">
              <a:rPr lang="ja-JP" altLang="en-US" smtClean="0"/>
              <a:pPr/>
              <a:t>51</a:t>
            </a:fld>
            <a:endParaRPr kumimoji="1" lang="ja-JP" altLang="en-US" dirty="0"/>
          </a:p>
        </p:txBody>
      </p:sp>
      <p:sp>
        <p:nvSpPr>
          <p:cNvPr id="18" name="正方形/長方形 17">
            <a:extLst>
              <a:ext uri="{FF2B5EF4-FFF2-40B4-BE49-F238E27FC236}">
                <a16:creationId xmlns:a16="http://schemas.microsoft.com/office/drawing/2014/main" id="{8EDC39C6-619C-D40F-4798-A39CB9F89263}"/>
              </a:ext>
            </a:extLst>
          </p:cNvPr>
          <p:cNvSpPr/>
          <p:nvPr/>
        </p:nvSpPr>
        <p:spPr>
          <a:xfrm>
            <a:off x="0" y="1543987"/>
            <a:ext cx="2775523" cy="6280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a:t>院内外傷</a:t>
            </a:r>
            <a:r>
              <a:rPr kumimoji="1" lang="en-US" altLang="ja-JP" sz="3200" b="1" dirty="0"/>
              <a:t>Call</a:t>
            </a:r>
            <a:endParaRPr kumimoji="1" lang="ja-JP" altLang="en-US" sz="3200" b="1"/>
          </a:p>
        </p:txBody>
      </p:sp>
      <p:sp>
        <p:nvSpPr>
          <p:cNvPr id="19" name="テキスト ボックス 18">
            <a:extLst>
              <a:ext uri="{FF2B5EF4-FFF2-40B4-BE49-F238E27FC236}">
                <a16:creationId xmlns:a16="http://schemas.microsoft.com/office/drawing/2014/main" id="{DD214B9D-3AB0-8368-4423-F4ABE2F75D6D}"/>
              </a:ext>
            </a:extLst>
          </p:cNvPr>
          <p:cNvSpPr txBox="1"/>
          <p:nvPr/>
        </p:nvSpPr>
        <p:spPr>
          <a:xfrm>
            <a:off x="2775523" y="1363348"/>
            <a:ext cx="6883140" cy="738664"/>
          </a:xfrm>
          <a:prstGeom prst="rect">
            <a:avLst/>
          </a:prstGeom>
          <a:noFill/>
        </p:spPr>
        <p:txBody>
          <a:bodyPr wrap="square" rtlCol="0">
            <a:spAutoFit/>
          </a:bodyPr>
          <a:lstStyle/>
          <a:p>
            <a:endParaRPr lang="en-US" altLang="ja-JP" dirty="0"/>
          </a:p>
          <a:p>
            <a:r>
              <a:rPr lang="ja-JP" altLang="en-US" sz="2400"/>
              <a:t>人員召集・</a:t>
            </a:r>
            <a:r>
              <a:rPr lang="en-US" altLang="ja-JP" sz="2400" dirty="0"/>
              <a:t>CT</a:t>
            </a:r>
            <a:r>
              <a:rPr lang="ja-JP" altLang="en-US" sz="2400"/>
              <a:t>・</a:t>
            </a:r>
            <a:r>
              <a:rPr lang="en-US" altLang="ja-JP" sz="2400" dirty="0"/>
              <a:t> </a:t>
            </a:r>
            <a:r>
              <a:rPr kumimoji="1" lang="en-US" altLang="ja-JP" sz="2400" dirty="0"/>
              <a:t>MTP order</a:t>
            </a:r>
            <a:r>
              <a:rPr kumimoji="1" lang="ja-JP" altLang="en-US" sz="2400"/>
              <a:t>・</a:t>
            </a:r>
            <a:r>
              <a:rPr kumimoji="1" lang="ja-JP" altLang="en-US" sz="2400" b="1">
                <a:solidFill>
                  <a:srgbClr val="FF0000"/>
                </a:solidFill>
              </a:rPr>
              <a:t>必要ならば</a:t>
            </a:r>
            <a:r>
              <a:rPr kumimoji="1" lang="en-US" altLang="ja-JP" sz="2400" b="1" dirty="0">
                <a:solidFill>
                  <a:srgbClr val="FF0000"/>
                </a:solidFill>
              </a:rPr>
              <a:t>TXA</a:t>
            </a:r>
            <a:r>
              <a:rPr kumimoji="1" lang="ja-JP" altLang="en-US" sz="2400" b="1">
                <a:solidFill>
                  <a:srgbClr val="FF0000"/>
                </a:solidFill>
              </a:rPr>
              <a:t>投与</a:t>
            </a:r>
          </a:p>
        </p:txBody>
      </p:sp>
      <p:sp>
        <p:nvSpPr>
          <p:cNvPr id="3" name="正方形/長方形 2">
            <a:extLst>
              <a:ext uri="{FF2B5EF4-FFF2-40B4-BE49-F238E27FC236}">
                <a16:creationId xmlns:a16="http://schemas.microsoft.com/office/drawing/2014/main" id="{27FB86F1-3695-7B73-3FE6-47E3F6C21966}"/>
              </a:ext>
            </a:extLst>
          </p:cNvPr>
          <p:cNvSpPr/>
          <p:nvPr/>
        </p:nvSpPr>
        <p:spPr>
          <a:xfrm>
            <a:off x="8791732" y="3704513"/>
            <a:ext cx="2498501" cy="392342"/>
          </a:xfrm>
          <a:prstGeom prst="rect">
            <a:avLst/>
          </a:prstGeom>
          <a:solidFill>
            <a:srgbClr val="A46BE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err="1"/>
              <a:t>ActF</a:t>
            </a:r>
            <a:r>
              <a:rPr kumimoji="1" lang="en-US" altLang="ja-JP" sz="2400" b="1" dirty="0"/>
              <a:t>-MA</a:t>
            </a:r>
            <a:r>
              <a:rPr kumimoji="1" lang="ja-JP" altLang="en-US" sz="2400" b="1"/>
              <a:t>＜</a:t>
            </a:r>
            <a:r>
              <a:rPr lang="en-US" altLang="ja-JP" sz="2400" b="1" dirty="0"/>
              <a:t>5mm</a:t>
            </a:r>
            <a:endParaRPr kumimoji="1" lang="ja-JP" altLang="en-US" sz="2400" b="1"/>
          </a:p>
        </p:txBody>
      </p:sp>
      <p:sp>
        <p:nvSpPr>
          <p:cNvPr id="7" name="正方形/長方形 6">
            <a:extLst>
              <a:ext uri="{FF2B5EF4-FFF2-40B4-BE49-F238E27FC236}">
                <a16:creationId xmlns:a16="http://schemas.microsoft.com/office/drawing/2014/main" id="{66F5F98C-25C8-813F-8D56-6D8DAF8EC4B1}"/>
              </a:ext>
            </a:extLst>
          </p:cNvPr>
          <p:cNvSpPr/>
          <p:nvPr/>
        </p:nvSpPr>
        <p:spPr>
          <a:xfrm>
            <a:off x="8424663" y="4705260"/>
            <a:ext cx="3232641" cy="392342"/>
          </a:xfrm>
          <a:prstGeom prst="rect">
            <a:avLst/>
          </a:prstGeom>
          <a:solidFill>
            <a:srgbClr val="FF2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t>HKH-MA</a:t>
            </a:r>
            <a:r>
              <a:rPr kumimoji="1" lang="ja-JP" altLang="en-US" sz="2400" b="1"/>
              <a:t>＜</a:t>
            </a:r>
            <a:r>
              <a:rPr kumimoji="1" lang="en-US" altLang="ja-JP" sz="2400" b="1" dirty="0"/>
              <a:t>45</a:t>
            </a:r>
            <a:r>
              <a:rPr lang="en-US" altLang="ja-JP" sz="2400" b="1" dirty="0"/>
              <a:t>mm</a:t>
            </a:r>
            <a:endParaRPr kumimoji="1" lang="ja-JP" altLang="en-US" sz="2400" b="1"/>
          </a:p>
        </p:txBody>
      </p:sp>
      <p:sp>
        <p:nvSpPr>
          <p:cNvPr id="8" name="正方形/長方形 7">
            <a:extLst>
              <a:ext uri="{FF2B5EF4-FFF2-40B4-BE49-F238E27FC236}">
                <a16:creationId xmlns:a16="http://schemas.microsoft.com/office/drawing/2014/main" id="{A0839288-82B4-8D45-A53A-2FD3C922E044}"/>
              </a:ext>
            </a:extLst>
          </p:cNvPr>
          <p:cNvSpPr/>
          <p:nvPr/>
        </p:nvSpPr>
        <p:spPr>
          <a:xfrm>
            <a:off x="8424663" y="5175138"/>
            <a:ext cx="3232641" cy="392342"/>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t>ADP inh</a:t>
            </a:r>
            <a:r>
              <a:rPr lang="en-US" altLang="ja-JP" sz="2400" b="1" dirty="0"/>
              <a:t>i</a:t>
            </a:r>
            <a:r>
              <a:rPr kumimoji="1" lang="en-US" altLang="ja-JP" sz="2400" b="1" dirty="0"/>
              <a:t>bition</a:t>
            </a:r>
            <a:r>
              <a:rPr lang="en-US" altLang="ja-JP" sz="2400" b="1" dirty="0"/>
              <a:t>&gt;60%</a:t>
            </a:r>
            <a:endParaRPr kumimoji="1" lang="en-US" altLang="ja-JP" sz="2400" b="1" dirty="0"/>
          </a:p>
        </p:txBody>
      </p:sp>
      <p:sp>
        <p:nvSpPr>
          <p:cNvPr id="10" name="正方形/長方形 9">
            <a:extLst>
              <a:ext uri="{FF2B5EF4-FFF2-40B4-BE49-F238E27FC236}">
                <a16:creationId xmlns:a16="http://schemas.microsoft.com/office/drawing/2014/main" id="{E0DF4428-66EF-F912-C284-5FF0DB9F466F}"/>
              </a:ext>
            </a:extLst>
          </p:cNvPr>
          <p:cNvSpPr/>
          <p:nvPr/>
        </p:nvSpPr>
        <p:spPr>
          <a:xfrm>
            <a:off x="8300108" y="3179736"/>
            <a:ext cx="3481752" cy="6431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b="1" dirty="0">
                <a:solidFill>
                  <a:schemeClr val="tx2"/>
                </a:solidFill>
              </a:rPr>
              <a:t>Fib</a:t>
            </a:r>
            <a:r>
              <a:rPr kumimoji="1" lang="ja-JP" altLang="en-US" sz="2800" b="1">
                <a:solidFill>
                  <a:schemeClr val="tx2"/>
                </a:solidFill>
              </a:rPr>
              <a:t> </a:t>
            </a:r>
            <a:r>
              <a:rPr kumimoji="1" lang="en-US" altLang="ja-JP" sz="2800" b="1" dirty="0">
                <a:solidFill>
                  <a:schemeClr val="tx2"/>
                </a:solidFill>
              </a:rPr>
              <a:t>3g</a:t>
            </a:r>
            <a:r>
              <a:rPr kumimoji="1" lang="ja-JP" altLang="en-US" sz="2800" b="1">
                <a:solidFill>
                  <a:schemeClr val="tx2"/>
                </a:solidFill>
              </a:rPr>
              <a:t>投与</a:t>
            </a:r>
            <a:endParaRPr kumimoji="1" lang="en-US" altLang="ja-JP" sz="2800" b="1" dirty="0">
              <a:solidFill>
                <a:schemeClr val="tx2"/>
              </a:solidFill>
            </a:endParaRPr>
          </a:p>
        </p:txBody>
      </p:sp>
      <p:sp>
        <p:nvSpPr>
          <p:cNvPr id="13" name="テキスト ボックス 12">
            <a:extLst>
              <a:ext uri="{FF2B5EF4-FFF2-40B4-BE49-F238E27FC236}">
                <a16:creationId xmlns:a16="http://schemas.microsoft.com/office/drawing/2014/main" id="{8FE49BA8-659F-CF88-0113-126AC3E6A1F1}"/>
              </a:ext>
            </a:extLst>
          </p:cNvPr>
          <p:cNvSpPr txBox="1"/>
          <p:nvPr/>
        </p:nvSpPr>
        <p:spPr>
          <a:xfrm>
            <a:off x="6530412" y="5612481"/>
            <a:ext cx="7688262" cy="861774"/>
          </a:xfrm>
          <a:prstGeom prst="rect">
            <a:avLst/>
          </a:prstGeom>
          <a:noFill/>
        </p:spPr>
        <p:txBody>
          <a:bodyPr wrap="square" rtlCol="0">
            <a:spAutoFit/>
          </a:bodyPr>
          <a:lstStyle/>
          <a:p>
            <a:r>
              <a:rPr kumimoji="1" lang="en-US" altLang="ja-JP" sz="1600" dirty="0"/>
              <a:t>Stop MTP</a:t>
            </a:r>
            <a:r>
              <a:rPr kumimoji="1" lang="ja-JP" altLang="en-US" sz="1600"/>
              <a:t>の基準</a:t>
            </a:r>
            <a:endParaRPr lang="en-US" altLang="ja-JP" sz="1600" dirty="0"/>
          </a:p>
          <a:p>
            <a:r>
              <a:rPr lang="ja-JP" altLang="en-US" sz="1600"/>
              <a:t>・</a:t>
            </a:r>
            <a:r>
              <a:rPr lang="en-US" altLang="ja-JP" sz="1600" dirty="0"/>
              <a:t>HKH-R&lt;10min</a:t>
            </a:r>
            <a:r>
              <a:rPr lang="ja-JP" altLang="en-US" sz="1600"/>
              <a:t> 凝固因子充足</a:t>
            </a:r>
            <a:endParaRPr lang="en-US" altLang="ja-JP" sz="1600" dirty="0"/>
          </a:p>
          <a:p>
            <a:r>
              <a:rPr lang="ja-JP" altLang="en-US" sz="1600"/>
              <a:t>・</a:t>
            </a:r>
            <a:r>
              <a:rPr lang="en-US" altLang="ja-JP" sz="1600" dirty="0"/>
              <a:t>HKH-MA, ADP inhibition&lt;60%</a:t>
            </a:r>
            <a:r>
              <a:rPr lang="ja-JP" altLang="en-US" sz="1600"/>
              <a:t> </a:t>
            </a:r>
            <a:r>
              <a:rPr lang="en-US" altLang="ja-JP" sz="1600" dirty="0"/>
              <a:t> </a:t>
            </a:r>
            <a:r>
              <a:rPr lang="ja-JP" altLang="en-US" sz="1600"/>
              <a:t>血小板機能の立ち上がり</a:t>
            </a:r>
            <a:endParaRPr lang="en-US" altLang="ja-JP" sz="1600" dirty="0"/>
          </a:p>
        </p:txBody>
      </p:sp>
      <p:sp>
        <p:nvSpPr>
          <p:cNvPr id="14" name="正方形/長方形 13">
            <a:extLst>
              <a:ext uri="{FF2B5EF4-FFF2-40B4-BE49-F238E27FC236}">
                <a16:creationId xmlns:a16="http://schemas.microsoft.com/office/drawing/2014/main" id="{D17CFB98-3DB7-07FE-89E9-48D28C58753D}"/>
              </a:ext>
            </a:extLst>
          </p:cNvPr>
          <p:cNvSpPr/>
          <p:nvPr/>
        </p:nvSpPr>
        <p:spPr>
          <a:xfrm>
            <a:off x="8229998" y="2022640"/>
            <a:ext cx="3621974" cy="985853"/>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ED4B4E9C-53C1-E706-178A-2B9B908968CB}"/>
              </a:ext>
            </a:extLst>
          </p:cNvPr>
          <p:cNvSpPr/>
          <p:nvPr/>
        </p:nvSpPr>
        <p:spPr>
          <a:xfrm>
            <a:off x="8791732" y="2547418"/>
            <a:ext cx="2498501" cy="392342"/>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t>HKH-R</a:t>
            </a:r>
            <a:r>
              <a:rPr lang="ja-JP" altLang="en-US" sz="2400" b="1"/>
              <a:t>＞</a:t>
            </a:r>
            <a:r>
              <a:rPr lang="en-US" altLang="ja-JP" sz="2400" b="1" dirty="0"/>
              <a:t>10min</a:t>
            </a:r>
            <a:endParaRPr kumimoji="1" lang="ja-JP" altLang="en-US" sz="2400" b="1"/>
          </a:p>
        </p:txBody>
      </p:sp>
      <p:sp>
        <p:nvSpPr>
          <p:cNvPr id="16" name="正方形/長方形 15">
            <a:extLst>
              <a:ext uri="{FF2B5EF4-FFF2-40B4-BE49-F238E27FC236}">
                <a16:creationId xmlns:a16="http://schemas.microsoft.com/office/drawing/2014/main" id="{BC0B2F58-57E2-4AB2-1546-40FBEDA53703}"/>
              </a:ext>
            </a:extLst>
          </p:cNvPr>
          <p:cNvSpPr/>
          <p:nvPr/>
        </p:nvSpPr>
        <p:spPr>
          <a:xfrm>
            <a:off x="8300108" y="2022641"/>
            <a:ext cx="3481752" cy="6431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b="1" dirty="0">
                <a:solidFill>
                  <a:schemeClr val="tx2"/>
                </a:solidFill>
              </a:rPr>
              <a:t>FFP</a:t>
            </a:r>
            <a:r>
              <a:rPr kumimoji="1" lang="ja-JP" altLang="en-US" sz="2800" b="1">
                <a:solidFill>
                  <a:schemeClr val="tx2"/>
                </a:solidFill>
              </a:rPr>
              <a:t>投与</a:t>
            </a:r>
            <a:endParaRPr kumimoji="1" lang="en-US" altLang="ja-JP" sz="2800" b="1" dirty="0">
              <a:solidFill>
                <a:schemeClr val="tx2"/>
              </a:solidFill>
            </a:endParaRPr>
          </a:p>
        </p:txBody>
      </p:sp>
      <p:sp>
        <p:nvSpPr>
          <p:cNvPr id="20" name="テキスト ボックス 19">
            <a:extLst>
              <a:ext uri="{FF2B5EF4-FFF2-40B4-BE49-F238E27FC236}">
                <a16:creationId xmlns:a16="http://schemas.microsoft.com/office/drawing/2014/main" id="{5AE4AE56-22D8-37CC-75C8-1F480C2A6750}"/>
              </a:ext>
            </a:extLst>
          </p:cNvPr>
          <p:cNvSpPr txBox="1"/>
          <p:nvPr/>
        </p:nvSpPr>
        <p:spPr>
          <a:xfrm>
            <a:off x="9826" y="5269166"/>
            <a:ext cx="6423254" cy="1169551"/>
          </a:xfrm>
          <a:prstGeom prst="rect">
            <a:avLst/>
          </a:prstGeom>
          <a:noFill/>
        </p:spPr>
        <p:txBody>
          <a:bodyPr wrap="square" rtlCol="0">
            <a:spAutoFit/>
          </a:bodyPr>
          <a:lstStyle/>
          <a:p>
            <a:r>
              <a:rPr kumimoji="1" lang="en-US" altLang="ja-JP" sz="1400" dirty="0"/>
              <a:t>MTP: Massive Transfusion protocol O</a:t>
            </a:r>
            <a:r>
              <a:rPr kumimoji="1" lang="ja-JP" altLang="en-US" sz="1400"/>
              <a:t>型</a:t>
            </a:r>
            <a:r>
              <a:rPr kumimoji="1" lang="en-US" altLang="ja-JP" sz="1400" dirty="0"/>
              <a:t>RBC</a:t>
            </a:r>
            <a:r>
              <a:rPr kumimoji="1" lang="ja-JP" altLang="en-US" sz="1400"/>
              <a:t>・</a:t>
            </a:r>
            <a:r>
              <a:rPr kumimoji="1" lang="en-US" altLang="ja-JP" sz="1400" dirty="0"/>
              <a:t>FFP10U</a:t>
            </a:r>
            <a:r>
              <a:rPr lang="en-US" altLang="ja-JP" sz="1400" dirty="0"/>
              <a:t> </a:t>
            </a:r>
            <a:r>
              <a:rPr lang="ja-JP" altLang="en-US" sz="1400"/>
              <a:t>同型</a:t>
            </a:r>
            <a:r>
              <a:rPr lang="en-US" altLang="ja-JP" sz="1400" dirty="0"/>
              <a:t>RBC</a:t>
            </a:r>
            <a:r>
              <a:rPr lang="ja-JP" altLang="en-US" sz="1400"/>
              <a:t>・</a:t>
            </a:r>
            <a:r>
              <a:rPr lang="en-US" altLang="ja-JP" sz="1400" dirty="0"/>
              <a:t>FFP10U</a:t>
            </a:r>
            <a:endParaRPr kumimoji="1" lang="en-US" altLang="ja-JP" sz="1400" dirty="0"/>
          </a:p>
          <a:p>
            <a:r>
              <a:rPr kumimoji="1" lang="en-US" altLang="ja-JP" sz="1400" dirty="0"/>
              <a:t>Dire-CT: Hybrid-ER</a:t>
            </a:r>
            <a:r>
              <a:rPr kumimoji="1" lang="ja-JP" altLang="en-US" sz="1400"/>
              <a:t>での即時</a:t>
            </a:r>
            <a:r>
              <a:rPr kumimoji="1" lang="en-US" altLang="ja-JP" sz="1400" dirty="0"/>
              <a:t>CT</a:t>
            </a:r>
            <a:r>
              <a:rPr kumimoji="1" lang="ja-JP" altLang="en-US" sz="1400"/>
              <a:t>撮影</a:t>
            </a:r>
            <a:endParaRPr kumimoji="1" lang="en-US" altLang="ja-JP" sz="1400" dirty="0"/>
          </a:p>
          <a:p>
            <a:r>
              <a:rPr kumimoji="1" lang="en-US" altLang="ja-JP" sz="1400" dirty="0"/>
              <a:t>TEG PM:TEG platelet mapping</a:t>
            </a:r>
          </a:p>
          <a:p>
            <a:r>
              <a:rPr lang="en-US" altLang="ja-JP" sz="1400" dirty="0"/>
              <a:t>CECT: Contrast enhanced CT</a:t>
            </a:r>
            <a:r>
              <a:rPr lang="ja-JP" altLang="en-US" sz="1400"/>
              <a:t> </a:t>
            </a:r>
            <a:r>
              <a:rPr lang="en-US" altLang="ja-JP" sz="1400" dirty="0"/>
              <a:t>(</a:t>
            </a:r>
            <a:r>
              <a:rPr lang="ja-JP" altLang="en-US" sz="1400"/>
              <a:t>造影</a:t>
            </a:r>
            <a:r>
              <a:rPr lang="en-US" altLang="ja-JP" sz="1400" dirty="0"/>
              <a:t>CT</a:t>
            </a:r>
            <a:r>
              <a:rPr lang="ja-JP" altLang="en-US" sz="1400"/>
              <a:t>）</a:t>
            </a:r>
            <a:endParaRPr lang="en-US" altLang="ja-JP" sz="1400" dirty="0"/>
          </a:p>
          <a:p>
            <a:r>
              <a:rPr kumimoji="1" lang="en-US" altLang="ja-JP" sz="1400" dirty="0"/>
              <a:t>Conventional study: </a:t>
            </a:r>
            <a:r>
              <a:rPr kumimoji="1" lang="ja-JP" altLang="en-US" sz="1400"/>
              <a:t>従来の血</a:t>
            </a:r>
            <a:r>
              <a:rPr lang="ja-JP" altLang="en-US" sz="1400"/>
              <a:t>算・凝固検査・主観判断</a:t>
            </a:r>
            <a:endParaRPr kumimoji="1" lang="ja-JP" altLang="en-US" sz="1400"/>
          </a:p>
        </p:txBody>
      </p:sp>
    </p:spTree>
    <p:extLst>
      <p:ext uri="{BB962C8B-B14F-4D97-AF65-F5344CB8AC3E}">
        <p14:creationId xmlns:p14="http://schemas.microsoft.com/office/powerpoint/2010/main" val="23994622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D378D-6B53-B38E-136F-2895E5986E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D5A3C0A-7FE0-A6B4-22D7-E0C35E0AEE0B}"/>
              </a:ext>
            </a:extLst>
          </p:cNvPr>
          <p:cNvSpPr>
            <a:spLocks noGrp="1"/>
          </p:cNvSpPr>
          <p:nvPr>
            <p:ph type="title"/>
          </p:nvPr>
        </p:nvSpPr>
        <p:spPr/>
        <p:txBody>
          <a:bodyPr/>
          <a:lstStyle/>
          <a:p>
            <a:r>
              <a:rPr kumimoji="1" lang="ja-JP" altLang="en-US"/>
              <a:t>但馬救命センター永嶋先生より</a:t>
            </a:r>
          </a:p>
        </p:txBody>
      </p:sp>
      <p:pic>
        <p:nvPicPr>
          <p:cNvPr id="8" name="コンテンツ プレースホルダー 7" descr="テーブル&#10;&#10;自動的に生成された説明">
            <a:extLst>
              <a:ext uri="{FF2B5EF4-FFF2-40B4-BE49-F238E27FC236}">
                <a16:creationId xmlns:a16="http://schemas.microsoft.com/office/drawing/2014/main" id="{7DA40F19-3ACE-D142-B4B4-AF1CCBF6F58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99424" y="1504306"/>
            <a:ext cx="7175500" cy="3865153"/>
          </a:xfrm>
        </p:spPr>
      </p:pic>
      <p:sp>
        <p:nvSpPr>
          <p:cNvPr id="4" name="日付プレースホルダー 3">
            <a:extLst>
              <a:ext uri="{FF2B5EF4-FFF2-40B4-BE49-F238E27FC236}">
                <a16:creationId xmlns:a16="http://schemas.microsoft.com/office/drawing/2014/main" id="{0DBEC796-74B1-063A-FAC5-688484BB5307}"/>
              </a:ext>
            </a:extLst>
          </p:cNvPr>
          <p:cNvSpPr>
            <a:spLocks noGrp="1"/>
          </p:cNvSpPr>
          <p:nvPr>
            <p:ph type="dt" sz="half" idx="10"/>
          </p:nvPr>
        </p:nvSpPr>
        <p:spPr/>
        <p:txBody>
          <a:bodyPr/>
          <a:lstStyle/>
          <a:p>
            <a:fld id="{3C2F0FB7-648A-5347-9828-7F73D876C15C}"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A4E45E93-D020-4C25-BB8B-5161ACDB14CF}"/>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E7A6084C-B38E-B002-BF07-9B6BB33C0341}"/>
              </a:ext>
            </a:extLst>
          </p:cNvPr>
          <p:cNvSpPr>
            <a:spLocks noGrp="1"/>
          </p:cNvSpPr>
          <p:nvPr>
            <p:ph type="sldNum" sz="quarter" idx="12"/>
          </p:nvPr>
        </p:nvSpPr>
        <p:spPr/>
        <p:txBody>
          <a:bodyPr/>
          <a:lstStyle/>
          <a:p>
            <a:r>
              <a:rPr lang="en-US" altLang="ja-JP"/>
              <a:t>No. </a:t>
            </a:r>
            <a:fld id="{41B87E3F-77EC-4EFD-94DE-AA3AEB7C7760}" type="slidenum">
              <a:rPr lang="ja-JP" altLang="en-US" smtClean="0"/>
              <a:pPr/>
              <a:t>52</a:t>
            </a:fld>
            <a:endParaRPr kumimoji="1" lang="ja-JP" altLang="en-US" dirty="0"/>
          </a:p>
        </p:txBody>
      </p:sp>
      <p:sp>
        <p:nvSpPr>
          <p:cNvPr id="9" name="正方形/長方形 8">
            <a:extLst>
              <a:ext uri="{FF2B5EF4-FFF2-40B4-BE49-F238E27FC236}">
                <a16:creationId xmlns:a16="http://schemas.microsoft.com/office/drawing/2014/main" id="{D16CBC7B-C13B-57E4-8456-2D031643DBF2}"/>
              </a:ext>
            </a:extLst>
          </p:cNvPr>
          <p:cNvSpPr/>
          <p:nvPr/>
        </p:nvSpPr>
        <p:spPr>
          <a:xfrm>
            <a:off x="2399424" y="2175642"/>
            <a:ext cx="2382783" cy="1608082"/>
          </a:xfrm>
          <a:prstGeom prst="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9092D67D-9E99-AFBB-EDC9-855C29EF9E7C}"/>
              </a:ext>
            </a:extLst>
          </p:cNvPr>
          <p:cNvSpPr txBox="1"/>
          <p:nvPr/>
        </p:nvSpPr>
        <p:spPr>
          <a:xfrm>
            <a:off x="1628486" y="5469765"/>
            <a:ext cx="9119914" cy="707886"/>
          </a:xfrm>
          <a:prstGeom prst="rect">
            <a:avLst/>
          </a:prstGeom>
          <a:noFill/>
        </p:spPr>
        <p:txBody>
          <a:bodyPr wrap="square" rtlCol="0">
            <a:spAutoFit/>
          </a:bodyPr>
          <a:lstStyle/>
          <a:p>
            <a:pPr algn="ctr"/>
            <a:r>
              <a:rPr lang="ja-JP" altLang="en-US" sz="4000" b="1"/>
              <a:t>抑制率</a:t>
            </a:r>
            <a:r>
              <a:rPr lang="en-US" altLang="ja-JP" sz="4000" b="1" dirty="0"/>
              <a:t> or ADP-MA</a:t>
            </a:r>
          </a:p>
        </p:txBody>
      </p:sp>
    </p:spTree>
    <p:extLst>
      <p:ext uri="{BB962C8B-B14F-4D97-AF65-F5344CB8AC3E}">
        <p14:creationId xmlns:p14="http://schemas.microsoft.com/office/powerpoint/2010/main" val="4764230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A8EFAB-A0EE-24A8-C140-AA6C0AE14619}"/>
              </a:ext>
            </a:extLst>
          </p:cNvPr>
          <p:cNvSpPr>
            <a:spLocks noGrp="1"/>
          </p:cNvSpPr>
          <p:nvPr>
            <p:ph type="title"/>
          </p:nvPr>
        </p:nvSpPr>
        <p:spPr/>
        <p:txBody>
          <a:bodyPr/>
          <a:lstStyle/>
          <a:p>
            <a:r>
              <a:rPr kumimoji="1" lang="en-US" altLang="ja-JP" dirty="0"/>
              <a:t>TEG</a:t>
            </a:r>
            <a:r>
              <a:rPr kumimoji="1" lang="ja-JP" altLang="en-US"/>
              <a:t>の使用領域</a:t>
            </a:r>
          </a:p>
        </p:txBody>
      </p:sp>
      <p:graphicFrame>
        <p:nvGraphicFramePr>
          <p:cNvPr id="10" name="図表 9">
            <a:extLst>
              <a:ext uri="{FF2B5EF4-FFF2-40B4-BE49-F238E27FC236}">
                <a16:creationId xmlns:a16="http://schemas.microsoft.com/office/drawing/2014/main" id="{DF575921-4F58-9E0D-C220-08843F0CA36E}"/>
              </a:ext>
            </a:extLst>
          </p:cNvPr>
          <p:cNvGraphicFramePr/>
          <p:nvPr/>
        </p:nvGraphicFramePr>
        <p:xfrm>
          <a:off x="140425" y="1654676"/>
          <a:ext cx="11648803" cy="40580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角丸四角形 2">
            <a:extLst>
              <a:ext uri="{FF2B5EF4-FFF2-40B4-BE49-F238E27FC236}">
                <a16:creationId xmlns:a16="http://schemas.microsoft.com/office/drawing/2014/main" id="{88061BBE-9866-2188-340B-B84652A0B909}"/>
              </a:ext>
            </a:extLst>
          </p:cNvPr>
          <p:cNvSpPr/>
          <p:nvPr/>
        </p:nvSpPr>
        <p:spPr>
          <a:xfrm>
            <a:off x="72000" y="2555240"/>
            <a:ext cx="11717228" cy="1170432"/>
          </a:xfrm>
          <a:prstGeom prst="roundRect">
            <a:avLst/>
          </a:prstGeom>
          <a:noFill/>
          <a:ln w="603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フッター プレースホルダー 6">
            <a:extLst>
              <a:ext uri="{FF2B5EF4-FFF2-40B4-BE49-F238E27FC236}">
                <a16:creationId xmlns:a16="http://schemas.microsoft.com/office/drawing/2014/main" id="{2C0758B0-B0DB-4BBC-E0D5-30DAA5B7373E}"/>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8" name="スライド番号プレースホルダー 7">
            <a:extLst>
              <a:ext uri="{FF2B5EF4-FFF2-40B4-BE49-F238E27FC236}">
                <a16:creationId xmlns:a16="http://schemas.microsoft.com/office/drawing/2014/main" id="{8B00A83C-66D7-5547-CAC3-CF8E1A88177F}"/>
              </a:ext>
            </a:extLst>
          </p:cNvPr>
          <p:cNvSpPr>
            <a:spLocks noGrp="1"/>
          </p:cNvSpPr>
          <p:nvPr>
            <p:ph type="sldNum" sz="quarter" idx="12"/>
          </p:nvPr>
        </p:nvSpPr>
        <p:spPr/>
        <p:txBody>
          <a:bodyPr/>
          <a:lstStyle/>
          <a:p>
            <a:r>
              <a:rPr lang="en-US" altLang="ja-JP"/>
              <a:t>No. </a:t>
            </a:r>
            <a:fld id="{41B87E3F-77EC-4EFD-94DE-AA3AEB7C7760}" type="slidenum">
              <a:rPr lang="ja-JP" altLang="en-US" smtClean="0"/>
              <a:pPr/>
              <a:t>53</a:t>
            </a:fld>
            <a:endParaRPr kumimoji="1" lang="ja-JP" altLang="en-US" dirty="0"/>
          </a:p>
        </p:txBody>
      </p:sp>
      <p:sp>
        <p:nvSpPr>
          <p:cNvPr id="9" name="日付プレースホルダー 8">
            <a:extLst>
              <a:ext uri="{FF2B5EF4-FFF2-40B4-BE49-F238E27FC236}">
                <a16:creationId xmlns:a16="http://schemas.microsoft.com/office/drawing/2014/main" id="{463E7140-2ED6-5099-A8A4-9B633F0A15FB}"/>
              </a:ext>
            </a:extLst>
          </p:cNvPr>
          <p:cNvSpPr>
            <a:spLocks noGrp="1"/>
          </p:cNvSpPr>
          <p:nvPr>
            <p:ph type="dt" sz="half" idx="10"/>
          </p:nvPr>
        </p:nvSpPr>
        <p:spPr/>
        <p:txBody>
          <a:bodyPr/>
          <a:lstStyle/>
          <a:p>
            <a:fld id="{768DB556-7890-4E47-8C60-D63A84FFC0E9}" type="datetime1">
              <a:rPr kumimoji="1" lang="ja-JP" altLang="en-US" smtClean="0"/>
              <a:t>2026/5/15</a:t>
            </a:fld>
            <a:endParaRPr kumimoji="1" lang="ja-JP" altLang="en-US"/>
          </a:p>
        </p:txBody>
      </p:sp>
    </p:spTree>
    <p:extLst>
      <p:ext uri="{BB962C8B-B14F-4D97-AF65-F5344CB8AC3E}">
        <p14:creationId xmlns:p14="http://schemas.microsoft.com/office/powerpoint/2010/main" val="26731796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AE05D9-3239-564C-99D4-0081BD693EA7}"/>
              </a:ext>
            </a:extLst>
          </p:cNvPr>
          <p:cNvSpPr>
            <a:spLocks noGrp="1"/>
          </p:cNvSpPr>
          <p:nvPr>
            <p:ph type="title"/>
          </p:nvPr>
        </p:nvSpPr>
        <p:spPr/>
        <p:txBody>
          <a:bodyPr/>
          <a:lstStyle/>
          <a:p>
            <a:r>
              <a:rPr kumimoji="1" lang="ja-JP" altLang="en-US"/>
              <a:t>従来の検査</a:t>
            </a:r>
          </a:p>
        </p:txBody>
      </p:sp>
      <p:pic>
        <p:nvPicPr>
          <p:cNvPr id="8" name="コンテンツ プレースホルダー 7" descr="ダイアグラム&#10;&#10;低い精度で自動的に生成された説明">
            <a:extLst>
              <a:ext uri="{FF2B5EF4-FFF2-40B4-BE49-F238E27FC236}">
                <a16:creationId xmlns:a16="http://schemas.microsoft.com/office/drawing/2014/main" id="{C87F6A29-CB00-1A4C-A94B-4E09DBC042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11971" y="504000"/>
            <a:ext cx="7908029" cy="4268722"/>
          </a:xfrm>
        </p:spPr>
      </p:pic>
      <p:sp>
        <p:nvSpPr>
          <p:cNvPr id="9" name="テキスト ボックス 8">
            <a:extLst>
              <a:ext uri="{FF2B5EF4-FFF2-40B4-BE49-F238E27FC236}">
                <a16:creationId xmlns:a16="http://schemas.microsoft.com/office/drawing/2014/main" id="{7177A225-D634-C64D-9F7F-F6B988067790}"/>
              </a:ext>
            </a:extLst>
          </p:cNvPr>
          <p:cNvSpPr txBox="1"/>
          <p:nvPr/>
        </p:nvSpPr>
        <p:spPr>
          <a:xfrm>
            <a:off x="189570" y="1684026"/>
            <a:ext cx="7593981" cy="3477875"/>
          </a:xfrm>
          <a:prstGeom prst="rect">
            <a:avLst/>
          </a:prstGeom>
          <a:noFill/>
        </p:spPr>
        <p:txBody>
          <a:bodyPr wrap="square" rtlCol="0">
            <a:spAutoFit/>
          </a:bodyPr>
          <a:lstStyle/>
          <a:p>
            <a:r>
              <a:rPr kumimoji="1" lang="ja-JP" altLang="en-US" sz="2800"/>
              <a:t>そもそも血液凝固は</a:t>
            </a:r>
            <a:endParaRPr kumimoji="1" lang="en-US" altLang="ja-JP" sz="2800" dirty="0"/>
          </a:p>
          <a:p>
            <a:r>
              <a:rPr kumimoji="1" lang="ja-JP" altLang="en-US" sz="2800"/>
              <a:t>さまざまな因子により</a:t>
            </a:r>
            <a:endParaRPr kumimoji="1" lang="en-US" altLang="ja-JP" sz="2800" dirty="0"/>
          </a:p>
          <a:p>
            <a:r>
              <a:rPr kumimoji="1" lang="ja-JP" altLang="en-US" sz="2800"/>
              <a:t>なされるものだが</a:t>
            </a:r>
            <a:endParaRPr kumimoji="1" lang="en-US" altLang="ja-JP" sz="2800" dirty="0"/>
          </a:p>
          <a:p>
            <a:r>
              <a:rPr lang="en-US" altLang="ja-JP" sz="3600" b="1" dirty="0"/>
              <a:t>PT/APTT</a:t>
            </a:r>
          </a:p>
          <a:p>
            <a:r>
              <a:rPr lang="ja-JP" altLang="en-US" sz="3600" b="1"/>
              <a:t>フィブリノゲン</a:t>
            </a:r>
            <a:endParaRPr lang="en-US" altLang="ja-JP" sz="3600" b="1" dirty="0"/>
          </a:p>
          <a:p>
            <a:r>
              <a:rPr lang="ja-JP" altLang="en-US" sz="3600" b="1"/>
              <a:t>血小板</a:t>
            </a:r>
            <a:endParaRPr lang="en-US" altLang="ja-JP" sz="3600" b="1" dirty="0"/>
          </a:p>
          <a:p>
            <a:r>
              <a:rPr lang="ja-JP" altLang="en-US" sz="2800"/>
              <a:t>を別々に評価する</a:t>
            </a:r>
            <a:endParaRPr lang="en-US" altLang="ja-JP" sz="2800" dirty="0"/>
          </a:p>
        </p:txBody>
      </p:sp>
      <p:sp>
        <p:nvSpPr>
          <p:cNvPr id="3" name="右矢印 2">
            <a:extLst>
              <a:ext uri="{FF2B5EF4-FFF2-40B4-BE49-F238E27FC236}">
                <a16:creationId xmlns:a16="http://schemas.microsoft.com/office/drawing/2014/main" id="{60F30112-6188-CA4C-8061-69032F1B3EC9}"/>
              </a:ext>
            </a:extLst>
          </p:cNvPr>
          <p:cNvSpPr/>
          <p:nvPr/>
        </p:nvSpPr>
        <p:spPr>
          <a:xfrm>
            <a:off x="267629" y="5441927"/>
            <a:ext cx="613317" cy="5241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43943E6F-B2FB-BF4D-856B-B35099B43D5E}"/>
              </a:ext>
            </a:extLst>
          </p:cNvPr>
          <p:cNvSpPr txBox="1"/>
          <p:nvPr/>
        </p:nvSpPr>
        <p:spPr>
          <a:xfrm>
            <a:off x="1059367" y="5184067"/>
            <a:ext cx="11965258" cy="1200329"/>
          </a:xfrm>
          <a:prstGeom prst="rect">
            <a:avLst/>
          </a:prstGeom>
          <a:noFill/>
        </p:spPr>
        <p:txBody>
          <a:bodyPr wrap="square" rtlCol="0">
            <a:spAutoFit/>
          </a:bodyPr>
          <a:lstStyle/>
          <a:p>
            <a:r>
              <a:rPr kumimoji="1" lang="ja-JP" altLang="en-US" sz="4000">
                <a:solidFill>
                  <a:schemeClr val="tx2">
                    <a:lumMod val="50000"/>
                    <a:lumOff val="50000"/>
                  </a:schemeClr>
                </a:solidFill>
              </a:rPr>
              <a:t>個々の力</a:t>
            </a:r>
            <a:r>
              <a:rPr kumimoji="1" lang="ja-JP" altLang="en-US" sz="3200"/>
              <a:t>はわかるが</a:t>
            </a:r>
            <a:r>
              <a:rPr kumimoji="1" lang="ja-JP" altLang="en-US" sz="4000">
                <a:solidFill>
                  <a:srgbClr val="FF0000"/>
                </a:solidFill>
              </a:rPr>
              <a:t>総合力</a:t>
            </a:r>
            <a:r>
              <a:rPr lang="en-US" altLang="ja-JP" sz="4000" dirty="0">
                <a:solidFill>
                  <a:srgbClr val="FF0000"/>
                </a:solidFill>
              </a:rPr>
              <a:t>(</a:t>
            </a:r>
            <a:r>
              <a:rPr lang="ja-JP" altLang="en-US" sz="4000">
                <a:solidFill>
                  <a:srgbClr val="FF0000"/>
                </a:solidFill>
              </a:rPr>
              <a:t>凝固の全体像</a:t>
            </a:r>
            <a:r>
              <a:rPr lang="en-US" altLang="ja-JP" sz="4000" dirty="0">
                <a:solidFill>
                  <a:srgbClr val="FF0000"/>
                </a:solidFill>
              </a:rPr>
              <a:t>)</a:t>
            </a:r>
            <a:r>
              <a:rPr lang="ja-JP" altLang="en-US" sz="3200"/>
              <a:t>は</a:t>
            </a:r>
            <a:endParaRPr lang="en-US" altLang="ja-JP" sz="3200" dirty="0"/>
          </a:p>
          <a:p>
            <a:r>
              <a:rPr lang="ja-JP" altLang="en-US" sz="3200" b="1"/>
              <a:t>わからない</a:t>
            </a:r>
            <a:endParaRPr kumimoji="1" lang="ja-JP" altLang="en-US" sz="3200" b="1"/>
          </a:p>
        </p:txBody>
      </p:sp>
      <p:sp>
        <p:nvSpPr>
          <p:cNvPr id="10" name="フッター プレースホルダー 9">
            <a:extLst>
              <a:ext uri="{FF2B5EF4-FFF2-40B4-BE49-F238E27FC236}">
                <a16:creationId xmlns:a16="http://schemas.microsoft.com/office/drawing/2014/main" id="{9551F211-E46E-0313-1506-0B73ADB7788A}"/>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11" name="スライド番号プレースホルダー 10">
            <a:extLst>
              <a:ext uri="{FF2B5EF4-FFF2-40B4-BE49-F238E27FC236}">
                <a16:creationId xmlns:a16="http://schemas.microsoft.com/office/drawing/2014/main" id="{D4F8FC2F-0AE3-DC78-77BB-EE3070059F5D}"/>
              </a:ext>
            </a:extLst>
          </p:cNvPr>
          <p:cNvSpPr>
            <a:spLocks noGrp="1"/>
          </p:cNvSpPr>
          <p:nvPr>
            <p:ph type="sldNum" sz="quarter" idx="12"/>
          </p:nvPr>
        </p:nvSpPr>
        <p:spPr/>
        <p:txBody>
          <a:bodyPr/>
          <a:lstStyle/>
          <a:p>
            <a:r>
              <a:rPr lang="en-US" altLang="ja-JP"/>
              <a:t>No. </a:t>
            </a:r>
            <a:fld id="{41B87E3F-77EC-4EFD-94DE-AA3AEB7C7760}" type="slidenum">
              <a:rPr lang="ja-JP" altLang="en-US" smtClean="0"/>
              <a:pPr/>
              <a:t>54</a:t>
            </a:fld>
            <a:endParaRPr kumimoji="1" lang="ja-JP" altLang="en-US" dirty="0"/>
          </a:p>
        </p:txBody>
      </p:sp>
      <p:sp>
        <p:nvSpPr>
          <p:cNvPr id="12" name="日付プレースホルダー 11">
            <a:extLst>
              <a:ext uri="{FF2B5EF4-FFF2-40B4-BE49-F238E27FC236}">
                <a16:creationId xmlns:a16="http://schemas.microsoft.com/office/drawing/2014/main" id="{A7C003E1-C37B-1D04-0B2F-AF9AA198C16A}"/>
              </a:ext>
            </a:extLst>
          </p:cNvPr>
          <p:cNvSpPr>
            <a:spLocks noGrp="1"/>
          </p:cNvSpPr>
          <p:nvPr>
            <p:ph type="dt" sz="half" idx="10"/>
          </p:nvPr>
        </p:nvSpPr>
        <p:spPr/>
        <p:txBody>
          <a:bodyPr/>
          <a:lstStyle/>
          <a:p>
            <a:fld id="{CB252509-4425-174E-864D-CD94E7101BFE}" type="datetime1">
              <a:rPr kumimoji="1" lang="ja-JP" altLang="en-US" smtClean="0"/>
              <a:t>2026/5/15</a:t>
            </a:fld>
            <a:endParaRPr kumimoji="1" lang="ja-JP" altLang="en-US"/>
          </a:p>
        </p:txBody>
      </p:sp>
    </p:spTree>
    <p:extLst>
      <p:ext uri="{BB962C8B-B14F-4D97-AF65-F5344CB8AC3E}">
        <p14:creationId xmlns:p14="http://schemas.microsoft.com/office/powerpoint/2010/main" val="34523256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9121D6F8-064D-694A-BBCE-EF269D63E4AF}"/>
              </a:ext>
            </a:extLst>
          </p:cNvPr>
          <p:cNvSpPr>
            <a:spLocks noGrp="1"/>
          </p:cNvSpPr>
          <p:nvPr>
            <p:ph idx="1"/>
          </p:nvPr>
        </p:nvSpPr>
        <p:spPr>
          <a:xfrm>
            <a:off x="188892" y="1624903"/>
            <a:ext cx="11731762" cy="4351338"/>
          </a:xfrm>
        </p:spPr>
        <p:txBody>
          <a:bodyPr>
            <a:normAutofit/>
          </a:bodyPr>
          <a:lstStyle/>
          <a:p>
            <a:pPr marL="0" indent="0">
              <a:buNone/>
            </a:pPr>
            <a:r>
              <a:rPr lang="ja-JP" altLang="en-US" sz="4000" b="1"/>
              <a:t>特に</a:t>
            </a:r>
            <a:r>
              <a:rPr lang="en-US" altLang="ja-JP" sz="7200" b="1" dirty="0">
                <a:solidFill>
                  <a:srgbClr val="7030A0"/>
                </a:solidFill>
              </a:rPr>
              <a:t>APTT</a:t>
            </a:r>
            <a:r>
              <a:rPr lang="ja-JP" altLang="en-US" sz="4000" b="1"/>
              <a:t>はさまざまな影響を受ける</a:t>
            </a:r>
            <a:endParaRPr kumimoji="1" lang="ja-JP" altLang="en-US" sz="4000" b="1"/>
          </a:p>
        </p:txBody>
      </p:sp>
      <p:sp>
        <p:nvSpPr>
          <p:cNvPr id="8" name="タイトル 1">
            <a:extLst>
              <a:ext uri="{FF2B5EF4-FFF2-40B4-BE49-F238E27FC236}">
                <a16:creationId xmlns:a16="http://schemas.microsoft.com/office/drawing/2014/main" id="{9B19CA7A-875E-504C-B90A-FD3E20F709FC}"/>
              </a:ext>
            </a:extLst>
          </p:cNvPr>
          <p:cNvSpPr>
            <a:spLocks noGrp="1"/>
          </p:cNvSpPr>
          <p:nvPr>
            <p:ph type="title"/>
          </p:nvPr>
        </p:nvSpPr>
        <p:spPr>
          <a:xfrm>
            <a:off x="838200" y="504000"/>
            <a:ext cx="10515600" cy="900000"/>
          </a:xfrm>
        </p:spPr>
        <p:txBody>
          <a:bodyPr/>
          <a:lstStyle/>
          <a:p>
            <a:r>
              <a:rPr kumimoji="1" lang="ja-JP" altLang="en-US"/>
              <a:t>従来の検査</a:t>
            </a:r>
          </a:p>
        </p:txBody>
      </p:sp>
      <p:sp>
        <p:nvSpPr>
          <p:cNvPr id="9" name="テキスト ボックス 8">
            <a:extLst>
              <a:ext uri="{FF2B5EF4-FFF2-40B4-BE49-F238E27FC236}">
                <a16:creationId xmlns:a16="http://schemas.microsoft.com/office/drawing/2014/main" id="{1AE786C5-1466-C54D-B0E7-122EA0C5F397}"/>
              </a:ext>
            </a:extLst>
          </p:cNvPr>
          <p:cNvSpPr txBox="1"/>
          <p:nvPr/>
        </p:nvSpPr>
        <p:spPr>
          <a:xfrm>
            <a:off x="457200" y="2661799"/>
            <a:ext cx="8734425" cy="646331"/>
          </a:xfrm>
          <a:prstGeom prst="rect">
            <a:avLst/>
          </a:prstGeom>
          <a:noFill/>
        </p:spPr>
        <p:txBody>
          <a:bodyPr wrap="square" rtlCol="0">
            <a:spAutoFit/>
          </a:bodyPr>
          <a:lstStyle/>
          <a:p>
            <a:r>
              <a:rPr kumimoji="1" lang="ja-JP" altLang="en-US" sz="3200"/>
              <a:t>代表的なのは</a:t>
            </a:r>
            <a:r>
              <a:rPr kumimoji="1" lang="ja-JP" altLang="en-US" sz="3600" b="1">
                <a:solidFill>
                  <a:schemeClr val="accent3">
                    <a:lumMod val="75000"/>
                  </a:schemeClr>
                </a:solidFill>
              </a:rPr>
              <a:t>ヘパリン</a:t>
            </a:r>
            <a:r>
              <a:rPr kumimoji="1" lang="ja-JP" altLang="en-US" sz="3200"/>
              <a:t>の使用</a:t>
            </a:r>
            <a:r>
              <a:rPr kumimoji="1" lang="en-US" altLang="ja-JP" sz="3200" dirty="0"/>
              <a:t>. </a:t>
            </a:r>
          </a:p>
        </p:txBody>
      </p:sp>
      <p:sp>
        <p:nvSpPr>
          <p:cNvPr id="10" name="テキスト ボックス 9">
            <a:extLst>
              <a:ext uri="{FF2B5EF4-FFF2-40B4-BE49-F238E27FC236}">
                <a16:creationId xmlns:a16="http://schemas.microsoft.com/office/drawing/2014/main" id="{409D0EE2-8A57-C445-B130-9F7B7486B8A2}"/>
              </a:ext>
            </a:extLst>
          </p:cNvPr>
          <p:cNvSpPr txBox="1"/>
          <p:nvPr/>
        </p:nvSpPr>
        <p:spPr>
          <a:xfrm>
            <a:off x="457200" y="2661799"/>
            <a:ext cx="11987561" cy="2739211"/>
          </a:xfrm>
          <a:prstGeom prst="rect">
            <a:avLst/>
          </a:prstGeom>
          <a:noFill/>
        </p:spPr>
        <p:txBody>
          <a:bodyPr wrap="square" rtlCol="0">
            <a:spAutoFit/>
          </a:bodyPr>
          <a:lstStyle/>
          <a:p>
            <a:endParaRPr lang="en-US" altLang="ja-JP" sz="3200" dirty="0"/>
          </a:p>
          <a:p>
            <a:r>
              <a:rPr lang="ja-JP" altLang="en-US" sz="2400"/>
              <a:t>他にも</a:t>
            </a:r>
            <a:r>
              <a:rPr lang="ja-JP" altLang="en-US" sz="3200" b="1"/>
              <a:t>ナファモスタット</a:t>
            </a:r>
            <a:r>
              <a:rPr lang="en-US" altLang="ja-JP" sz="3200" b="1" dirty="0"/>
              <a:t>, </a:t>
            </a:r>
            <a:r>
              <a:rPr lang="ja-JP" altLang="en-US" sz="3200" b="1"/>
              <a:t>体温</a:t>
            </a:r>
            <a:r>
              <a:rPr lang="en-US" altLang="ja-JP" sz="3200" b="1" dirty="0"/>
              <a:t>, </a:t>
            </a:r>
            <a:r>
              <a:rPr lang="ja-JP" altLang="en-US" sz="4000" b="1">
                <a:solidFill>
                  <a:srgbClr val="FF0000"/>
                </a:solidFill>
              </a:rPr>
              <a:t>内因性ヘパリン</a:t>
            </a:r>
            <a:r>
              <a:rPr lang="en-US" altLang="ja-JP" sz="3200" b="1" dirty="0"/>
              <a:t>, </a:t>
            </a:r>
          </a:p>
          <a:p>
            <a:r>
              <a:rPr lang="ja-JP" altLang="en-US" sz="4000" b="1">
                <a:solidFill>
                  <a:srgbClr val="FF0000"/>
                </a:solidFill>
              </a:rPr>
              <a:t>凝固因子の消費</a:t>
            </a:r>
            <a:r>
              <a:rPr lang="en-US" altLang="ja-JP" sz="4000" b="1" dirty="0">
                <a:solidFill>
                  <a:srgbClr val="FF0000"/>
                </a:solidFill>
              </a:rPr>
              <a:t>/</a:t>
            </a:r>
            <a:r>
              <a:rPr lang="ja-JP" altLang="en-US" sz="4000" b="1">
                <a:solidFill>
                  <a:srgbClr val="FF0000"/>
                </a:solidFill>
              </a:rPr>
              <a:t>欠乏</a:t>
            </a:r>
            <a:r>
              <a:rPr lang="en-US" altLang="ja-JP" sz="4000" dirty="0">
                <a:solidFill>
                  <a:schemeClr val="tx2"/>
                </a:solidFill>
              </a:rPr>
              <a:t>, </a:t>
            </a:r>
            <a:r>
              <a:rPr lang="ja-JP" altLang="en-US" sz="4000" b="1">
                <a:solidFill>
                  <a:srgbClr val="FF0000"/>
                </a:solidFill>
              </a:rPr>
              <a:t>補助循環回路</a:t>
            </a:r>
            <a:r>
              <a:rPr lang="en-US" altLang="ja-JP" sz="3200" b="1" dirty="0"/>
              <a:t>…</a:t>
            </a:r>
          </a:p>
          <a:p>
            <a:r>
              <a:rPr lang="ja-JP" altLang="en-US" sz="3200"/>
              <a:t>などさまざま</a:t>
            </a:r>
          </a:p>
          <a:p>
            <a:endParaRPr lang="en-US" altLang="ja-JP" sz="2800" dirty="0"/>
          </a:p>
        </p:txBody>
      </p:sp>
      <p:sp>
        <p:nvSpPr>
          <p:cNvPr id="2" name="テキスト ボックス 1">
            <a:extLst>
              <a:ext uri="{FF2B5EF4-FFF2-40B4-BE49-F238E27FC236}">
                <a16:creationId xmlns:a16="http://schemas.microsoft.com/office/drawing/2014/main" id="{DA8A9490-DA61-0246-8845-F694016C0BB6}"/>
              </a:ext>
            </a:extLst>
          </p:cNvPr>
          <p:cNvSpPr txBox="1"/>
          <p:nvPr/>
        </p:nvSpPr>
        <p:spPr>
          <a:xfrm>
            <a:off x="72000" y="5277527"/>
            <a:ext cx="11734800" cy="769441"/>
          </a:xfrm>
          <a:prstGeom prst="rect">
            <a:avLst/>
          </a:prstGeom>
          <a:noFill/>
        </p:spPr>
        <p:txBody>
          <a:bodyPr wrap="square" rtlCol="0">
            <a:spAutoFit/>
          </a:bodyPr>
          <a:lstStyle/>
          <a:p>
            <a:pPr algn="ctr"/>
            <a:r>
              <a:rPr kumimoji="1" lang="ja-JP" altLang="en-US" sz="4400" b="1">
                <a:solidFill>
                  <a:srgbClr val="C00000"/>
                </a:solidFill>
              </a:rPr>
              <a:t>補助循環使用中</a:t>
            </a:r>
            <a:r>
              <a:rPr kumimoji="1" lang="en-US" altLang="ja-JP" sz="4400" b="1" dirty="0">
                <a:solidFill>
                  <a:srgbClr val="C00000"/>
                </a:solidFill>
              </a:rPr>
              <a:t>, </a:t>
            </a:r>
            <a:r>
              <a:rPr kumimoji="1" lang="ja-JP" altLang="en-US" sz="4400" b="1">
                <a:solidFill>
                  <a:srgbClr val="C00000"/>
                </a:solidFill>
              </a:rPr>
              <a:t>長期使用の際は特に顕著</a:t>
            </a:r>
          </a:p>
        </p:txBody>
      </p:sp>
      <p:sp>
        <p:nvSpPr>
          <p:cNvPr id="7" name="フッター プレースホルダー 6">
            <a:extLst>
              <a:ext uri="{FF2B5EF4-FFF2-40B4-BE49-F238E27FC236}">
                <a16:creationId xmlns:a16="http://schemas.microsoft.com/office/drawing/2014/main" id="{520C5A07-AF4C-D6CA-17F5-A2C99CB52D45}"/>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11" name="スライド番号プレースホルダー 10">
            <a:extLst>
              <a:ext uri="{FF2B5EF4-FFF2-40B4-BE49-F238E27FC236}">
                <a16:creationId xmlns:a16="http://schemas.microsoft.com/office/drawing/2014/main" id="{8E330807-5309-AE55-11C8-90C1B901E762}"/>
              </a:ext>
            </a:extLst>
          </p:cNvPr>
          <p:cNvSpPr>
            <a:spLocks noGrp="1"/>
          </p:cNvSpPr>
          <p:nvPr>
            <p:ph type="sldNum" sz="quarter" idx="12"/>
          </p:nvPr>
        </p:nvSpPr>
        <p:spPr/>
        <p:txBody>
          <a:bodyPr/>
          <a:lstStyle/>
          <a:p>
            <a:r>
              <a:rPr lang="en-US" altLang="ja-JP"/>
              <a:t>No. </a:t>
            </a:r>
            <a:fld id="{41B87E3F-77EC-4EFD-94DE-AA3AEB7C7760}" type="slidenum">
              <a:rPr lang="ja-JP" altLang="en-US" smtClean="0"/>
              <a:pPr/>
              <a:t>55</a:t>
            </a:fld>
            <a:endParaRPr kumimoji="1" lang="ja-JP" altLang="en-US" dirty="0"/>
          </a:p>
        </p:txBody>
      </p:sp>
      <p:sp>
        <p:nvSpPr>
          <p:cNvPr id="12" name="日付プレースホルダー 11">
            <a:extLst>
              <a:ext uri="{FF2B5EF4-FFF2-40B4-BE49-F238E27FC236}">
                <a16:creationId xmlns:a16="http://schemas.microsoft.com/office/drawing/2014/main" id="{CA59283F-3F12-7364-7D32-F2159DE7C365}"/>
              </a:ext>
            </a:extLst>
          </p:cNvPr>
          <p:cNvSpPr>
            <a:spLocks noGrp="1"/>
          </p:cNvSpPr>
          <p:nvPr>
            <p:ph type="dt" sz="half" idx="10"/>
          </p:nvPr>
        </p:nvSpPr>
        <p:spPr/>
        <p:txBody>
          <a:bodyPr/>
          <a:lstStyle/>
          <a:p>
            <a:fld id="{1F39FD47-1A71-6E4A-AEF0-FB9BAC7356F7}" type="datetime1">
              <a:rPr kumimoji="1" lang="ja-JP" altLang="en-US" smtClean="0"/>
              <a:t>2026/5/15</a:t>
            </a:fld>
            <a:endParaRPr kumimoji="1" lang="ja-JP" altLang="en-US"/>
          </a:p>
        </p:txBody>
      </p:sp>
    </p:spTree>
    <p:extLst>
      <p:ext uri="{BB962C8B-B14F-4D97-AF65-F5344CB8AC3E}">
        <p14:creationId xmlns:p14="http://schemas.microsoft.com/office/powerpoint/2010/main" val="11773510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84E9F6-22A6-0545-A977-7B604E8D00D8}"/>
              </a:ext>
            </a:extLst>
          </p:cNvPr>
          <p:cNvSpPr>
            <a:spLocks noGrp="1"/>
          </p:cNvSpPr>
          <p:nvPr>
            <p:ph type="title"/>
          </p:nvPr>
        </p:nvSpPr>
        <p:spPr/>
        <p:txBody>
          <a:bodyPr/>
          <a:lstStyle/>
          <a:p>
            <a:r>
              <a:rPr lang="en-US" altLang="ja-JP" dirty="0"/>
              <a:t>ECMO</a:t>
            </a:r>
            <a:r>
              <a:rPr lang="ja-JP" altLang="en-US"/>
              <a:t>中の凝固管理</a:t>
            </a:r>
            <a:endParaRPr kumimoji="1" lang="ja-JP" altLang="en-US"/>
          </a:p>
        </p:txBody>
      </p:sp>
      <p:sp>
        <p:nvSpPr>
          <p:cNvPr id="3" name="コンテンツ プレースホルダー 2">
            <a:extLst>
              <a:ext uri="{FF2B5EF4-FFF2-40B4-BE49-F238E27FC236}">
                <a16:creationId xmlns:a16="http://schemas.microsoft.com/office/drawing/2014/main" id="{B735B843-715A-0841-93FD-DB7DF92873C5}"/>
              </a:ext>
            </a:extLst>
          </p:cNvPr>
          <p:cNvSpPr>
            <a:spLocks noGrp="1"/>
          </p:cNvSpPr>
          <p:nvPr>
            <p:ph idx="1"/>
          </p:nvPr>
        </p:nvSpPr>
        <p:spPr>
          <a:xfrm>
            <a:off x="232799" y="1591449"/>
            <a:ext cx="11554039" cy="1285566"/>
          </a:xfrm>
        </p:spPr>
        <p:txBody>
          <a:bodyPr>
            <a:normAutofit lnSpcReduction="10000"/>
          </a:bodyPr>
          <a:lstStyle/>
          <a:p>
            <a:pPr marL="0" indent="0">
              <a:buNone/>
            </a:pPr>
            <a:r>
              <a:rPr lang="en-US" altLang="ja-JP" sz="4000" b="1" dirty="0"/>
              <a:t>VA ECMO</a:t>
            </a:r>
            <a:r>
              <a:rPr lang="ja-JP" altLang="en-US" sz="2400"/>
              <a:t>や</a:t>
            </a:r>
            <a:r>
              <a:rPr lang="en-US" altLang="ja-JP" sz="4000" b="1" dirty="0" err="1"/>
              <a:t>Impella</a:t>
            </a:r>
            <a:r>
              <a:rPr lang="ja-JP" altLang="en-US"/>
              <a:t>といった</a:t>
            </a:r>
            <a:r>
              <a:rPr lang="ja-JP" altLang="en-US" sz="3600" b="1"/>
              <a:t>補助循環装置</a:t>
            </a:r>
            <a:r>
              <a:rPr lang="ja-JP" altLang="en-US"/>
              <a:t>，</a:t>
            </a:r>
            <a:r>
              <a:rPr lang="en-US" altLang="ja-JP" sz="3900" b="1" dirty="0"/>
              <a:t>VV ECMO</a:t>
            </a:r>
            <a:r>
              <a:rPr lang="ja-JP" altLang="en-US"/>
              <a:t>は</a:t>
            </a:r>
            <a:endParaRPr lang="en-US" altLang="ja-JP" dirty="0"/>
          </a:p>
          <a:p>
            <a:pPr marL="0" indent="0">
              <a:buNone/>
            </a:pPr>
            <a:r>
              <a:rPr lang="ja-JP" altLang="en-US"/>
              <a:t>回路内血栓</a:t>
            </a:r>
            <a:r>
              <a:rPr lang="en-US" altLang="ja-JP" dirty="0"/>
              <a:t>, </a:t>
            </a:r>
            <a:r>
              <a:rPr lang="ja-JP" altLang="en-US"/>
              <a:t>血栓予防のために</a:t>
            </a:r>
            <a:r>
              <a:rPr lang="ja-JP" altLang="en-US" sz="4000" b="1">
                <a:solidFill>
                  <a:srgbClr val="7030A0"/>
                </a:solidFill>
              </a:rPr>
              <a:t>抗凝固療法</a:t>
            </a:r>
            <a:r>
              <a:rPr lang="ja-JP" altLang="en-US"/>
              <a:t>が必須</a:t>
            </a:r>
            <a:r>
              <a:rPr lang="en-US" altLang="ja-JP" dirty="0"/>
              <a:t>.</a:t>
            </a:r>
          </a:p>
        </p:txBody>
      </p:sp>
      <p:sp>
        <p:nvSpPr>
          <p:cNvPr id="7" name="テキスト ボックス 6">
            <a:extLst>
              <a:ext uri="{FF2B5EF4-FFF2-40B4-BE49-F238E27FC236}">
                <a16:creationId xmlns:a16="http://schemas.microsoft.com/office/drawing/2014/main" id="{D0FE728C-41E9-E342-87BD-B1929DAE4DB6}"/>
              </a:ext>
            </a:extLst>
          </p:cNvPr>
          <p:cNvSpPr txBox="1"/>
          <p:nvPr/>
        </p:nvSpPr>
        <p:spPr>
          <a:xfrm>
            <a:off x="232800" y="3038031"/>
            <a:ext cx="10224293" cy="954107"/>
          </a:xfrm>
          <a:prstGeom prst="rect">
            <a:avLst/>
          </a:prstGeom>
          <a:noFill/>
        </p:spPr>
        <p:txBody>
          <a:bodyPr wrap="square" rtlCol="0">
            <a:spAutoFit/>
          </a:bodyPr>
          <a:lstStyle/>
          <a:p>
            <a:r>
              <a:rPr kumimoji="1" lang="en-US" altLang="ja-JP" sz="2800" b="1" dirty="0"/>
              <a:t>ACT</a:t>
            </a:r>
            <a:r>
              <a:rPr kumimoji="1" lang="ja-JP" altLang="en-US" sz="2800" b="1"/>
              <a:t>や</a:t>
            </a:r>
            <a:r>
              <a:rPr kumimoji="1" lang="en-US" altLang="ja-JP" sz="2800" b="1" dirty="0"/>
              <a:t>APTT</a:t>
            </a:r>
            <a:r>
              <a:rPr kumimoji="1" lang="ja-JP" altLang="en-US" sz="2800"/>
              <a:t>を指標に</a:t>
            </a:r>
            <a:r>
              <a:rPr kumimoji="1" lang="en-US" altLang="ja-JP" sz="2800" dirty="0"/>
              <a:t>Heparin</a:t>
            </a:r>
            <a:r>
              <a:rPr kumimoji="1" lang="ja-JP" altLang="en-US" sz="2800"/>
              <a:t>の増減</a:t>
            </a:r>
            <a:r>
              <a:rPr kumimoji="1" lang="en-US" altLang="ja-JP" sz="2800" dirty="0"/>
              <a:t>, </a:t>
            </a:r>
          </a:p>
          <a:p>
            <a:r>
              <a:rPr kumimoji="1" lang="ja-JP" altLang="en-US" sz="2800" b="1"/>
              <a:t>血小板数</a:t>
            </a:r>
            <a:r>
              <a:rPr kumimoji="1" lang="ja-JP" altLang="en-US" sz="2400"/>
              <a:t>や</a:t>
            </a:r>
            <a:r>
              <a:rPr kumimoji="1" lang="ja-JP" altLang="en-US" sz="2800" b="1"/>
              <a:t>フィブリノゲン</a:t>
            </a:r>
            <a:r>
              <a:rPr kumimoji="1" lang="ja-JP" altLang="en-US" sz="2800"/>
              <a:t>の値をみて輸血をおこなっているが</a:t>
            </a:r>
            <a:endParaRPr kumimoji="1" lang="en-US" altLang="ja-JP" sz="2800" dirty="0"/>
          </a:p>
        </p:txBody>
      </p:sp>
      <p:sp>
        <p:nvSpPr>
          <p:cNvPr id="8" name="フッター プレースホルダー 7">
            <a:extLst>
              <a:ext uri="{FF2B5EF4-FFF2-40B4-BE49-F238E27FC236}">
                <a16:creationId xmlns:a16="http://schemas.microsoft.com/office/drawing/2014/main" id="{DA75E150-ACA7-DDA1-316B-34AED3BCD6EB}"/>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10" name="スライド番号プレースホルダー 9">
            <a:extLst>
              <a:ext uri="{FF2B5EF4-FFF2-40B4-BE49-F238E27FC236}">
                <a16:creationId xmlns:a16="http://schemas.microsoft.com/office/drawing/2014/main" id="{D4AABFAA-3B14-9A8E-38DD-B03AEA0251A9}"/>
              </a:ext>
            </a:extLst>
          </p:cNvPr>
          <p:cNvSpPr>
            <a:spLocks noGrp="1"/>
          </p:cNvSpPr>
          <p:nvPr>
            <p:ph type="sldNum" sz="quarter" idx="12"/>
          </p:nvPr>
        </p:nvSpPr>
        <p:spPr/>
        <p:txBody>
          <a:bodyPr/>
          <a:lstStyle/>
          <a:p>
            <a:r>
              <a:rPr lang="en-US" altLang="ja-JP"/>
              <a:t>No. </a:t>
            </a:r>
            <a:fld id="{41B87E3F-77EC-4EFD-94DE-AA3AEB7C7760}" type="slidenum">
              <a:rPr lang="ja-JP" altLang="en-US" smtClean="0"/>
              <a:pPr/>
              <a:t>56</a:t>
            </a:fld>
            <a:endParaRPr kumimoji="1" lang="ja-JP" altLang="en-US" dirty="0"/>
          </a:p>
        </p:txBody>
      </p:sp>
      <p:sp>
        <p:nvSpPr>
          <p:cNvPr id="11" name="日付プレースホルダー 10">
            <a:extLst>
              <a:ext uri="{FF2B5EF4-FFF2-40B4-BE49-F238E27FC236}">
                <a16:creationId xmlns:a16="http://schemas.microsoft.com/office/drawing/2014/main" id="{0F4F1F03-067E-0411-4132-1FCA46F91C96}"/>
              </a:ext>
            </a:extLst>
          </p:cNvPr>
          <p:cNvSpPr>
            <a:spLocks noGrp="1"/>
          </p:cNvSpPr>
          <p:nvPr>
            <p:ph type="dt" sz="half" idx="10"/>
          </p:nvPr>
        </p:nvSpPr>
        <p:spPr/>
        <p:txBody>
          <a:bodyPr/>
          <a:lstStyle/>
          <a:p>
            <a:fld id="{75C2C6B0-BDC4-2647-BADD-DA1F537533DE}" type="datetime1">
              <a:rPr kumimoji="1" lang="ja-JP" altLang="en-US" smtClean="0"/>
              <a:t>2026/5/15</a:t>
            </a:fld>
            <a:endParaRPr kumimoji="1" lang="ja-JP" altLang="en-US"/>
          </a:p>
        </p:txBody>
      </p:sp>
    </p:spTree>
    <p:extLst>
      <p:ext uri="{BB962C8B-B14F-4D97-AF65-F5344CB8AC3E}">
        <p14:creationId xmlns:p14="http://schemas.microsoft.com/office/powerpoint/2010/main" val="41149571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84E9F6-22A6-0545-A977-7B604E8D00D8}"/>
              </a:ext>
            </a:extLst>
          </p:cNvPr>
          <p:cNvSpPr>
            <a:spLocks noGrp="1"/>
          </p:cNvSpPr>
          <p:nvPr>
            <p:ph type="title"/>
          </p:nvPr>
        </p:nvSpPr>
        <p:spPr/>
        <p:txBody>
          <a:bodyPr/>
          <a:lstStyle/>
          <a:p>
            <a:r>
              <a:rPr lang="en-US" altLang="ja-JP" dirty="0"/>
              <a:t>ECMO</a:t>
            </a:r>
            <a:r>
              <a:rPr lang="ja-JP" altLang="en-US"/>
              <a:t>中の凝固管理</a:t>
            </a:r>
            <a:endParaRPr kumimoji="1" lang="ja-JP" altLang="en-US"/>
          </a:p>
        </p:txBody>
      </p:sp>
      <p:sp>
        <p:nvSpPr>
          <p:cNvPr id="3" name="コンテンツ プレースホルダー 2">
            <a:extLst>
              <a:ext uri="{FF2B5EF4-FFF2-40B4-BE49-F238E27FC236}">
                <a16:creationId xmlns:a16="http://schemas.microsoft.com/office/drawing/2014/main" id="{B735B843-715A-0841-93FD-DB7DF92873C5}"/>
              </a:ext>
            </a:extLst>
          </p:cNvPr>
          <p:cNvSpPr>
            <a:spLocks noGrp="1"/>
          </p:cNvSpPr>
          <p:nvPr>
            <p:ph idx="1"/>
          </p:nvPr>
        </p:nvSpPr>
        <p:spPr>
          <a:xfrm>
            <a:off x="232799" y="1591449"/>
            <a:ext cx="11554039" cy="1285566"/>
          </a:xfrm>
        </p:spPr>
        <p:txBody>
          <a:bodyPr>
            <a:normAutofit lnSpcReduction="10000"/>
          </a:bodyPr>
          <a:lstStyle/>
          <a:p>
            <a:pPr marL="0" indent="0">
              <a:buNone/>
            </a:pPr>
            <a:r>
              <a:rPr lang="en-US" altLang="ja-JP" sz="4000" b="1" dirty="0"/>
              <a:t>VA ECMO</a:t>
            </a:r>
            <a:r>
              <a:rPr lang="ja-JP" altLang="en-US" sz="2400"/>
              <a:t>や</a:t>
            </a:r>
            <a:r>
              <a:rPr lang="en-US" altLang="ja-JP" sz="4000" b="1" dirty="0" err="1"/>
              <a:t>Impella</a:t>
            </a:r>
            <a:r>
              <a:rPr lang="ja-JP" altLang="en-US"/>
              <a:t>といった</a:t>
            </a:r>
            <a:r>
              <a:rPr lang="ja-JP" altLang="en-US" sz="3600" b="1"/>
              <a:t>補助循環装置</a:t>
            </a:r>
            <a:r>
              <a:rPr lang="ja-JP" altLang="en-US"/>
              <a:t>，</a:t>
            </a:r>
            <a:r>
              <a:rPr lang="en-US" altLang="ja-JP" sz="3900" b="1" dirty="0"/>
              <a:t>VV ECMO</a:t>
            </a:r>
            <a:r>
              <a:rPr lang="ja-JP" altLang="en-US"/>
              <a:t>は</a:t>
            </a:r>
            <a:endParaRPr lang="en-US" altLang="ja-JP" dirty="0"/>
          </a:p>
          <a:p>
            <a:pPr marL="0" indent="0">
              <a:buNone/>
            </a:pPr>
            <a:r>
              <a:rPr lang="ja-JP" altLang="en-US"/>
              <a:t>回路内血栓</a:t>
            </a:r>
            <a:r>
              <a:rPr lang="en-US" altLang="ja-JP" dirty="0"/>
              <a:t>, </a:t>
            </a:r>
            <a:r>
              <a:rPr lang="ja-JP" altLang="en-US"/>
              <a:t>血栓予防のために</a:t>
            </a:r>
            <a:r>
              <a:rPr lang="ja-JP" altLang="en-US" sz="4000" b="1">
                <a:solidFill>
                  <a:srgbClr val="7030A0"/>
                </a:solidFill>
              </a:rPr>
              <a:t>抗凝固療法</a:t>
            </a:r>
            <a:r>
              <a:rPr lang="ja-JP" altLang="en-US"/>
              <a:t>が必須</a:t>
            </a:r>
            <a:r>
              <a:rPr lang="en-US" altLang="ja-JP" dirty="0"/>
              <a:t>.</a:t>
            </a:r>
          </a:p>
        </p:txBody>
      </p:sp>
      <p:sp>
        <p:nvSpPr>
          <p:cNvPr id="7" name="テキスト ボックス 6">
            <a:extLst>
              <a:ext uri="{FF2B5EF4-FFF2-40B4-BE49-F238E27FC236}">
                <a16:creationId xmlns:a16="http://schemas.microsoft.com/office/drawing/2014/main" id="{D0FE728C-41E9-E342-87BD-B1929DAE4DB6}"/>
              </a:ext>
            </a:extLst>
          </p:cNvPr>
          <p:cNvSpPr txBox="1"/>
          <p:nvPr/>
        </p:nvSpPr>
        <p:spPr>
          <a:xfrm>
            <a:off x="232800" y="3038031"/>
            <a:ext cx="10224293" cy="954107"/>
          </a:xfrm>
          <a:prstGeom prst="rect">
            <a:avLst/>
          </a:prstGeom>
          <a:noFill/>
        </p:spPr>
        <p:txBody>
          <a:bodyPr wrap="square" rtlCol="0">
            <a:spAutoFit/>
          </a:bodyPr>
          <a:lstStyle/>
          <a:p>
            <a:r>
              <a:rPr kumimoji="1" lang="en-US" altLang="ja-JP" sz="2800" b="1" dirty="0"/>
              <a:t>ACT</a:t>
            </a:r>
            <a:r>
              <a:rPr kumimoji="1" lang="ja-JP" altLang="en-US" sz="2800" b="1"/>
              <a:t>や</a:t>
            </a:r>
            <a:r>
              <a:rPr kumimoji="1" lang="en-US" altLang="ja-JP" sz="2800" b="1" dirty="0"/>
              <a:t>APTT</a:t>
            </a:r>
            <a:r>
              <a:rPr kumimoji="1" lang="ja-JP" altLang="en-US" sz="2800"/>
              <a:t>を指標に</a:t>
            </a:r>
            <a:r>
              <a:rPr kumimoji="1" lang="en-US" altLang="ja-JP" sz="2800" dirty="0"/>
              <a:t>Heparin</a:t>
            </a:r>
            <a:r>
              <a:rPr kumimoji="1" lang="ja-JP" altLang="en-US" sz="2800"/>
              <a:t>の増減</a:t>
            </a:r>
            <a:r>
              <a:rPr kumimoji="1" lang="en-US" altLang="ja-JP" sz="2800" dirty="0"/>
              <a:t>, </a:t>
            </a:r>
          </a:p>
          <a:p>
            <a:r>
              <a:rPr kumimoji="1" lang="ja-JP" altLang="en-US" sz="2800" b="1"/>
              <a:t>血小板数</a:t>
            </a:r>
            <a:r>
              <a:rPr kumimoji="1" lang="ja-JP" altLang="en-US" sz="2400"/>
              <a:t>や</a:t>
            </a:r>
            <a:r>
              <a:rPr kumimoji="1" lang="ja-JP" altLang="en-US" sz="2800" b="1"/>
              <a:t>フィブリノゲン</a:t>
            </a:r>
            <a:r>
              <a:rPr kumimoji="1" lang="ja-JP" altLang="en-US" sz="2800"/>
              <a:t>の値をみて輸血をおこなっているが</a:t>
            </a:r>
            <a:endParaRPr kumimoji="1" lang="en-US" altLang="ja-JP" sz="2800" dirty="0"/>
          </a:p>
        </p:txBody>
      </p:sp>
      <p:sp>
        <p:nvSpPr>
          <p:cNvPr id="9" name="テキスト ボックス 8">
            <a:extLst>
              <a:ext uri="{FF2B5EF4-FFF2-40B4-BE49-F238E27FC236}">
                <a16:creationId xmlns:a16="http://schemas.microsoft.com/office/drawing/2014/main" id="{12D7E4E8-3605-8B49-91B8-6F35FB7A07E0}"/>
              </a:ext>
            </a:extLst>
          </p:cNvPr>
          <p:cNvSpPr txBox="1"/>
          <p:nvPr/>
        </p:nvSpPr>
        <p:spPr>
          <a:xfrm>
            <a:off x="666285" y="4307064"/>
            <a:ext cx="11453715" cy="1631216"/>
          </a:xfrm>
          <a:prstGeom prst="rect">
            <a:avLst/>
          </a:prstGeom>
          <a:noFill/>
        </p:spPr>
        <p:txBody>
          <a:bodyPr wrap="square" rtlCol="0">
            <a:spAutoFit/>
          </a:bodyPr>
          <a:lstStyle/>
          <a:p>
            <a:r>
              <a:rPr kumimoji="1" lang="ja-JP" altLang="en-US" sz="4000" b="1">
                <a:solidFill>
                  <a:srgbClr val="FF0000"/>
                </a:solidFill>
              </a:rPr>
              <a:t>出血</a:t>
            </a:r>
            <a:r>
              <a:rPr kumimoji="1" lang="ja-JP" altLang="en-US" sz="2800"/>
              <a:t>したり</a:t>
            </a:r>
            <a:r>
              <a:rPr kumimoji="1" lang="ja-JP" altLang="en-US" sz="4000" b="1">
                <a:solidFill>
                  <a:srgbClr val="002060"/>
                </a:solidFill>
              </a:rPr>
              <a:t>回路血栓</a:t>
            </a:r>
            <a:r>
              <a:rPr kumimoji="1" lang="ja-JP" altLang="en-US" sz="2800"/>
              <a:t>を形成することはしばしば</a:t>
            </a:r>
            <a:endParaRPr kumimoji="1" lang="en-US" altLang="ja-JP" sz="2800" dirty="0"/>
          </a:p>
          <a:p>
            <a:r>
              <a:rPr lang="en-US" altLang="ja-JP" sz="2800" dirty="0"/>
              <a:t>Heparin</a:t>
            </a:r>
            <a:r>
              <a:rPr lang="ja-JP" altLang="en-US" sz="2800"/>
              <a:t>用量を変えても</a:t>
            </a:r>
            <a:r>
              <a:rPr lang="en-US" altLang="ja-JP" sz="3200" b="1" dirty="0">
                <a:solidFill>
                  <a:srgbClr val="00B050"/>
                </a:solidFill>
              </a:rPr>
              <a:t>APTT</a:t>
            </a:r>
            <a:r>
              <a:rPr lang="ja-JP" altLang="en-US" sz="3200" b="1">
                <a:solidFill>
                  <a:srgbClr val="00B050"/>
                </a:solidFill>
              </a:rPr>
              <a:t>が全く動かない</a:t>
            </a:r>
            <a:r>
              <a:rPr lang="en-US" altLang="ja-JP" sz="3200" b="1" dirty="0">
                <a:solidFill>
                  <a:srgbClr val="00B050"/>
                </a:solidFill>
              </a:rPr>
              <a:t>, </a:t>
            </a:r>
            <a:r>
              <a:rPr lang="ja-JP" altLang="en-US" sz="3200" b="1">
                <a:solidFill>
                  <a:srgbClr val="00B050"/>
                </a:solidFill>
              </a:rPr>
              <a:t>急に延長するなど</a:t>
            </a:r>
            <a:r>
              <a:rPr lang="ja-JP" altLang="en-US" sz="2800"/>
              <a:t>の</a:t>
            </a:r>
            <a:endParaRPr lang="en-US" altLang="ja-JP" sz="2800" dirty="0"/>
          </a:p>
          <a:p>
            <a:r>
              <a:rPr lang="ja-JP" altLang="en-US" sz="2800"/>
              <a:t>経験をしてきた</a:t>
            </a:r>
            <a:r>
              <a:rPr lang="en-US" altLang="ja-JP" sz="2800" dirty="0"/>
              <a:t>…</a:t>
            </a:r>
            <a:endParaRPr kumimoji="1" lang="ja-JP" altLang="en-US" sz="2800"/>
          </a:p>
        </p:txBody>
      </p:sp>
      <p:sp>
        <p:nvSpPr>
          <p:cNvPr id="8" name="フッター プレースホルダー 7">
            <a:extLst>
              <a:ext uri="{FF2B5EF4-FFF2-40B4-BE49-F238E27FC236}">
                <a16:creationId xmlns:a16="http://schemas.microsoft.com/office/drawing/2014/main" id="{968AC356-A056-41EF-021C-0F10788F24EB}"/>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10" name="スライド番号プレースホルダー 9">
            <a:extLst>
              <a:ext uri="{FF2B5EF4-FFF2-40B4-BE49-F238E27FC236}">
                <a16:creationId xmlns:a16="http://schemas.microsoft.com/office/drawing/2014/main" id="{ADE8FDC2-8CAA-5452-E5AA-D06EE7063FEF}"/>
              </a:ext>
            </a:extLst>
          </p:cNvPr>
          <p:cNvSpPr>
            <a:spLocks noGrp="1"/>
          </p:cNvSpPr>
          <p:nvPr>
            <p:ph type="sldNum" sz="quarter" idx="12"/>
          </p:nvPr>
        </p:nvSpPr>
        <p:spPr/>
        <p:txBody>
          <a:bodyPr/>
          <a:lstStyle/>
          <a:p>
            <a:r>
              <a:rPr lang="en-US" altLang="ja-JP"/>
              <a:t>No. </a:t>
            </a:r>
            <a:fld id="{41B87E3F-77EC-4EFD-94DE-AA3AEB7C7760}" type="slidenum">
              <a:rPr lang="ja-JP" altLang="en-US" smtClean="0"/>
              <a:pPr/>
              <a:t>57</a:t>
            </a:fld>
            <a:endParaRPr kumimoji="1" lang="ja-JP" altLang="en-US" dirty="0"/>
          </a:p>
        </p:txBody>
      </p:sp>
      <p:sp>
        <p:nvSpPr>
          <p:cNvPr id="11" name="日付プレースホルダー 10">
            <a:extLst>
              <a:ext uri="{FF2B5EF4-FFF2-40B4-BE49-F238E27FC236}">
                <a16:creationId xmlns:a16="http://schemas.microsoft.com/office/drawing/2014/main" id="{11A8D5B7-2336-148D-0686-38BDE5374387}"/>
              </a:ext>
            </a:extLst>
          </p:cNvPr>
          <p:cNvSpPr>
            <a:spLocks noGrp="1"/>
          </p:cNvSpPr>
          <p:nvPr>
            <p:ph type="dt" sz="half" idx="10"/>
          </p:nvPr>
        </p:nvSpPr>
        <p:spPr/>
        <p:txBody>
          <a:bodyPr/>
          <a:lstStyle/>
          <a:p>
            <a:fld id="{1F418641-EF11-9A44-B2CA-D8279370AE8F}" type="datetime1">
              <a:rPr kumimoji="1" lang="ja-JP" altLang="en-US" smtClean="0"/>
              <a:t>2026/5/15</a:t>
            </a:fld>
            <a:endParaRPr kumimoji="1" lang="ja-JP" altLang="en-US"/>
          </a:p>
        </p:txBody>
      </p:sp>
    </p:spTree>
    <p:extLst>
      <p:ext uri="{BB962C8B-B14F-4D97-AF65-F5344CB8AC3E}">
        <p14:creationId xmlns:p14="http://schemas.microsoft.com/office/powerpoint/2010/main" val="42437747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AADE1E-E29C-21AB-D458-28DA5399C5C9}"/>
              </a:ext>
            </a:extLst>
          </p:cNvPr>
          <p:cNvSpPr>
            <a:spLocks noGrp="1"/>
          </p:cNvSpPr>
          <p:nvPr>
            <p:ph type="title"/>
          </p:nvPr>
        </p:nvSpPr>
        <p:spPr/>
        <p:txBody>
          <a:bodyPr>
            <a:normAutofit/>
          </a:bodyPr>
          <a:lstStyle/>
          <a:p>
            <a:r>
              <a:rPr kumimoji="1" lang="en-US" altLang="ja-JP" dirty="0"/>
              <a:t>ECPELLA &lt;VA ECMO+IMPELLA&gt;</a:t>
            </a:r>
            <a:endParaRPr kumimoji="1" lang="ja-JP" altLang="en-US"/>
          </a:p>
        </p:txBody>
      </p:sp>
      <p:sp>
        <p:nvSpPr>
          <p:cNvPr id="4" name="日付プレースホルダー 3">
            <a:extLst>
              <a:ext uri="{FF2B5EF4-FFF2-40B4-BE49-F238E27FC236}">
                <a16:creationId xmlns:a16="http://schemas.microsoft.com/office/drawing/2014/main" id="{A26A438B-2B14-892B-565E-0EF6EA762981}"/>
              </a:ext>
            </a:extLst>
          </p:cNvPr>
          <p:cNvSpPr>
            <a:spLocks noGrp="1"/>
          </p:cNvSpPr>
          <p:nvPr>
            <p:ph type="dt" sz="half" idx="10"/>
          </p:nvPr>
        </p:nvSpPr>
        <p:spPr/>
        <p:txBody>
          <a:bodyPr/>
          <a:lstStyle/>
          <a:p>
            <a:fld id="{78CE8143-E444-8A43-AD43-0DDC0749B368}"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8426750E-E1D3-4D9D-9A36-DD18D8C1051D}"/>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E98EF4F0-B3BF-1AC1-0E2B-6272474EC672}"/>
              </a:ext>
            </a:extLst>
          </p:cNvPr>
          <p:cNvSpPr>
            <a:spLocks noGrp="1"/>
          </p:cNvSpPr>
          <p:nvPr>
            <p:ph type="sldNum" sz="quarter" idx="12"/>
          </p:nvPr>
        </p:nvSpPr>
        <p:spPr/>
        <p:txBody>
          <a:bodyPr/>
          <a:lstStyle/>
          <a:p>
            <a:r>
              <a:rPr lang="en-US" altLang="ja-JP"/>
              <a:t>No. </a:t>
            </a:r>
            <a:fld id="{41B87E3F-77EC-4EFD-94DE-AA3AEB7C7760}" type="slidenum">
              <a:rPr lang="ja-JP" altLang="en-US" smtClean="0"/>
              <a:pPr/>
              <a:t>58</a:t>
            </a:fld>
            <a:endParaRPr kumimoji="1" lang="ja-JP" altLang="en-US" dirty="0"/>
          </a:p>
        </p:txBody>
      </p:sp>
      <p:pic>
        <p:nvPicPr>
          <p:cNvPr id="9" name="図 8" descr="ブルー, ペア, 空気, スキー が含まれている画像&#10;&#10;自動的に生成された説明">
            <a:extLst>
              <a:ext uri="{FF2B5EF4-FFF2-40B4-BE49-F238E27FC236}">
                <a16:creationId xmlns:a16="http://schemas.microsoft.com/office/drawing/2014/main" id="{08E05CB3-7196-219E-3EA1-3CD58E48F5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95356" y="1600919"/>
            <a:ext cx="3136410" cy="3010953"/>
          </a:xfrm>
          <a:prstGeom prst="rect">
            <a:avLst/>
          </a:prstGeom>
          <a:ln>
            <a:noFill/>
          </a:ln>
          <a:effectLst>
            <a:softEdge rad="112500"/>
          </a:effectLst>
        </p:spPr>
      </p:pic>
      <p:sp>
        <p:nvSpPr>
          <p:cNvPr id="10" name="テキスト ボックス 9">
            <a:extLst>
              <a:ext uri="{FF2B5EF4-FFF2-40B4-BE49-F238E27FC236}">
                <a16:creationId xmlns:a16="http://schemas.microsoft.com/office/drawing/2014/main" id="{A09AF8E0-6A97-D906-E6AB-C1EE276BAD32}"/>
              </a:ext>
            </a:extLst>
          </p:cNvPr>
          <p:cNvSpPr txBox="1"/>
          <p:nvPr/>
        </p:nvSpPr>
        <p:spPr>
          <a:xfrm>
            <a:off x="186956" y="1646625"/>
            <a:ext cx="7154300" cy="1077218"/>
          </a:xfrm>
          <a:prstGeom prst="rect">
            <a:avLst/>
          </a:prstGeom>
          <a:noFill/>
        </p:spPr>
        <p:txBody>
          <a:bodyPr wrap="square" rtlCol="0">
            <a:spAutoFit/>
          </a:bodyPr>
          <a:lstStyle/>
          <a:p>
            <a:r>
              <a:rPr kumimoji="1" lang="en-US" altLang="ja-JP" sz="2800" dirty="0"/>
              <a:t>IMPELLA</a:t>
            </a:r>
            <a:r>
              <a:rPr lang="ja-JP" altLang="en-US" sz="2800"/>
              <a:t>使用時は</a:t>
            </a:r>
            <a:r>
              <a:rPr lang="en-US" altLang="ja-JP" sz="3600" b="1" dirty="0"/>
              <a:t>Heparin</a:t>
            </a:r>
            <a:r>
              <a:rPr lang="ja-JP" altLang="en-US" sz="2800"/>
              <a:t>＋ブドウ糖液を血液逆流を防ぐためにパージ液として流す</a:t>
            </a:r>
            <a:endParaRPr kumimoji="1" lang="ja-JP" altLang="en-US" sz="2800"/>
          </a:p>
        </p:txBody>
      </p:sp>
      <p:sp>
        <p:nvSpPr>
          <p:cNvPr id="11" name="下矢印 10">
            <a:extLst>
              <a:ext uri="{FF2B5EF4-FFF2-40B4-BE49-F238E27FC236}">
                <a16:creationId xmlns:a16="http://schemas.microsoft.com/office/drawing/2014/main" id="{B8F6F18E-6B3D-88D2-8014-77EDDB83F92B}"/>
              </a:ext>
            </a:extLst>
          </p:cNvPr>
          <p:cNvSpPr/>
          <p:nvPr/>
        </p:nvSpPr>
        <p:spPr>
          <a:xfrm>
            <a:off x="3441045" y="2651843"/>
            <a:ext cx="711200" cy="542559"/>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A4C1B2EF-4D74-701D-7B57-AE2E0BD8DABF}"/>
              </a:ext>
            </a:extLst>
          </p:cNvPr>
          <p:cNvSpPr txBox="1"/>
          <p:nvPr/>
        </p:nvSpPr>
        <p:spPr>
          <a:xfrm>
            <a:off x="186956" y="3186545"/>
            <a:ext cx="8471852" cy="954107"/>
          </a:xfrm>
          <a:prstGeom prst="rect">
            <a:avLst/>
          </a:prstGeom>
          <a:noFill/>
        </p:spPr>
        <p:txBody>
          <a:bodyPr wrap="square" rtlCol="0">
            <a:spAutoFit/>
          </a:bodyPr>
          <a:lstStyle/>
          <a:p>
            <a:r>
              <a:rPr kumimoji="1" lang="ja-JP" altLang="en-US" sz="2800"/>
              <a:t>ヘパリンの全身投与を開始していなくても</a:t>
            </a:r>
            <a:endParaRPr kumimoji="1" lang="en-US" altLang="ja-JP" sz="2800" dirty="0"/>
          </a:p>
          <a:p>
            <a:r>
              <a:rPr kumimoji="1" lang="ja-JP" altLang="en-US" sz="2800"/>
              <a:t>抗凝固が効きすぎている可能性あり　</a:t>
            </a:r>
            <a:endParaRPr kumimoji="1" lang="en-US" altLang="ja-JP" sz="2800" dirty="0"/>
          </a:p>
        </p:txBody>
      </p:sp>
      <p:sp>
        <p:nvSpPr>
          <p:cNvPr id="14" name="角丸四角形 13">
            <a:extLst>
              <a:ext uri="{FF2B5EF4-FFF2-40B4-BE49-F238E27FC236}">
                <a16:creationId xmlns:a16="http://schemas.microsoft.com/office/drawing/2014/main" id="{85AE7B43-F712-667E-B8A8-C8B8746DB2FF}"/>
              </a:ext>
            </a:extLst>
          </p:cNvPr>
          <p:cNvSpPr/>
          <p:nvPr/>
        </p:nvSpPr>
        <p:spPr>
          <a:xfrm>
            <a:off x="366117" y="5290735"/>
            <a:ext cx="11459766" cy="900000"/>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a:t>補助循環装置が</a:t>
            </a:r>
            <a:r>
              <a:rPr kumimoji="1" lang="en-US" altLang="ja-JP" sz="2400" b="1" dirty="0"/>
              <a:t>2</a:t>
            </a:r>
            <a:r>
              <a:rPr kumimoji="1" lang="ja-JP" altLang="en-US" sz="2400" b="1"/>
              <a:t>つになるので凝固障害による</a:t>
            </a:r>
            <a:endParaRPr kumimoji="1" lang="en-US" altLang="ja-JP" sz="2400" b="1" dirty="0"/>
          </a:p>
          <a:p>
            <a:pPr algn="ctr"/>
            <a:r>
              <a:rPr kumimoji="1" lang="ja-JP" altLang="en-US" sz="2400" b="1"/>
              <a:t>出血リスクや血栓リスクに十分注意する必要がある</a:t>
            </a:r>
          </a:p>
        </p:txBody>
      </p:sp>
      <p:sp>
        <p:nvSpPr>
          <p:cNvPr id="3" name="テキスト ボックス 2">
            <a:extLst>
              <a:ext uri="{FF2B5EF4-FFF2-40B4-BE49-F238E27FC236}">
                <a16:creationId xmlns:a16="http://schemas.microsoft.com/office/drawing/2014/main" id="{24873CDF-1735-F6F3-BB51-DC85A9953CB4}"/>
              </a:ext>
            </a:extLst>
          </p:cNvPr>
          <p:cNvSpPr txBox="1"/>
          <p:nvPr/>
        </p:nvSpPr>
        <p:spPr>
          <a:xfrm>
            <a:off x="186956" y="4576837"/>
            <a:ext cx="9916218" cy="800219"/>
          </a:xfrm>
          <a:prstGeom prst="rect">
            <a:avLst/>
          </a:prstGeom>
          <a:noFill/>
        </p:spPr>
        <p:txBody>
          <a:bodyPr wrap="square" rtlCol="0">
            <a:spAutoFit/>
          </a:bodyPr>
          <a:lstStyle/>
          <a:p>
            <a:r>
              <a:rPr lang="en-US" altLang="ja-JP" sz="2800" b="1" dirty="0"/>
              <a:t>IMPELLA</a:t>
            </a:r>
            <a:r>
              <a:rPr lang="ja-JP" altLang="en-US" sz="2800" b="1"/>
              <a:t>による破壊・消費で凝固因子欠乏の</a:t>
            </a:r>
            <a:r>
              <a:rPr kumimoji="1" lang="ja-JP" altLang="en-US" sz="2800" b="1"/>
              <a:t>可能性あり</a:t>
            </a:r>
          </a:p>
          <a:p>
            <a:endParaRPr kumimoji="1" lang="ja-JP" altLang="en-US"/>
          </a:p>
        </p:txBody>
      </p:sp>
    </p:spTree>
    <p:extLst>
      <p:ext uri="{BB962C8B-B14F-4D97-AF65-F5344CB8AC3E}">
        <p14:creationId xmlns:p14="http://schemas.microsoft.com/office/powerpoint/2010/main" val="38157085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8D41A3-D7D0-5545-AE73-0B83990882D7}"/>
              </a:ext>
            </a:extLst>
          </p:cNvPr>
          <p:cNvSpPr>
            <a:spLocks noGrp="1"/>
          </p:cNvSpPr>
          <p:nvPr>
            <p:ph type="title"/>
          </p:nvPr>
        </p:nvSpPr>
        <p:spPr/>
        <p:txBody>
          <a:bodyPr>
            <a:normAutofit/>
          </a:bodyPr>
          <a:lstStyle/>
          <a:p>
            <a:r>
              <a:rPr lang="en-US" altLang="ja-JP" dirty="0"/>
              <a:t>ECMO </a:t>
            </a:r>
            <a:r>
              <a:rPr lang="ja-JP" altLang="en-US"/>
              <a:t>✖︎</a:t>
            </a:r>
            <a:r>
              <a:rPr lang="en-US" altLang="ja-JP" dirty="0"/>
              <a:t> TEG GH</a:t>
            </a:r>
            <a:endParaRPr kumimoji="1" lang="ja-JP" altLang="en-US"/>
          </a:p>
        </p:txBody>
      </p:sp>
      <p:pic>
        <p:nvPicPr>
          <p:cNvPr id="7" name="コンテンツ プレースホルダー 6" descr="ダイアグラム&#10;&#10;自動的に生成された説明">
            <a:extLst>
              <a:ext uri="{FF2B5EF4-FFF2-40B4-BE49-F238E27FC236}">
                <a16:creationId xmlns:a16="http://schemas.microsoft.com/office/drawing/2014/main" id="{72288411-9965-E343-8AFA-58CB41BE938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50488" y="2061872"/>
            <a:ext cx="6724185" cy="4054654"/>
          </a:xfrm>
        </p:spPr>
      </p:pic>
      <p:sp>
        <p:nvSpPr>
          <p:cNvPr id="5" name="フッター プレースホルダー 4">
            <a:extLst>
              <a:ext uri="{FF2B5EF4-FFF2-40B4-BE49-F238E27FC236}">
                <a16:creationId xmlns:a16="http://schemas.microsoft.com/office/drawing/2014/main" id="{8F9A78B2-F22B-584C-B32C-1B0389B9AED5}"/>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8880458C-618E-4D4B-911B-2554E7409CAB}"/>
              </a:ext>
            </a:extLst>
          </p:cNvPr>
          <p:cNvSpPr>
            <a:spLocks noGrp="1"/>
          </p:cNvSpPr>
          <p:nvPr>
            <p:ph type="sldNum" sz="quarter" idx="12"/>
          </p:nvPr>
        </p:nvSpPr>
        <p:spPr/>
        <p:txBody>
          <a:bodyPr/>
          <a:lstStyle/>
          <a:p>
            <a:r>
              <a:rPr lang="en-US" altLang="ja-JP"/>
              <a:t>No. </a:t>
            </a:r>
            <a:fld id="{41B87E3F-77EC-4EFD-94DE-AA3AEB7C7760}" type="slidenum">
              <a:rPr lang="ja-JP" altLang="en-US" smtClean="0"/>
              <a:pPr/>
              <a:t>59</a:t>
            </a:fld>
            <a:endParaRPr kumimoji="1" lang="ja-JP" altLang="en-US" dirty="0"/>
          </a:p>
        </p:txBody>
      </p:sp>
      <p:sp>
        <p:nvSpPr>
          <p:cNvPr id="3" name="日付プレースホルダー 2">
            <a:extLst>
              <a:ext uri="{FF2B5EF4-FFF2-40B4-BE49-F238E27FC236}">
                <a16:creationId xmlns:a16="http://schemas.microsoft.com/office/drawing/2014/main" id="{471DF4E0-1717-4A47-89FC-1F7F71C66D0B}"/>
              </a:ext>
            </a:extLst>
          </p:cNvPr>
          <p:cNvSpPr>
            <a:spLocks noGrp="1"/>
          </p:cNvSpPr>
          <p:nvPr>
            <p:ph type="dt" sz="half" idx="10"/>
          </p:nvPr>
        </p:nvSpPr>
        <p:spPr/>
        <p:txBody>
          <a:bodyPr/>
          <a:lstStyle/>
          <a:p>
            <a:fld id="{5F6007BC-893C-1747-91FD-D66A184E0BE1}" type="datetime1">
              <a:rPr kumimoji="1" lang="ja-JP" altLang="en-US" smtClean="0"/>
              <a:t>2026/5/15</a:t>
            </a:fld>
            <a:endParaRPr kumimoji="1" lang="ja-JP" altLang="en-US"/>
          </a:p>
        </p:txBody>
      </p:sp>
      <p:sp>
        <p:nvSpPr>
          <p:cNvPr id="4" name="円/楕円 3">
            <a:extLst>
              <a:ext uri="{FF2B5EF4-FFF2-40B4-BE49-F238E27FC236}">
                <a16:creationId xmlns:a16="http://schemas.microsoft.com/office/drawing/2014/main" id="{49FBEB3F-D65E-1A48-97AC-14AEFA4BA128}"/>
              </a:ext>
            </a:extLst>
          </p:cNvPr>
          <p:cNvSpPr/>
          <p:nvPr/>
        </p:nvSpPr>
        <p:spPr>
          <a:xfrm>
            <a:off x="6512313" y="3018681"/>
            <a:ext cx="3088887" cy="1070518"/>
          </a:xfrm>
          <a:prstGeom prst="ellipse">
            <a:avLst/>
          </a:prstGeom>
          <a:noFill/>
          <a:ln w="603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8B7ECE98-14D2-A147-A8AA-D9FAEEA9A497}"/>
              </a:ext>
            </a:extLst>
          </p:cNvPr>
          <p:cNvSpPr txBox="1"/>
          <p:nvPr/>
        </p:nvSpPr>
        <p:spPr>
          <a:xfrm>
            <a:off x="72000" y="1785474"/>
            <a:ext cx="6724185" cy="2985433"/>
          </a:xfrm>
          <a:prstGeom prst="rect">
            <a:avLst/>
          </a:prstGeom>
          <a:noFill/>
        </p:spPr>
        <p:txBody>
          <a:bodyPr wrap="square" rtlCol="0">
            <a:spAutoFit/>
          </a:bodyPr>
          <a:lstStyle/>
          <a:p>
            <a:r>
              <a:rPr lang="ja-JP" altLang="en-US" sz="3600"/>
              <a:t>従来検査</a:t>
            </a:r>
            <a:r>
              <a:rPr kumimoji="1" lang="ja-JP" altLang="en-US" sz="3600"/>
              <a:t>とは違う方法</a:t>
            </a:r>
            <a:r>
              <a:rPr kumimoji="1" lang="en-US" altLang="ja-JP" sz="3600" dirty="0"/>
              <a:t>, </a:t>
            </a:r>
          </a:p>
          <a:p>
            <a:r>
              <a:rPr lang="ja-JP" altLang="en-US" sz="4400" b="1">
                <a:solidFill>
                  <a:srgbClr val="C00000"/>
                </a:solidFill>
              </a:rPr>
              <a:t>全血</a:t>
            </a:r>
            <a:r>
              <a:rPr lang="ja-JP" altLang="en-US" sz="3600"/>
              <a:t>をもちいた方法で</a:t>
            </a:r>
            <a:endParaRPr lang="en-US" altLang="ja-JP" sz="3600" dirty="0"/>
          </a:p>
          <a:p>
            <a:r>
              <a:rPr lang="ja-JP" altLang="en-US" sz="3600" b="1">
                <a:solidFill>
                  <a:srgbClr val="7030A0"/>
                </a:solidFill>
              </a:rPr>
              <a:t>実際のヘパリンの効果</a:t>
            </a:r>
            <a:r>
              <a:rPr lang="ja-JP" altLang="en-US" sz="3600"/>
              <a:t>や</a:t>
            </a:r>
            <a:endParaRPr lang="en-US" altLang="ja-JP" sz="3600" dirty="0"/>
          </a:p>
          <a:p>
            <a:r>
              <a:rPr lang="ja-JP" altLang="en-US" sz="3600" b="1">
                <a:solidFill>
                  <a:srgbClr val="00B050"/>
                </a:solidFill>
              </a:rPr>
              <a:t>凝固因子の不足</a:t>
            </a:r>
            <a:r>
              <a:rPr lang="ja-JP" altLang="en-US" sz="3600"/>
              <a:t>を</a:t>
            </a:r>
            <a:endParaRPr lang="en-US" altLang="ja-JP" sz="3600" dirty="0"/>
          </a:p>
          <a:p>
            <a:r>
              <a:rPr lang="ja-JP" altLang="en-US" sz="3600"/>
              <a:t>見つけることができる</a:t>
            </a:r>
            <a:endParaRPr kumimoji="1" lang="ja-JP" altLang="en-US" sz="3600"/>
          </a:p>
        </p:txBody>
      </p:sp>
    </p:spTree>
    <p:extLst>
      <p:ext uri="{BB962C8B-B14F-4D97-AF65-F5344CB8AC3E}">
        <p14:creationId xmlns:p14="http://schemas.microsoft.com/office/powerpoint/2010/main" val="39662734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CEC339-644B-1600-3155-F7F87957CEB3}"/>
              </a:ext>
            </a:extLst>
          </p:cNvPr>
          <p:cNvSpPr>
            <a:spLocks noGrp="1"/>
          </p:cNvSpPr>
          <p:nvPr>
            <p:ph type="title"/>
          </p:nvPr>
        </p:nvSpPr>
        <p:spPr/>
        <p:txBody>
          <a:bodyPr/>
          <a:lstStyle/>
          <a:p>
            <a:r>
              <a:rPr kumimoji="1" lang="en-US" altLang="ja-JP" dirty="0"/>
              <a:t>ECMO</a:t>
            </a:r>
            <a:r>
              <a:rPr lang="en-US" altLang="ja-JP" dirty="0"/>
              <a:t>×TEG GH</a:t>
            </a:r>
            <a:endParaRPr kumimoji="1" lang="ja-JP" altLang="en-US"/>
          </a:p>
        </p:txBody>
      </p:sp>
      <p:sp>
        <p:nvSpPr>
          <p:cNvPr id="4" name="日付プレースホルダー 3">
            <a:extLst>
              <a:ext uri="{FF2B5EF4-FFF2-40B4-BE49-F238E27FC236}">
                <a16:creationId xmlns:a16="http://schemas.microsoft.com/office/drawing/2014/main" id="{B34F1953-32AF-B776-7BEA-B3074C226890}"/>
              </a:ext>
            </a:extLst>
          </p:cNvPr>
          <p:cNvSpPr>
            <a:spLocks noGrp="1"/>
          </p:cNvSpPr>
          <p:nvPr>
            <p:ph type="dt" sz="half" idx="10"/>
          </p:nvPr>
        </p:nvSpPr>
        <p:spPr/>
        <p:txBody>
          <a:bodyPr/>
          <a:lstStyle/>
          <a:p>
            <a:fld id="{847AC0E6-C41F-7D47-97E5-E804FADC3A4D}"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770DD7C4-94BC-207C-10A0-5B67E529290D}"/>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7" name="テキスト ボックス 6">
            <a:extLst>
              <a:ext uri="{FF2B5EF4-FFF2-40B4-BE49-F238E27FC236}">
                <a16:creationId xmlns:a16="http://schemas.microsoft.com/office/drawing/2014/main" id="{7D686B78-401C-8619-E73B-CDC6C4254C95}"/>
              </a:ext>
            </a:extLst>
          </p:cNvPr>
          <p:cNvSpPr txBox="1"/>
          <p:nvPr/>
        </p:nvSpPr>
        <p:spPr>
          <a:xfrm>
            <a:off x="553844" y="1953006"/>
            <a:ext cx="11084312" cy="1200329"/>
          </a:xfrm>
          <a:prstGeom prst="rect">
            <a:avLst/>
          </a:prstGeom>
          <a:noFill/>
        </p:spPr>
        <p:txBody>
          <a:bodyPr wrap="square" rtlCol="0">
            <a:spAutoFit/>
          </a:bodyPr>
          <a:lstStyle/>
          <a:p>
            <a:r>
              <a:rPr kumimoji="1" lang="ja-JP" altLang="en-US" sz="2400"/>
              <a:t>・</a:t>
            </a:r>
            <a:r>
              <a:rPr lang="ja-JP" altLang="en-US" sz="2400"/>
              <a:t>血液粘弾性検査は心臓血管外科や外傷における出血時の治療方針決定に</a:t>
            </a:r>
            <a:endParaRPr lang="en-US" altLang="ja-JP" sz="2400" dirty="0"/>
          </a:p>
          <a:p>
            <a:r>
              <a:rPr lang="ja-JP" altLang="en-US" sz="2400"/>
              <a:t>　寄与するといわれているが，</a:t>
            </a:r>
            <a:r>
              <a:rPr lang="en-US" altLang="ja-JP" sz="2400" dirty="0"/>
              <a:t>ECMO</a:t>
            </a:r>
            <a:r>
              <a:rPr lang="ja-JP" altLang="en-US" sz="2400"/>
              <a:t>使用時における有用性はいまだ</a:t>
            </a:r>
            <a:endParaRPr lang="en-US" altLang="ja-JP" sz="2400" dirty="0"/>
          </a:p>
          <a:p>
            <a:r>
              <a:rPr lang="ja-JP" altLang="en-US" sz="2400"/>
              <a:t>　明らかではない</a:t>
            </a:r>
            <a:endParaRPr kumimoji="1" lang="ja-JP" altLang="en-US" sz="2400"/>
          </a:p>
        </p:txBody>
      </p:sp>
      <p:sp>
        <p:nvSpPr>
          <p:cNvPr id="9" name="テキスト ボックス 8">
            <a:extLst>
              <a:ext uri="{FF2B5EF4-FFF2-40B4-BE49-F238E27FC236}">
                <a16:creationId xmlns:a16="http://schemas.microsoft.com/office/drawing/2014/main" id="{E5D232C0-3B15-5037-CFCB-089F06FFE1DB}"/>
              </a:ext>
            </a:extLst>
          </p:cNvPr>
          <p:cNvSpPr txBox="1"/>
          <p:nvPr/>
        </p:nvSpPr>
        <p:spPr>
          <a:xfrm>
            <a:off x="553844" y="3566165"/>
            <a:ext cx="10799956" cy="1200329"/>
          </a:xfrm>
          <a:prstGeom prst="rect">
            <a:avLst/>
          </a:prstGeom>
          <a:noFill/>
        </p:spPr>
        <p:txBody>
          <a:bodyPr wrap="square" rtlCol="0">
            <a:spAutoFit/>
          </a:bodyPr>
          <a:lstStyle/>
          <a:p>
            <a:r>
              <a:rPr kumimoji="1" lang="ja-JP" altLang="en-US" sz="2400"/>
              <a:t>・</a:t>
            </a:r>
            <a:r>
              <a:rPr kumimoji="1" lang="en-US" altLang="ja-JP" sz="2400" dirty="0"/>
              <a:t>ECMO</a:t>
            </a:r>
            <a:r>
              <a:rPr kumimoji="1" lang="ja-JP" altLang="en-US" sz="2400"/>
              <a:t>使用時における過凝固を同定し，血栓合併症を防ぐ報告や</a:t>
            </a:r>
            <a:endParaRPr kumimoji="1" lang="en-US" altLang="ja-JP" sz="2400" dirty="0"/>
          </a:p>
          <a:p>
            <a:r>
              <a:rPr lang="ja-JP" altLang="en-US" sz="2400"/>
              <a:t>　</a:t>
            </a:r>
            <a:r>
              <a:rPr kumimoji="1" lang="en-US" altLang="ja-JP" sz="2400" dirty="0"/>
              <a:t>UFH</a:t>
            </a:r>
            <a:r>
              <a:rPr kumimoji="1" lang="ja-JP" altLang="en-US" sz="2400"/>
              <a:t>使用量を従来の</a:t>
            </a:r>
            <a:r>
              <a:rPr kumimoji="1" lang="en-US" altLang="ja-JP" sz="2400" dirty="0"/>
              <a:t>APTT</a:t>
            </a:r>
            <a:r>
              <a:rPr kumimoji="1" lang="ja-JP" altLang="en-US" sz="2400"/>
              <a:t>測定と比較して合併症を増やすことなく</a:t>
            </a:r>
            <a:endParaRPr kumimoji="1" lang="en-US" altLang="ja-JP" sz="2400" dirty="0"/>
          </a:p>
          <a:p>
            <a:r>
              <a:rPr lang="ja-JP" altLang="en-US" sz="2400"/>
              <a:t>　</a:t>
            </a:r>
            <a:r>
              <a:rPr kumimoji="1" lang="ja-JP" altLang="en-US" sz="2400"/>
              <a:t>減らす報告がなされている</a:t>
            </a:r>
            <a:endParaRPr kumimoji="1" lang="ja-JP" altLang="en-US" sz="2800"/>
          </a:p>
        </p:txBody>
      </p:sp>
      <p:sp>
        <p:nvSpPr>
          <p:cNvPr id="11" name="テキスト ボックス 10">
            <a:extLst>
              <a:ext uri="{FF2B5EF4-FFF2-40B4-BE49-F238E27FC236}">
                <a16:creationId xmlns:a16="http://schemas.microsoft.com/office/drawing/2014/main" id="{30080819-D8DC-B6B6-300F-3F011B6D26CA}"/>
              </a:ext>
            </a:extLst>
          </p:cNvPr>
          <p:cNvSpPr txBox="1"/>
          <p:nvPr/>
        </p:nvSpPr>
        <p:spPr>
          <a:xfrm>
            <a:off x="7659512" y="3039679"/>
            <a:ext cx="4460488" cy="276999"/>
          </a:xfrm>
          <a:prstGeom prst="rect">
            <a:avLst/>
          </a:prstGeom>
          <a:noFill/>
        </p:spPr>
        <p:txBody>
          <a:bodyPr wrap="square" rtlCol="0">
            <a:spAutoFit/>
          </a:bodyPr>
          <a:lstStyle/>
          <a:p>
            <a:r>
              <a:rPr lang="en" altLang="ja-JP" sz="1200" i="1" dirty="0">
                <a:effectLst/>
                <a:latin typeface="+mn-ea"/>
              </a:rPr>
              <a:t>J </a:t>
            </a:r>
            <a:r>
              <a:rPr lang="en" altLang="ja-JP" sz="1200" i="1" dirty="0" err="1">
                <a:effectLst/>
                <a:latin typeface="+mn-ea"/>
              </a:rPr>
              <a:t>Cardiothorac</a:t>
            </a:r>
            <a:r>
              <a:rPr lang="en" altLang="ja-JP" sz="1200" i="1" dirty="0">
                <a:effectLst/>
                <a:latin typeface="+mn-ea"/>
              </a:rPr>
              <a:t> </a:t>
            </a:r>
            <a:r>
              <a:rPr lang="en" altLang="ja-JP" sz="1200" i="1" dirty="0" err="1">
                <a:effectLst/>
                <a:latin typeface="+mn-ea"/>
              </a:rPr>
              <a:t>Vasc</a:t>
            </a:r>
            <a:r>
              <a:rPr lang="en" altLang="ja-JP" sz="1200" i="1" dirty="0">
                <a:effectLst/>
                <a:latin typeface="+mn-ea"/>
              </a:rPr>
              <a:t> </a:t>
            </a:r>
            <a:r>
              <a:rPr lang="en" altLang="ja-JP" sz="1200" i="1" dirty="0" err="1">
                <a:effectLst/>
                <a:latin typeface="+mn-ea"/>
              </a:rPr>
              <a:t>Anesth</a:t>
            </a:r>
            <a:r>
              <a:rPr lang="en" altLang="ja-JP" sz="1200" i="1" dirty="0">
                <a:effectLst/>
                <a:latin typeface="+mn-ea"/>
              </a:rPr>
              <a:t> 32: 88–120, 2018. </a:t>
            </a:r>
            <a:endParaRPr lang="en" altLang="ja-JP" sz="1200" i="1" dirty="0">
              <a:latin typeface="+mn-ea"/>
            </a:endParaRPr>
          </a:p>
        </p:txBody>
      </p:sp>
      <p:sp>
        <p:nvSpPr>
          <p:cNvPr id="14" name="テキスト ボックス 13">
            <a:extLst>
              <a:ext uri="{FF2B5EF4-FFF2-40B4-BE49-F238E27FC236}">
                <a16:creationId xmlns:a16="http://schemas.microsoft.com/office/drawing/2014/main" id="{7D8F76FE-0996-2D1E-C1C2-C6B6FB554C3F}"/>
              </a:ext>
            </a:extLst>
          </p:cNvPr>
          <p:cNvSpPr txBox="1"/>
          <p:nvPr/>
        </p:nvSpPr>
        <p:spPr>
          <a:xfrm>
            <a:off x="7698542" y="4766494"/>
            <a:ext cx="6099716" cy="276999"/>
          </a:xfrm>
          <a:prstGeom prst="rect">
            <a:avLst/>
          </a:prstGeom>
          <a:noFill/>
        </p:spPr>
        <p:txBody>
          <a:bodyPr wrap="square">
            <a:spAutoFit/>
          </a:bodyPr>
          <a:lstStyle/>
          <a:p>
            <a:r>
              <a:rPr lang="en" altLang="ja-JP" sz="1200" i="1" dirty="0">
                <a:effectLst/>
                <a:latin typeface="+mn-ea"/>
              </a:rPr>
              <a:t>Ann Intensive Care </a:t>
            </a:r>
            <a:r>
              <a:rPr lang="en" altLang="ja-JP" sz="1200" dirty="0">
                <a:effectLst/>
                <a:latin typeface="+mn-ea"/>
              </a:rPr>
              <a:t>8: 7, 2018. </a:t>
            </a:r>
            <a:endParaRPr lang="en" altLang="ja-JP" sz="1200" dirty="0">
              <a:latin typeface="+mn-ea"/>
            </a:endParaRPr>
          </a:p>
        </p:txBody>
      </p:sp>
      <p:sp>
        <p:nvSpPr>
          <p:cNvPr id="3" name="スライド番号プレースホルダー 2">
            <a:extLst>
              <a:ext uri="{FF2B5EF4-FFF2-40B4-BE49-F238E27FC236}">
                <a16:creationId xmlns:a16="http://schemas.microsoft.com/office/drawing/2014/main" id="{AE217B15-C343-244C-BCD0-FB910D798DB7}"/>
              </a:ext>
            </a:extLst>
          </p:cNvPr>
          <p:cNvSpPr>
            <a:spLocks noGrp="1"/>
          </p:cNvSpPr>
          <p:nvPr>
            <p:ph type="sldNum" sz="quarter" idx="12"/>
          </p:nvPr>
        </p:nvSpPr>
        <p:spPr/>
        <p:txBody>
          <a:bodyPr/>
          <a:lstStyle/>
          <a:p>
            <a:r>
              <a:rPr lang="en-US" altLang="ja-JP"/>
              <a:t>No. </a:t>
            </a:r>
            <a:fld id="{41B87E3F-77EC-4EFD-94DE-AA3AEB7C7760}" type="slidenum">
              <a:rPr lang="ja-JP" altLang="en-US" smtClean="0"/>
              <a:pPr/>
              <a:t>60</a:t>
            </a:fld>
            <a:endParaRPr kumimoji="1" lang="ja-JP" altLang="en-US" dirty="0"/>
          </a:p>
        </p:txBody>
      </p:sp>
    </p:spTree>
    <p:extLst>
      <p:ext uri="{BB962C8B-B14F-4D97-AF65-F5344CB8AC3E}">
        <p14:creationId xmlns:p14="http://schemas.microsoft.com/office/powerpoint/2010/main" val="2825006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EEF53D-D6A7-B885-6D11-4CBA0CF8599A}"/>
              </a:ext>
            </a:extLst>
          </p:cNvPr>
          <p:cNvSpPr>
            <a:spLocks noGrp="1"/>
          </p:cNvSpPr>
          <p:nvPr>
            <p:ph type="title"/>
          </p:nvPr>
        </p:nvSpPr>
        <p:spPr/>
        <p:txBody>
          <a:bodyPr>
            <a:normAutofit/>
          </a:bodyPr>
          <a:lstStyle/>
          <a:p>
            <a:r>
              <a:rPr lang="en-US" altLang="ja-JP" dirty="0"/>
              <a:t>TEG</a:t>
            </a:r>
            <a:r>
              <a:rPr lang="ja-JP" altLang="en-US"/>
              <a:t> </a:t>
            </a:r>
            <a:r>
              <a:rPr lang="en-US" altLang="ja-JP" dirty="0"/>
              <a:t>GH</a:t>
            </a:r>
            <a:r>
              <a:rPr lang="ja-JP" altLang="en-US"/>
              <a:t>に期待できること</a:t>
            </a:r>
            <a:endParaRPr kumimoji="1" lang="ja-JP" altLang="en-US"/>
          </a:p>
        </p:txBody>
      </p:sp>
      <p:sp>
        <p:nvSpPr>
          <p:cNvPr id="4" name="日付プレースホルダー 3">
            <a:extLst>
              <a:ext uri="{FF2B5EF4-FFF2-40B4-BE49-F238E27FC236}">
                <a16:creationId xmlns:a16="http://schemas.microsoft.com/office/drawing/2014/main" id="{9C8A25C1-2F7E-945F-C2D4-F583E2364F96}"/>
              </a:ext>
            </a:extLst>
          </p:cNvPr>
          <p:cNvSpPr>
            <a:spLocks noGrp="1"/>
          </p:cNvSpPr>
          <p:nvPr>
            <p:ph type="dt" sz="half" idx="10"/>
          </p:nvPr>
        </p:nvSpPr>
        <p:spPr/>
        <p:txBody>
          <a:bodyPr/>
          <a:lstStyle/>
          <a:p>
            <a:fld id="{1A61021E-AFF6-EA46-8875-513789291887}"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B8E26D4D-71C1-69DC-AF4C-913B096208DD}"/>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90EFFCE7-10FC-6BF4-251A-8230DB8C3A68}"/>
              </a:ext>
            </a:extLst>
          </p:cNvPr>
          <p:cNvSpPr>
            <a:spLocks noGrp="1"/>
          </p:cNvSpPr>
          <p:nvPr>
            <p:ph type="sldNum" sz="quarter" idx="12"/>
          </p:nvPr>
        </p:nvSpPr>
        <p:spPr/>
        <p:txBody>
          <a:bodyPr/>
          <a:lstStyle/>
          <a:p>
            <a:r>
              <a:rPr lang="en-US" altLang="ja-JP"/>
              <a:t>No. </a:t>
            </a:r>
            <a:fld id="{41B87E3F-77EC-4EFD-94DE-AA3AEB7C7760}" type="slidenum">
              <a:rPr lang="ja-JP" altLang="en-US" smtClean="0"/>
              <a:pPr/>
              <a:t>61</a:t>
            </a:fld>
            <a:endParaRPr kumimoji="1" lang="ja-JP" altLang="en-US" dirty="0"/>
          </a:p>
        </p:txBody>
      </p:sp>
      <p:sp>
        <p:nvSpPr>
          <p:cNvPr id="3" name="角丸四角形 2">
            <a:extLst>
              <a:ext uri="{FF2B5EF4-FFF2-40B4-BE49-F238E27FC236}">
                <a16:creationId xmlns:a16="http://schemas.microsoft.com/office/drawing/2014/main" id="{24AFFFFA-6791-8D7A-42D9-7ECAC6991801}"/>
              </a:ext>
            </a:extLst>
          </p:cNvPr>
          <p:cNvSpPr/>
          <p:nvPr/>
        </p:nvSpPr>
        <p:spPr>
          <a:xfrm>
            <a:off x="194464" y="1957657"/>
            <a:ext cx="5241472" cy="979714"/>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600" b="1" dirty="0"/>
              <a:t>Gold standard</a:t>
            </a:r>
            <a:r>
              <a:rPr kumimoji="1" lang="ja-JP" altLang="en-US" sz="3600" b="1"/>
              <a:t>：</a:t>
            </a:r>
            <a:r>
              <a:rPr kumimoji="1" lang="en-US" altLang="ja-JP" sz="3600" b="1" dirty="0"/>
              <a:t>APTT</a:t>
            </a:r>
            <a:endParaRPr kumimoji="1" lang="ja-JP" altLang="en-US" sz="3600" b="1"/>
          </a:p>
        </p:txBody>
      </p:sp>
      <p:sp>
        <p:nvSpPr>
          <p:cNvPr id="10" name="円/楕円 9">
            <a:extLst>
              <a:ext uri="{FF2B5EF4-FFF2-40B4-BE49-F238E27FC236}">
                <a16:creationId xmlns:a16="http://schemas.microsoft.com/office/drawing/2014/main" id="{068C2FDB-8F2F-2B1B-F605-CEFD09EB1EB0}"/>
              </a:ext>
            </a:extLst>
          </p:cNvPr>
          <p:cNvSpPr/>
          <p:nvPr/>
        </p:nvSpPr>
        <p:spPr>
          <a:xfrm>
            <a:off x="3429336" y="2892781"/>
            <a:ext cx="4013200" cy="900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5400" b="1" dirty="0"/>
              <a:t>TEG</a:t>
            </a:r>
            <a:endParaRPr kumimoji="1" lang="ja-JP" altLang="en-US" sz="5400" b="1"/>
          </a:p>
        </p:txBody>
      </p:sp>
      <p:pic>
        <p:nvPicPr>
          <p:cNvPr id="11" name="グラフィックス 10" descr="追加 単色塗りつぶし">
            <a:extLst>
              <a:ext uri="{FF2B5EF4-FFF2-40B4-BE49-F238E27FC236}">
                <a16:creationId xmlns:a16="http://schemas.microsoft.com/office/drawing/2014/main" id="{9D7A84F3-A4D2-9EA5-05FC-2411247CEF9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472666" y="2892781"/>
            <a:ext cx="914400" cy="914400"/>
          </a:xfrm>
          <a:prstGeom prst="rect">
            <a:avLst/>
          </a:prstGeom>
        </p:spPr>
      </p:pic>
      <p:sp>
        <p:nvSpPr>
          <p:cNvPr id="12" name="テキスト ボックス 11">
            <a:extLst>
              <a:ext uri="{FF2B5EF4-FFF2-40B4-BE49-F238E27FC236}">
                <a16:creationId xmlns:a16="http://schemas.microsoft.com/office/drawing/2014/main" id="{F109E813-D000-828D-2859-6CA145D6965E}"/>
              </a:ext>
            </a:extLst>
          </p:cNvPr>
          <p:cNvSpPr txBox="1"/>
          <p:nvPr/>
        </p:nvSpPr>
        <p:spPr>
          <a:xfrm>
            <a:off x="122464" y="4410409"/>
            <a:ext cx="11997536" cy="1446550"/>
          </a:xfrm>
          <a:prstGeom prst="rect">
            <a:avLst/>
          </a:prstGeom>
          <a:noFill/>
        </p:spPr>
        <p:txBody>
          <a:bodyPr wrap="square" rtlCol="0">
            <a:spAutoFit/>
          </a:bodyPr>
          <a:lstStyle/>
          <a:p>
            <a:r>
              <a:rPr kumimoji="1" lang="ja-JP" altLang="en-US" sz="3600"/>
              <a:t>状況によりかわる凝固異常を</a:t>
            </a:r>
            <a:r>
              <a:rPr kumimoji="1" lang="en-US" altLang="ja-JP" sz="3600" dirty="0"/>
              <a:t>TEG</a:t>
            </a:r>
            <a:r>
              <a:rPr kumimoji="1" lang="ja-JP" altLang="en-US" sz="3600"/>
              <a:t>を</a:t>
            </a:r>
            <a:r>
              <a:rPr kumimoji="1" lang="ja-JP" altLang="en-US" sz="4400" b="1">
                <a:solidFill>
                  <a:schemeClr val="tx2">
                    <a:lumMod val="50000"/>
                    <a:lumOff val="50000"/>
                  </a:schemeClr>
                </a:solidFill>
              </a:rPr>
              <a:t>補助的</a:t>
            </a:r>
            <a:r>
              <a:rPr kumimoji="1" lang="ja-JP" altLang="en-US" sz="3600"/>
              <a:t>に用いて</a:t>
            </a:r>
            <a:r>
              <a:rPr kumimoji="1" lang="en-US" altLang="ja-JP" sz="3600" dirty="0"/>
              <a:t>, </a:t>
            </a:r>
          </a:p>
          <a:p>
            <a:r>
              <a:rPr kumimoji="1" lang="ja-JP" altLang="en-US" sz="4400" b="1">
                <a:solidFill>
                  <a:srgbClr val="FF0000"/>
                </a:solidFill>
              </a:rPr>
              <a:t>従来検査との乖離の確認</a:t>
            </a:r>
            <a:r>
              <a:rPr kumimoji="1" lang="en-US" altLang="ja-JP" sz="4400" b="1" dirty="0">
                <a:solidFill>
                  <a:srgbClr val="FF0000"/>
                </a:solidFill>
              </a:rPr>
              <a:t>, </a:t>
            </a:r>
            <a:r>
              <a:rPr kumimoji="1" lang="ja-JP" altLang="en-US" sz="4400" b="1">
                <a:solidFill>
                  <a:srgbClr val="FF0000"/>
                </a:solidFill>
              </a:rPr>
              <a:t>目標値の再決定</a:t>
            </a:r>
            <a:r>
              <a:rPr kumimoji="1" lang="ja-JP" altLang="en-US" sz="3600"/>
              <a:t>を行う</a:t>
            </a:r>
          </a:p>
        </p:txBody>
      </p:sp>
      <p:pic>
        <p:nvPicPr>
          <p:cNvPr id="14" name="図 13" descr="ロゴ, 会社名&#10;&#10;自動的に生成された説明">
            <a:extLst>
              <a:ext uri="{FF2B5EF4-FFF2-40B4-BE49-F238E27FC236}">
                <a16:creationId xmlns:a16="http://schemas.microsoft.com/office/drawing/2014/main" id="{D4885BFC-5F14-F36C-4B6E-D923C85E14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5326" y="1558559"/>
            <a:ext cx="4565520" cy="704929"/>
          </a:xfrm>
          <a:prstGeom prst="rect">
            <a:avLst/>
          </a:prstGeom>
        </p:spPr>
      </p:pic>
      <p:pic>
        <p:nvPicPr>
          <p:cNvPr id="16" name="図 15" descr="テキスト&#10;&#10;自動的に生成された説明">
            <a:extLst>
              <a:ext uri="{FF2B5EF4-FFF2-40B4-BE49-F238E27FC236}">
                <a16:creationId xmlns:a16="http://schemas.microsoft.com/office/drawing/2014/main" id="{8D37DD01-B3AA-7C1C-DC81-0549378FBA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42536" y="2339124"/>
            <a:ext cx="4638899" cy="1397402"/>
          </a:xfrm>
          <a:prstGeom prst="rect">
            <a:avLst/>
          </a:prstGeom>
        </p:spPr>
      </p:pic>
      <p:cxnSp>
        <p:nvCxnSpPr>
          <p:cNvPr id="19" name="直線コネクタ 18">
            <a:extLst>
              <a:ext uri="{FF2B5EF4-FFF2-40B4-BE49-F238E27FC236}">
                <a16:creationId xmlns:a16="http://schemas.microsoft.com/office/drawing/2014/main" id="{9C101306-3324-729F-9E48-7C9F07CB94F9}"/>
              </a:ext>
            </a:extLst>
          </p:cNvPr>
          <p:cNvCxnSpPr/>
          <p:nvPr/>
        </p:nvCxnSpPr>
        <p:spPr>
          <a:xfrm>
            <a:off x="9884229" y="3587931"/>
            <a:ext cx="2197206"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031760E1-63A8-BB51-0547-2348157E750E}"/>
              </a:ext>
            </a:extLst>
          </p:cNvPr>
          <p:cNvCxnSpPr>
            <a:cxnSpLocks/>
          </p:cNvCxnSpPr>
          <p:nvPr/>
        </p:nvCxnSpPr>
        <p:spPr>
          <a:xfrm>
            <a:off x="9884229" y="3744612"/>
            <a:ext cx="416767"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04306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7094AF-CDFA-10F9-EA0B-AC9F42695C68}"/>
              </a:ext>
            </a:extLst>
          </p:cNvPr>
          <p:cNvSpPr>
            <a:spLocks noGrp="1"/>
          </p:cNvSpPr>
          <p:nvPr>
            <p:ph type="title"/>
          </p:nvPr>
        </p:nvSpPr>
        <p:spPr/>
        <p:txBody>
          <a:bodyPr>
            <a:normAutofit/>
          </a:bodyPr>
          <a:lstStyle/>
          <a:p>
            <a:r>
              <a:rPr kumimoji="1" lang="ja-JP" altLang="en-US"/>
              <a:t>現在の</a:t>
            </a:r>
            <a:r>
              <a:rPr kumimoji="1" lang="en-US" altLang="ja-JP" dirty="0"/>
              <a:t>ECMO</a:t>
            </a:r>
            <a:r>
              <a:rPr kumimoji="1" lang="ja-JP" altLang="en-US"/>
              <a:t>凝固管理の実際</a:t>
            </a:r>
          </a:p>
        </p:txBody>
      </p:sp>
      <p:sp>
        <p:nvSpPr>
          <p:cNvPr id="7" name="フッター プレースホルダー 6">
            <a:extLst>
              <a:ext uri="{FF2B5EF4-FFF2-40B4-BE49-F238E27FC236}">
                <a16:creationId xmlns:a16="http://schemas.microsoft.com/office/drawing/2014/main" id="{AF03E42D-5D71-C7FE-845E-994138C07BDA}"/>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8" name="スライド番号プレースホルダー 7">
            <a:extLst>
              <a:ext uri="{FF2B5EF4-FFF2-40B4-BE49-F238E27FC236}">
                <a16:creationId xmlns:a16="http://schemas.microsoft.com/office/drawing/2014/main" id="{5AB242C0-712B-B34A-B6C2-DDE7B56299CA}"/>
              </a:ext>
            </a:extLst>
          </p:cNvPr>
          <p:cNvSpPr>
            <a:spLocks noGrp="1"/>
          </p:cNvSpPr>
          <p:nvPr>
            <p:ph type="sldNum" sz="quarter" idx="12"/>
          </p:nvPr>
        </p:nvSpPr>
        <p:spPr/>
        <p:txBody>
          <a:bodyPr/>
          <a:lstStyle/>
          <a:p>
            <a:r>
              <a:rPr lang="en-US" altLang="ja-JP"/>
              <a:t>No. </a:t>
            </a:r>
            <a:fld id="{41B87E3F-77EC-4EFD-94DE-AA3AEB7C7760}" type="slidenum">
              <a:rPr lang="ja-JP" altLang="en-US" smtClean="0"/>
              <a:pPr/>
              <a:t>62</a:t>
            </a:fld>
            <a:endParaRPr kumimoji="1" lang="ja-JP" altLang="en-US" dirty="0"/>
          </a:p>
        </p:txBody>
      </p:sp>
      <p:sp>
        <p:nvSpPr>
          <p:cNvPr id="9" name="日付プレースホルダー 8">
            <a:extLst>
              <a:ext uri="{FF2B5EF4-FFF2-40B4-BE49-F238E27FC236}">
                <a16:creationId xmlns:a16="http://schemas.microsoft.com/office/drawing/2014/main" id="{18830F30-D46C-7C46-B35C-083E9DDCD45F}"/>
              </a:ext>
            </a:extLst>
          </p:cNvPr>
          <p:cNvSpPr>
            <a:spLocks noGrp="1"/>
          </p:cNvSpPr>
          <p:nvPr>
            <p:ph type="dt" sz="half" idx="10"/>
          </p:nvPr>
        </p:nvSpPr>
        <p:spPr/>
        <p:txBody>
          <a:bodyPr/>
          <a:lstStyle/>
          <a:p>
            <a:fld id="{F9D7EBF3-8823-6344-93F9-1D63C9F38C8B}" type="datetime1">
              <a:rPr kumimoji="1" lang="ja-JP" altLang="en-US" smtClean="0"/>
              <a:t>2026/5/15</a:t>
            </a:fld>
            <a:endParaRPr kumimoji="1" lang="ja-JP" altLang="en-US"/>
          </a:p>
        </p:txBody>
      </p:sp>
      <p:graphicFrame>
        <p:nvGraphicFramePr>
          <p:cNvPr id="3" name="表 3">
            <a:extLst>
              <a:ext uri="{FF2B5EF4-FFF2-40B4-BE49-F238E27FC236}">
                <a16:creationId xmlns:a16="http://schemas.microsoft.com/office/drawing/2014/main" id="{048C204F-F723-1F15-0FC0-C19FD2672218}"/>
              </a:ext>
            </a:extLst>
          </p:cNvPr>
          <p:cNvGraphicFramePr>
            <a:graphicFrameLocks noGrp="1"/>
          </p:cNvGraphicFramePr>
          <p:nvPr/>
        </p:nvGraphicFramePr>
        <p:xfrm>
          <a:off x="609601" y="1535450"/>
          <a:ext cx="10744199" cy="4860479"/>
        </p:xfrm>
        <a:graphic>
          <a:graphicData uri="http://schemas.openxmlformats.org/drawingml/2006/table">
            <a:tbl>
              <a:tblPr firstRow="1" bandRow="1">
                <a:tableStyleId>{5C22544A-7EE6-4342-B048-85BDC9FD1C3A}</a:tableStyleId>
              </a:tblPr>
              <a:tblGrid>
                <a:gridCol w="2878282">
                  <a:extLst>
                    <a:ext uri="{9D8B030D-6E8A-4147-A177-3AD203B41FA5}">
                      <a16:colId xmlns:a16="http://schemas.microsoft.com/office/drawing/2014/main" val="1563685721"/>
                    </a:ext>
                  </a:extLst>
                </a:gridCol>
                <a:gridCol w="3377046">
                  <a:extLst>
                    <a:ext uri="{9D8B030D-6E8A-4147-A177-3AD203B41FA5}">
                      <a16:colId xmlns:a16="http://schemas.microsoft.com/office/drawing/2014/main" val="1319197667"/>
                    </a:ext>
                  </a:extLst>
                </a:gridCol>
                <a:gridCol w="4488871">
                  <a:extLst>
                    <a:ext uri="{9D8B030D-6E8A-4147-A177-3AD203B41FA5}">
                      <a16:colId xmlns:a16="http://schemas.microsoft.com/office/drawing/2014/main" val="534489431"/>
                    </a:ext>
                  </a:extLst>
                </a:gridCol>
              </a:tblGrid>
              <a:tr h="379919">
                <a:tc>
                  <a:txBody>
                    <a:bodyPr/>
                    <a:lstStyle/>
                    <a:p>
                      <a:r>
                        <a:rPr kumimoji="1" lang="en-US" altLang="ja-JP" dirty="0"/>
                        <a:t>Timing</a:t>
                      </a:r>
                      <a:r>
                        <a:rPr kumimoji="1" lang="ja-JP" altLang="en-US"/>
                        <a:t>　</a:t>
                      </a:r>
                      <a:r>
                        <a:rPr kumimoji="1" lang="en-US" altLang="ja-JP" dirty="0">
                          <a:solidFill>
                            <a:srgbClr val="FFC000"/>
                          </a:solidFill>
                        </a:rPr>
                        <a:t>(</a:t>
                      </a:r>
                      <a:r>
                        <a:rPr kumimoji="1" lang="ja-JP" altLang="en-US">
                          <a:solidFill>
                            <a:srgbClr val="FFC000"/>
                          </a:solidFill>
                        </a:rPr>
                        <a:t>原則担当医判断</a:t>
                      </a:r>
                      <a:r>
                        <a:rPr kumimoji="1" lang="en-US" altLang="ja-JP" dirty="0">
                          <a:solidFill>
                            <a:srgbClr val="FFC000"/>
                          </a:solidFill>
                        </a:rPr>
                        <a:t>)</a:t>
                      </a:r>
                      <a:endParaRPr kumimoji="1" lang="ja-JP" altLang="en-US">
                        <a:solidFill>
                          <a:srgbClr val="FFC000"/>
                        </a:solidFill>
                      </a:endParaRPr>
                    </a:p>
                  </a:txBody>
                  <a:tcPr/>
                </a:tc>
                <a:tc>
                  <a:txBody>
                    <a:bodyPr/>
                    <a:lstStyle/>
                    <a:p>
                      <a:r>
                        <a:rPr kumimoji="1" lang="ja-JP" altLang="en-US"/>
                        <a:t>確認事項</a:t>
                      </a:r>
                    </a:p>
                  </a:txBody>
                  <a:tcPr/>
                </a:tc>
                <a:tc>
                  <a:txBody>
                    <a:bodyPr/>
                    <a:lstStyle/>
                    <a:p>
                      <a:r>
                        <a:rPr kumimoji="1" lang="ja-JP" altLang="en-US"/>
                        <a:t>介入</a:t>
                      </a:r>
                    </a:p>
                  </a:txBody>
                  <a:tcPr/>
                </a:tc>
                <a:extLst>
                  <a:ext uri="{0D108BD9-81ED-4DB2-BD59-A6C34878D82A}">
                    <a16:rowId xmlns:a16="http://schemas.microsoft.com/office/drawing/2014/main" val="3688949774"/>
                  </a:ext>
                </a:extLst>
              </a:tr>
              <a:tr h="555559">
                <a:tc>
                  <a:txBody>
                    <a:bodyPr/>
                    <a:lstStyle/>
                    <a:p>
                      <a:r>
                        <a:rPr kumimoji="1" lang="en-US" altLang="ja-JP" dirty="0"/>
                        <a:t>Day1(</a:t>
                      </a:r>
                      <a:r>
                        <a:rPr kumimoji="1" lang="ja-JP" altLang="en-US"/>
                        <a:t>基本施行せず</a:t>
                      </a:r>
                      <a:r>
                        <a:rPr kumimoji="1" lang="en-US" altLang="ja-JP" dirty="0"/>
                        <a:t>)</a:t>
                      </a:r>
                    </a:p>
                  </a:txBody>
                  <a:tcPr/>
                </a:tc>
                <a:tc>
                  <a:txBody>
                    <a:bodyPr/>
                    <a:lstStyle/>
                    <a:p>
                      <a:r>
                        <a:rPr kumimoji="1" lang="en-US" altLang="ja-JP" dirty="0"/>
                        <a:t>CKH-R( </a:t>
                      </a:r>
                      <a:r>
                        <a:rPr kumimoji="1" lang="ja-JP" altLang="en-US"/>
                        <a:t>敗血症の場合</a:t>
                      </a:r>
                      <a:r>
                        <a:rPr kumimoji="1" lang="en-US" altLang="ja-JP" dirty="0"/>
                        <a:t>)</a:t>
                      </a:r>
                      <a:endParaRPr kumimoji="1" lang="ja-JP" altLang="en-US"/>
                    </a:p>
                  </a:txBody>
                  <a:tcPr/>
                </a:tc>
                <a:tc>
                  <a:txBody>
                    <a:bodyPr/>
                    <a:lstStyle/>
                    <a:p>
                      <a:pPr algn="l"/>
                      <a:r>
                        <a:rPr kumimoji="1" lang="ja-JP" altLang="en-US" b="1"/>
                        <a:t>初期蘇生は</a:t>
                      </a:r>
                      <a:r>
                        <a:rPr kumimoji="1" lang="en-US" altLang="ja-JP" b="1" dirty="0"/>
                        <a:t>FFP</a:t>
                      </a:r>
                      <a:r>
                        <a:rPr kumimoji="1" lang="ja-JP" altLang="en-US" b="1"/>
                        <a:t>メインで補充</a:t>
                      </a:r>
                      <a:endParaRPr kumimoji="1" lang="en-US" altLang="ja-JP" b="1" dirty="0"/>
                    </a:p>
                    <a:p>
                      <a:pPr algn="l"/>
                      <a:r>
                        <a:rPr kumimoji="1" lang="en-US" altLang="ja-JP" b="1" dirty="0"/>
                        <a:t>(flat line</a:t>
                      </a:r>
                      <a:r>
                        <a:rPr kumimoji="1" lang="ja-JP" altLang="en-US" b="1"/>
                        <a:t>の経験より</a:t>
                      </a:r>
                      <a:r>
                        <a:rPr kumimoji="1" lang="en-US" altLang="ja-JP" b="1" dirty="0"/>
                        <a:t>)</a:t>
                      </a:r>
                    </a:p>
                  </a:txBody>
                  <a:tcPr/>
                </a:tc>
                <a:extLst>
                  <a:ext uri="{0D108BD9-81ED-4DB2-BD59-A6C34878D82A}">
                    <a16:rowId xmlns:a16="http://schemas.microsoft.com/office/drawing/2014/main" val="2705143880"/>
                  </a:ext>
                </a:extLst>
              </a:tr>
              <a:tr h="555559">
                <a:tc>
                  <a:txBody>
                    <a:bodyPr/>
                    <a:lstStyle/>
                    <a:p>
                      <a:r>
                        <a:rPr kumimoji="1" lang="en-US" altLang="ja-JP" b="1" dirty="0">
                          <a:solidFill>
                            <a:schemeClr val="tx2"/>
                          </a:solidFill>
                        </a:rPr>
                        <a:t>Day2</a:t>
                      </a:r>
                      <a:endParaRPr kumimoji="1" lang="ja-JP" altLang="en-US" b="1">
                        <a:solidFill>
                          <a:schemeClr val="tx2"/>
                        </a:solidFill>
                      </a:endParaRPr>
                    </a:p>
                  </a:txBody>
                  <a:tcPr/>
                </a:tc>
                <a:tc>
                  <a:txBody>
                    <a:bodyPr/>
                    <a:lstStyle/>
                    <a:p>
                      <a:r>
                        <a:rPr kumimoji="1" lang="en-US" altLang="ja-JP" dirty="0"/>
                        <a:t>CKH-R</a:t>
                      </a:r>
                    </a:p>
                    <a:p>
                      <a:r>
                        <a:rPr kumimoji="1" lang="en-US" altLang="ja-JP" sz="2000" b="1" dirty="0"/>
                        <a:t>CK-R</a:t>
                      </a:r>
                      <a:r>
                        <a:rPr kumimoji="1" lang="ja-JP" altLang="en-US" sz="2000" b="1"/>
                        <a:t>と</a:t>
                      </a:r>
                      <a:r>
                        <a:rPr kumimoji="1" lang="en-US" altLang="ja-JP" sz="2000" b="1" dirty="0"/>
                        <a:t>APTT</a:t>
                      </a:r>
                      <a:r>
                        <a:rPr kumimoji="1" lang="ja-JP" altLang="en-US" sz="2000" b="1"/>
                        <a:t>の相関</a:t>
                      </a:r>
                      <a:endParaRPr kumimoji="1" lang="en-US" altLang="ja-JP" sz="2000" b="1" dirty="0"/>
                    </a:p>
                    <a:p>
                      <a:r>
                        <a:rPr kumimoji="1" lang="en-US" altLang="ja-JP" dirty="0"/>
                        <a:t>(Heparin</a:t>
                      </a:r>
                      <a:r>
                        <a:rPr kumimoji="1" lang="ja-JP" altLang="en-US"/>
                        <a:t>開始後</a:t>
                      </a:r>
                      <a:r>
                        <a:rPr kumimoji="1" lang="en-US" altLang="ja-JP" dirty="0"/>
                        <a:t>)</a:t>
                      </a:r>
                      <a:endParaRPr kumimoji="1" lang="ja-JP" altLang="en-US"/>
                    </a:p>
                  </a:txBody>
                  <a:tcPr/>
                </a:tc>
                <a:tc>
                  <a:txBody>
                    <a:bodyPr/>
                    <a:lstStyle/>
                    <a:p>
                      <a:r>
                        <a:rPr kumimoji="1" lang="en-US" altLang="ja-JP" b="1" dirty="0"/>
                        <a:t>CKH-R&gt;10〜12</a:t>
                      </a:r>
                      <a:r>
                        <a:rPr kumimoji="1" lang="ja-JP" altLang="en-US" b="1"/>
                        <a:t>のとき</a:t>
                      </a:r>
                      <a:r>
                        <a:rPr kumimoji="1" lang="en-US" altLang="ja-JP" b="1" dirty="0"/>
                        <a:t>FFP</a:t>
                      </a:r>
                      <a:r>
                        <a:rPr kumimoji="1" lang="ja-JP" altLang="en-US" b="1"/>
                        <a:t>補充</a:t>
                      </a:r>
                      <a:endParaRPr kumimoji="1" lang="en-US" altLang="ja-JP" b="1" dirty="0"/>
                    </a:p>
                    <a:p>
                      <a:r>
                        <a:rPr kumimoji="1" lang="en-US" altLang="ja-JP" dirty="0"/>
                        <a:t>CK-R </a:t>
                      </a:r>
                      <a:r>
                        <a:rPr kumimoji="1" lang="ja-JP" altLang="en-US"/>
                        <a:t>目標</a:t>
                      </a:r>
                      <a:r>
                        <a:rPr kumimoji="1" lang="en-US" altLang="ja-JP" dirty="0"/>
                        <a:t>16-24  </a:t>
                      </a:r>
                    </a:p>
                  </a:txBody>
                  <a:tcPr/>
                </a:tc>
                <a:extLst>
                  <a:ext uri="{0D108BD9-81ED-4DB2-BD59-A6C34878D82A}">
                    <a16:rowId xmlns:a16="http://schemas.microsoft.com/office/drawing/2014/main" val="3648203798"/>
                  </a:ext>
                </a:extLst>
              </a:tr>
              <a:tr h="5555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1" dirty="0">
                          <a:solidFill>
                            <a:schemeClr val="tx2"/>
                          </a:solidFill>
                        </a:rPr>
                        <a:t>Day3 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1" dirty="0">
                          <a:solidFill>
                            <a:schemeClr val="tx2"/>
                          </a:solidFill>
                        </a:rPr>
                        <a:t>Heparin</a:t>
                      </a:r>
                      <a:r>
                        <a:rPr kumimoji="1" lang="ja-JP" altLang="en-US" b="1">
                          <a:solidFill>
                            <a:schemeClr val="tx2"/>
                          </a:solidFill>
                        </a:rPr>
                        <a:t>開始翌日</a:t>
                      </a:r>
                      <a:endParaRPr kumimoji="1" lang="en-US" altLang="ja-JP" b="1" dirty="0">
                        <a:solidFill>
                          <a:schemeClr val="tx2"/>
                        </a:solidFill>
                      </a:endParaRPr>
                    </a:p>
                  </a:txBody>
                  <a:tcPr/>
                </a:tc>
                <a:tc>
                  <a:txBody>
                    <a:bodyPr/>
                    <a:lstStyle/>
                    <a:p>
                      <a:r>
                        <a:rPr kumimoji="1" lang="en-US" altLang="ja-JP" dirty="0"/>
                        <a:t>CKH-R, CK-R</a:t>
                      </a:r>
                    </a:p>
                  </a:txBody>
                  <a:tcPr/>
                </a:tc>
                <a:tc>
                  <a:txBody>
                    <a:bodyPr/>
                    <a:lstStyle/>
                    <a:p>
                      <a:r>
                        <a:rPr kumimoji="1" lang="en-US" altLang="ja-JP" dirty="0"/>
                        <a:t>Heparin</a:t>
                      </a:r>
                      <a:r>
                        <a:rPr kumimoji="1" lang="ja-JP" altLang="en-US"/>
                        <a:t>の調整</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1" dirty="0"/>
                        <a:t>CKH-R&gt;10〜12</a:t>
                      </a:r>
                      <a:r>
                        <a:rPr kumimoji="1" lang="ja-JP" altLang="en-US" b="1"/>
                        <a:t>のとき</a:t>
                      </a:r>
                      <a:r>
                        <a:rPr kumimoji="1" lang="en-US" altLang="ja-JP" b="1" dirty="0"/>
                        <a:t>FFP</a:t>
                      </a:r>
                      <a:r>
                        <a:rPr kumimoji="1" lang="ja-JP" altLang="en-US" b="1"/>
                        <a:t>補充</a:t>
                      </a:r>
                      <a:endParaRPr kumimoji="1" lang="en-US" altLang="ja-JP" b="1" dirty="0"/>
                    </a:p>
                  </a:txBody>
                  <a:tcPr/>
                </a:tc>
                <a:extLst>
                  <a:ext uri="{0D108BD9-81ED-4DB2-BD59-A6C34878D82A}">
                    <a16:rowId xmlns:a16="http://schemas.microsoft.com/office/drawing/2014/main" val="2766504409"/>
                  </a:ext>
                </a:extLst>
              </a:tr>
              <a:tr h="555559">
                <a:tc>
                  <a:txBody>
                    <a:bodyPr/>
                    <a:lstStyle/>
                    <a:p>
                      <a:r>
                        <a:rPr kumimoji="1" lang="en-US" altLang="ja-JP" b="1" dirty="0">
                          <a:solidFill>
                            <a:schemeClr val="tx2">
                              <a:lumMod val="50000"/>
                              <a:lumOff val="50000"/>
                            </a:schemeClr>
                          </a:solidFill>
                        </a:rPr>
                        <a:t>Day7</a:t>
                      </a:r>
                      <a:r>
                        <a:rPr kumimoji="1" lang="ja-JP" altLang="en-US" b="1">
                          <a:solidFill>
                            <a:schemeClr val="tx2">
                              <a:lumMod val="50000"/>
                              <a:lumOff val="50000"/>
                            </a:schemeClr>
                          </a:solidFill>
                        </a:rPr>
                        <a:t>以降</a:t>
                      </a:r>
                      <a:endParaRPr kumimoji="1" lang="en-US" altLang="ja-JP" b="1" dirty="0">
                        <a:solidFill>
                          <a:schemeClr val="tx2">
                            <a:lumMod val="50000"/>
                            <a:lumOff val="5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b="1"/>
                        <a:t>長期運用による通常検査ではわからない凝固異常</a:t>
                      </a:r>
                    </a:p>
                  </a:txBody>
                  <a:tcPr/>
                </a:tc>
                <a:tc>
                  <a:txBody>
                    <a:bodyPr/>
                    <a:lstStyle/>
                    <a:p>
                      <a:r>
                        <a:rPr kumimoji="1" lang="ja-JP" altLang="en-US"/>
                        <a:t>異常あれば以降もこまめに</a:t>
                      </a:r>
                      <a:r>
                        <a:rPr kumimoji="1" lang="en-US" altLang="ja-JP" dirty="0"/>
                        <a:t>TEG</a:t>
                      </a:r>
                      <a:r>
                        <a:rPr kumimoji="1" lang="ja-JP" altLang="en-US"/>
                        <a:t>検査</a:t>
                      </a:r>
                    </a:p>
                  </a:txBody>
                  <a:tcPr/>
                </a:tc>
                <a:extLst>
                  <a:ext uri="{0D108BD9-81ED-4DB2-BD59-A6C34878D82A}">
                    <a16:rowId xmlns:a16="http://schemas.microsoft.com/office/drawing/2014/main" val="2451338352"/>
                  </a:ext>
                </a:extLst>
              </a:tr>
              <a:tr h="555559">
                <a:tc>
                  <a:txBody>
                    <a:bodyPr/>
                    <a:lstStyle/>
                    <a:p>
                      <a:r>
                        <a:rPr kumimoji="1" lang="ja-JP" altLang="en-US"/>
                        <a:t>出血・血栓</a:t>
                      </a:r>
                      <a:r>
                        <a:rPr kumimoji="1" lang="en-US" altLang="ja-JP" dirty="0"/>
                        <a:t>Event</a:t>
                      </a:r>
                      <a:endParaRPr kumimoji="1" lang="ja-JP" altLang="en-US"/>
                    </a:p>
                  </a:txBody>
                  <a:tcPr/>
                </a:tc>
                <a:tc>
                  <a:txBody>
                    <a:bodyPr/>
                    <a:lstStyle/>
                    <a:p>
                      <a:r>
                        <a:rPr kumimoji="1" lang="en-US" altLang="ja-JP" dirty="0"/>
                        <a:t>CKH-R, CK-R</a:t>
                      </a:r>
                    </a:p>
                    <a:p>
                      <a:r>
                        <a:rPr kumimoji="1" lang="en-US" altLang="ja-JP" dirty="0"/>
                        <a:t>CFF-MA, CRT-MA</a:t>
                      </a:r>
                      <a:endParaRPr kumimoji="1" lang="ja-JP" altLang="en-US"/>
                    </a:p>
                  </a:txBody>
                  <a:tcPr/>
                </a:tc>
                <a:tc>
                  <a:txBody>
                    <a:bodyPr/>
                    <a:lstStyle/>
                    <a:p>
                      <a:r>
                        <a:rPr kumimoji="1" lang="en-US" altLang="ja-JP" dirty="0"/>
                        <a:t>Heparin</a:t>
                      </a:r>
                      <a:r>
                        <a:rPr kumimoji="1" lang="ja-JP" altLang="en-US"/>
                        <a:t>調整</a:t>
                      </a:r>
                      <a:endParaRPr kumimoji="1" lang="en-US" altLang="ja-JP" dirty="0"/>
                    </a:p>
                    <a:p>
                      <a:r>
                        <a:rPr kumimoji="1" lang="en-US" altLang="ja-JP" dirty="0"/>
                        <a:t>FFP, </a:t>
                      </a:r>
                      <a:r>
                        <a:rPr kumimoji="1" lang="en-US" altLang="ja-JP" dirty="0" err="1"/>
                        <a:t>Plt</a:t>
                      </a:r>
                      <a:r>
                        <a:rPr kumimoji="1" lang="ja-JP" altLang="en-US"/>
                        <a:t>補充</a:t>
                      </a:r>
                    </a:p>
                  </a:txBody>
                  <a:tcPr/>
                </a:tc>
                <a:extLst>
                  <a:ext uri="{0D108BD9-81ED-4DB2-BD59-A6C34878D82A}">
                    <a16:rowId xmlns:a16="http://schemas.microsoft.com/office/drawing/2014/main" val="2943769193"/>
                  </a:ext>
                </a:extLst>
              </a:tr>
              <a:tr h="555559">
                <a:tc>
                  <a:txBody>
                    <a:bodyPr/>
                    <a:lstStyle/>
                    <a:p>
                      <a:r>
                        <a:rPr kumimoji="1" lang="ja-JP" altLang="en-US">
                          <a:solidFill>
                            <a:srgbClr val="FF0000"/>
                          </a:solidFill>
                        </a:rPr>
                        <a:t>介入なしでの</a:t>
                      </a:r>
                      <a:r>
                        <a:rPr kumimoji="1" lang="en-US" altLang="ja-JP" dirty="0">
                          <a:solidFill>
                            <a:srgbClr val="FF0000"/>
                          </a:solidFill>
                        </a:rPr>
                        <a:t>APTT</a:t>
                      </a:r>
                      <a:r>
                        <a:rPr kumimoji="1" lang="ja-JP" altLang="en-US">
                          <a:solidFill>
                            <a:srgbClr val="FF0000"/>
                          </a:solidFill>
                        </a:rPr>
                        <a:t>の変化</a:t>
                      </a:r>
                      <a:endParaRPr kumimoji="1" lang="en-US" altLang="ja-JP" dirty="0">
                        <a:solidFill>
                          <a:srgbClr val="FF0000"/>
                        </a:solidFill>
                      </a:endParaRPr>
                    </a:p>
                    <a:p>
                      <a:r>
                        <a:rPr kumimoji="1" lang="en-US" altLang="ja-JP" dirty="0">
                          <a:solidFill>
                            <a:srgbClr val="FF0000"/>
                          </a:solidFill>
                        </a:rPr>
                        <a:t>FDP/DD</a:t>
                      </a:r>
                      <a:r>
                        <a:rPr kumimoji="1" lang="ja-JP" altLang="en-US">
                          <a:solidFill>
                            <a:srgbClr val="FF0000"/>
                          </a:solidFill>
                        </a:rPr>
                        <a:t>上昇</a:t>
                      </a:r>
                      <a:endParaRPr kumimoji="1" lang="en-US" altLang="ja-JP" dirty="0">
                        <a:solidFill>
                          <a:srgbClr val="FF0000"/>
                        </a:solidFill>
                      </a:endParaRPr>
                    </a:p>
                    <a:p>
                      <a:r>
                        <a:rPr kumimoji="1" lang="ja-JP" altLang="en-US">
                          <a:solidFill>
                            <a:srgbClr val="FF0000"/>
                          </a:solidFill>
                        </a:rPr>
                        <a:t>新規感染時</a:t>
                      </a:r>
                    </a:p>
                  </a:txBody>
                  <a:tcPr/>
                </a:tc>
                <a:tc>
                  <a:txBody>
                    <a:bodyPr/>
                    <a:lstStyle/>
                    <a:p>
                      <a:r>
                        <a:rPr kumimoji="1" lang="en-US" altLang="ja-JP" dirty="0"/>
                        <a:t>CKH-R, CK-R</a:t>
                      </a:r>
                    </a:p>
                    <a:p>
                      <a:r>
                        <a:rPr kumimoji="1" lang="en-US" altLang="ja-JP" dirty="0"/>
                        <a:t>CFF-MA, CRT-MA</a:t>
                      </a:r>
                      <a:r>
                        <a:rPr kumimoji="1" lang="ja-JP" altLang="en-US"/>
                        <a:t>で過凝固の確認</a:t>
                      </a:r>
                    </a:p>
                  </a:txBody>
                  <a:tcPr/>
                </a:tc>
                <a:tc>
                  <a:txBody>
                    <a:bodyPr/>
                    <a:lstStyle/>
                    <a:p>
                      <a:r>
                        <a:rPr kumimoji="1" lang="en-US" altLang="ja-JP" b="1" dirty="0"/>
                        <a:t>CFF-MA, CRT-MA</a:t>
                      </a:r>
                      <a:r>
                        <a:rPr kumimoji="1" lang="ja-JP" altLang="en-US" b="1"/>
                        <a:t>高値出現時は感染を疑う</a:t>
                      </a:r>
                      <a:endParaRPr kumimoji="1" lang="en-US" altLang="ja-JP" b="1" dirty="0"/>
                    </a:p>
                    <a:p>
                      <a:r>
                        <a:rPr kumimoji="1" lang="en-US" altLang="ja-JP" b="1" dirty="0"/>
                        <a:t>MA</a:t>
                      </a:r>
                      <a:r>
                        <a:rPr kumimoji="1" lang="ja-JP" altLang="en-US" b="1"/>
                        <a:t>高値の際は</a:t>
                      </a:r>
                      <a:r>
                        <a:rPr kumimoji="1" lang="en-US" altLang="ja-JP" b="1" dirty="0"/>
                        <a:t>CK-R</a:t>
                      </a:r>
                      <a:r>
                        <a:rPr kumimoji="1" lang="ja-JP" altLang="en-US" b="1"/>
                        <a:t>を延長ぎみに管理</a:t>
                      </a:r>
                    </a:p>
                  </a:txBody>
                  <a:tcPr/>
                </a:tc>
                <a:extLst>
                  <a:ext uri="{0D108BD9-81ED-4DB2-BD59-A6C34878D82A}">
                    <a16:rowId xmlns:a16="http://schemas.microsoft.com/office/drawing/2014/main" val="4204920626"/>
                  </a:ext>
                </a:extLst>
              </a:tr>
            </a:tbl>
          </a:graphicData>
        </a:graphic>
      </p:graphicFrame>
    </p:spTree>
    <p:extLst>
      <p:ext uri="{BB962C8B-B14F-4D97-AF65-F5344CB8AC3E}">
        <p14:creationId xmlns:p14="http://schemas.microsoft.com/office/powerpoint/2010/main" val="11058592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EAD948-287C-4A1B-4C6A-91CC2D2E107D}"/>
              </a:ext>
            </a:extLst>
          </p:cNvPr>
          <p:cNvSpPr>
            <a:spLocks noGrp="1"/>
          </p:cNvSpPr>
          <p:nvPr>
            <p:ph type="title"/>
          </p:nvPr>
        </p:nvSpPr>
        <p:spPr/>
        <p:txBody>
          <a:bodyPr/>
          <a:lstStyle/>
          <a:p>
            <a:r>
              <a:rPr lang="en-US" altLang="ja-JP" dirty="0"/>
              <a:t>CKH-R vs CK-R</a:t>
            </a:r>
            <a:endParaRPr kumimoji="1" lang="ja-JP" altLang="en-US"/>
          </a:p>
        </p:txBody>
      </p:sp>
      <p:pic>
        <p:nvPicPr>
          <p:cNvPr id="7" name="グラフィックス 6" descr="裁きの天秤 単色塗りつぶし">
            <a:extLst>
              <a:ext uri="{FF2B5EF4-FFF2-40B4-BE49-F238E27FC236}">
                <a16:creationId xmlns:a16="http://schemas.microsoft.com/office/drawing/2014/main" id="{E57D75BC-3CE5-2A5D-C614-81D0D89D181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01793" y="1134793"/>
            <a:ext cx="4588413" cy="4588413"/>
          </a:xfrm>
          <a:prstGeom prst="rect">
            <a:avLst/>
          </a:prstGeom>
        </p:spPr>
      </p:pic>
      <p:sp>
        <p:nvSpPr>
          <p:cNvPr id="8" name="フッター プレースホルダー 7">
            <a:extLst>
              <a:ext uri="{FF2B5EF4-FFF2-40B4-BE49-F238E27FC236}">
                <a16:creationId xmlns:a16="http://schemas.microsoft.com/office/drawing/2014/main" id="{EBEA73CC-FE57-279D-17A0-3F0EB799D7F4}"/>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9" name="スライド番号プレースホルダー 8">
            <a:extLst>
              <a:ext uri="{FF2B5EF4-FFF2-40B4-BE49-F238E27FC236}">
                <a16:creationId xmlns:a16="http://schemas.microsoft.com/office/drawing/2014/main" id="{F950ACD8-C056-97C3-E32B-8C26D4D39D73}"/>
              </a:ext>
            </a:extLst>
          </p:cNvPr>
          <p:cNvSpPr>
            <a:spLocks noGrp="1"/>
          </p:cNvSpPr>
          <p:nvPr>
            <p:ph type="sldNum" sz="quarter" idx="12"/>
          </p:nvPr>
        </p:nvSpPr>
        <p:spPr/>
        <p:txBody>
          <a:bodyPr/>
          <a:lstStyle/>
          <a:p>
            <a:r>
              <a:rPr lang="en-US" altLang="ja-JP"/>
              <a:t>No. </a:t>
            </a:r>
            <a:fld id="{41B87E3F-77EC-4EFD-94DE-AA3AEB7C7760}" type="slidenum">
              <a:rPr lang="ja-JP" altLang="en-US" smtClean="0"/>
              <a:pPr/>
              <a:t>63</a:t>
            </a:fld>
            <a:endParaRPr kumimoji="1" lang="ja-JP" altLang="en-US" dirty="0"/>
          </a:p>
        </p:txBody>
      </p:sp>
      <p:sp>
        <p:nvSpPr>
          <p:cNvPr id="10" name="日付プレースホルダー 9">
            <a:extLst>
              <a:ext uri="{FF2B5EF4-FFF2-40B4-BE49-F238E27FC236}">
                <a16:creationId xmlns:a16="http://schemas.microsoft.com/office/drawing/2014/main" id="{803AA961-9EFA-7132-BEF0-7B7E1261F3F0}"/>
              </a:ext>
            </a:extLst>
          </p:cNvPr>
          <p:cNvSpPr>
            <a:spLocks noGrp="1"/>
          </p:cNvSpPr>
          <p:nvPr>
            <p:ph type="dt" sz="half" idx="10"/>
          </p:nvPr>
        </p:nvSpPr>
        <p:spPr/>
        <p:txBody>
          <a:bodyPr/>
          <a:lstStyle/>
          <a:p>
            <a:fld id="{1E15EEAF-B529-9445-8C4F-3345C99E5D7E}" type="datetime1">
              <a:rPr kumimoji="1" lang="ja-JP" altLang="en-US" smtClean="0"/>
              <a:t>2026/5/15</a:t>
            </a:fld>
            <a:endParaRPr kumimoji="1" lang="ja-JP" altLang="en-US"/>
          </a:p>
        </p:txBody>
      </p:sp>
      <p:sp>
        <p:nvSpPr>
          <p:cNvPr id="3" name="角丸四角形 2">
            <a:extLst>
              <a:ext uri="{FF2B5EF4-FFF2-40B4-BE49-F238E27FC236}">
                <a16:creationId xmlns:a16="http://schemas.microsoft.com/office/drawing/2014/main" id="{A8EC1573-0678-93E2-89DD-4C78A1ACCCF2}"/>
              </a:ext>
            </a:extLst>
          </p:cNvPr>
          <p:cNvSpPr/>
          <p:nvPr/>
        </p:nvSpPr>
        <p:spPr>
          <a:xfrm>
            <a:off x="1023009" y="1780302"/>
            <a:ext cx="2371725" cy="749300"/>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600" b="1" dirty="0"/>
              <a:t>CKH-R</a:t>
            </a:r>
            <a:endParaRPr kumimoji="1" lang="ja-JP" altLang="en-US" sz="3600" b="1"/>
          </a:p>
        </p:txBody>
      </p:sp>
      <p:sp>
        <p:nvSpPr>
          <p:cNvPr id="4" name="角丸四角形 3">
            <a:extLst>
              <a:ext uri="{FF2B5EF4-FFF2-40B4-BE49-F238E27FC236}">
                <a16:creationId xmlns:a16="http://schemas.microsoft.com/office/drawing/2014/main" id="{6801DF0E-752A-E929-6480-97041F79D35A}"/>
              </a:ext>
            </a:extLst>
          </p:cNvPr>
          <p:cNvSpPr/>
          <p:nvPr/>
        </p:nvSpPr>
        <p:spPr>
          <a:xfrm>
            <a:off x="8568666" y="1780302"/>
            <a:ext cx="2371725" cy="749300"/>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600" b="1" dirty="0"/>
              <a:t>CK-R</a:t>
            </a:r>
            <a:endParaRPr kumimoji="1" lang="ja-JP" altLang="en-US" sz="3600" b="1"/>
          </a:p>
        </p:txBody>
      </p:sp>
      <p:sp>
        <p:nvSpPr>
          <p:cNvPr id="5" name="テキスト ボックス 4">
            <a:extLst>
              <a:ext uri="{FF2B5EF4-FFF2-40B4-BE49-F238E27FC236}">
                <a16:creationId xmlns:a16="http://schemas.microsoft.com/office/drawing/2014/main" id="{E003736C-096A-2C93-D2CB-87A63989AC5E}"/>
              </a:ext>
            </a:extLst>
          </p:cNvPr>
          <p:cNvSpPr txBox="1"/>
          <p:nvPr/>
        </p:nvSpPr>
        <p:spPr>
          <a:xfrm>
            <a:off x="7084353" y="2641004"/>
            <a:ext cx="5575300" cy="830997"/>
          </a:xfrm>
          <a:prstGeom prst="rect">
            <a:avLst/>
          </a:prstGeom>
          <a:noFill/>
        </p:spPr>
        <p:txBody>
          <a:bodyPr wrap="square" rtlCol="0">
            <a:spAutoFit/>
          </a:bodyPr>
          <a:lstStyle/>
          <a:p>
            <a:pPr algn="ctr"/>
            <a:r>
              <a:rPr lang="en-US" altLang="ja-JP" sz="2400" b="1" dirty="0"/>
              <a:t>16-24min</a:t>
            </a:r>
            <a:r>
              <a:rPr lang="ja-JP" altLang="en-US" sz="2400" b="1"/>
              <a:t>で管理するのが一般的</a:t>
            </a:r>
            <a:endParaRPr lang="en-US" altLang="ja-JP" sz="2400" b="1" dirty="0"/>
          </a:p>
          <a:p>
            <a:pPr algn="ctr"/>
            <a:r>
              <a:rPr kumimoji="1" lang="ja-JP" altLang="en-US" sz="2400" b="1"/>
              <a:t>もしくは</a:t>
            </a:r>
            <a:r>
              <a:rPr kumimoji="1" lang="en-US" altLang="ja-JP" sz="2400" b="1" dirty="0"/>
              <a:t>CKH-R</a:t>
            </a:r>
            <a:r>
              <a:rPr kumimoji="1" lang="ja-JP" altLang="en-US" sz="2400" b="1"/>
              <a:t>の</a:t>
            </a:r>
            <a:r>
              <a:rPr kumimoji="1" lang="en-US" altLang="ja-JP" sz="2400" b="1" dirty="0"/>
              <a:t>2〜3</a:t>
            </a:r>
            <a:r>
              <a:rPr kumimoji="1" lang="ja-JP" altLang="en-US" sz="2400" b="1"/>
              <a:t>倍</a:t>
            </a:r>
            <a:endParaRPr kumimoji="1" lang="en-US" altLang="ja-JP" sz="2400" b="1" dirty="0"/>
          </a:p>
        </p:txBody>
      </p:sp>
      <p:sp>
        <p:nvSpPr>
          <p:cNvPr id="6" name="テキスト ボックス 5">
            <a:extLst>
              <a:ext uri="{FF2B5EF4-FFF2-40B4-BE49-F238E27FC236}">
                <a16:creationId xmlns:a16="http://schemas.microsoft.com/office/drawing/2014/main" id="{2DE5A0FF-CA0D-CF1B-400A-0DFA1E4748D7}"/>
              </a:ext>
            </a:extLst>
          </p:cNvPr>
          <p:cNvSpPr txBox="1"/>
          <p:nvPr/>
        </p:nvSpPr>
        <p:spPr>
          <a:xfrm>
            <a:off x="-467652" y="2825669"/>
            <a:ext cx="5575300" cy="461665"/>
          </a:xfrm>
          <a:prstGeom prst="rect">
            <a:avLst/>
          </a:prstGeom>
          <a:noFill/>
        </p:spPr>
        <p:txBody>
          <a:bodyPr wrap="square" rtlCol="0">
            <a:spAutoFit/>
          </a:bodyPr>
          <a:lstStyle/>
          <a:p>
            <a:pPr algn="ctr"/>
            <a:r>
              <a:rPr kumimoji="1" lang="ja-JP" altLang="en-US" sz="2400" b="1"/>
              <a:t>明確な管理目標なし</a:t>
            </a:r>
            <a:endParaRPr kumimoji="1" lang="en-US" altLang="ja-JP" sz="2400" b="1" dirty="0"/>
          </a:p>
        </p:txBody>
      </p:sp>
      <p:sp>
        <p:nvSpPr>
          <p:cNvPr id="11" name="テキスト ボックス 10">
            <a:extLst>
              <a:ext uri="{FF2B5EF4-FFF2-40B4-BE49-F238E27FC236}">
                <a16:creationId xmlns:a16="http://schemas.microsoft.com/office/drawing/2014/main" id="{BCA1734A-D2ED-7628-5CC9-7EAE34007733}"/>
              </a:ext>
            </a:extLst>
          </p:cNvPr>
          <p:cNvSpPr txBox="1"/>
          <p:nvPr/>
        </p:nvSpPr>
        <p:spPr>
          <a:xfrm>
            <a:off x="243548" y="3673269"/>
            <a:ext cx="4152899" cy="461665"/>
          </a:xfrm>
          <a:prstGeom prst="rect">
            <a:avLst/>
          </a:prstGeom>
          <a:solidFill>
            <a:schemeClr val="accent1"/>
          </a:solidFill>
        </p:spPr>
        <p:txBody>
          <a:bodyPr wrap="square" rtlCol="0">
            <a:spAutoFit/>
          </a:bodyPr>
          <a:lstStyle/>
          <a:p>
            <a:r>
              <a:rPr kumimoji="1" lang="en-US" altLang="ja-JP" sz="2400" b="1" dirty="0">
                <a:solidFill>
                  <a:schemeClr val="bg1"/>
                </a:solidFill>
              </a:rPr>
              <a:t>CKH-R&gt;10〜14</a:t>
            </a:r>
            <a:r>
              <a:rPr kumimoji="1" lang="ja-JP" altLang="en-US" sz="2400" b="1">
                <a:solidFill>
                  <a:schemeClr val="bg1"/>
                </a:solidFill>
              </a:rPr>
              <a:t>→</a:t>
            </a:r>
            <a:r>
              <a:rPr kumimoji="1" lang="en-US" altLang="ja-JP" sz="2400" b="1" dirty="0">
                <a:solidFill>
                  <a:schemeClr val="bg1"/>
                </a:solidFill>
              </a:rPr>
              <a:t>FFP</a:t>
            </a:r>
            <a:r>
              <a:rPr kumimoji="1" lang="ja-JP" altLang="en-US" sz="2400" b="1">
                <a:solidFill>
                  <a:schemeClr val="bg1"/>
                </a:solidFill>
              </a:rPr>
              <a:t>投与考慮</a:t>
            </a:r>
          </a:p>
        </p:txBody>
      </p:sp>
      <p:sp>
        <p:nvSpPr>
          <p:cNvPr id="12" name="テキスト ボックス 11">
            <a:extLst>
              <a:ext uri="{FF2B5EF4-FFF2-40B4-BE49-F238E27FC236}">
                <a16:creationId xmlns:a16="http://schemas.microsoft.com/office/drawing/2014/main" id="{9100E43B-ABE5-A29B-6245-A6F4F25A4F38}"/>
              </a:ext>
            </a:extLst>
          </p:cNvPr>
          <p:cNvSpPr txBox="1"/>
          <p:nvPr/>
        </p:nvSpPr>
        <p:spPr>
          <a:xfrm>
            <a:off x="7952253" y="3583403"/>
            <a:ext cx="4152900" cy="1200329"/>
          </a:xfrm>
          <a:prstGeom prst="rect">
            <a:avLst/>
          </a:prstGeom>
          <a:solidFill>
            <a:schemeClr val="accent1"/>
          </a:solidFill>
        </p:spPr>
        <p:txBody>
          <a:bodyPr wrap="square" rtlCol="0">
            <a:spAutoFit/>
          </a:bodyPr>
          <a:lstStyle/>
          <a:p>
            <a:r>
              <a:rPr kumimoji="1" lang="en-US" altLang="ja-JP" sz="2400" b="1" dirty="0">
                <a:solidFill>
                  <a:schemeClr val="bg1"/>
                </a:solidFill>
              </a:rPr>
              <a:t>CK-R 1</a:t>
            </a:r>
            <a:r>
              <a:rPr lang="en-US" altLang="ja-JP" sz="2400" b="1" dirty="0">
                <a:solidFill>
                  <a:schemeClr val="bg1"/>
                </a:solidFill>
              </a:rPr>
              <a:t>6〜24</a:t>
            </a:r>
            <a:r>
              <a:rPr lang="ja-JP" altLang="en-US" sz="2400" b="1">
                <a:solidFill>
                  <a:schemeClr val="bg1"/>
                </a:solidFill>
              </a:rPr>
              <a:t>でヘパリン調整</a:t>
            </a:r>
            <a:endParaRPr lang="en-US" altLang="ja-JP" sz="2400" b="1" dirty="0">
              <a:solidFill>
                <a:schemeClr val="bg1"/>
              </a:solidFill>
            </a:endParaRPr>
          </a:p>
          <a:p>
            <a:r>
              <a:rPr kumimoji="1" lang="en-US" altLang="ja-JP" sz="2400" b="1" dirty="0">
                <a:solidFill>
                  <a:schemeClr val="bg1"/>
                </a:solidFill>
              </a:rPr>
              <a:t>CKH</a:t>
            </a:r>
            <a:r>
              <a:rPr kumimoji="1" lang="ja-JP" altLang="en-US" sz="2400" b="1">
                <a:solidFill>
                  <a:schemeClr val="bg1"/>
                </a:solidFill>
              </a:rPr>
              <a:t>延長あるときはヘパリン</a:t>
            </a:r>
            <a:endParaRPr kumimoji="1" lang="en-US" altLang="ja-JP" sz="2400" b="1" dirty="0">
              <a:solidFill>
                <a:schemeClr val="bg1"/>
              </a:solidFill>
            </a:endParaRPr>
          </a:p>
          <a:p>
            <a:r>
              <a:rPr kumimoji="1" lang="ja-JP" altLang="en-US" sz="2400" b="1">
                <a:solidFill>
                  <a:schemeClr val="bg1"/>
                </a:solidFill>
              </a:rPr>
              <a:t>開始時期検討</a:t>
            </a:r>
          </a:p>
        </p:txBody>
      </p:sp>
      <p:sp>
        <p:nvSpPr>
          <p:cNvPr id="13" name="テキスト ボックス 12">
            <a:extLst>
              <a:ext uri="{FF2B5EF4-FFF2-40B4-BE49-F238E27FC236}">
                <a16:creationId xmlns:a16="http://schemas.microsoft.com/office/drawing/2014/main" id="{FB818E5E-90D2-B2FE-980D-2E1CE2E9CCE4}"/>
              </a:ext>
            </a:extLst>
          </p:cNvPr>
          <p:cNvSpPr txBox="1"/>
          <p:nvPr/>
        </p:nvSpPr>
        <p:spPr>
          <a:xfrm>
            <a:off x="86847" y="4709003"/>
            <a:ext cx="13296900" cy="1692771"/>
          </a:xfrm>
          <a:prstGeom prst="rect">
            <a:avLst/>
          </a:prstGeom>
          <a:noFill/>
        </p:spPr>
        <p:txBody>
          <a:bodyPr wrap="square" rtlCol="0">
            <a:spAutoFit/>
          </a:bodyPr>
          <a:lstStyle/>
          <a:p>
            <a:r>
              <a:rPr kumimoji="1" lang="ja-JP" altLang="en-US" sz="2400" b="1"/>
              <a:t>自己の凝固因子を反映する</a:t>
            </a:r>
            <a:r>
              <a:rPr kumimoji="1" lang="en-US" altLang="ja-JP" sz="2400" b="1" dirty="0"/>
              <a:t>CKH-R</a:t>
            </a:r>
            <a:r>
              <a:rPr lang="ja-JP" altLang="en-US" sz="2400" b="1"/>
              <a:t>をみて</a:t>
            </a:r>
            <a:endParaRPr lang="en-US" altLang="ja-JP" sz="2400" b="1" dirty="0"/>
          </a:p>
          <a:p>
            <a:r>
              <a:rPr lang="ja-JP" altLang="en-US" sz="2400" b="1">
                <a:solidFill>
                  <a:srgbClr val="00B050"/>
                </a:solidFill>
              </a:rPr>
              <a:t>「先に自己の凝固因子を補充して立て直すべき</a:t>
            </a:r>
            <a:r>
              <a:rPr lang="en-US" altLang="ja-JP" sz="2400" b="1" dirty="0">
                <a:solidFill>
                  <a:srgbClr val="00B050"/>
                </a:solidFill>
              </a:rPr>
              <a:t>, </a:t>
            </a:r>
            <a:r>
              <a:rPr lang="ja-JP" altLang="en-US" sz="2400" b="1">
                <a:solidFill>
                  <a:srgbClr val="00B050"/>
                </a:solidFill>
              </a:rPr>
              <a:t>立て直した上で</a:t>
            </a:r>
            <a:r>
              <a:rPr lang="en-US" altLang="ja-JP" sz="2400" b="1" dirty="0">
                <a:solidFill>
                  <a:srgbClr val="00B050"/>
                </a:solidFill>
              </a:rPr>
              <a:t>CK-R</a:t>
            </a:r>
            <a:r>
              <a:rPr lang="ja-JP" altLang="en-US" sz="2400" b="1">
                <a:solidFill>
                  <a:srgbClr val="00B050"/>
                </a:solidFill>
              </a:rPr>
              <a:t>を目標値に</a:t>
            </a:r>
            <a:r>
              <a:rPr lang="en-US" altLang="ja-JP" sz="2400" b="1" dirty="0">
                <a:solidFill>
                  <a:srgbClr val="00B050"/>
                </a:solidFill>
              </a:rPr>
              <a:t> </a:t>
            </a:r>
            <a:r>
              <a:rPr lang="ja-JP" altLang="en-US" sz="2400" b="1">
                <a:solidFill>
                  <a:srgbClr val="00B050"/>
                </a:solidFill>
              </a:rPr>
              <a:t>」</a:t>
            </a:r>
            <a:r>
              <a:rPr lang="ja-JP" altLang="en-US" sz="2400" b="1"/>
              <a:t>か</a:t>
            </a:r>
            <a:endParaRPr lang="en-US" altLang="ja-JP" sz="2400" b="1" dirty="0"/>
          </a:p>
          <a:p>
            <a:r>
              <a:rPr lang="ja-JP" altLang="en-US" sz="2400" b="1">
                <a:solidFill>
                  <a:srgbClr val="FF0000"/>
                </a:solidFill>
              </a:rPr>
              <a:t>「延長していてもあくまで</a:t>
            </a:r>
            <a:r>
              <a:rPr lang="en-US" altLang="ja-JP" sz="2400" b="1" dirty="0">
                <a:solidFill>
                  <a:srgbClr val="FF0000"/>
                </a:solidFill>
              </a:rPr>
              <a:t>CK-R</a:t>
            </a:r>
            <a:r>
              <a:rPr lang="ja-JP" altLang="en-US" sz="2400" b="1">
                <a:solidFill>
                  <a:srgbClr val="FF0000"/>
                </a:solidFill>
              </a:rPr>
              <a:t>で</a:t>
            </a:r>
            <a:r>
              <a:rPr lang="en-US" altLang="ja-JP" sz="2400" b="1" dirty="0">
                <a:solidFill>
                  <a:srgbClr val="FF0000"/>
                </a:solidFill>
              </a:rPr>
              <a:t>16〜24</a:t>
            </a:r>
            <a:r>
              <a:rPr lang="ja-JP" altLang="en-US" sz="2400" b="1">
                <a:solidFill>
                  <a:srgbClr val="FF0000"/>
                </a:solidFill>
              </a:rPr>
              <a:t>を目指す」</a:t>
            </a:r>
            <a:r>
              <a:rPr lang="ja-JP" altLang="en-US" sz="2400" b="1"/>
              <a:t>かは未知の問題</a:t>
            </a:r>
            <a:endParaRPr lang="en-US" altLang="ja-JP" sz="2400" b="1" dirty="0"/>
          </a:p>
          <a:p>
            <a:r>
              <a:rPr lang="ja-JP" altLang="en-US" sz="2800" b="1">
                <a:solidFill>
                  <a:schemeClr val="accent1"/>
                </a:solidFill>
              </a:rPr>
              <a:t>東部救命救急センター</a:t>
            </a:r>
            <a:r>
              <a:rPr lang="ja-JP" altLang="en-US" sz="2400" b="1"/>
              <a:t>ではどちらかといえば</a:t>
            </a:r>
            <a:r>
              <a:rPr lang="ja-JP" altLang="en-US" sz="2400" b="1">
                <a:solidFill>
                  <a:srgbClr val="00B050"/>
                </a:solidFill>
              </a:rPr>
              <a:t>前者の考え方</a:t>
            </a:r>
            <a:r>
              <a:rPr lang="ja-JP" altLang="en-US" sz="2400" b="1"/>
              <a:t>で現行は動いている</a:t>
            </a:r>
            <a:endParaRPr kumimoji="1" lang="ja-JP" altLang="en-US" sz="2400" b="1"/>
          </a:p>
        </p:txBody>
      </p:sp>
      <p:pic>
        <p:nvPicPr>
          <p:cNvPr id="14" name="グラフィックス 13" descr="疑問符 単色塗りつぶし">
            <a:extLst>
              <a:ext uri="{FF2B5EF4-FFF2-40B4-BE49-F238E27FC236}">
                <a16:creationId xmlns:a16="http://schemas.microsoft.com/office/drawing/2014/main" id="{DBA45000-0624-CCD6-3C1B-0048DD0489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57018" y="956320"/>
            <a:ext cx="2385353" cy="2385353"/>
          </a:xfrm>
          <a:prstGeom prst="rect">
            <a:avLst/>
          </a:prstGeom>
        </p:spPr>
      </p:pic>
    </p:spTree>
    <p:extLst>
      <p:ext uri="{BB962C8B-B14F-4D97-AF65-F5344CB8AC3E}">
        <p14:creationId xmlns:p14="http://schemas.microsoft.com/office/powerpoint/2010/main" val="4056074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F58CC4-7F27-DAAE-8528-ED5ABEBE9962}"/>
              </a:ext>
            </a:extLst>
          </p:cNvPr>
          <p:cNvSpPr>
            <a:spLocks noGrp="1"/>
          </p:cNvSpPr>
          <p:nvPr>
            <p:ph type="title"/>
          </p:nvPr>
        </p:nvSpPr>
        <p:spPr/>
        <p:txBody>
          <a:bodyPr/>
          <a:lstStyle/>
          <a:p>
            <a:r>
              <a:rPr lang="ja-JP" altLang="en-US"/>
              <a:t>ピットフォール</a:t>
            </a:r>
            <a:endParaRPr kumimoji="1" lang="ja-JP" altLang="en-US"/>
          </a:p>
        </p:txBody>
      </p:sp>
      <p:sp>
        <p:nvSpPr>
          <p:cNvPr id="3" name="コンテンツ プレースホルダー 2">
            <a:extLst>
              <a:ext uri="{FF2B5EF4-FFF2-40B4-BE49-F238E27FC236}">
                <a16:creationId xmlns:a16="http://schemas.microsoft.com/office/drawing/2014/main" id="{1ECD4B80-8DE8-245D-4256-B81F66E4BBD1}"/>
              </a:ext>
            </a:extLst>
          </p:cNvPr>
          <p:cNvSpPr>
            <a:spLocks noGrp="1"/>
          </p:cNvSpPr>
          <p:nvPr>
            <p:ph idx="1"/>
          </p:nvPr>
        </p:nvSpPr>
        <p:spPr>
          <a:xfrm>
            <a:off x="228625" y="2104829"/>
            <a:ext cx="11734750" cy="1058252"/>
          </a:xfrm>
        </p:spPr>
        <p:txBody>
          <a:bodyPr>
            <a:noAutofit/>
          </a:bodyPr>
          <a:lstStyle/>
          <a:p>
            <a:pPr marL="0" indent="0">
              <a:buNone/>
            </a:pPr>
            <a:r>
              <a:rPr kumimoji="1" lang="ja-JP" altLang="en-US" sz="3200"/>
              <a:t>・動脈ラインからの採血の場合</a:t>
            </a:r>
            <a:r>
              <a:rPr lang="ja-JP" altLang="en-US" sz="3200"/>
              <a:t>に</a:t>
            </a:r>
            <a:r>
              <a:rPr lang="ja-JP" altLang="en-US" sz="3200" u="sng">
                <a:solidFill>
                  <a:srgbClr val="FF0000"/>
                </a:solidFill>
              </a:rPr>
              <a:t>ライン内のヘパリンの混入</a:t>
            </a:r>
            <a:r>
              <a:rPr lang="ja-JP" altLang="en-US" sz="3200"/>
              <a:t>を　　　　　　</a:t>
            </a:r>
            <a:endParaRPr lang="en-US" altLang="ja-JP" sz="3200" dirty="0"/>
          </a:p>
          <a:p>
            <a:pPr marL="0" indent="0">
              <a:buNone/>
            </a:pPr>
            <a:r>
              <a:rPr lang="ja-JP" altLang="en-US" sz="3200"/>
              <a:t>　きたし結果が影響される可能性がある</a:t>
            </a:r>
            <a:r>
              <a:rPr lang="en-US" altLang="ja-JP" sz="3200" dirty="0"/>
              <a:t>.</a:t>
            </a:r>
            <a:endParaRPr kumimoji="1" lang="ja-JP" altLang="en-US" sz="3200"/>
          </a:p>
        </p:txBody>
      </p:sp>
      <p:sp>
        <p:nvSpPr>
          <p:cNvPr id="7" name="コンテンツ プレースホルダー 2">
            <a:extLst>
              <a:ext uri="{FF2B5EF4-FFF2-40B4-BE49-F238E27FC236}">
                <a16:creationId xmlns:a16="http://schemas.microsoft.com/office/drawing/2014/main" id="{BAE470C2-C561-6769-4AD6-B736D431C3BD}"/>
              </a:ext>
            </a:extLst>
          </p:cNvPr>
          <p:cNvSpPr txBox="1">
            <a:spLocks/>
          </p:cNvSpPr>
          <p:nvPr/>
        </p:nvSpPr>
        <p:spPr>
          <a:xfrm>
            <a:off x="228625" y="3694920"/>
            <a:ext cx="11112500" cy="105825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3200"/>
              <a:t>・</a:t>
            </a:r>
            <a:r>
              <a:rPr lang="en-US" altLang="ja-JP" sz="3200" u="sng" dirty="0">
                <a:solidFill>
                  <a:srgbClr val="FF0000"/>
                </a:solidFill>
              </a:rPr>
              <a:t>CKH-R, CK-R, CK-R/CKH-R</a:t>
            </a:r>
            <a:r>
              <a:rPr lang="ja-JP" altLang="en-US" sz="3200" u="sng">
                <a:solidFill>
                  <a:srgbClr val="FF0000"/>
                </a:solidFill>
              </a:rPr>
              <a:t>の至適範囲はいまだ定かではなく</a:t>
            </a:r>
            <a:r>
              <a:rPr lang="en-US" altLang="ja-JP" sz="3200" dirty="0"/>
              <a:t>, </a:t>
            </a:r>
          </a:p>
          <a:p>
            <a:pPr marL="0" indent="0">
              <a:buFont typeface="Arial" panose="020B0604020202020204" pitchFamily="34" charset="0"/>
              <a:buNone/>
            </a:pPr>
            <a:r>
              <a:rPr lang="en-US" altLang="ja-JP" sz="3200" dirty="0"/>
              <a:t>    </a:t>
            </a:r>
            <a:r>
              <a:rPr lang="ja-JP" altLang="en-US" sz="3200"/>
              <a:t>あくまで一つの</a:t>
            </a:r>
            <a:r>
              <a:rPr lang="en-US" altLang="ja-JP" sz="3200" dirty="0"/>
              <a:t>Point of care testing</a:t>
            </a:r>
            <a:r>
              <a:rPr lang="ja-JP" altLang="en-US" sz="3200"/>
              <a:t>と捉える必要がある</a:t>
            </a:r>
            <a:r>
              <a:rPr lang="en-US" altLang="ja-JP" sz="3200" dirty="0"/>
              <a:t>.</a:t>
            </a:r>
            <a:endParaRPr lang="ja-JP" altLang="en-US" sz="3200"/>
          </a:p>
        </p:txBody>
      </p:sp>
      <p:sp>
        <p:nvSpPr>
          <p:cNvPr id="8" name="フッター プレースホルダー 7">
            <a:extLst>
              <a:ext uri="{FF2B5EF4-FFF2-40B4-BE49-F238E27FC236}">
                <a16:creationId xmlns:a16="http://schemas.microsoft.com/office/drawing/2014/main" id="{1C110D9A-6054-D9E3-8FAA-A60070C1D8BC}"/>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9" name="スライド番号プレースホルダー 8">
            <a:extLst>
              <a:ext uri="{FF2B5EF4-FFF2-40B4-BE49-F238E27FC236}">
                <a16:creationId xmlns:a16="http://schemas.microsoft.com/office/drawing/2014/main" id="{088ECF48-CF81-93D8-0FFB-BE35083530D6}"/>
              </a:ext>
            </a:extLst>
          </p:cNvPr>
          <p:cNvSpPr>
            <a:spLocks noGrp="1"/>
          </p:cNvSpPr>
          <p:nvPr>
            <p:ph type="sldNum" sz="quarter" idx="12"/>
          </p:nvPr>
        </p:nvSpPr>
        <p:spPr/>
        <p:txBody>
          <a:bodyPr/>
          <a:lstStyle/>
          <a:p>
            <a:r>
              <a:rPr lang="en-US" altLang="ja-JP"/>
              <a:t>No. </a:t>
            </a:r>
            <a:fld id="{41B87E3F-77EC-4EFD-94DE-AA3AEB7C7760}" type="slidenum">
              <a:rPr lang="ja-JP" altLang="en-US" smtClean="0"/>
              <a:pPr/>
              <a:t>64</a:t>
            </a:fld>
            <a:endParaRPr kumimoji="1" lang="ja-JP" altLang="en-US" dirty="0"/>
          </a:p>
        </p:txBody>
      </p:sp>
      <p:sp>
        <p:nvSpPr>
          <p:cNvPr id="10" name="日付プレースホルダー 9">
            <a:extLst>
              <a:ext uri="{FF2B5EF4-FFF2-40B4-BE49-F238E27FC236}">
                <a16:creationId xmlns:a16="http://schemas.microsoft.com/office/drawing/2014/main" id="{57116B64-3D6C-FA5A-4E6E-9EC4F0DACBAA}"/>
              </a:ext>
            </a:extLst>
          </p:cNvPr>
          <p:cNvSpPr>
            <a:spLocks noGrp="1"/>
          </p:cNvSpPr>
          <p:nvPr>
            <p:ph type="dt" sz="half" idx="10"/>
          </p:nvPr>
        </p:nvSpPr>
        <p:spPr/>
        <p:txBody>
          <a:bodyPr/>
          <a:lstStyle/>
          <a:p>
            <a:fld id="{C88C3EFD-E6FB-0040-AC6B-21D79FF476AE}" type="datetime1">
              <a:rPr kumimoji="1" lang="ja-JP" altLang="en-US" smtClean="0"/>
              <a:t>2026/5/15</a:t>
            </a:fld>
            <a:endParaRPr kumimoji="1" lang="ja-JP" altLang="en-US"/>
          </a:p>
        </p:txBody>
      </p:sp>
    </p:spTree>
    <p:extLst>
      <p:ext uri="{BB962C8B-B14F-4D97-AF65-F5344CB8AC3E}">
        <p14:creationId xmlns:p14="http://schemas.microsoft.com/office/powerpoint/2010/main" val="3979932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A458AA-3415-D48A-70CD-A03338BA2BC2}"/>
              </a:ext>
            </a:extLst>
          </p:cNvPr>
          <p:cNvSpPr>
            <a:spLocks noGrp="1"/>
          </p:cNvSpPr>
          <p:nvPr>
            <p:ph type="title"/>
          </p:nvPr>
        </p:nvSpPr>
        <p:spPr/>
        <p:txBody>
          <a:bodyPr>
            <a:normAutofit/>
          </a:bodyPr>
          <a:lstStyle/>
          <a:p>
            <a:r>
              <a:rPr kumimoji="1" lang="en-US" altLang="ja-JP" dirty="0"/>
              <a:t>ECMO×TEG GH</a:t>
            </a:r>
            <a:endParaRPr kumimoji="1" lang="ja-JP" altLang="en-US"/>
          </a:p>
        </p:txBody>
      </p:sp>
      <p:sp>
        <p:nvSpPr>
          <p:cNvPr id="8" name="正方形/長方形 7">
            <a:extLst>
              <a:ext uri="{FF2B5EF4-FFF2-40B4-BE49-F238E27FC236}">
                <a16:creationId xmlns:a16="http://schemas.microsoft.com/office/drawing/2014/main" id="{EE8B1361-E8B8-F22E-EBE5-A1D82FA78433}"/>
              </a:ext>
            </a:extLst>
          </p:cNvPr>
          <p:cNvSpPr/>
          <p:nvPr/>
        </p:nvSpPr>
        <p:spPr>
          <a:xfrm>
            <a:off x="2686243" y="1621890"/>
            <a:ext cx="6713034" cy="536867"/>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t>1</a:t>
            </a:r>
            <a:r>
              <a:rPr kumimoji="1" lang="ja-JP" altLang="en-US" sz="2800"/>
              <a:t>日</a:t>
            </a:r>
            <a:r>
              <a:rPr kumimoji="1" lang="en-US" altLang="ja-JP" sz="2800" dirty="0"/>
              <a:t>4</a:t>
            </a:r>
            <a:r>
              <a:rPr kumimoji="1" lang="ja-JP" altLang="en-US" sz="2800"/>
              <a:t>回</a:t>
            </a:r>
            <a:r>
              <a:rPr kumimoji="1" lang="en-US" altLang="ja-JP" sz="2800" dirty="0"/>
              <a:t>(</a:t>
            </a:r>
            <a:r>
              <a:rPr kumimoji="1" lang="ja-JP" altLang="en-US" sz="2800"/>
              <a:t>０時</a:t>
            </a:r>
            <a:r>
              <a:rPr kumimoji="1" lang="en-US" altLang="ja-JP" sz="2800" dirty="0"/>
              <a:t>, </a:t>
            </a:r>
            <a:r>
              <a:rPr kumimoji="1" lang="ja-JP" altLang="en-US" sz="2800"/>
              <a:t>６時</a:t>
            </a:r>
            <a:r>
              <a:rPr kumimoji="1" lang="en-US" altLang="ja-JP" sz="2800" dirty="0"/>
              <a:t>,  12</a:t>
            </a:r>
            <a:r>
              <a:rPr kumimoji="1" lang="ja-JP" altLang="en-US" sz="2800"/>
              <a:t>時</a:t>
            </a:r>
            <a:r>
              <a:rPr kumimoji="1" lang="en-US" altLang="ja-JP" sz="2800" dirty="0"/>
              <a:t>, 18</a:t>
            </a:r>
            <a:r>
              <a:rPr kumimoji="1" lang="ja-JP" altLang="en-US" sz="2800"/>
              <a:t>時</a:t>
            </a:r>
            <a:r>
              <a:rPr kumimoji="1" lang="en-US" altLang="ja-JP" sz="2800" dirty="0"/>
              <a:t>)</a:t>
            </a:r>
            <a:endParaRPr kumimoji="1" lang="ja-JP" altLang="en-US" sz="2800"/>
          </a:p>
        </p:txBody>
      </p:sp>
      <p:sp>
        <p:nvSpPr>
          <p:cNvPr id="9" name="円/楕円 8">
            <a:extLst>
              <a:ext uri="{FF2B5EF4-FFF2-40B4-BE49-F238E27FC236}">
                <a16:creationId xmlns:a16="http://schemas.microsoft.com/office/drawing/2014/main" id="{1DEFDF19-D41A-B531-6704-249951543CF4}"/>
              </a:ext>
            </a:extLst>
          </p:cNvPr>
          <p:cNvSpPr/>
          <p:nvPr/>
        </p:nvSpPr>
        <p:spPr>
          <a:xfrm>
            <a:off x="1147549" y="2172327"/>
            <a:ext cx="3077388" cy="702527"/>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a:t>血算</a:t>
            </a:r>
            <a:endParaRPr kumimoji="1" lang="en-US" altLang="ja-JP" sz="2800" dirty="0"/>
          </a:p>
        </p:txBody>
      </p:sp>
      <p:sp>
        <p:nvSpPr>
          <p:cNvPr id="10" name="円/楕円 9">
            <a:extLst>
              <a:ext uri="{FF2B5EF4-FFF2-40B4-BE49-F238E27FC236}">
                <a16:creationId xmlns:a16="http://schemas.microsoft.com/office/drawing/2014/main" id="{5611D7A0-9479-35DA-767E-08ADD31E9A4F}"/>
              </a:ext>
            </a:extLst>
          </p:cNvPr>
          <p:cNvSpPr/>
          <p:nvPr/>
        </p:nvSpPr>
        <p:spPr>
          <a:xfrm>
            <a:off x="4572760" y="2178059"/>
            <a:ext cx="3077388" cy="696795"/>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a:t>凝固</a:t>
            </a:r>
            <a:endParaRPr kumimoji="1" lang="en-US" altLang="ja-JP" sz="2800" dirty="0"/>
          </a:p>
        </p:txBody>
      </p:sp>
      <p:sp>
        <p:nvSpPr>
          <p:cNvPr id="11" name="円/楕円 10">
            <a:extLst>
              <a:ext uri="{FF2B5EF4-FFF2-40B4-BE49-F238E27FC236}">
                <a16:creationId xmlns:a16="http://schemas.microsoft.com/office/drawing/2014/main" id="{5280533B-D6CF-9C61-2DA9-00F4D2D65041}"/>
              </a:ext>
            </a:extLst>
          </p:cNvPr>
          <p:cNvSpPr/>
          <p:nvPr/>
        </p:nvSpPr>
        <p:spPr>
          <a:xfrm>
            <a:off x="7997971" y="2158757"/>
            <a:ext cx="3077387" cy="696795"/>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t>ACT</a:t>
            </a:r>
          </a:p>
        </p:txBody>
      </p:sp>
      <p:sp>
        <p:nvSpPr>
          <p:cNvPr id="14" name="フッター プレースホルダー 13">
            <a:extLst>
              <a:ext uri="{FF2B5EF4-FFF2-40B4-BE49-F238E27FC236}">
                <a16:creationId xmlns:a16="http://schemas.microsoft.com/office/drawing/2014/main" id="{65BC8623-3897-DF80-0644-D019A1D8B8AF}"/>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16" name="日付プレースホルダー 15">
            <a:extLst>
              <a:ext uri="{FF2B5EF4-FFF2-40B4-BE49-F238E27FC236}">
                <a16:creationId xmlns:a16="http://schemas.microsoft.com/office/drawing/2014/main" id="{ED92C933-BF58-053F-AB13-CE95A55431D5}"/>
              </a:ext>
            </a:extLst>
          </p:cNvPr>
          <p:cNvSpPr>
            <a:spLocks noGrp="1"/>
          </p:cNvSpPr>
          <p:nvPr>
            <p:ph type="dt" sz="half" idx="10"/>
          </p:nvPr>
        </p:nvSpPr>
        <p:spPr/>
        <p:txBody>
          <a:bodyPr/>
          <a:lstStyle/>
          <a:p>
            <a:fld id="{3589139E-0855-3647-8C8B-1D0E050578E1}" type="datetime1">
              <a:rPr kumimoji="1" lang="ja-JP" altLang="en-US" smtClean="0"/>
              <a:t>2026/5/15</a:t>
            </a:fld>
            <a:endParaRPr kumimoji="1" lang="ja-JP" altLang="en-US"/>
          </a:p>
        </p:txBody>
      </p:sp>
      <p:sp>
        <p:nvSpPr>
          <p:cNvPr id="4" name="正方形/長方形 3">
            <a:extLst>
              <a:ext uri="{FF2B5EF4-FFF2-40B4-BE49-F238E27FC236}">
                <a16:creationId xmlns:a16="http://schemas.microsoft.com/office/drawing/2014/main" id="{1AEC58BF-724E-A51A-E95D-BD05DD77E72B}"/>
              </a:ext>
            </a:extLst>
          </p:cNvPr>
          <p:cNvSpPr/>
          <p:nvPr/>
        </p:nvSpPr>
        <p:spPr>
          <a:xfrm>
            <a:off x="1547268" y="4699243"/>
            <a:ext cx="9201132" cy="165475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4000" b="1" dirty="0">
                <a:solidFill>
                  <a:srgbClr val="FF0000"/>
                </a:solidFill>
              </a:rPr>
              <a:t>TEG</a:t>
            </a:r>
            <a:r>
              <a:rPr kumimoji="1" lang="ja-JP" altLang="en-US" sz="4000" b="1">
                <a:solidFill>
                  <a:srgbClr val="FF0000"/>
                </a:solidFill>
              </a:rPr>
              <a:t> </a:t>
            </a:r>
            <a:r>
              <a:rPr kumimoji="1" lang="en-US" altLang="ja-JP" sz="4000" b="1" dirty="0">
                <a:solidFill>
                  <a:srgbClr val="FF0000"/>
                </a:solidFill>
              </a:rPr>
              <a:t>CK-R 16-24min</a:t>
            </a:r>
            <a:r>
              <a:rPr lang="en-US" altLang="ja-JP" sz="4000" b="1" dirty="0">
                <a:solidFill>
                  <a:srgbClr val="FF0000"/>
                </a:solidFill>
              </a:rPr>
              <a:t> or CK-R /CKH-R 1.5〜2</a:t>
            </a:r>
            <a:endParaRPr kumimoji="1" lang="en-US" altLang="ja-JP" sz="4000" b="1" dirty="0">
              <a:solidFill>
                <a:srgbClr val="FF0000"/>
              </a:solidFill>
            </a:endParaRPr>
          </a:p>
          <a:p>
            <a:pPr algn="ctr"/>
            <a:r>
              <a:rPr kumimoji="1" lang="en-US" altLang="ja-JP" sz="3200" b="1" dirty="0">
                <a:solidFill>
                  <a:srgbClr val="FF0000"/>
                </a:solidFill>
              </a:rPr>
              <a:t>APTT</a:t>
            </a:r>
            <a:r>
              <a:rPr kumimoji="1" lang="ja-JP" altLang="en-US" sz="3200" b="1">
                <a:solidFill>
                  <a:srgbClr val="FF0000"/>
                </a:solidFill>
              </a:rPr>
              <a:t>と</a:t>
            </a:r>
            <a:r>
              <a:rPr kumimoji="1" lang="en-US" altLang="ja-JP" sz="3200" b="1" dirty="0">
                <a:solidFill>
                  <a:srgbClr val="FF0000"/>
                </a:solidFill>
              </a:rPr>
              <a:t>CK-R</a:t>
            </a:r>
            <a:r>
              <a:rPr kumimoji="1" lang="ja-JP" altLang="en-US" sz="3200" b="1">
                <a:solidFill>
                  <a:srgbClr val="FF0000"/>
                </a:solidFill>
              </a:rPr>
              <a:t>との相関を確認</a:t>
            </a:r>
            <a:endParaRPr kumimoji="1" lang="en-US" altLang="ja-JP" sz="3200" b="1" dirty="0">
              <a:solidFill>
                <a:srgbClr val="FF0000"/>
              </a:solidFill>
            </a:endParaRPr>
          </a:p>
          <a:p>
            <a:pPr algn="ctr"/>
            <a:r>
              <a:rPr kumimoji="1" lang="ja-JP" altLang="en-US" sz="2800"/>
              <a:t>回路</a:t>
            </a:r>
            <a:r>
              <a:rPr kumimoji="1" lang="en-US" altLang="ja-JP" sz="2800" dirty="0"/>
              <a:t>,</a:t>
            </a:r>
            <a:r>
              <a:rPr kumimoji="1" lang="ja-JP" altLang="en-US" sz="2800"/>
              <a:t>出血所見を見ながらヘパリンコントロール</a:t>
            </a:r>
          </a:p>
        </p:txBody>
      </p:sp>
      <p:sp>
        <p:nvSpPr>
          <p:cNvPr id="5" name="角丸四角形 4">
            <a:extLst>
              <a:ext uri="{FF2B5EF4-FFF2-40B4-BE49-F238E27FC236}">
                <a16:creationId xmlns:a16="http://schemas.microsoft.com/office/drawing/2014/main" id="{9B1F93D5-91FF-8F3F-1300-9CB7CF0F5525}"/>
              </a:ext>
            </a:extLst>
          </p:cNvPr>
          <p:cNvSpPr/>
          <p:nvPr/>
        </p:nvSpPr>
        <p:spPr>
          <a:xfrm>
            <a:off x="838200" y="3759811"/>
            <a:ext cx="5232400" cy="70252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a:t>全体カンファレンス・</a:t>
            </a:r>
            <a:r>
              <a:rPr kumimoji="1" lang="en-US" altLang="ja-JP" sz="2400" b="1" dirty="0"/>
              <a:t> </a:t>
            </a:r>
            <a:r>
              <a:rPr kumimoji="1" lang="ja-JP" altLang="en-US" sz="2400" b="1"/>
              <a:t>担当医判断</a:t>
            </a:r>
          </a:p>
        </p:txBody>
      </p:sp>
      <p:sp>
        <p:nvSpPr>
          <p:cNvPr id="6" name="円/楕円 5">
            <a:extLst>
              <a:ext uri="{FF2B5EF4-FFF2-40B4-BE49-F238E27FC236}">
                <a16:creationId xmlns:a16="http://schemas.microsoft.com/office/drawing/2014/main" id="{94EA2FAD-7855-BE8B-BA31-7DD1180DF53F}"/>
              </a:ext>
            </a:extLst>
          </p:cNvPr>
          <p:cNvSpPr/>
          <p:nvPr/>
        </p:nvSpPr>
        <p:spPr>
          <a:xfrm>
            <a:off x="6400800" y="3361068"/>
            <a:ext cx="4013200" cy="128276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5400" b="1" dirty="0"/>
              <a:t>TEG GH</a:t>
            </a:r>
            <a:endParaRPr kumimoji="1" lang="ja-JP" altLang="en-US" sz="5400" b="1"/>
          </a:p>
        </p:txBody>
      </p:sp>
      <p:pic>
        <p:nvPicPr>
          <p:cNvPr id="7" name="グラフィックス 6" descr="追加 単色塗りつぶし">
            <a:extLst>
              <a:ext uri="{FF2B5EF4-FFF2-40B4-BE49-F238E27FC236}">
                <a16:creationId xmlns:a16="http://schemas.microsoft.com/office/drawing/2014/main" id="{9C6D21F4-6081-64D8-516A-E007F20ADB0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59472" y="2862998"/>
            <a:ext cx="914400" cy="914400"/>
          </a:xfrm>
          <a:prstGeom prst="rect">
            <a:avLst/>
          </a:prstGeom>
        </p:spPr>
      </p:pic>
      <p:sp>
        <p:nvSpPr>
          <p:cNvPr id="3" name="スライド番号プレースホルダー 2">
            <a:extLst>
              <a:ext uri="{FF2B5EF4-FFF2-40B4-BE49-F238E27FC236}">
                <a16:creationId xmlns:a16="http://schemas.microsoft.com/office/drawing/2014/main" id="{CD779388-F619-CF82-E158-E0C3BEFD8E88}"/>
              </a:ext>
            </a:extLst>
          </p:cNvPr>
          <p:cNvSpPr>
            <a:spLocks noGrp="1"/>
          </p:cNvSpPr>
          <p:nvPr>
            <p:ph type="sldNum" sz="quarter" idx="12"/>
          </p:nvPr>
        </p:nvSpPr>
        <p:spPr/>
        <p:txBody>
          <a:bodyPr/>
          <a:lstStyle/>
          <a:p>
            <a:r>
              <a:rPr lang="en-US" altLang="ja-JP"/>
              <a:t>No. </a:t>
            </a:r>
            <a:fld id="{41B87E3F-77EC-4EFD-94DE-AA3AEB7C7760}" type="slidenum">
              <a:rPr lang="ja-JP" altLang="en-US" smtClean="0"/>
              <a:pPr/>
              <a:t>65</a:t>
            </a:fld>
            <a:endParaRPr kumimoji="1" lang="ja-JP" altLang="en-US" dirty="0"/>
          </a:p>
        </p:txBody>
      </p:sp>
    </p:spTree>
    <p:extLst>
      <p:ext uri="{BB962C8B-B14F-4D97-AF65-F5344CB8AC3E}">
        <p14:creationId xmlns:p14="http://schemas.microsoft.com/office/powerpoint/2010/main" val="32193308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D65365-D1EB-B713-7CF1-66976C2CA3C6}"/>
              </a:ext>
            </a:extLst>
          </p:cNvPr>
          <p:cNvSpPr>
            <a:spLocks noGrp="1"/>
          </p:cNvSpPr>
          <p:nvPr>
            <p:ph type="title"/>
          </p:nvPr>
        </p:nvSpPr>
        <p:spPr/>
        <p:txBody>
          <a:bodyPr>
            <a:normAutofit/>
          </a:bodyPr>
          <a:lstStyle/>
          <a:p>
            <a:r>
              <a:rPr kumimoji="1" lang="en-US" altLang="ja-JP" dirty="0"/>
              <a:t>???×TEG</a:t>
            </a:r>
            <a:endParaRPr kumimoji="1" lang="ja-JP" altLang="en-US"/>
          </a:p>
        </p:txBody>
      </p:sp>
      <p:sp>
        <p:nvSpPr>
          <p:cNvPr id="4" name="日付プレースホルダー 3">
            <a:extLst>
              <a:ext uri="{FF2B5EF4-FFF2-40B4-BE49-F238E27FC236}">
                <a16:creationId xmlns:a16="http://schemas.microsoft.com/office/drawing/2014/main" id="{B8477959-16F0-C81F-8287-FFD551ECDEBE}"/>
              </a:ext>
            </a:extLst>
          </p:cNvPr>
          <p:cNvSpPr>
            <a:spLocks noGrp="1"/>
          </p:cNvSpPr>
          <p:nvPr>
            <p:ph type="dt" sz="half" idx="10"/>
          </p:nvPr>
        </p:nvSpPr>
        <p:spPr/>
        <p:txBody>
          <a:bodyPr/>
          <a:lstStyle/>
          <a:p>
            <a:fld id="{0679133C-3A98-8149-869D-5132302474A6}"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043C7A9B-02F0-5C53-D6F6-79F3EFCD6C8A}"/>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0D45B710-928C-F571-EF7E-F9527BF26BD3}"/>
              </a:ext>
            </a:extLst>
          </p:cNvPr>
          <p:cNvSpPr>
            <a:spLocks noGrp="1"/>
          </p:cNvSpPr>
          <p:nvPr>
            <p:ph type="sldNum" sz="quarter" idx="12"/>
          </p:nvPr>
        </p:nvSpPr>
        <p:spPr/>
        <p:txBody>
          <a:bodyPr/>
          <a:lstStyle/>
          <a:p>
            <a:r>
              <a:rPr lang="en-US" altLang="ja-JP"/>
              <a:t>No. </a:t>
            </a:r>
            <a:fld id="{41B87E3F-77EC-4EFD-94DE-AA3AEB7C7760}" type="slidenum">
              <a:rPr lang="ja-JP" altLang="en-US" smtClean="0"/>
              <a:pPr/>
              <a:t>66</a:t>
            </a:fld>
            <a:endParaRPr kumimoji="1" lang="ja-JP" altLang="en-US" dirty="0"/>
          </a:p>
        </p:txBody>
      </p:sp>
      <p:sp>
        <p:nvSpPr>
          <p:cNvPr id="7" name="角丸四角形 6">
            <a:extLst>
              <a:ext uri="{FF2B5EF4-FFF2-40B4-BE49-F238E27FC236}">
                <a16:creationId xmlns:a16="http://schemas.microsoft.com/office/drawing/2014/main" id="{085849F1-DC41-E492-7C1E-3D1A8C629102}"/>
              </a:ext>
            </a:extLst>
          </p:cNvPr>
          <p:cNvSpPr/>
          <p:nvPr/>
        </p:nvSpPr>
        <p:spPr>
          <a:xfrm>
            <a:off x="71999" y="1610500"/>
            <a:ext cx="4500001" cy="929391"/>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err="1"/>
              <a:t>Nafamostat×TEG</a:t>
            </a:r>
            <a:r>
              <a:rPr kumimoji="1" lang="en-US" altLang="ja-JP" sz="3200" dirty="0"/>
              <a:t> GH</a:t>
            </a:r>
            <a:endParaRPr kumimoji="1" lang="ja-JP" altLang="en-US" sz="3200"/>
          </a:p>
        </p:txBody>
      </p:sp>
      <p:sp>
        <p:nvSpPr>
          <p:cNvPr id="8" name="角丸四角形 7">
            <a:extLst>
              <a:ext uri="{FF2B5EF4-FFF2-40B4-BE49-F238E27FC236}">
                <a16:creationId xmlns:a16="http://schemas.microsoft.com/office/drawing/2014/main" id="{E5423EE2-669C-E011-5EE9-709E8D41AE0C}"/>
              </a:ext>
            </a:extLst>
          </p:cNvPr>
          <p:cNvSpPr/>
          <p:nvPr/>
        </p:nvSpPr>
        <p:spPr>
          <a:xfrm>
            <a:off x="72000" y="2799549"/>
            <a:ext cx="4500000" cy="929391"/>
          </a:xfrm>
          <a:prstGeom prst="round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200"/>
              <a:t>凝固傷害</a:t>
            </a:r>
            <a:r>
              <a:rPr kumimoji="1" lang="en-US" altLang="ja-JP" sz="3200" dirty="0"/>
              <a:t>×TEG GH</a:t>
            </a:r>
            <a:endParaRPr kumimoji="1" lang="ja-JP" altLang="en-US" sz="3200"/>
          </a:p>
        </p:txBody>
      </p:sp>
      <p:sp>
        <p:nvSpPr>
          <p:cNvPr id="9" name="角丸四角形 8">
            <a:extLst>
              <a:ext uri="{FF2B5EF4-FFF2-40B4-BE49-F238E27FC236}">
                <a16:creationId xmlns:a16="http://schemas.microsoft.com/office/drawing/2014/main" id="{67372B99-CA2B-EFD3-AEFC-526C0E1C0700}"/>
              </a:ext>
            </a:extLst>
          </p:cNvPr>
          <p:cNvSpPr/>
          <p:nvPr/>
        </p:nvSpPr>
        <p:spPr>
          <a:xfrm>
            <a:off x="72000" y="3988598"/>
            <a:ext cx="4500000" cy="929391"/>
          </a:xfrm>
          <a:prstGeom prst="round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a:t>過凝固</a:t>
            </a:r>
            <a:r>
              <a:rPr kumimoji="1" lang="en-US" altLang="ja-JP" sz="3200" dirty="0"/>
              <a:t>×TEG GH</a:t>
            </a:r>
            <a:endParaRPr kumimoji="1" lang="ja-JP" altLang="en-US" sz="3200"/>
          </a:p>
        </p:txBody>
      </p:sp>
      <p:sp>
        <p:nvSpPr>
          <p:cNvPr id="10" name="角丸四角形 9">
            <a:extLst>
              <a:ext uri="{FF2B5EF4-FFF2-40B4-BE49-F238E27FC236}">
                <a16:creationId xmlns:a16="http://schemas.microsoft.com/office/drawing/2014/main" id="{5212590E-FA0F-0D87-D87B-740E10639367}"/>
              </a:ext>
            </a:extLst>
          </p:cNvPr>
          <p:cNvSpPr/>
          <p:nvPr/>
        </p:nvSpPr>
        <p:spPr>
          <a:xfrm>
            <a:off x="72000" y="5268910"/>
            <a:ext cx="4500000" cy="929391"/>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200"/>
              <a:t>抗血小板薬</a:t>
            </a:r>
            <a:r>
              <a:rPr kumimoji="1" lang="en-US" altLang="ja-JP" sz="3200" dirty="0"/>
              <a:t>×TEG</a:t>
            </a:r>
            <a:r>
              <a:rPr lang="en-US" altLang="ja-JP" sz="3200" dirty="0"/>
              <a:t> PM</a:t>
            </a:r>
            <a:endParaRPr kumimoji="1" lang="ja-JP" altLang="en-US" sz="3200"/>
          </a:p>
        </p:txBody>
      </p:sp>
      <p:sp>
        <p:nvSpPr>
          <p:cNvPr id="3" name="テキスト ボックス 2">
            <a:extLst>
              <a:ext uri="{FF2B5EF4-FFF2-40B4-BE49-F238E27FC236}">
                <a16:creationId xmlns:a16="http://schemas.microsoft.com/office/drawing/2014/main" id="{42ED6EAE-EAF1-5491-A8F2-5EB8F65F1D16}"/>
              </a:ext>
            </a:extLst>
          </p:cNvPr>
          <p:cNvSpPr txBox="1"/>
          <p:nvPr/>
        </p:nvSpPr>
        <p:spPr>
          <a:xfrm>
            <a:off x="4954094" y="1636546"/>
            <a:ext cx="6749214" cy="830997"/>
          </a:xfrm>
          <a:prstGeom prst="rect">
            <a:avLst/>
          </a:prstGeom>
          <a:noFill/>
        </p:spPr>
        <p:txBody>
          <a:bodyPr wrap="square" rtlCol="0">
            <a:spAutoFit/>
          </a:bodyPr>
          <a:lstStyle/>
          <a:p>
            <a:r>
              <a:rPr kumimoji="1" lang="en-US" altLang="ja-JP" sz="2400" dirty="0" err="1"/>
              <a:t>Nafamostat</a:t>
            </a:r>
            <a:r>
              <a:rPr lang="en-US" altLang="ja-JP" sz="2400" dirty="0"/>
              <a:t> </a:t>
            </a:r>
            <a:r>
              <a:rPr lang="en-US" altLang="ja-JP" sz="2400" dirty="0" err="1"/>
              <a:t>mesilate</a:t>
            </a:r>
            <a:r>
              <a:rPr lang="ja-JP" altLang="en-US" sz="2400"/>
              <a:t>の効果判定に</a:t>
            </a:r>
            <a:r>
              <a:rPr lang="en-US" altLang="ja-JP" sz="2400" dirty="0"/>
              <a:t>CKH-R</a:t>
            </a:r>
            <a:r>
              <a:rPr lang="ja-JP" altLang="en-US" sz="2400"/>
              <a:t>が</a:t>
            </a:r>
            <a:endParaRPr lang="en-US" altLang="ja-JP" sz="2400" dirty="0"/>
          </a:p>
          <a:p>
            <a:r>
              <a:rPr lang="ja-JP" altLang="en-US" sz="2400"/>
              <a:t>有用な可能性</a:t>
            </a:r>
            <a:endParaRPr lang="en-US" altLang="ja-JP" sz="2400" dirty="0"/>
          </a:p>
        </p:txBody>
      </p:sp>
      <p:sp>
        <p:nvSpPr>
          <p:cNvPr id="11" name="テキスト ボックス 10">
            <a:extLst>
              <a:ext uri="{FF2B5EF4-FFF2-40B4-BE49-F238E27FC236}">
                <a16:creationId xmlns:a16="http://schemas.microsoft.com/office/drawing/2014/main" id="{773B4EB1-6288-9C29-C8B3-2421359F0FF3}"/>
              </a:ext>
            </a:extLst>
          </p:cNvPr>
          <p:cNvSpPr txBox="1"/>
          <p:nvPr/>
        </p:nvSpPr>
        <p:spPr>
          <a:xfrm>
            <a:off x="4954094" y="2732172"/>
            <a:ext cx="6749214" cy="1200329"/>
          </a:xfrm>
          <a:prstGeom prst="rect">
            <a:avLst/>
          </a:prstGeom>
          <a:noFill/>
        </p:spPr>
        <p:txBody>
          <a:bodyPr wrap="square" rtlCol="0">
            <a:spAutoFit/>
          </a:bodyPr>
          <a:lstStyle/>
          <a:p>
            <a:r>
              <a:rPr lang="ja-JP" altLang="en-US" sz="2400"/>
              <a:t>原因不明の凝固障害の鑑別</a:t>
            </a:r>
            <a:endParaRPr lang="en-US" altLang="ja-JP" sz="2400" dirty="0"/>
          </a:p>
          <a:p>
            <a:r>
              <a:rPr lang="en-US" altLang="ja-JP" sz="2400" dirty="0"/>
              <a:t>DVT</a:t>
            </a:r>
            <a:r>
              <a:rPr lang="ja-JP" altLang="en-US" sz="2400"/>
              <a:t>予防の</a:t>
            </a:r>
            <a:r>
              <a:rPr lang="en-US" altLang="ja-JP" sz="2400" dirty="0"/>
              <a:t>UFH</a:t>
            </a:r>
            <a:r>
              <a:rPr lang="ja-JP" altLang="en-US" sz="2400"/>
              <a:t>による効果や凝固因子欠乏の同定血友病の治療効果判定</a:t>
            </a:r>
            <a:endParaRPr lang="en-US" altLang="ja-JP" sz="2400" dirty="0"/>
          </a:p>
        </p:txBody>
      </p:sp>
      <p:sp>
        <p:nvSpPr>
          <p:cNvPr id="12" name="テキスト ボックス 11">
            <a:extLst>
              <a:ext uri="{FF2B5EF4-FFF2-40B4-BE49-F238E27FC236}">
                <a16:creationId xmlns:a16="http://schemas.microsoft.com/office/drawing/2014/main" id="{12093B66-8DB0-DE1F-7E0B-9130CD1FF009}"/>
              </a:ext>
            </a:extLst>
          </p:cNvPr>
          <p:cNvSpPr txBox="1"/>
          <p:nvPr/>
        </p:nvSpPr>
        <p:spPr>
          <a:xfrm>
            <a:off x="4954094" y="4026219"/>
            <a:ext cx="6749214" cy="830997"/>
          </a:xfrm>
          <a:prstGeom prst="rect">
            <a:avLst/>
          </a:prstGeom>
          <a:noFill/>
        </p:spPr>
        <p:txBody>
          <a:bodyPr wrap="square" rtlCol="0">
            <a:spAutoFit/>
          </a:bodyPr>
          <a:lstStyle/>
          <a:p>
            <a:r>
              <a:rPr lang="ja-JP" altLang="en-US" sz="2400"/>
              <a:t>過凝固を同定し早期の抗凝固開始の検討</a:t>
            </a:r>
            <a:endParaRPr lang="en-US" altLang="ja-JP" sz="2400" dirty="0"/>
          </a:p>
          <a:p>
            <a:r>
              <a:rPr lang="ja-JP" altLang="en-US" sz="2400"/>
              <a:t>新規感染症の示唆</a:t>
            </a:r>
            <a:endParaRPr lang="en-US" altLang="ja-JP" sz="2400" dirty="0"/>
          </a:p>
        </p:txBody>
      </p:sp>
      <p:sp>
        <p:nvSpPr>
          <p:cNvPr id="13" name="テキスト ボックス 12">
            <a:extLst>
              <a:ext uri="{FF2B5EF4-FFF2-40B4-BE49-F238E27FC236}">
                <a16:creationId xmlns:a16="http://schemas.microsoft.com/office/drawing/2014/main" id="{D7A05B54-9D65-3B7C-F00E-E72C8D0C5F2C}"/>
              </a:ext>
            </a:extLst>
          </p:cNvPr>
          <p:cNvSpPr txBox="1"/>
          <p:nvPr/>
        </p:nvSpPr>
        <p:spPr>
          <a:xfrm>
            <a:off x="4954094" y="5146611"/>
            <a:ext cx="6749214" cy="1200329"/>
          </a:xfrm>
          <a:prstGeom prst="rect">
            <a:avLst/>
          </a:prstGeom>
          <a:noFill/>
        </p:spPr>
        <p:txBody>
          <a:bodyPr wrap="square" rtlCol="0">
            <a:spAutoFit/>
          </a:bodyPr>
          <a:lstStyle/>
          <a:p>
            <a:r>
              <a:rPr lang="ja-JP" altLang="en-US" sz="2400"/>
              <a:t>外傷時・術前の抗血小板薬の効果判定</a:t>
            </a:r>
            <a:r>
              <a:rPr lang="en-US" altLang="ja-JP" sz="2400" dirty="0"/>
              <a:t>.</a:t>
            </a:r>
          </a:p>
          <a:p>
            <a:r>
              <a:rPr lang="ja-JP" altLang="en-US" sz="2400"/>
              <a:t>抑制強ければ</a:t>
            </a:r>
            <a:r>
              <a:rPr lang="en-US" altLang="ja-JP" sz="2400" dirty="0" err="1"/>
              <a:t>Plt</a:t>
            </a:r>
            <a:r>
              <a:rPr lang="ja-JP" altLang="en-US" sz="2400"/>
              <a:t>補充</a:t>
            </a:r>
            <a:r>
              <a:rPr lang="en-US" altLang="ja-JP" sz="2400" dirty="0"/>
              <a:t>, </a:t>
            </a:r>
            <a:r>
              <a:rPr lang="ja-JP" altLang="en-US" sz="2400"/>
              <a:t>抑制なければ緊急手術可など方針決定に寄与する可能性</a:t>
            </a:r>
            <a:r>
              <a:rPr lang="en-US" altLang="ja-JP" sz="2400" dirty="0"/>
              <a:t> </a:t>
            </a:r>
          </a:p>
        </p:txBody>
      </p:sp>
    </p:spTree>
    <p:extLst>
      <p:ext uri="{BB962C8B-B14F-4D97-AF65-F5344CB8AC3E}">
        <p14:creationId xmlns:p14="http://schemas.microsoft.com/office/powerpoint/2010/main" val="14264410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22A44019-7525-6886-4468-11E9E8AC9218}"/>
              </a:ext>
            </a:extLst>
          </p:cNvPr>
          <p:cNvSpPr/>
          <p:nvPr/>
        </p:nvSpPr>
        <p:spPr>
          <a:xfrm>
            <a:off x="48849" y="5069049"/>
            <a:ext cx="11745753" cy="1277891"/>
          </a:xfrm>
          <a:prstGeom prst="rect">
            <a:avLst/>
          </a:prstGeom>
          <a:solidFill>
            <a:srgbClr val="FF0000">
              <a:alpha val="36000"/>
            </a:srgbClr>
          </a:solidFill>
          <a:ln w="635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90D65365-D1EB-B713-7CF1-66976C2CA3C6}"/>
              </a:ext>
            </a:extLst>
          </p:cNvPr>
          <p:cNvSpPr>
            <a:spLocks noGrp="1"/>
          </p:cNvSpPr>
          <p:nvPr>
            <p:ph type="title"/>
          </p:nvPr>
        </p:nvSpPr>
        <p:spPr/>
        <p:txBody>
          <a:bodyPr>
            <a:normAutofit/>
          </a:bodyPr>
          <a:lstStyle/>
          <a:p>
            <a:r>
              <a:rPr lang="en-US" altLang="ja-JP" dirty="0"/>
              <a:t>???</a:t>
            </a:r>
            <a:r>
              <a:rPr kumimoji="1" lang="en-US" altLang="ja-JP" dirty="0"/>
              <a:t>×TEG</a:t>
            </a:r>
            <a:endParaRPr kumimoji="1" lang="ja-JP" altLang="en-US"/>
          </a:p>
        </p:txBody>
      </p:sp>
      <p:sp>
        <p:nvSpPr>
          <p:cNvPr id="4" name="日付プレースホルダー 3">
            <a:extLst>
              <a:ext uri="{FF2B5EF4-FFF2-40B4-BE49-F238E27FC236}">
                <a16:creationId xmlns:a16="http://schemas.microsoft.com/office/drawing/2014/main" id="{B8477959-16F0-C81F-8287-FFD551ECDEBE}"/>
              </a:ext>
            </a:extLst>
          </p:cNvPr>
          <p:cNvSpPr>
            <a:spLocks noGrp="1"/>
          </p:cNvSpPr>
          <p:nvPr>
            <p:ph type="dt" sz="half" idx="10"/>
          </p:nvPr>
        </p:nvSpPr>
        <p:spPr/>
        <p:txBody>
          <a:bodyPr/>
          <a:lstStyle/>
          <a:p>
            <a:fld id="{CF8DFA18-A2E7-9642-88CE-A98C5BBD7DDF}"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043C7A9B-02F0-5C53-D6F6-79F3EFCD6C8A}"/>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0D45B710-928C-F571-EF7E-F9527BF26BD3}"/>
              </a:ext>
            </a:extLst>
          </p:cNvPr>
          <p:cNvSpPr>
            <a:spLocks noGrp="1"/>
          </p:cNvSpPr>
          <p:nvPr>
            <p:ph type="sldNum" sz="quarter" idx="12"/>
          </p:nvPr>
        </p:nvSpPr>
        <p:spPr/>
        <p:txBody>
          <a:bodyPr/>
          <a:lstStyle/>
          <a:p>
            <a:r>
              <a:rPr lang="en-US" altLang="ja-JP"/>
              <a:t>No. </a:t>
            </a:r>
            <a:fld id="{41B87E3F-77EC-4EFD-94DE-AA3AEB7C7760}" type="slidenum">
              <a:rPr lang="ja-JP" altLang="en-US" smtClean="0"/>
              <a:pPr/>
              <a:t>67</a:t>
            </a:fld>
            <a:endParaRPr kumimoji="1" lang="ja-JP" altLang="en-US" dirty="0"/>
          </a:p>
        </p:txBody>
      </p:sp>
      <p:sp>
        <p:nvSpPr>
          <p:cNvPr id="7" name="角丸四角形 6">
            <a:extLst>
              <a:ext uri="{FF2B5EF4-FFF2-40B4-BE49-F238E27FC236}">
                <a16:creationId xmlns:a16="http://schemas.microsoft.com/office/drawing/2014/main" id="{085849F1-DC41-E492-7C1E-3D1A8C629102}"/>
              </a:ext>
            </a:extLst>
          </p:cNvPr>
          <p:cNvSpPr/>
          <p:nvPr/>
        </p:nvSpPr>
        <p:spPr>
          <a:xfrm>
            <a:off x="71999" y="1610500"/>
            <a:ext cx="4500001" cy="929391"/>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err="1"/>
              <a:t>Nafamostat×TEG</a:t>
            </a:r>
            <a:r>
              <a:rPr kumimoji="1" lang="en-US" altLang="ja-JP" sz="3200" dirty="0"/>
              <a:t> GH</a:t>
            </a:r>
            <a:endParaRPr kumimoji="1" lang="ja-JP" altLang="en-US" sz="3200"/>
          </a:p>
        </p:txBody>
      </p:sp>
      <p:sp>
        <p:nvSpPr>
          <p:cNvPr id="8" name="角丸四角形 7">
            <a:extLst>
              <a:ext uri="{FF2B5EF4-FFF2-40B4-BE49-F238E27FC236}">
                <a16:creationId xmlns:a16="http://schemas.microsoft.com/office/drawing/2014/main" id="{E5423EE2-669C-E011-5EE9-709E8D41AE0C}"/>
              </a:ext>
            </a:extLst>
          </p:cNvPr>
          <p:cNvSpPr/>
          <p:nvPr/>
        </p:nvSpPr>
        <p:spPr>
          <a:xfrm>
            <a:off x="72000" y="2799549"/>
            <a:ext cx="4500000" cy="929391"/>
          </a:xfrm>
          <a:prstGeom prst="round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200"/>
              <a:t>凝固傷害</a:t>
            </a:r>
            <a:r>
              <a:rPr kumimoji="1" lang="en-US" altLang="ja-JP" sz="3200" dirty="0"/>
              <a:t>×TEG GH</a:t>
            </a:r>
            <a:endParaRPr kumimoji="1" lang="ja-JP" altLang="en-US" sz="3200"/>
          </a:p>
        </p:txBody>
      </p:sp>
      <p:sp>
        <p:nvSpPr>
          <p:cNvPr id="9" name="角丸四角形 8">
            <a:extLst>
              <a:ext uri="{FF2B5EF4-FFF2-40B4-BE49-F238E27FC236}">
                <a16:creationId xmlns:a16="http://schemas.microsoft.com/office/drawing/2014/main" id="{67372B99-CA2B-EFD3-AEFC-526C0E1C0700}"/>
              </a:ext>
            </a:extLst>
          </p:cNvPr>
          <p:cNvSpPr/>
          <p:nvPr/>
        </p:nvSpPr>
        <p:spPr>
          <a:xfrm>
            <a:off x="72000" y="3988598"/>
            <a:ext cx="4500000" cy="929391"/>
          </a:xfrm>
          <a:prstGeom prst="round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a:t>過凝固</a:t>
            </a:r>
            <a:r>
              <a:rPr kumimoji="1" lang="en-US" altLang="ja-JP" sz="3200" dirty="0"/>
              <a:t>×TEG GH</a:t>
            </a:r>
            <a:endParaRPr kumimoji="1" lang="ja-JP" altLang="en-US" sz="3200"/>
          </a:p>
        </p:txBody>
      </p:sp>
      <p:sp>
        <p:nvSpPr>
          <p:cNvPr id="10" name="角丸四角形 9">
            <a:extLst>
              <a:ext uri="{FF2B5EF4-FFF2-40B4-BE49-F238E27FC236}">
                <a16:creationId xmlns:a16="http://schemas.microsoft.com/office/drawing/2014/main" id="{5212590E-FA0F-0D87-D87B-740E10639367}"/>
              </a:ext>
            </a:extLst>
          </p:cNvPr>
          <p:cNvSpPr/>
          <p:nvPr/>
        </p:nvSpPr>
        <p:spPr>
          <a:xfrm>
            <a:off x="72000" y="5268910"/>
            <a:ext cx="4500000" cy="929391"/>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200"/>
              <a:t>抗血小板薬</a:t>
            </a:r>
            <a:r>
              <a:rPr kumimoji="1" lang="en-US" altLang="ja-JP" sz="3200" dirty="0"/>
              <a:t>×TEG</a:t>
            </a:r>
            <a:r>
              <a:rPr lang="en-US" altLang="ja-JP" sz="3200" dirty="0"/>
              <a:t> PM</a:t>
            </a:r>
            <a:endParaRPr kumimoji="1" lang="ja-JP" altLang="en-US" sz="3200"/>
          </a:p>
        </p:txBody>
      </p:sp>
      <p:sp>
        <p:nvSpPr>
          <p:cNvPr id="3" name="テキスト ボックス 2">
            <a:extLst>
              <a:ext uri="{FF2B5EF4-FFF2-40B4-BE49-F238E27FC236}">
                <a16:creationId xmlns:a16="http://schemas.microsoft.com/office/drawing/2014/main" id="{42ED6EAE-EAF1-5491-A8F2-5EB8F65F1D16}"/>
              </a:ext>
            </a:extLst>
          </p:cNvPr>
          <p:cNvSpPr txBox="1"/>
          <p:nvPr/>
        </p:nvSpPr>
        <p:spPr>
          <a:xfrm>
            <a:off x="4954094" y="1636546"/>
            <a:ext cx="6749214" cy="830997"/>
          </a:xfrm>
          <a:prstGeom prst="rect">
            <a:avLst/>
          </a:prstGeom>
          <a:noFill/>
        </p:spPr>
        <p:txBody>
          <a:bodyPr wrap="square" rtlCol="0">
            <a:spAutoFit/>
          </a:bodyPr>
          <a:lstStyle/>
          <a:p>
            <a:r>
              <a:rPr kumimoji="1" lang="en-US" altLang="ja-JP" sz="2400" dirty="0" err="1"/>
              <a:t>Nafamostat</a:t>
            </a:r>
            <a:r>
              <a:rPr lang="en-US" altLang="ja-JP" sz="2400" dirty="0"/>
              <a:t> </a:t>
            </a:r>
            <a:r>
              <a:rPr lang="en-US" altLang="ja-JP" sz="2400" dirty="0" err="1"/>
              <a:t>mesilate</a:t>
            </a:r>
            <a:r>
              <a:rPr lang="ja-JP" altLang="en-US" sz="2400"/>
              <a:t>の効果判定に</a:t>
            </a:r>
            <a:r>
              <a:rPr lang="en-US" altLang="ja-JP" sz="2400" dirty="0"/>
              <a:t>CKH-R</a:t>
            </a:r>
            <a:r>
              <a:rPr lang="ja-JP" altLang="en-US" sz="2400"/>
              <a:t>が</a:t>
            </a:r>
            <a:endParaRPr lang="en-US" altLang="ja-JP" sz="2400" dirty="0"/>
          </a:p>
          <a:p>
            <a:r>
              <a:rPr lang="ja-JP" altLang="en-US" sz="2400"/>
              <a:t>有用な可能性</a:t>
            </a:r>
            <a:endParaRPr lang="en-US" altLang="ja-JP" sz="2400" dirty="0"/>
          </a:p>
        </p:txBody>
      </p:sp>
      <p:sp>
        <p:nvSpPr>
          <p:cNvPr id="11" name="テキスト ボックス 10">
            <a:extLst>
              <a:ext uri="{FF2B5EF4-FFF2-40B4-BE49-F238E27FC236}">
                <a16:creationId xmlns:a16="http://schemas.microsoft.com/office/drawing/2014/main" id="{773B4EB1-6288-9C29-C8B3-2421359F0FF3}"/>
              </a:ext>
            </a:extLst>
          </p:cNvPr>
          <p:cNvSpPr txBox="1"/>
          <p:nvPr/>
        </p:nvSpPr>
        <p:spPr>
          <a:xfrm>
            <a:off x="4954094" y="2732172"/>
            <a:ext cx="6749214" cy="1200329"/>
          </a:xfrm>
          <a:prstGeom prst="rect">
            <a:avLst/>
          </a:prstGeom>
          <a:noFill/>
        </p:spPr>
        <p:txBody>
          <a:bodyPr wrap="square" rtlCol="0">
            <a:spAutoFit/>
          </a:bodyPr>
          <a:lstStyle/>
          <a:p>
            <a:r>
              <a:rPr lang="ja-JP" altLang="en-US" sz="2400"/>
              <a:t>原因不明の凝固障害の鑑別</a:t>
            </a:r>
            <a:endParaRPr lang="en-US" altLang="ja-JP" sz="2400" dirty="0"/>
          </a:p>
          <a:p>
            <a:r>
              <a:rPr lang="en-US" altLang="ja-JP" sz="2400" dirty="0"/>
              <a:t>DVT</a:t>
            </a:r>
            <a:r>
              <a:rPr lang="ja-JP" altLang="en-US" sz="2400"/>
              <a:t>予防の</a:t>
            </a:r>
            <a:r>
              <a:rPr lang="en-US" altLang="ja-JP" sz="2400" dirty="0"/>
              <a:t>UFH</a:t>
            </a:r>
            <a:r>
              <a:rPr lang="ja-JP" altLang="en-US" sz="2400"/>
              <a:t>による効果や凝固因子欠乏の同定血友病の治療効果判定</a:t>
            </a:r>
            <a:endParaRPr lang="en-US" altLang="ja-JP" sz="2400" dirty="0"/>
          </a:p>
        </p:txBody>
      </p:sp>
      <p:sp>
        <p:nvSpPr>
          <p:cNvPr id="12" name="テキスト ボックス 11">
            <a:extLst>
              <a:ext uri="{FF2B5EF4-FFF2-40B4-BE49-F238E27FC236}">
                <a16:creationId xmlns:a16="http://schemas.microsoft.com/office/drawing/2014/main" id="{12093B66-8DB0-DE1F-7E0B-9130CD1FF009}"/>
              </a:ext>
            </a:extLst>
          </p:cNvPr>
          <p:cNvSpPr txBox="1"/>
          <p:nvPr/>
        </p:nvSpPr>
        <p:spPr>
          <a:xfrm>
            <a:off x="4954094" y="4026219"/>
            <a:ext cx="6749214" cy="830997"/>
          </a:xfrm>
          <a:prstGeom prst="rect">
            <a:avLst/>
          </a:prstGeom>
          <a:noFill/>
        </p:spPr>
        <p:txBody>
          <a:bodyPr wrap="square" rtlCol="0">
            <a:spAutoFit/>
          </a:bodyPr>
          <a:lstStyle/>
          <a:p>
            <a:r>
              <a:rPr lang="ja-JP" altLang="en-US" sz="2400"/>
              <a:t>過凝固を同定し早期の抗凝固開始の検討</a:t>
            </a:r>
            <a:endParaRPr lang="en-US" altLang="ja-JP" sz="2400" dirty="0"/>
          </a:p>
          <a:p>
            <a:r>
              <a:rPr lang="ja-JP" altLang="en-US" sz="2400"/>
              <a:t>新規感染症の示唆</a:t>
            </a:r>
            <a:endParaRPr lang="en-US" altLang="ja-JP" sz="2400" dirty="0"/>
          </a:p>
        </p:txBody>
      </p:sp>
      <p:sp>
        <p:nvSpPr>
          <p:cNvPr id="13" name="テキスト ボックス 12">
            <a:extLst>
              <a:ext uri="{FF2B5EF4-FFF2-40B4-BE49-F238E27FC236}">
                <a16:creationId xmlns:a16="http://schemas.microsoft.com/office/drawing/2014/main" id="{D7A05B54-9D65-3B7C-F00E-E72C8D0C5F2C}"/>
              </a:ext>
            </a:extLst>
          </p:cNvPr>
          <p:cNvSpPr txBox="1"/>
          <p:nvPr/>
        </p:nvSpPr>
        <p:spPr>
          <a:xfrm>
            <a:off x="4954094" y="5146611"/>
            <a:ext cx="6749214" cy="1200329"/>
          </a:xfrm>
          <a:prstGeom prst="rect">
            <a:avLst/>
          </a:prstGeom>
          <a:noFill/>
        </p:spPr>
        <p:txBody>
          <a:bodyPr wrap="square" rtlCol="0">
            <a:spAutoFit/>
          </a:bodyPr>
          <a:lstStyle/>
          <a:p>
            <a:r>
              <a:rPr lang="ja-JP" altLang="en-US" sz="2400"/>
              <a:t>外傷時・術前の抗血小板薬の効果判定</a:t>
            </a:r>
            <a:r>
              <a:rPr lang="en-US" altLang="ja-JP" sz="2400" dirty="0"/>
              <a:t>.</a:t>
            </a:r>
          </a:p>
          <a:p>
            <a:r>
              <a:rPr lang="ja-JP" altLang="en-US" sz="2400"/>
              <a:t>抑制強ければ</a:t>
            </a:r>
            <a:r>
              <a:rPr lang="en-US" altLang="ja-JP" sz="2400" dirty="0" err="1"/>
              <a:t>Plt</a:t>
            </a:r>
            <a:r>
              <a:rPr lang="ja-JP" altLang="en-US" sz="2400"/>
              <a:t>補充</a:t>
            </a:r>
            <a:r>
              <a:rPr lang="en-US" altLang="ja-JP" sz="2400" dirty="0"/>
              <a:t>, </a:t>
            </a:r>
            <a:r>
              <a:rPr lang="ja-JP" altLang="en-US" sz="2400"/>
              <a:t>抑制なければ緊急手術可など方針決定に寄与する可能性</a:t>
            </a:r>
            <a:r>
              <a:rPr lang="en-US" altLang="ja-JP" sz="2400" dirty="0"/>
              <a:t> </a:t>
            </a:r>
          </a:p>
        </p:txBody>
      </p:sp>
    </p:spTree>
    <p:extLst>
      <p:ext uri="{BB962C8B-B14F-4D97-AF65-F5344CB8AC3E}">
        <p14:creationId xmlns:p14="http://schemas.microsoft.com/office/powerpoint/2010/main" val="11787887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EC8481-3AC0-A4CE-EC87-095DDC90390B}"/>
              </a:ext>
            </a:extLst>
          </p:cNvPr>
          <p:cNvSpPr>
            <a:spLocks noGrp="1"/>
          </p:cNvSpPr>
          <p:nvPr>
            <p:ph type="title"/>
          </p:nvPr>
        </p:nvSpPr>
        <p:spPr/>
        <p:txBody>
          <a:bodyPr/>
          <a:lstStyle/>
          <a:p>
            <a:r>
              <a:rPr kumimoji="1" lang="ja-JP" altLang="en-US"/>
              <a:t>抗血小板薬</a:t>
            </a:r>
            <a:r>
              <a:rPr kumimoji="1" lang="en-US" altLang="ja-JP" dirty="0"/>
              <a:t>× TEG</a:t>
            </a:r>
            <a:r>
              <a:rPr lang="en-US" altLang="ja-JP" dirty="0"/>
              <a:t> PM</a:t>
            </a:r>
            <a:endParaRPr kumimoji="1" lang="ja-JP" altLang="en-US"/>
          </a:p>
        </p:txBody>
      </p:sp>
      <p:sp>
        <p:nvSpPr>
          <p:cNvPr id="4" name="日付プレースホルダー 3">
            <a:extLst>
              <a:ext uri="{FF2B5EF4-FFF2-40B4-BE49-F238E27FC236}">
                <a16:creationId xmlns:a16="http://schemas.microsoft.com/office/drawing/2014/main" id="{CECC2168-89CF-6FE8-9013-30B28C3AE143}"/>
              </a:ext>
            </a:extLst>
          </p:cNvPr>
          <p:cNvSpPr>
            <a:spLocks noGrp="1"/>
          </p:cNvSpPr>
          <p:nvPr>
            <p:ph type="dt" sz="half" idx="10"/>
          </p:nvPr>
        </p:nvSpPr>
        <p:spPr/>
        <p:txBody>
          <a:bodyPr/>
          <a:lstStyle/>
          <a:p>
            <a:fld id="{CFE157F3-66F2-574D-B2EF-4D1AD9C8D7E7}"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3EE12DC1-B230-A671-0C1B-FC892746A7B9}"/>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EC700CA5-BEC7-CE6C-27FF-B12537EFBCDF}"/>
              </a:ext>
            </a:extLst>
          </p:cNvPr>
          <p:cNvSpPr>
            <a:spLocks noGrp="1"/>
          </p:cNvSpPr>
          <p:nvPr>
            <p:ph type="sldNum" sz="quarter" idx="12"/>
          </p:nvPr>
        </p:nvSpPr>
        <p:spPr/>
        <p:txBody>
          <a:bodyPr/>
          <a:lstStyle/>
          <a:p>
            <a:r>
              <a:rPr lang="en-US" altLang="ja-JP"/>
              <a:t>No. </a:t>
            </a:r>
            <a:fld id="{41B87E3F-77EC-4EFD-94DE-AA3AEB7C7760}" type="slidenum">
              <a:rPr lang="ja-JP" altLang="en-US" smtClean="0"/>
              <a:pPr/>
              <a:t>68</a:t>
            </a:fld>
            <a:endParaRPr kumimoji="1" lang="ja-JP" altLang="en-US" dirty="0"/>
          </a:p>
        </p:txBody>
      </p:sp>
      <p:sp>
        <p:nvSpPr>
          <p:cNvPr id="9" name="テキスト ボックス 8">
            <a:extLst>
              <a:ext uri="{FF2B5EF4-FFF2-40B4-BE49-F238E27FC236}">
                <a16:creationId xmlns:a16="http://schemas.microsoft.com/office/drawing/2014/main" id="{9CEF6D19-206A-9258-7A39-598124855B50}"/>
              </a:ext>
            </a:extLst>
          </p:cNvPr>
          <p:cNvSpPr txBox="1"/>
          <p:nvPr/>
        </p:nvSpPr>
        <p:spPr>
          <a:xfrm>
            <a:off x="299958" y="1642820"/>
            <a:ext cx="6974238" cy="707886"/>
          </a:xfrm>
          <a:prstGeom prst="rect">
            <a:avLst/>
          </a:prstGeom>
          <a:noFill/>
        </p:spPr>
        <p:txBody>
          <a:bodyPr wrap="square" rtlCol="0">
            <a:spAutoFit/>
          </a:bodyPr>
          <a:lstStyle/>
          <a:p>
            <a:r>
              <a:rPr lang="ja-JP" altLang="en-US" sz="4000" b="1"/>
              <a:t>抗血小板薬の効果判定可能</a:t>
            </a:r>
            <a:endParaRPr kumimoji="1" lang="ja-JP" altLang="en-US" sz="4000" b="1"/>
          </a:p>
        </p:txBody>
      </p:sp>
      <p:sp>
        <p:nvSpPr>
          <p:cNvPr id="10" name="テキスト ボックス 9">
            <a:extLst>
              <a:ext uri="{FF2B5EF4-FFF2-40B4-BE49-F238E27FC236}">
                <a16:creationId xmlns:a16="http://schemas.microsoft.com/office/drawing/2014/main" id="{05179D86-E16D-F76E-24CF-4F163D80D3EF}"/>
              </a:ext>
            </a:extLst>
          </p:cNvPr>
          <p:cNvSpPr txBox="1"/>
          <p:nvPr/>
        </p:nvSpPr>
        <p:spPr>
          <a:xfrm>
            <a:off x="495943" y="2807721"/>
            <a:ext cx="11453247" cy="584775"/>
          </a:xfrm>
          <a:prstGeom prst="rect">
            <a:avLst/>
          </a:prstGeom>
          <a:noFill/>
        </p:spPr>
        <p:txBody>
          <a:bodyPr wrap="square" rtlCol="0">
            <a:spAutoFit/>
          </a:bodyPr>
          <a:lstStyle/>
          <a:p>
            <a:r>
              <a:rPr lang="en-US" altLang="ja-JP" sz="3200" dirty="0"/>
              <a:t>ADP</a:t>
            </a:r>
            <a:r>
              <a:rPr lang="ja-JP" altLang="en-US" sz="3200"/>
              <a:t>抑制率：</a:t>
            </a:r>
            <a:r>
              <a:rPr lang="en-US" altLang="ja-JP" sz="3200" dirty="0"/>
              <a:t>ADP</a:t>
            </a:r>
            <a:r>
              <a:rPr lang="ja-JP" altLang="en-US" sz="3200"/>
              <a:t>受容体拮抗薬</a:t>
            </a:r>
            <a:r>
              <a:rPr lang="en-US" altLang="ja-JP" sz="3200" dirty="0"/>
              <a:t>(Prasugrel, </a:t>
            </a:r>
            <a:r>
              <a:rPr lang="en-US" altLang="ja-JP" sz="3200" dirty="0" err="1"/>
              <a:t>Clopidgrel</a:t>
            </a:r>
            <a:r>
              <a:rPr lang="en-US" altLang="ja-JP" sz="3200" dirty="0"/>
              <a:t>, Ticagrelor)</a:t>
            </a:r>
            <a:endParaRPr kumimoji="1" lang="ja-JP" altLang="en-US" sz="3200"/>
          </a:p>
        </p:txBody>
      </p:sp>
      <p:sp>
        <p:nvSpPr>
          <p:cNvPr id="11" name="テキスト ボックス 10">
            <a:extLst>
              <a:ext uri="{FF2B5EF4-FFF2-40B4-BE49-F238E27FC236}">
                <a16:creationId xmlns:a16="http://schemas.microsoft.com/office/drawing/2014/main" id="{B6EEEE29-7D10-3073-F0C7-4D7D2C7B7792}"/>
              </a:ext>
            </a:extLst>
          </p:cNvPr>
          <p:cNvSpPr txBox="1"/>
          <p:nvPr/>
        </p:nvSpPr>
        <p:spPr>
          <a:xfrm>
            <a:off x="495944" y="2303385"/>
            <a:ext cx="11453247" cy="584775"/>
          </a:xfrm>
          <a:prstGeom prst="rect">
            <a:avLst/>
          </a:prstGeom>
          <a:noFill/>
        </p:spPr>
        <p:txBody>
          <a:bodyPr wrap="square" rtlCol="0">
            <a:spAutoFit/>
          </a:bodyPr>
          <a:lstStyle/>
          <a:p>
            <a:r>
              <a:rPr lang="en-US" altLang="ja-JP" sz="3200" dirty="0"/>
              <a:t>AA</a:t>
            </a:r>
            <a:r>
              <a:rPr lang="ja-JP" altLang="en-US" sz="3200"/>
              <a:t>抑制率：</a:t>
            </a:r>
            <a:r>
              <a:rPr lang="en-US" altLang="ja-JP" sz="3200" dirty="0"/>
              <a:t>TxA2</a:t>
            </a:r>
            <a:r>
              <a:rPr lang="ja-JP" altLang="en-US" sz="3200"/>
              <a:t>阻害薬</a:t>
            </a:r>
            <a:r>
              <a:rPr lang="en-US" altLang="ja-JP" sz="3200" dirty="0"/>
              <a:t>(Aspirin)</a:t>
            </a:r>
            <a:endParaRPr kumimoji="1" lang="ja-JP" altLang="en-US" sz="3200"/>
          </a:p>
        </p:txBody>
      </p:sp>
      <p:sp>
        <p:nvSpPr>
          <p:cNvPr id="12" name="テキスト ボックス 11">
            <a:extLst>
              <a:ext uri="{FF2B5EF4-FFF2-40B4-BE49-F238E27FC236}">
                <a16:creationId xmlns:a16="http://schemas.microsoft.com/office/drawing/2014/main" id="{8D40ECF6-E474-7DA2-2462-A2DEE073F56D}"/>
              </a:ext>
            </a:extLst>
          </p:cNvPr>
          <p:cNvSpPr txBox="1"/>
          <p:nvPr/>
        </p:nvSpPr>
        <p:spPr>
          <a:xfrm>
            <a:off x="299958" y="4599674"/>
            <a:ext cx="12326157" cy="1754326"/>
          </a:xfrm>
          <a:prstGeom prst="rect">
            <a:avLst/>
          </a:prstGeom>
          <a:noFill/>
        </p:spPr>
        <p:txBody>
          <a:bodyPr wrap="square" rtlCol="0">
            <a:spAutoFit/>
          </a:bodyPr>
          <a:lstStyle/>
          <a:p>
            <a:r>
              <a:rPr lang="ja-JP" altLang="en-US" sz="2400"/>
              <a:t>抗血小板薬内服患者の</a:t>
            </a:r>
            <a:r>
              <a:rPr lang="ja-JP" altLang="en-US" sz="2800" b="1"/>
              <a:t>観血的処置前や外傷時</a:t>
            </a:r>
            <a:r>
              <a:rPr lang="ja-JP" altLang="en-US" sz="2400"/>
              <a:t>に検査をすることで</a:t>
            </a:r>
            <a:endParaRPr lang="en-US" altLang="ja-JP" sz="2400" dirty="0"/>
          </a:p>
          <a:p>
            <a:r>
              <a:rPr lang="ja-JP" altLang="en-US" sz="2400"/>
              <a:t>術前・術中の出血リスクを見積もることが可能になりかもしれない．</a:t>
            </a:r>
            <a:endParaRPr lang="en-US" altLang="ja-JP" sz="2400" dirty="0"/>
          </a:p>
          <a:p>
            <a:r>
              <a:rPr kumimoji="1" lang="ja-JP" altLang="en-US" sz="2800" b="1">
                <a:solidFill>
                  <a:srgbClr val="FF0000"/>
                </a:solidFill>
              </a:rPr>
              <a:t>必要なら血小板輸血</a:t>
            </a:r>
            <a:r>
              <a:rPr kumimoji="1" lang="en-US" altLang="ja-JP" sz="2800" b="1" dirty="0">
                <a:solidFill>
                  <a:srgbClr val="FF0000"/>
                </a:solidFill>
              </a:rPr>
              <a:t>, </a:t>
            </a:r>
            <a:r>
              <a:rPr lang="ja-JP" altLang="en-US" sz="2800" b="1">
                <a:solidFill>
                  <a:srgbClr val="FF0000"/>
                </a:solidFill>
              </a:rPr>
              <a:t>処置</a:t>
            </a:r>
            <a:r>
              <a:rPr kumimoji="1" lang="ja-JP" altLang="en-US" sz="2800" b="1">
                <a:solidFill>
                  <a:srgbClr val="FF0000"/>
                </a:solidFill>
              </a:rPr>
              <a:t>の延期・方法変更など方針を</a:t>
            </a:r>
            <a:endParaRPr kumimoji="1" lang="en-US" altLang="ja-JP" sz="2800" b="1" dirty="0">
              <a:solidFill>
                <a:srgbClr val="FF0000"/>
              </a:solidFill>
            </a:endParaRPr>
          </a:p>
          <a:p>
            <a:r>
              <a:rPr kumimoji="1" lang="ja-JP" altLang="en-US" sz="2800" b="1">
                <a:solidFill>
                  <a:srgbClr val="FF0000"/>
                </a:solidFill>
              </a:rPr>
              <a:t>事前に決めることができる</a:t>
            </a:r>
            <a:r>
              <a:rPr kumimoji="1" lang="ja-JP" altLang="en-US" sz="2400"/>
              <a:t>かも</a:t>
            </a:r>
          </a:p>
        </p:txBody>
      </p:sp>
      <p:sp>
        <p:nvSpPr>
          <p:cNvPr id="13" name="角丸四角形 12">
            <a:extLst>
              <a:ext uri="{FF2B5EF4-FFF2-40B4-BE49-F238E27FC236}">
                <a16:creationId xmlns:a16="http://schemas.microsoft.com/office/drawing/2014/main" id="{0AE92DEE-91B2-ABDA-34D2-3E0038E0B48C}"/>
              </a:ext>
            </a:extLst>
          </p:cNvPr>
          <p:cNvSpPr/>
          <p:nvPr/>
        </p:nvSpPr>
        <p:spPr>
          <a:xfrm>
            <a:off x="765229" y="3442040"/>
            <a:ext cx="10661542" cy="1035064"/>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400" b="1"/>
              <a:t>抑制率＞</a:t>
            </a:r>
            <a:r>
              <a:rPr lang="en-US" altLang="ja-JP" sz="4400" b="1" dirty="0"/>
              <a:t>30</a:t>
            </a:r>
            <a:r>
              <a:rPr kumimoji="1" lang="ja-JP" altLang="en-US" sz="4400" b="1"/>
              <a:t>％で抗血小板薬効果あり</a:t>
            </a:r>
          </a:p>
        </p:txBody>
      </p:sp>
    </p:spTree>
    <p:extLst>
      <p:ext uri="{BB962C8B-B14F-4D97-AF65-F5344CB8AC3E}">
        <p14:creationId xmlns:p14="http://schemas.microsoft.com/office/powerpoint/2010/main" val="34004524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コンテンツ プレースホルダー 6">
            <a:extLst>
              <a:ext uri="{FF2B5EF4-FFF2-40B4-BE49-F238E27FC236}">
                <a16:creationId xmlns:a16="http://schemas.microsoft.com/office/drawing/2014/main" id="{BCB9C43F-5008-3AC1-233B-DA78E09A1711}"/>
              </a:ext>
            </a:extLst>
          </p:cNvPr>
          <p:cNvGraphicFramePr>
            <a:graphicFrameLocks noGrp="1"/>
          </p:cNvGraphicFramePr>
          <p:nvPr>
            <p:ph idx="1"/>
            <p:extLst>
              <p:ext uri="{D42A27DB-BD31-4B8C-83A1-F6EECF244321}">
                <p14:modId xmlns:p14="http://schemas.microsoft.com/office/powerpoint/2010/main" val="3709432057"/>
              </p:ext>
            </p:extLst>
          </p:nvPr>
        </p:nvGraphicFramePr>
        <p:xfrm>
          <a:off x="72000" y="600825"/>
          <a:ext cx="12048000" cy="5583746"/>
        </p:xfrm>
        <a:graphic>
          <a:graphicData uri="http://schemas.openxmlformats.org/drawingml/2006/table">
            <a:tbl>
              <a:tblPr firstRow="1" bandRow="1">
                <a:tableStyleId>{5C22544A-7EE6-4342-B048-85BDC9FD1C3A}</a:tableStyleId>
              </a:tblPr>
              <a:tblGrid>
                <a:gridCol w="2409600">
                  <a:extLst>
                    <a:ext uri="{9D8B030D-6E8A-4147-A177-3AD203B41FA5}">
                      <a16:colId xmlns:a16="http://schemas.microsoft.com/office/drawing/2014/main" val="2104071543"/>
                    </a:ext>
                  </a:extLst>
                </a:gridCol>
                <a:gridCol w="2409600">
                  <a:extLst>
                    <a:ext uri="{9D8B030D-6E8A-4147-A177-3AD203B41FA5}">
                      <a16:colId xmlns:a16="http://schemas.microsoft.com/office/drawing/2014/main" val="2103648148"/>
                    </a:ext>
                  </a:extLst>
                </a:gridCol>
                <a:gridCol w="2409600">
                  <a:extLst>
                    <a:ext uri="{9D8B030D-6E8A-4147-A177-3AD203B41FA5}">
                      <a16:colId xmlns:a16="http://schemas.microsoft.com/office/drawing/2014/main" val="605215655"/>
                    </a:ext>
                  </a:extLst>
                </a:gridCol>
                <a:gridCol w="2409600">
                  <a:extLst>
                    <a:ext uri="{9D8B030D-6E8A-4147-A177-3AD203B41FA5}">
                      <a16:colId xmlns:a16="http://schemas.microsoft.com/office/drawing/2014/main" val="1769006844"/>
                    </a:ext>
                  </a:extLst>
                </a:gridCol>
                <a:gridCol w="2409600">
                  <a:extLst>
                    <a:ext uri="{9D8B030D-6E8A-4147-A177-3AD203B41FA5}">
                      <a16:colId xmlns:a16="http://schemas.microsoft.com/office/drawing/2014/main" val="2758163911"/>
                    </a:ext>
                  </a:extLst>
                </a:gridCol>
              </a:tblGrid>
              <a:tr h="341048">
                <a:tc>
                  <a:txBody>
                    <a:bodyPr/>
                    <a:lstStyle/>
                    <a:p>
                      <a:pPr algn="ctr"/>
                      <a:r>
                        <a:rPr kumimoji="1" lang="ja-JP" altLang="en-US"/>
                        <a:t>製剤・検査など</a:t>
                      </a:r>
                    </a:p>
                  </a:txBody>
                  <a:tcPr anchor="ctr"/>
                </a:tc>
                <a:tc>
                  <a:txBody>
                    <a:bodyPr/>
                    <a:lstStyle/>
                    <a:p>
                      <a:pPr algn="ctr"/>
                      <a:r>
                        <a:rPr kumimoji="1" lang="ja-JP" altLang="en-US"/>
                        <a:t>使用タイミング</a:t>
                      </a:r>
                    </a:p>
                  </a:txBody>
                  <a:tcPr anchor="ctr"/>
                </a:tc>
                <a:tc>
                  <a:txBody>
                    <a:bodyPr/>
                    <a:lstStyle/>
                    <a:p>
                      <a:pPr algn="ctr"/>
                      <a:r>
                        <a:rPr kumimoji="1" lang="ja-JP" altLang="en-US"/>
                        <a:t>使用判断</a:t>
                      </a:r>
                    </a:p>
                  </a:txBody>
                  <a:tcPr anchor="ctr"/>
                </a:tc>
                <a:tc>
                  <a:txBody>
                    <a:bodyPr/>
                    <a:lstStyle/>
                    <a:p>
                      <a:pPr algn="ctr"/>
                      <a:r>
                        <a:rPr kumimoji="1" lang="ja-JP" altLang="en-US"/>
                        <a:t>効果</a:t>
                      </a:r>
                    </a:p>
                  </a:txBody>
                  <a:tcPr anchor="ctr"/>
                </a:tc>
                <a:tc>
                  <a:txBody>
                    <a:bodyPr/>
                    <a:lstStyle/>
                    <a:p>
                      <a:pPr algn="ctr"/>
                      <a:r>
                        <a:rPr kumimoji="1" lang="ja-JP" altLang="en-US"/>
                        <a:t>費用</a:t>
                      </a:r>
                    </a:p>
                  </a:txBody>
                  <a:tcPr anchor="ctr"/>
                </a:tc>
                <a:extLst>
                  <a:ext uri="{0D108BD9-81ED-4DB2-BD59-A6C34878D82A}">
                    <a16:rowId xmlns:a16="http://schemas.microsoft.com/office/drawing/2014/main" val="3823650258"/>
                  </a:ext>
                </a:extLst>
              </a:tr>
              <a:tr h="312627">
                <a:tc>
                  <a:txBody>
                    <a:bodyPr/>
                    <a:lstStyle/>
                    <a:p>
                      <a:pPr algn="ctr"/>
                      <a:r>
                        <a:rPr kumimoji="1" lang="ja-JP" altLang="en-US" sz="2000" b="1"/>
                        <a:t>赤血球輸血</a:t>
                      </a:r>
                      <a:endParaRPr kumimoji="1" lang="en-US" altLang="ja-JP" sz="2000" b="1" dirty="0"/>
                    </a:p>
                  </a:txBody>
                  <a:tcPr anchor="ctr"/>
                </a:tc>
                <a:tc>
                  <a:txBody>
                    <a:bodyPr/>
                    <a:lstStyle/>
                    <a:p>
                      <a:pPr algn="ctr"/>
                      <a:r>
                        <a:rPr kumimoji="1" lang="en-US" altLang="ja-JP" sz="1600" dirty="0"/>
                        <a:t>Hb</a:t>
                      </a:r>
                      <a:r>
                        <a:rPr kumimoji="1" lang="ja-JP" altLang="en-US" sz="1600"/>
                        <a:t>低下時・出血時</a:t>
                      </a:r>
                    </a:p>
                  </a:txBody>
                  <a:tcPr anchor="ctr"/>
                </a:tc>
                <a:tc>
                  <a:txBody>
                    <a:bodyPr/>
                    <a:lstStyle/>
                    <a:p>
                      <a:pPr algn="ctr"/>
                      <a:r>
                        <a:rPr kumimoji="1" lang="ja-JP" altLang="en-US" sz="1600"/>
                        <a:t>血算・担当医判断</a:t>
                      </a:r>
                    </a:p>
                  </a:txBody>
                  <a:tcPr anchor="ctr"/>
                </a:tc>
                <a:tc>
                  <a:txBody>
                    <a:bodyPr/>
                    <a:lstStyle/>
                    <a:p>
                      <a:pPr algn="ctr"/>
                      <a:r>
                        <a:rPr kumimoji="1" lang="en-US" altLang="ja-JP" sz="1600" dirty="0"/>
                        <a:t>Hb</a:t>
                      </a:r>
                      <a:r>
                        <a:rPr kumimoji="1" lang="ja-JP" altLang="en-US" sz="1600"/>
                        <a:t>の上昇</a:t>
                      </a:r>
                    </a:p>
                  </a:txBody>
                  <a:tcPr anchor="ctr"/>
                </a:tc>
                <a:tc>
                  <a:txBody>
                    <a:bodyPr/>
                    <a:lstStyle/>
                    <a:p>
                      <a:pPr algn="ctr"/>
                      <a:r>
                        <a:rPr kumimoji="1" lang="ja-JP" altLang="en-US" sz="1800" b="1"/>
                        <a:t>約</a:t>
                      </a:r>
                      <a:r>
                        <a:rPr kumimoji="1" lang="en-US" altLang="ja-JP" sz="1800" b="1" dirty="0"/>
                        <a:t>1.8</a:t>
                      </a:r>
                      <a:r>
                        <a:rPr kumimoji="1" lang="ja-JP" altLang="en-US" sz="1800" b="1"/>
                        <a:t>万円</a:t>
                      </a:r>
                      <a:r>
                        <a:rPr kumimoji="1" lang="en-US" altLang="ja-JP" sz="1800" b="1" dirty="0"/>
                        <a:t>/200ml(2U)</a:t>
                      </a:r>
                      <a:endParaRPr kumimoji="1" lang="ja-JP" altLang="en-US" sz="1800" b="1"/>
                    </a:p>
                  </a:txBody>
                  <a:tcPr anchor="ctr"/>
                </a:tc>
                <a:extLst>
                  <a:ext uri="{0D108BD9-81ED-4DB2-BD59-A6C34878D82A}">
                    <a16:rowId xmlns:a16="http://schemas.microsoft.com/office/drawing/2014/main" val="1809269808"/>
                  </a:ext>
                </a:extLst>
              </a:tr>
              <a:tr h="539993">
                <a:tc>
                  <a:txBody>
                    <a:bodyPr/>
                    <a:lstStyle/>
                    <a:p>
                      <a:pPr algn="ctr"/>
                      <a:r>
                        <a:rPr kumimoji="1" lang="ja-JP" altLang="en-US" sz="2000" b="1"/>
                        <a:t>新鮮凍結血漿</a:t>
                      </a:r>
                    </a:p>
                  </a:txBody>
                  <a:tcPr anchor="ctr"/>
                </a:tc>
                <a:tc>
                  <a:txBody>
                    <a:bodyPr/>
                    <a:lstStyle/>
                    <a:p>
                      <a:pPr algn="ctr"/>
                      <a:r>
                        <a:rPr kumimoji="1" lang="ja-JP" altLang="en-US" sz="1600"/>
                        <a:t>凝固異常・重症外傷</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t>凝固検査・</a:t>
                      </a:r>
                      <a:r>
                        <a:rPr kumimoji="1" lang="en-US" altLang="ja-JP" sz="1600" b="1" dirty="0">
                          <a:solidFill>
                            <a:srgbClr val="FF0000"/>
                          </a:solidFill>
                        </a:rPr>
                        <a:t>TEG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t>担当医判断</a:t>
                      </a:r>
                    </a:p>
                  </a:txBody>
                  <a:tcPr anchor="ctr"/>
                </a:tc>
                <a:tc>
                  <a:txBody>
                    <a:bodyPr/>
                    <a:lstStyle/>
                    <a:p>
                      <a:pPr algn="ctr"/>
                      <a:r>
                        <a:rPr kumimoji="1" lang="ja-JP" altLang="en-US" sz="1600"/>
                        <a:t>凝固因子の補充</a:t>
                      </a:r>
                    </a:p>
                  </a:txBody>
                  <a:tcPr anchor="ctr"/>
                </a:tc>
                <a:tc>
                  <a:txBody>
                    <a:bodyPr/>
                    <a:lstStyle/>
                    <a:p>
                      <a:pPr algn="ctr"/>
                      <a:r>
                        <a:rPr kumimoji="1" lang="ja-JP" altLang="en-US" sz="1800" b="1"/>
                        <a:t>約</a:t>
                      </a:r>
                      <a:r>
                        <a:rPr kumimoji="1" lang="en-US" altLang="ja-JP" sz="1800" b="1" dirty="0"/>
                        <a:t>1.8</a:t>
                      </a:r>
                      <a:r>
                        <a:rPr kumimoji="1" lang="ja-JP" altLang="en-US" sz="1800" b="1"/>
                        <a:t>万円</a:t>
                      </a:r>
                      <a:r>
                        <a:rPr kumimoji="1" lang="en-US" altLang="ja-JP" sz="1800" b="1" dirty="0"/>
                        <a:t>/240ml(2U)</a:t>
                      </a:r>
                      <a:endParaRPr kumimoji="1" lang="ja-JP" altLang="en-US" sz="1800" b="1"/>
                    </a:p>
                  </a:txBody>
                  <a:tcPr anchor="ctr"/>
                </a:tc>
                <a:extLst>
                  <a:ext uri="{0D108BD9-81ED-4DB2-BD59-A6C34878D82A}">
                    <a16:rowId xmlns:a16="http://schemas.microsoft.com/office/drawing/2014/main" val="2149476765"/>
                  </a:ext>
                </a:extLst>
              </a:tr>
              <a:tr h="565332">
                <a:tc>
                  <a:txBody>
                    <a:bodyPr/>
                    <a:lstStyle/>
                    <a:p>
                      <a:pPr algn="ctr"/>
                      <a:r>
                        <a:rPr kumimoji="1" lang="ja-JP" altLang="en-US" sz="2000" b="1"/>
                        <a:t>血小板輸血</a:t>
                      </a:r>
                    </a:p>
                  </a:txBody>
                  <a:tcPr anchor="ctr"/>
                </a:tc>
                <a:tc>
                  <a:txBody>
                    <a:bodyPr/>
                    <a:lstStyle/>
                    <a:p>
                      <a:pPr algn="ctr"/>
                      <a:r>
                        <a:rPr kumimoji="1" lang="ja-JP" altLang="en-US" sz="1600"/>
                        <a:t>血小板数低下時</a:t>
                      </a:r>
                      <a:endParaRPr kumimoji="1" lang="en-US" altLang="ja-JP" sz="1600" dirty="0"/>
                    </a:p>
                    <a:p>
                      <a:pPr algn="ctr"/>
                      <a:r>
                        <a:rPr kumimoji="1" lang="ja-JP" altLang="en-US" sz="1600"/>
                        <a:t>血小板機能抑制時</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t>血算・</a:t>
                      </a:r>
                      <a:r>
                        <a:rPr kumimoji="1" lang="ja-JP" altLang="en-US" sz="1600" b="1">
                          <a:solidFill>
                            <a:srgbClr val="FF0000"/>
                          </a:solidFill>
                        </a:rPr>
                        <a:t>血小板機能</a:t>
                      </a:r>
                      <a:endParaRPr kumimoji="1" lang="en-US" altLang="ja-JP" sz="1600" b="1" dirty="0">
                        <a:solidFill>
                          <a:srgbClr val="FF000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t>担当医判断</a:t>
                      </a:r>
                    </a:p>
                  </a:txBody>
                  <a:tcPr anchor="ctr"/>
                </a:tc>
                <a:tc>
                  <a:txBody>
                    <a:bodyPr/>
                    <a:lstStyle/>
                    <a:p>
                      <a:pPr algn="ctr"/>
                      <a:r>
                        <a:rPr kumimoji="1" lang="ja-JP" altLang="en-US" sz="1600"/>
                        <a:t>活性血小板の補充</a:t>
                      </a:r>
                    </a:p>
                  </a:txBody>
                  <a:tcPr anchor="ctr"/>
                </a:tc>
                <a:tc>
                  <a:txBody>
                    <a:bodyPr/>
                    <a:lstStyle/>
                    <a:p>
                      <a:pPr algn="ctr"/>
                      <a:r>
                        <a:rPr kumimoji="1" lang="ja-JP" altLang="en-US" sz="1800" b="1"/>
                        <a:t>約</a:t>
                      </a:r>
                      <a:r>
                        <a:rPr kumimoji="1" lang="en-US" altLang="ja-JP" sz="1800" b="1" dirty="0"/>
                        <a:t>8</a:t>
                      </a:r>
                      <a:r>
                        <a:rPr kumimoji="1" lang="ja-JP" altLang="en-US" sz="1800" b="1"/>
                        <a:t>万円</a:t>
                      </a:r>
                      <a:r>
                        <a:rPr kumimoji="1" lang="en-US" altLang="ja-JP" sz="1800" b="1" dirty="0"/>
                        <a:t>/200ml(10U)</a:t>
                      </a:r>
                      <a:endParaRPr kumimoji="1" lang="ja-JP" altLang="en-US" sz="1800" b="1"/>
                    </a:p>
                  </a:txBody>
                  <a:tcPr anchor="ctr"/>
                </a:tc>
                <a:extLst>
                  <a:ext uri="{0D108BD9-81ED-4DB2-BD59-A6C34878D82A}">
                    <a16:rowId xmlns:a16="http://schemas.microsoft.com/office/drawing/2014/main" val="210405813"/>
                  </a:ext>
                </a:extLst>
              </a:tr>
              <a:tr h="539993">
                <a:tc>
                  <a:txBody>
                    <a:bodyPr/>
                    <a:lstStyle/>
                    <a:p>
                      <a:pPr algn="ctr"/>
                      <a:r>
                        <a:rPr kumimoji="1" lang="en-US" altLang="ja-JP" sz="2000" b="1" dirty="0"/>
                        <a:t>Fib</a:t>
                      </a:r>
                      <a:r>
                        <a:rPr kumimoji="1" lang="ja-JP" altLang="en-US" sz="2000" b="1"/>
                        <a:t> </a:t>
                      </a:r>
                      <a:r>
                        <a:rPr kumimoji="1" lang="en-US" altLang="ja-JP" sz="2000" b="1" dirty="0"/>
                        <a:t>3g</a:t>
                      </a:r>
                      <a:r>
                        <a:rPr kumimoji="1" lang="ja-JP" altLang="en-US" sz="2000" b="1"/>
                        <a:t>製剤</a:t>
                      </a:r>
                    </a:p>
                  </a:txBody>
                  <a:tcPr anchor="ctr"/>
                </a:tc>
                <a:tc>
                  <a:txBody>
                    <a:bodyPr/>
                    <a:lstStyle/>
                    <a:p>
                      <a:pPr algn="ctr"/>
                      <a:r>
                        <a:rPr kumimoji="1" lang="ja-JP" altLang="en-US" sz="1600"/>
                        <a:t>重症外傷</a:t>
                      </a:r>
                      <a:endParaRPr kumimoji="1" lang="en-US" altLang="ja-JP" sz="1600" dirty="0"/>
                    </a:p>
                    <a:p>
                      <a:pPr algn="ctr"/>
                      <a:r>
                        <a:rPr kumimoji="1" lang="en-US" altLang="ja-JP" sz="1600" dirty="0"/>
                        <a:t>Fib&lt;150mg/dL</a:t>
                      </a:r>
                    </a:p>
                  </a:txBody>
                  <a:tcPr anchor="ctr"/>
                </a:tc>
                <a:tc>
                  <a:txBody>
                    <a:bodyPr/>
                    <a:lstStyle/>
                    <a:p>
                      <a:pPr algn="ctr"/>
                      <a:r>
                        <a:rPr kumimoji="1" lang="ja-JP" altLang="en-US" sz="1600"/>
                        <a:t>凝固検査・</a:t>
                      </a:r>
                      <a:r>
                        <a:rPr kumimoji="1" lang="en-US" altLang="ja-JP" sz="1600" b="1" dirty="0">
                          <a:solidFill>
                            <a:srgbClr val="FF0000"/>
                          </a:solidFill>
                        </a:rPr>
                        <a:t>TEG PM </a:t>
                      </a:r>
                    </a:p>
                    <a:p>
                      <a:pPr algn="ctr"/>
                      <a:r>
                        <a:rPr kumimoji="1" lang="ja-JP" altLang="en-US" sz="1600"/>
                        <a:t>担当医判断</a:t>
                      </a:r>
                    </a:p>
                  </a:txBody>
                  <a:tcPr anchor="ctr"/>
                </a:tc>
                <a:tc>
                  <a:txBody>
                    <a:bodyPr/>
                    <a:lstStyle/>
                    <a:p>
                      <a:pPr algn="ctr"/>
                      <a:r>
                        <a:rPr kumimoji="1" lang="ja-JP" altLang="en-US" sz="1600"/>
                        <a:t>フィブリノーゲン補充</a:t>
                      </a:r>
                    </a:p>
                  </a:txBody>
                  <a:tcPr anchor="ctr"/>
                </a:tc>
                <a:tc>
                  <a:txBody>
                    <a:bodyPr/>
                    <a:lstStyle/>
                    <a:p>
                      <a:pPr algn="ctr"/>
                      <a:r>
                        <a:rPr kumimoji="1" lang="ja-JP" altLang="en-US" sz="1800" b="1"/>
                        <a:t>約</a:t>
                      </a:r>
                      <a:r>
                        <a:rPr kumimoji="1" lang="en-US" altLang="ja-JP" sz="1800" b="1" dirty="0"/>
                        <a:t>15.6</a:t>
                      </a:r>
                      <a:r>
                        <a:rPr kumimoji="1" lang="ja-JP" altLang="en-US" sz="1800" b="1"/>
                        <a:t>万円</a:t>
                      </a:r>
                    </a:p>
                  </a:txBody>
                  <a:tcPr anchor="ctr"/>
                </a:tc>
                <a:extLst>
                  <a:ext uri="{0D108BD9-81ED-4DB2-BD59-A6C34878D82A}">
                    <a16:rowId xmlns:a16="http://schemas.microsoft.com/office/drawing/2014/main" val="2323569837"/>
                  </a:ext>
                </a:extLst>
              </a:tr>
              <a:tr h="312627">
                <a:tc>
                  <a:txBody>
                    <a:bodyPr/>
                    <a:lstStyle/>
                    <a:p>
                      <a:pPr algn="ctr"/>
                      <a:r>
                        <a:rPr kumimoji="1" lang="en-US" altLang="ja-JP" sz="2000" b="1" dirty="0"/>
                        <a:t>4FPCC</a:t>
                      </a:r>
                      <a:endParaRPr kumimoji="1" lang="ja-JP" altLang="en-US" sz="2000" b="1"/>
                    </a:p>
                  </a:txBody>
                  <a:tcPr anchor="ctr"/>
                </a:tc>
                <a:tc>
                  <a:txBody>
                    <a:bodyPr/>
                    <a:lstStyle/>
                    <a:p>
                      <a:pPr algn="ctr"/>
                      <a:r>
                        <a:rPr kumimoji="1" lang="en-US" altLang="ja-JP" sz="1600" dirty="0"/>
                        <a:t>VKA user</a:t>
                      </a:r>
                      <a:r>
                        <a:rPr kumimoji="1" lang="ja-JP" altLang="en-US" sz="1600"/>
                        <a:t>の危機的出血</a:t>
                      </a:r>
                    </a:p>
                  </a:txBody>
                  <a:tcPr anchor="ctr"/>
                </a:tc>
                <a:tc>
                  <a:txBody>
                    <a:bodyPr/>
                    <a:lstStyle/>
                    <a:p>
                      <a:pPr algn="ctr"/>
                      <a:r>
                        <a:rPr kumimoji="1" lang="ja-JP" altLang="en-US" sz="1600"/>
                        <a:t>担当医判断</a:t>
                      </a:r>
                    </a:p>
                  </a:txBody>
                  <a:tcPr anchor="ctr"/>
                </a:tc>
                <a:tc>
                  <a:txBody>
                    <a:bodyPr/>
                    <a:lstStyle/>
                    <a:p>
                      <a:pPr algn="ctr"/>
                      <a:r>
                        <a:rPr kumimoji="1" lang="en-US" altLang="ja-JP" sz="1600" dirty="0"/>
                        <a:t>VKA</a:t>
                      </a:r>
                      <a:r>
                        <a:rPr kumimoji="1" lang="ja-JP" altLang="en-US" sz="1600"/>
                        <a:t>の拮抗</a:t>
                      </a:r>
                    </a:p>
                  </a:txBody>
                  <a:tcPr anchor="ctr"/>
                </a:tc>
                <a:tc>
                  <a:txBody>
                    <a:bodyPr/>
                    <a:lstStyle/>
                    <a:p>
                      <a:pPr algn="ctr"/>
                      <a:r>
                        <a:rPr kumimoji="1" lang="en-US" altLang="ja-JP" sz="1800" b="1" dirty="0"/>
                        <a:t>8−20</a:t>
                      </a:r>
                      <a:r>
                        <a:rPr kumimoji="1" lang="ja-JP" altLang="en-US" sz="1800" b="1"/>
                        <a:t>万</a:t>
                      </a:r>
                      <a:r>
                        <a:rPr kumimoji="1" lang="en-US" altLang="ja-JP" sz="1800" b="1" dirty="0"/>
                        <a:t>(50kg</a:t>
                      </a:r>
                      <a:r>
                        <a:rPr kumimoji="1" lang="ja-JP" altLang="en-US" sz="1800" b="1"/>
                        <a:t>として</a:t>
                      </a:r>
                      <a:r>
                        <a:rPr kumimoji="1" lang="en-US" altLang="ja-JP" sz="1800" b="1" dirty="0"/>
                        <a:t>)</a:t>
                      </a:r>
                      <a:endParaRPr kumimoji="1" lang="ja-JP" altLang="en-US" sz="1800" b="1"/>
                    </a:p>
                  </a:txBody>
                  <a:tcPr anchor="ctr"/>
                </a:tc>
                <a:extLst>
                  <a:ext uri="{0D108BD9-81ED-4DB2-BD59-A6C34878D82A}">
                    <a16:rowId xmlns:a16="http://schemas.microsoft.com/office/drawing/2014/main" val="2662823784"/>
                  </a:ext>
                </a:extLst>
              </a:tr>
              <a:tr h="529557">
                <a:tc>
                  <a:txBody>
                    <a:bodyPr/>
                    <a:lstStyle/>
                    <a:p>
                      <a:pPr algn="ctr"/>
                      <a:r>
                        <a:rPr kumimoji="1" lang="en-US" altLang="ja-JP" sz="2000" b="1" dirty="0"/>
                        <a:t>Andexanet Alfa</a:t>
                      </a:r>
                      <a:endParaRPr kumimoji="1" lang="ja-JP" altLang="en-US" sz="2000" b="1"/>
                    </a:p>
                  </a:txBody>
                  <a:tcPr anchor="ctr"/>
                </a:tc>
                <a:tc>
                  <a:txBody>
                    <a:bodyPr/>
                    <a:lstStyle/>
                    <a:p>
                      <a:pPr algn="ctr"/>
                      <a:r>
                        <a:rPr kumimoji="1" lang="en-US" altLang="ja-JP" sz="1600" dirty="0"/>
                        <a:t>DOAC user</a:t>
                      </a:r>
                      <a:r>
                        <a:rPr kumimoji="1" lang="ja-JP" altLang="en-US" sz="1600"/>
                        <a:t>の危機的出血</a:t>
                      </a:r>
                    </a:p>
                  </a:txBody>
                  <a:tcPr anchor="ctr"/>
                </a:tc>
                <a:tc>
                  <a:txBody>
                    <a:bodyPr/>
                    <a:lstStyle/>
                    <a:p>
                      <a:pPr algn="ctr"/>
                      <a:r>
                        <a:rPr kumimoji="1" lang="ja-JP" altLang="en-US" sz="1600"/>
                        <a:t>担当医判断</a:t>
                      </a:r>
                    </a:p>
                  </a:txBody>
                  <a:tcPr anchor="ctr"/>
                </a:tc>
                <a:tc>
                  <a:txBody>
                    <a:bodyPr/>
                    <a:lstStyle/>
                    <a:p>
                      <a:pPr algn="ctr"/>
                      <a:r>
                        <a:rPr kumimoji="1" lang="en-US" altLang="ja-JP" sz="1600" dirty="0"/>
                        <a:t>Xa</a:t>
                      </a:r>
                      <a:r>
                        <a:rPr kumimoji="1" lang="ja-JP" altLang="en-US" sz="1600"/>
                        <a:t>阻害薬拮抗</a:t>
                      </a:r>
                    </a:p>
                  </a:txBody>
                  <a:tcPr anchor="ctr"/>
                </a:tc>
                <a:tc>
                  <a:txBody>
                    <a:bodyPr/>
                    <a:lstStyle/>
                    <a:p>
                      <a:pPr algn="ctr"/>
                      <a:r>
                        <a:rPr kumimoji="1" lang="ja-JP" altLang="en-US" sz="1800" b="1"/>
                        <a:t>約</a:t>
                      </a:r>
                      <a:r>
                        <a:rPr kumimoji="1" lang="en-US" altLang="ja-JP" sz="1800" b="1" dirty="0"/>
                        <a:t>300</a:t>
                      </a:r>
                      <a:r>
                        <a:rPr kumimoji="1" lang="ja-JP" altLang="en-US" sz="1800" b="1"/>
                        <a:t>万</a:t>
                      </a:r>
                      <a:r>
                        <a:rPr kumimoji="1" lang="en-US" altLang="ja-JP" sz="1800" b="1" dirty="0"/>
                        <a:t>(B</a:t>
                      </a:r>
                      <a:r>
                        <a:rPr kumimoji="1" lang="ja-JP" altLang="en-US" sz="1800" b="1"/>
                        <a:t>法</a:t>
                      </a:r>
                      <a:r>
                        <a:rPr kumimoji="1" lang="en-US" altLang="ja-JP" sz="1800" b="1" dirty="0"/>
                        <a:t>)</a:t>
                      </a:r>
                      <a:endParaRPr kumimoji="1" lang="ja-JP" altLang="en-US" sz="1800" b="1"/>
                    </a:p>
                  </a:txBody>
                  <a:tcPr anchor="ctr"/>
                </a:tc>
                <a:extLst>
                  <a:ext uri="{0D108BD9-81ED-4DB2-BD59-A6C34878D82A}">
                    <a16:rowId xmlns:a16="http://schemas.microsoft.com/office/drawing/2014/main" val="4012035330"/>
                  </a:ext>
                </a:extLst>
              </a:tr>
              <a:tr h="756509">
                <a:tc>
                  <a:txBody>
                    <a:bodyPr/>
                    <a:lstStyle/>
                    <a:p>
                      <a:pPr algn="ctr"/>
                      <a:r>
                        <a:rPr kumimoji="1" lang="en-US" altLang="ja-JP" sz="2000" b="1" dirty="0"/>
                        <a:t>TEG GH</a:t>
                      </a:r>
                      <a:endParaRPr kumimoji="1" lang="ja-JP" altLang="en-US" sz="2000" b="1"/>
                    </a:p>
                  </a:txBody>
                  <a:tcPr anchor="ctr"/>
                </a:tc>
                <a:tc>
                  <a:txBody>
                    <a:bodyPr/>
                    <a:lstStyle/>
                    <a:p>
                      <a:pPr algn="ctr"/>
                      <a:r>
                        <a:rPr kumimoji="1" lang="en-US" altLang="ja-JP" sz="1600" dirty="0"/>
                        <a:t>ECMO</a:t>
                      </a:r>
                      <a:r>
                        <a:rPr kumimoji="1" lang="ja-JP" altLang="en-US" sz="1600"/>
                        <a:t>使用時の凝固管理</a:t>
                      </a:r>
                      <a:endParaRPr kumimoji="1" lang="en-US" altLang="ja-JP" sz="1600" dirty="0"/>
                    </a:p>
                    <a:p>
                      <a:pPr algn="ctr"/>
                      <a:r>
                        <a:rPr kumimoji="1" lang="ja-JP" altLang="en-US" sz="1600"/>
                        <a:t>原因不明の凝固障害</a:t>
                      </a:r>
                    </a:p>
                  </a:txBody>
                  <a:tcPr anchor="ctr"/>
                </a:tc>
                <a:tc>
                  <a:txBody>
                    <a:bodyPr/>
                    <a:lstStyle/>
                    <a:p>
                      <a:pPr algn="ctr"/>
                      <a:r>
                        <a:rPr kumimoji="1" lang="ja-JP" altLang="en-US" sz="1600" b="1">
                          <a:solidFill>
                            <a:schemeClr val="tx2">
                              <a:lumMod val="50000"/>
                              <a:lumOff val="50000"/>
                            </a:schemeClr>
                          </a:solidFill>
                        </a:rPr>
                        <a:t>担当医判断</a:t>
                      </a:r>
                    </a:p>
                  </a:txBody>
                  <a:tcPr anchor="ctr"/>
                </a:tc>
                <a:tc>
                  <a:txBody>
                    <a:bodyPr/>
                    <a:lstStyle/>
                    <a:p>
                      <a:pPr algn="ctr"/>
                      <a:r>
                        <a:rPr kumimoji="1" lang="ja-JP" altLang="en-US" sz="1600"/>
                        <a:t>適切な抗凝固管理</a:t>
                      </a:r>
                    </a:p>
                  </a:txBody>
                  <a:tcPr anchor="ctr"/>
                </a:tc>
                <a:tc>
                  <a:txBody>
                    <a:bodyPr/>
                    <a:lstStyle/>
                    <a:p>
                      <a:pPr algn="ctr"/>
                      <a:r>
                        <a:rPr kumimoji="1" lang="en-US" altLang="ja-JP" sz="1800" b="1" dirty="0"/>
                        <a:t>10000</a:t>
                      </a:r>
                      <a:r>
                        <a:rPr kumimoji="1" lang="ja-JP" altLang="en-US" sz="1800" b="1"/>
                        <a:t>円</a:t>
                      </a:r>
                    </a:p>
                  </a:txBody>
                  <a:tcPr anchor="ctr"/>
                </a:tc>
                <a:extLst>
                  <a:ext uri="{0D108BD9-81ED-4DB2-BD59-A6C34878D82A}">
                    <a16:rowId xmlns:a16="http://schemas.microsoft.com/office/drawing/2014/main" val="2386496458"/>
                  </a:ext>
                </a:extLst>
              </a:tr>
              <a:tr h="767358">
                <a:tc>
                  <a:txBody>
                    <a:bodyPr/>
                    <a:lstStyle/>
                    <a:p>
                      <a:pPr algn="ctr"/>
                      <a:r>
                        <a:rPr kumimoji="1" lang="en-US" altLang="ja-JP" sz="2000" b="1" dirty="0"/>
                        <a:t>TEG PM</a:t>
                      </a:r>
                      <a:endParaRPr kumimoji="1" lang="ja-JP" altLang="en-US" sz="2000" b="1"/>
                    </a:p>
                  </a:txBody>
                  <a:tcPr anchor="ctr"/>
                </a:tc>
                <a:tc>
                  <a:txBody>
                    <a:bodyPr/>
                    <a:lstStyle/>
                    <a:p>
                      <a:pPr algn="ctr"/>
                      <a:r>
                        <a:rPr kumimoji="1" lang="ja-JP" altLang="en-US" sz="1600"/>
                        <a:t>重症外傷</a:t>
                      </a:r>
                      <a:endParaRPr kumimoji="1" lang="en-US" altLang="ja-JP" sz="1600" dirty="0"/>
                    </a:p>
                    <a:p>
                      <a:pPr algn="ctr"/>
                      <a:r>
                        <a:rPr kumimoji="1" lang="ja-JP" altLang="en-US" sz="1600"/>
                        <a:t>抗血小板薬内服中の</a:t>
                      </a:r>
                      <a:endParaRPr kumimoji="1" lang="en-US" altLang="ja-JP" sz="1600" dirty="0"/>
                    </a:p>
                    <a:p>
                      <a:pPr algn="ctr"/>
                      <a:r>
                        <a:rPr kumimoji="1" lang="ja-JP" altLang="en-US" sz="1600"/>
                        <a:t>観血的処置時</a:t>
                      </a:r>
                      <a:endParaRPr kumimoji="1" lang="en-US" altLang="ja-JP" sz="1600" dirty="0"/>
                    </a:p>
                  </a:txBody>
                  <a:tcPr anchor="ctr"/>
                </a:tc>
                <a:tc>
                  <a:txBody>
                    <a:bodyPr/>
                    <a:lstStyle/>
                    <a:p>
                      <a:pPr algn="ctr"/>
                      <a:r>
                        <a:rPr kumimoji="1" lang="ja-JP" altLang="en-US" sz="1600" b="1">
                          <a:solidFill>
                            <a:srgbClr val="FF0000"/>
                          </a:solidFill>
                        </a:rPr>
                        <a:t>プロトコールに準じる</a:t>
                      </a:r>
                      <a:endParaRPr kumimoji="1" lang="en-US" altLang="ja-JP" sz="1600" b="1" dirty="0">
                        <a:solidFill>
                          <a:srgbClr val="FF0000"/>
                        </a:solidFill>
                      </a:endParaRPr>
                    </a:p>
                    <a:p>
                      <a:pPr algn="ctr"/>
                      <a:r>
                        <a:rPr kumimoji="1" lang="ja-JP" altLang="en-US" sz="1600"/>
                        <a:t>担当医判断</a:t>
                      </a:r>
                    </a:p>
                  </a:txBody>
                  <a:tcPr anchor="ctr"/>
                </a:tc>
                <a:tc>
                  <a:txBody>
                    <a:bodyPr/>
                    <a:lstStyle/>
                    <a:p>
                      <a:pPr algn="ctr"/>
                      <a:r>
                        <a:rPr kumimoji="1" lang="ja-JP" altLang="en-US" sz="1600"/>
                        <a:t>血小板機能測定による血小板補充の適正化・術前評価</a:t>
                      </a:r>
                    </a:p>
                  </a:txBody>
                  <a:tcPr anchor="ctr"/>
                </a:tc>
                <a:tc>
                  <a:txBody>
                    <a:bodyPr/>
                    <a:lstStyle/>
                    <a:p>
                      <a:pPr algn="ctr"/>
                      <a:r>
                        <a:rPr kumimoji="1" lang="en-US" altLang="ja-JP" sz="1800" b="1" dirty="0"/>
                        <a:t>18000</a:t>
                      </a:r>
                      <a:r>
                        <a:rPr kumimoji="1" lang="ja-JP" altLang="en-US" sz="1800" b="1"/>
                        <a:t>円</a:t>
                      </a:r>
                    </a:p>
                  </a:txBody>
                  <a:tcPr anchor="ctr"/>
                </a:tc>
                <a:extLst>
                  <a:ext uri="{0D108BD9-81ED-4DB2-BD59-A6C34878D82A}">
                    <a16:rowId xmlns:a16="http://schemas.microsoft.com/office/drawing/2014/main" val="3621621742"/>
                  </a:ext>
                </a:extLst>
              </a:tr>
              <a:tr h="539993">
                <a:tc>
                  <a:txBody>
                    <a:bodyPr/>
                    <a:lstStyle/>
                    <a:p>
                      <a:pPr algn="ctr"/>
                      <a:r>
                        <a:rPr kumimoji="1" lang="en-US" altLang="ja-JP" sz="2000" b="1" dirty="0"/>
                        <a:t>ECMO</a:t>
                      </a:r>
                      <a:r>
                        <a:rPr kumimoji="1" lang="ja-JP" altLang="en-US" sz="2000" b="1"/>
                        <a:t>回路交換</a:t>
                      </a:r>
                    </a:p>
                  </a:txBody>
                  <a:tcPr anchor="ctr"/>
                </a:tc>
                <a:tc>
                  <a:txBody>
                    <a:bodyPr/>
                    <a:lstStyle/>
                    <a:p>
                      <a:pPr algn="ctr"/>
                      <a:r>
                        <a:rPr kumimoji="1" lang="ja-JP" altLang="en-US" sz="1600"/>
                        <a:t>人工肺機能低下時</a:t>
                      </a:r>
                      <a:endParaRPr kumimoji="1" lang="en-US" altLang="ja-JP" sz="1600" dirty="0"/>
                    </a:p>
                    <a:p>
                      <a:pPr algn="ctr"/>
                      <a:r>
                        <a:rPr kumimoji="1" lang="ja-JP" altLang="en-US" sz="1600"/>
                        <a:t>出血・凝固障害遷延</a:t>
                      </a:r>
                    </a:p>
                  </a:txBody>
                  <a:tcPr anchor="ctr"/>
                </a:tc>
                <a:tc>
                  <a:txBody>
                    <a:bodyPr/>
                    <a:lstStyle/>
                    <a:p>
                      <a:pPr algn="ctr"/>
                      <a:r>
                        <a:rPr kumimoji="1" lang="ja-JP" altLang="en-US" sz="1600"/>
                        <a:t>担当医判断</a:t>
                      </a:r>
                    </a:p>
                  </a:txBody>
                  <a:tcPr anchor="ctr"/>
                </a:tc>
                <a:tc>
                  <a:txBody>
                    <a:bodyPr/>
                    <a:lstStyle/>
                    <a:p>
                      <a:pPr algn="ctr"/>
                      <a:r>
                        <a:rPr kumimoji="1" lang="ja-JP" altLang="en-US" sz="1600"/>
                        <a:t>回路機能回復</a:t>
                      </a:r>
                      <a:endParaRPr kumimoji="1" lang="en-US" altLang="ja-JP" sz="1600" dirty="0"/>
                    </a:p>
                    <a:p>
                      <a:pPr algn="ctr"/>
                      <a:r>
                        <a:rPr kumimoji="1" lang="ja-JP" altLang="en-US" sz="1600"/>
                        <a:t>凝固異常の是正</a:t>
                      </a:r>
                    </a:p>
                  </a:txBody>
                  <a:tcPr anchor="ctr"/>
                </a:tc>
                <a:tc>
                  <a:txBody>
                    <a:bodyPr/>
                    <a:lstStyle/>
                    <a:p>
                      <a:pPr algn="ctr"/>
                      <a:r>
                        <a:rPr kumimoji="1" lang="ja-JP" altLang="en-US" sz="1600" b="1"/>
                        <a:t>約</a:t>
                      </a:r>
                      <a:r>
                        <a:rPr kumimoji="1" lang="en-US" altLang="ja-JP" sz="1600" b="1" dirty="0"/>
                        <a:t>30</a:t>
                      </a:r>
                      <a:r>
                        <a:rPr kumimoji="1" lang="ja-JP" altLang="en-US" sz="1600" b="1"/>
                        <a:t>万円</a:t>
                      </a:r>
                    </a:p>
                  </a:txBody>
                  <a:tcPr anchor="ctr"/>
                </a:tc>
                <a:extLst>
                  <a:ext uri="{0D108BD9-81ED-4DB2-BD59-A6C34878D82A}">
                    <a16:rowId xmlns:a16="http://schemas.microsoft.com/office/drawing/2014/main" val="2573657329"/>
                  </a:ext>
                </a:extLst>
              </a:tr>
            </a:tbl>
          </a:graphicData>
        </a:graphic>
      </p:graphicFrame>
      <p:sp>
        <p:nvSpPr>
          <p:cNvPr id="4" name="日付プレースホルダー 3">
            <a:extLst>
              <a:ext uri="{FF2B5EF4-FFF2-40B4-BE49-F238E27FC236}">
                <a16:creationId xmlns:a16="http://schemas.microsoft.com/office/drawing/2014/main" id="{30C7DB82-30B0-DD96-D575-D10914D5C0E5}"/>
              </a:ext>
            </a:extLst>
          </p:cNvPr>
          <p:cNvSpPr>
            <a:spLocks noGrp="1"/>
          </p:cNvSpPr>
          <p:nvPr>
            <p:ph type="dt" sz="half" idx="10"/>
          </p:nvPr>
        </p:nvSpPr>
        <p:spPr/>
        <p:txBody>
          <a:bodyPr/>
          <a:lstStyle/>
          <a:p>
            <a:fld id="{C72A6376-899B-B34F-8844-A0E455E51C53}"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EA95522A-F4D9-89C0-FA3D-26477D6AA22E}"/>
              </a:ext>
            </a:extLst>
          </p:cNvPr>
          <p:cNvSpPr>
            <a:spLocks noGrp="1"/>
          </p:cNvSpPr>
          <p:nvPr>
            <p:ph type="ftr" sz="quarter" idx="11"/>
          </p:nvPr>
        </p:nvSpPr>
        <p:spPr/>
        <p:txBody>
          <a:bodyPr/>
          <a:lstStyle/>
          <a:p>
            <a:r>
              <a:rPr kumimoji="1" lang="en-US" altLang="ja-JP" dirty="0"/>
              <a:t>©2024 </a:t>
            </a:r>
            <a:r>
              <a:rPr kumimoji="1" lang="ja-JP" altLang="en-US"/>
              <a:t>済生会横浜市東部病院 救急科 </a:t>
            </a:r>
            <a:r>
              <a:rPr kumimoji="1" lang="en-US" altLang="ja-JP" dirty="0"/>
              <a:t>All rights reserved.</a:t>
            </a:r>
            <a:endParaRPr kumimoji="1" lang="ja-JP" altLang="en-US"/>
          </a:p>
        </p:txBody>
      </p:sp>
      <p:sp>
        <p:nvSpPr>
          <p:cNvPr id="6" name="スライド番号プレースホルダー 5">
            <a:extLst>
              <a:ext uri="{FF2B5EF4-FFF2-40B4-BE49-F238E27FC236}">
                <a16:creationId xmlns:a16="http://schemas.microsoft.com/office/drawing/2014/main" id="{18127B2B-B948-3D89-7D58-2EB283C111CB}"/>
              </a:ext>
            </a:extLst>
          </p:cNvPr>
          <p:cNvSpPr>
            <a:spLocks noGrp="1"/>
          </p:cNvSpPr>
          <p:nvPr>
            <p:ph type="sldNum" sz="quarter" idx="12"/>
          </p:nvPr>
        </p:nvSpPr>
        <p:spPr/>
        <p:txBody>
          <a:bodyPr/>
          <a:lstStyle/>
          <a:p>
            <a:r>
              <a:rPr lang="en-US" altLang="ja-JP"/>
              <a:t>No. </a:t>
            </a:r>
            <a:fld id="{41B87E3F-77EC-4EFD-94DE-AA3AEB7C7760}" type="slidenum">
              <a:rPr lang="ja-JP" altLang="en-US" smtClean="0"/>
              <a:pPr/>
              <a:t>69</a:t>
            </a:fld>
            <a:endParaRPr kumimoji="1" lang="ja-JP" altLang="en-US" dirty="0"/>
          </a:p>
        </p:txBody>
      </p:sp>
    </p:spTree>
    <p:extLst>
      <p:ext uri="{BB962C8B-B14F-4D97-AF65-F5344CB8AC3E}">
        <p14:creationId xmlns:p14="http://schemas.microsoft.com/office/powerpoint/2010/main" val="30734973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DCE685-C4E6-47D8-054E-0805791C0254}"/>
              </a:ext>
            </a:extLst>
          </p:cNvPr>
          <p:cNvSpPr>
            <a:spLocks noGrp="1"/>
          </p:cNvSpPr>
          <p:nvPr>
            <p:ph type="title"/>
          </p:nvPr>
        </p:nvSpPr>
        <p:spPr/>
        <p:txBody>
          <a:bodyPr/>
          <a:lstStyle/>
          <a:p>
            <a:r>
              <a:rPr kumimoji="1" lang="ja-JP" altLang="en-US"/>
              <a:t>まとめ</a:t>
            </a:r>
          </a:p>
        </p:txBody>
      </p:sp>
      <p:sp>
        <p:nvSpPr>
          <p:cNvPr id="4" name="日付プレースホルダー 3">
            <a:extLst>
              <a:ext uri="{FF2B5EF4-FFF2-40B4-BE49-F238E27FC236}">
                <a16:creationId xmlns:a16="http://schemas.microsoft.com/office/drawing/2014/main" id="{27C85575-F609-C5C5-3B97-68AC351ABFC3}"/>
              </a:ext>
            </a:extLst>
          </p:cNvPr>
          <p:cNvSpPr>
            <a:spLocks noGrp="1"/>
          </p:cNvSpPr>
          <p:nvPr>
            <p:ph type="dt" sz="half" idx="10"/>
          </p:nvPr>
        </p:nvSpPr>
        <p:spPr/>
        <p:txBody>
          <a:bodyPr/>
          <a:lstStyle/>
          <a:p>
            <a:fld id="{EB19E3B4-EF41-4C48-8809-A94C324D134F}" type="datetime1">
              <a:rPr kumimoji="1" lang="ja-JP" altLang="en-US" smtClean="0"/>
              <a:t>2026/5/15</a:t>
            </a:fld>
            <a:endParaRPr kumimoji="1" lang="ja-JP" altLang="en-US"/>
          </a:p>
        </p:txBody>
      </p:sp>
      <p:sp>
        <p:nvSpPr>
          <p:cNvPr id="5" name="フッター プレースホルダー 4">
            <a:extLst>
              <a:ext uri="{FF2B5EF4-FFF2-40B4-BE49-F238E27FC236}">
                <a16:creationId xmlns:a16="http://schemas.microsoft.com/office/drawing/2014/main" id="{1B958A10-427E-D286-5F05-4EA56B24578B}"/>
              </a:ext>
            </a:extLst>
          </p:cNvPr>
          <p:cNvSpPr>
            <a:spLocks noGrp="1"/>
          </p:cNvSpPr>
          <p:nvPr>
            <p:ph type="ftr" sz="quarter" idx="11"/>
          </p:nvPr>
        </p:nvSpPr>
        <p:spPr/>
        <p:txBody>
          <a:bodyPr/>
          <a:lstStyle/>
          <a:p>
            <a:r>
              <a:rPr kumimoji="1" lang="en-US" altLang="ja-JP"/>
              <a:t>©2024 </a:t>
            </a:r>
            <a:r>
              <a:rPr kumimoji="1" lang="ja-JP" altLang="en-US"/>
              <a:t>済生会横浜市東部病院 救急科 </a:t>
            </a:r>
            <a:r>
              <a:rPr kumimoji="1" lang="en-US" altLang="ja-JP"/>
              <a:t>All rights reserved.</a:t>
            </a:r>
            <a:endParaRPr kumimoji="1" lang="ja-JP" altLang="en-US"/>
          </a:p>
        </p:txBody>
      </p:sp>
      <p:sp>
        <p:nvSpPr>
          <p:cNvPr id="6" name="スライド番号プレースホルダー 5">
            <a:extLst>
              <a:ext uri="{FF2B5EF4-FFF2-40B4-BE49-F238E27FC236}">
                <a16:creationId xmlns:a16="http://schemas.microsoft.com/office/drawing/2014/main" id="{E8C718BD-A78C-434E-033E-05A243395619}"/>
              </a:ext>
            </a:extLst>
          </p:cNvPr>
          <p:cNvSpPr>
            <a:spLocks noGrp="1"/>
          </p:cNvSpPr>
          <p:nvPr>
            <p:ph type="sldNum" sz="quarter" idx="12"/>
          </p:nvPr>
        </p:nvSpPr>
        <p:spPr/>
        <p:txBody>
          <a:bodyPr/>
          <a:lstStyle/>
          <a:p>
            <a:r>
              <a:rPr lang="en-US" altLang="ja-JP"/>
              <a:t>No. </a:t>
            </a:r>
            <a:fld id="{41B87E3F-77EC-4EFD-94DE-AA3AEB7C7760}" type="slidenum">
              <a:rPr lang="ja-JP" altLang="en-US" smtClean="0"/>
              <a:pPr/>
              <a:t>70</a:t>
            </a:fld>
            <a:endParaRPr kumimoji="1" lang="ja-JP" altLang="en-US" dirty="0"/>
          </a:p>
        </p:txBody>
      </p:sp>
      <p:sp>
        <p:nvSpPr>
          <p:cNvPr id="7" name="テキスト ボックス 6">
            <a:extLst>
              <a:ext uri="{FF2B5EF4-FFF2-40B4-BE49-F238E27FC236}">
                <a16:creationId xmlns:a16="http://schemas.microsoft.com/office/drawing/2014/main" id="{DEE0330A-D08A-0C3B-304A-FFC05DFBD11F}"/>
              </a:ext>
            </a:extLst>
          </p:cNvPr>
          <p:cNvSpPr txBox="1"/>
          <p:nvPr/>
        </p:nvSpPr>
        <p:spPr>
          <a:xfrm>
            <a:off x="72000" y="1775791"/>
            <a:ext cx="3869636" cy="769441"/>
          </a:xfrm>
          <a:prstGeom prst="rect">
            <a:avLst/>
          </a:prstGeom>
          <a:noFill/>
        </p:spPr>
        <p:txBody>
          <a:bodyPr wrap="square" rtlCol="0">
            <a:spAutoFit/>
          </a:bodyPr>
          <a:lstStyle/>
          <a:p>
            <a:pPr algn="ctr"/>
            <a:r>
              <a:rPr kumimoji="1" lang="en-US" altLang="ja-JP" sz="4400" b="1" dirty="0" err="1"/>
              <a:t>Trauma×TEG</a:t>
            </a:r>
            <a:endParaRPr kumimoji="1" lang="ja-JP" altLang="en-US" sz="4400" b="1"/>
          </a:p>
        </p:txBody>
      </p:sp>
      <p:sp>
        <p:nvSpPr>
          <p:cNvPr id="8" name="テキスト ボックス 7">
            <a:extLst>
              <a:ext uri="{FF2B5EF4-FFF2-40B4-BE49-F238E27FC236}">
                <a16:creationId xmlns:a16="http://schemas.microsoft.com/office/drawing/2014/main" id="{5D62FB19-0AB1-FACD-33E4-46FC26992640}"/>
              </a:ext>
            </a:extLst>
          </p:cNvPr>
          <p:cNvSpPr txBox="1"/>
          <p:nvPr/>
        </p:nvSpPr>
        <p:spPr>
          <a:xfrm>
            <a:off x="72000" y="2948643"/>
            <a:ext cx="3869636" cy="769441"/>
          </a:xfrm>
          <a:prstGeom prst="rect">
            <a:avLst/>
          </a:prstGeom>
          <a:noFill/>
        </p:spPr>
        <p:txBody>
          <a:bodyPr wrap="square" rtlCol="0">
            <a:spAutoFit/>
          </a:bodyPr>
          <a:lstStyle/>
          <a:p>
            <a:pPr algn="ctr"/>
            <a:r>
              <a:rPr kumimoji="1" lang="en-US" altLang="ja-JP" sz="4400" b="1" dirty="0"/>
              <a:t>ECMO×TEG</a:t>
            </a:r>
            <a:endParaRPr kumimoji="1" lang="ja-JP" altLang="en-US" sz="4400" b="1"/>
          </a:p>
        </p:txBody>
      </p:sp>
      <p:sp>
        <p:nvSpPr>
          <p:cNvPr id="9" name="テキスト ボックス 8">
            <a:extLst>
              <a:ext uri="{FF2B5EF4-FFF2-40B4-BE49-F238E27FC236}">
                <a16:creationId xmlns:a16="http://schemas.microsoft.com/office/drawing/2014/main" id="{E3897914-C3D7-E79B-B6D1-DB3B09159450}"/>
              </a:ext>
            </a:extLst>
          </p:cNvPr>
          <p:cNvSpPr txBox="1"/>
          <p:nvPr/>
        </p:nvSpPr>
        <p:spPr>
          <a:xfrm>
            <a:off x="72000" y="4123935"/>
            <a:ext cx="3869636" cy="769441"/>
          </a:xfrm>
          <a:prstGeom prst="rect">
            <a:avLst/>
          </a:prstGeom>
          <a:noFill/>
        </p:spPr>
        <p:txBody>
          <a:bodyPr wrap="square" rtlCol="0">
            <a:spAutoFit/>
          </a:bodyPr>
          <a:lstStyle/>
          <a:p>
            <a:pPr algn="ctr"/>
            <a:r>
              <a:rPr lang="en-US" altLang="ja-JP" sz="4400" b="1" dirty="0"/>
              <a:t>???</a:t>
            </a:r>
            <a:r>
              <a:rPr kumimoji="1" lang="en-US" altLang="ja-JP" sz="4400" b="1" dirty="0"/>
              <a:t>×TEG</a:t>
            </a:r>
            <a:endParaRPr kumimoji="1" lang="ja-JP" altLang="en-US" sz="4400" b="1"/>
          </a:p>
        </p:txBody>
      </p:sp>
      <p:sp>
        <p:nvSpPr>
          <p:cNvPr id="10" name="テキスト ボックス 9">
            <a:extLst>
              <a:ext uri="{FF2B5EF4-FFF2-40B4-BE49-F238E27FC236}">
                <a16:creationId xmlns:a16="http://schemas.microsoft.com/office/drawing/2014/main" id="{863C5319-E7BD-FA70-1A60-D4AC1F5A1C70}"/>
              </a:ext>
            </a:extLst>
          </p:cNvPr>
          <p:cNvSpPr txBox="1"/>
          <p:nvPr/>
        </p:nvSpPr>
        <p:spPr>
          <a:xfrm>
            <a:off x="4373217" y="1683457"/>
            <a:ext cx="6493565" cy="954107"/>
          </a:xfrm>
          <a:prstGeom prst="rect">
            <a:avLst/>
          </a:prstGeom>
          <a:noFill/>
        </p:spPr>
        <p:txBody>
          <a:bodyPr wrap="square" rtlCol="0">
            <a:spAutoFit/>
          </a:bodyPr>
          <a:lstStyle/>
          <a:p>
            <a:r>
              <a:rPr kumimoji="1" lang="en-US" altLang="ja-JP" sz="2800" dirty="0"/>
              <a:t>Tobu Trauma TEG Protocol</a:t>
            </a:r>
            <a:r>
              <a:rPr kumimoji="1" lang="ja-JP" altLang="en-US" sz="2800"/>
              <a:t>をうまく活用</a:t>
            </a:r>
            <a:endParaRPr kumimoji="1" lang="en-US" altLang="ja-JP" sz="2800" dirty="0"/>
          </a:p>
          <a:p>
            <a:r>
              <a:rPr lang="en-US" altLang="ja-JP" sz="2800" dirty="0"/>
              <a:t>TEG PM</a:t>
            </a:r>
            <a:r>
              <a:rPr lang="ja-JP" altLang="en-US" sz="2800"/>
              <a:t>でわかる</a:t>
            </a:r>
            <a:r>
              <a:rPr lang="ja-JP" altLang="en-US" sz="2800" b="1"/>
              <a:t>血小板機能</a:t>
            </a:r>
            <a:r>
              <a:rPr lang="ja-JP" altLang="en-US" sz="2800"/>
              <a:t>に注目</a:t>
            </a:r>
            <a:endParaRPr kumimoji="1" lang="ja-JP" altLang="en-US" sz="2800"/>
          </a:p>
        </p:txBody>
      </p:sp>
      <p:sp>
        <p:nvSpPr>
          <p:cNvPr id="11" name="テキスト ボックス 10">
            <a:extLst>
              <a:ext uri="{FF2B5EF4-FFF2-40B4-BE49-F238E27FC236}">
                <a16:creationId xmlns:a16="http://schemas.microsoft.com/office/drawing/2014/main" id="{779C5144-1BDB-6987-964D-354B556ABE1B}"/>
              </a:ext>
            </a:extLst>
          </p:cNvPr>
          <p:cNvSpPr txBox="1"/>
          <p:nvPr/>
        </p:nvSpPr>
        <p:spPr>
          <a:xfrm>
            <a:off x="4373217" y="2858749"/>
            <a:ext cx="6493565" cy="954107"/>
          </a:xfrm>
          <a:prstGeom prst="rect">
            <a:avLst/>
          </a:prstGeom>
          <a:noFill/>
        </p:spPr>
        <p:txBody>
          <a:bodyPr wrap="square" rtlCol="0">
            <a:spAutoFit/>
          </a:bodyPr>
          <a:lstStyle/>
          <a:p>
            <a:r>
              <a:rPr kumimoji="1" lang="ja-JP" altLang="en-US" sz="2800" b="1"/>
              <a:t>従来の凝固管理に加える</a:t>
            </a:r>
            <a:r>
              <a:rPr kumimoji="1" lang="ja-JP" altLang="en-US" sz="2800"/>
              <a:t>ことで</a:t>
            </a:r>
            <a:endParaRPr kumimoji="1" lang="en-US" altLang="ja-JP" sz="2800" dirty="0"/>
          </a:p>
          <a:p>
            <a:r>
              <a:rPr kumimoji="1" lang="ja-JP" altLang="en-US" sz="2800"/>
              <a:t>よりよい</a:t>
            </a:r>
            <a:r>
              <a:rPr kumimoji="1" lang="en-US" altLang="ja-JP" sz="2800" dirty="0"/>
              <a:t>ECMO</a:t>
            </a:r>
            <a:r>
              <a:rPr kumimoji="1" lang="ja-JP" altLang="en-US" sz="2800"/>
              <a:t>凝固管理を目指す</a:t>
            </a:r>
          </a:p>
        </p:txBody>
      </p:sp>
      <p:sp>
        <p:nvSpPr>
          <p:cNvPr id="12" name="テキスト ボックス 11">
            <a:extLst>
              <a:ext uri="{FF2B5EF4-FFF2-40B4-BE49-F238E27FC236}">
                <a16:creationId xmlns:a16="http://schemas.microsoft.com/office/drawing/2014/main" id="{A220A1A1-8B83-DB9D-7134-940B26CAF742}"/>
              </a:ext>
            </a:extLst>
          </p:cNvPr>
          <p:cNvSpPr txBox="1"/>
          <p:nvPr/>
        </p:nvSpPr>
        <p:spPr>
          <a:xfrm>
            <a:off x="4373217" y="4031601"/>
            <a:ext cx="6493565" cy="954107"/>
          </a:xfrm>
          <a:prstGeom prst="rect">
            <a:avLst/>
          </a:prstGeom>
          <a:noFill/>
        </p:spPr>
        <p:txBody>
          <a:bodyPr wrap="square" rtlCol="0">
            <a:spAutoFit/>
          </a:bodyPr>
          <a:lstStyle/>
          <a:p>
            <a:r>
              <a:rPr kumimoji="1" lang="ja-JP" altLang="en-US" sz="2800"/>
              <a:t>まだ</a:t>
            </a:r>
            <a:r>
              <a:rPr kumimoji="1" lang="ja-JP" altLang="en-US" sz="2800" b="1"/>
              <a:t>未知の領域</a:t>
            </a:r>
            <a:r>
              <a:rPr kumimoji="1" lang="ja-JP" altLang="en-US" sz="2800"/>
              <a:t>に病態生理などを</a:t>
            </a:r>
            <a:endParaRPr kumimoji="1" lang="en-US" altLang="ja-JP" sz="2800" dirty="0"/>
          </a:p>
          <a:p>
            <a:r>
              <a:rPr kumimoji="1" lang="ja-JP" altLang="en-US" sz="2800"/>
              <a:t>もとに考え挑む</a:t>
            </a:r>
          </a:p>
        </p:txBody>
      </p:sp>
      <p:sp>
        <p:nvSpPr>
          <p:cNvPr id="13" name="正方形/長方形 12">
            <a:extLst>
              <a:ext uri="{FF2B5EF4-FFF2-40B4-BE49-F238E27FC236}">
                <a16:creationId xmlns:a16="http://schemas.microsoft.com/office/drawing/2014/main" id="{60A8BBD5-EFD1-057F-4D0B-DB8BDFF7BA97}"/>
              </a:ext>
            </a:extLst>
          </p:cNvPr>
          <p:cNvSpPr/>
          <p:nvPr/>
        </p:nvSpPr>
        <p:spPr>
          <a:xfrm>
            <a:off x="0" y="5208104"/>
            <a:ext cx="12192000" cy="1046922"/>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b="1" dirty="0"/>
              <a:t>TEG</a:t>
            </a:r>
            <a:r>
              <a:rPr kumimoji="1" lang="ja-JP" altLang="en-US" sz="3200" b="1"/>
              <a:t>を「上手く」つかって血液凝固管理をより洗練する</a:t>
            </a:r>
          </a:p>
        </p:txBody>
      </p:sp>
    </p:spTree>
    <p:extLst>
      <p:ext uri="{BB962C8B-B14F-4D97-AF65-F5344CB8AC3E}">
        <p14:creationId xmlns:p14="http://schemas.microsoft.com/office/powerpoint/2010/main" val="3267234264"/>
      </p:ext>
    </p:extLst>
  </p:cSld>
  <p:clrMapOvr>
    <a:masterClrMapping/>
  </p:clrMapOvr>
</p:sld>
</file>

<file path=ppt/theme/theme1.xml><?xml version="1.0" encoding="utf-8"?>
<a:theme xmlns:a="http://schemas.openxmlformats.org/drawingml/2006/main" name="Office テーマ">
  <a:themeElements>
    <a:clrScheme name="東部救命">
      <a:dk1>
        <a:srgbClr val="333333"/>
      </a:dk1>
      <a:lt1>
        <a:srgbClr val="FFFFFF"/>
      </a:lt1>
      <a:dk2>
        <a:srgbClr val="000122"/>
      </a:dk2>
      <a:lt2>
        <a:srgbClr val="DDDDDD"/>
      </a:lt2>
      <a:accent1>
        <a:srgbClr val="1B3355"/>
      </a:accent1>
      <a:accent2>
        <a:srgbClr val="004BB1"/>
      </a:accent2>
      <a:accent3>
        <a:srgbClr val="589FFF"/>
      </a:accent3>
      <a:accent4>
        <a:srgbClr val="92D050"/>
      </a:accent4>
      <a:accent5>
        <a:srgbClr val="F8F200"/>
      </a:accent5>
      <a:accent6>
        <a:srgbClr val="FFCE33"/>
      </a:accent6>
      <a:hlink>
        <a:srgbClr val="589FFF"/>
      </a:hlink>
      <a:folHlink>
        <a:srgbClr val="004BB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2" id="{BC530B94-63FE-1D46-81E1-7F3DDB23D29D}" vid="{1CD7B4F7-B479-864E-AA79-BDF65909DA70}"/>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2851</TotalTime>
  <Words>5899</Words>
  <Application>Microsoft Macintosh PowerPoint</Application>
  <PresentationFormat>ワイド画面</PresentationFormat>
  <Paragraphs>1173</Paragraphs>
  <Slides>70</Slides>
  <Notes>3</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70</vt:i4>
      </vt:variant>
    </vt:vector>
  </HeadingPairs>
  <TitlesOfParts>
    <vt:vector size="79" baseType="lpstr">
      <vt:lpstr>-webkit-standard</vt:lpstr>
      <vt:lpstr>メイリオ</vt:lpstr>
      <vt:lpstr>游ゴシック</vt:lpstr>
      <vt:lpstr>Arial</vt:lpstr>
      <vt:lpstr>Arial Narrow</vt:lpstr>
      <vt:lpstr>Calibri</vt:lpstr>
      <vt:lpstr>Symbol</vt:lpstr>
      <vt:lpstr>Wingdings</vt:lpstr>
      <vt:lpstr>Office テーマ</vt:lpstr>
      <vt:lpstr>TEG protocol 2024 </vt:lpstr>
      <vt:lpstr>TEG®︎6s　 </vt:lpstr>
      <vt:lpstr>TEG6sは何をみているのか？</vt:lpstr>
      <vt:lpstr>TEG6sは何ができるのか？</vt:lpstr>
      <vt:lpstr>TEGの使用領域</vt:lpstr>
      <vt:lpstr>従来の検査</vt:lpstr>
      <vt:lpstr>従来の検査</vt:lpstr>
      <vt:lpstr>カートリッジの種類</vt:lpstr>
      <vt:lpstr>TEG Global hemostasis : TEG GH</vt:lpstr>
      <vt:lpstr>TEG GHの結果〜凝固因子･フィブリノゲン･血小板･線溶亢進を一括で評価〜</vt:lpstr>
      <vt:lpstr>Reaction time解釈</vt:lpstr>
      <vt:lpstr>Maximum Amplitude解釈</vt:lpstr>
      <vt:lpstr>TEG GH基準値</vt:lpstr>
      <vt:lpstr>TEG platelet mapping : TEG PM</vt:lpstr>
      <vt:lpstr>TEG PM波形解釈　〜血小板機能を反映〜</vt:lpstr>
      <vt:lpstr>TEG PM基準値</vt:lpstr>
      <vt:lpstr>TEGの使用領域</vt:lpstr>
      <vt:lpstr>重症外傷における当院の輸血戦略</vt:lpstr>
      <vt:lpstr>輸血戦略のProtocol化はできるの？</vt:lpstr>
      <vt:lpstr>輸血戦略のProtocol化はできるの？</vt:lpstr>
      <vt:lpstr>実際の現場では…</vt:lpstr>
      <vt:lpstr>輸血製剤の投与判断（私見）</vt:lpstr>
      <vt:lpstr>輸血製剤の投与判断（私見）</vt:lpstr>
      <vt:lpstr>PowerPoint プレゼンテーション</vt:lpstr>
      <vt:lpstr>PowerPoint プレゼンテーション</vt:lpstr>
      <vt:lpstr>Trauma×TEG</vt:lpstr>
      <vt:lpstr>Trauma×TEG</vt:lpstr>
      <vt:lpstr>PowerPoint プレゼンテーション</vt:lpstr>
      <vt:lpstr>PowerPoint プレゼンテーション</vt:lpstr>
      <vt:lpstr>PowerPoint プレゼンテーション</vt:lpstr>
      <vt:lpstr>血液粘弾性検査による輸血量減少</vt:lpstr>
      <vt:lpstr>輸血製剤の投与判断（私見）</vt:lpstr>
      <vt:lpstr>輸血製剤の投与判断　WITH TEG GH</vt:lpstr>
      <vt:lpstr>TEG protocol 2021−2023</vt:lpstr>
      <vt:lpstr>TEG protocol 2021−2023をやってみて</vt:lpstr>
      <vt:lpstr>2024 TEG protocol update</vt:lpstr>
      <vt:lpstr>TEG platelet mappingの有用性</vt:lpstr>
      <vt:lpstr>Global hemostasis vs Platelet mapping</vt:lpstr>
      <vt:lpstr>Global hemostasis vs Platelet mapping</vt:lpstr>
      <vt:lpstr>Global hemostasis vs Platelet mapping</vt:lpstr>
      <vt:lpstr>Trauma×TEG PM</vt:lpstr>
      <vt:lpstr>Tobu Trauma TEG Protocol</vt:lpstr>
      <vt:lpstr>但馬救命センター永嶋先生より</vt:lpstr>
      <vt:lpstr>TTPの目指すもの</vt:lpstr>
      <vt:lpstr>TTPの目指すもの</vt:lpstr>
      <vt:lpstr>TTPの目指すもの</vt:lpstr>
      <vt:lpstr>TTPの目指すもの</vt:lpstr>
      <vt:lpstr>TTPの目指すもの</vt:lpstr>
      <vt:lpstr>TTPの目指すもの</vt:lpstr>
      <vt:lpstr>輸血製剤の投与判断　WITH TEG PM</vt:lpstr>
      <vt:lpstr>Tobu Trauma TEG Protocol ＜TTP(仮)＞</vt:lpstr>
      <vt:lpstr>但馬救命センター永嶋先生より</vt:lpstr>
      <vt:lpstr>TEGの使用領域</vt:lpstr>
      <vt:lpstr>従来の検査</vt:lpstr>
      <vt:lpstr>従来の検査</vt:lpstr>
      <vt:lpstr>ECMO中の凝固管理</vt:lpstr>
      <vt:lpstr>ECMO中の凝固管理</vt:lpstr>
      <vt:lpstr>ECPELLA &lt;VA ECMO+IMPELLA&gt;</vt:lpstr>
      <vt:lpstr>ECMO ✖︎ TEG GH</vt:lpstr>
      <vt:lpstr>ECMO×TEG GH</vt:lpstr>
      <vt:lpstr>TEG GHに期待できること</vt:lpstr>
      <vt:lpstr>現在のECMO凝固管理の実際</vt:lpstr>
      <vt:lpstr>CKH-R vs CK-R</vt:lpstr>
      <vt:lpstr>ピットフォール</vt:lpstr>
      <vt:lpstr>ECMO×TEG GH</vt:lpstr>
      <vt:lpstr>???×TEG</vt:lpstr>
      <vt:lpstr>???×TEG</vt:lpstr>
      <vt:lpstr>抗血小板薬× TEG PM</vt:lpstr>
      <vt:lpstr>PowerPoint プレゼンテーション</vt:lpstr>
      <vt:lpstr>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皓聖 大政</dc:creator>
  <cp:lastModifiedBy>皓聖 大政</cp:lastModifiedBy>
  <cp:revision>3</cp:revision>
  <cp:lastPrinted>2026-05-14T21:04:21Z</cp:lastPrinted>
  <dcterms:created xsi:type="dcterms:W3CDTF">2024-06-22T06:30:11Z</dcterms:created>
  <dcterms:modified xsi:type="dcterms:W3CDTF">2026-05-14T21:04:26Z</dcterms:modified>
</cp:coreProperties>
</file>